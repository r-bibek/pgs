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7" r:id="rId2"/>
    <p:sldId id="258" r:id="rId3"/>
    <p:sldId id="356" r:id="rId4"/>
    <p:sldId id="318" r:id="rId5"/>
    <p:sldId id="357" r:id="rId6"/>
    <p:sldId id="260" r:id="rId7"/>
    <p:sldId id="358" r:id="rId8"/>
    <p:sldId id="261" r:id="rId9"/>
    <p:sldId id="262" r:id="rId10"/>
    <p:sldId id="267" r:id="rId11"/>
    <p:sldId id="269" r:id="rId12"/>
    <p:sldId id="270" r:id="rId13"/>
    <p:sldId id="272" r:id="rId14"/>
    <p:sldId id="273" r:id="rId15"/>
    <p:sldId id="274" r:id="rId16"/>
    <p:sldId id="275" r:id="rId17"/>
    <p:sldId id="276"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363" r:id="rId34"/>
    <p:sldId id="364" r:id="rId35"/>
    <p:sldId id="337" r:id="rId36"/>
    <p:sldId id="299" r:id="rId37"/>
    <p:sldId id="300" r:id="rId38"/>
    <p:sldId id="344" r:id="rId39"/>
    <p:sldId id="359" r:id="rId40"/>
    <p:sldId id="362" r:id="rId41"/>
    <p:sldId id="353" r:id="rId42"/>
    <p:sldId id="354" r:id="rId43"/>
    <p:sldId id="355" r:id="rId44"/>
    <p:sldId id="360" r:id="rId45"/>
    <p:sldId id="361"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7"/>
    <p:restoredTop sz="94752"/>
  </p:normalViewPr>
  <p:slideViewPr>
    <p:cSldViewPr>
      <p:cViewPr varScale="1">
        <p:scale>
          <a:sx n="116" d="100"/>
          <a:sy n="116" d="100"/>
        </p:scale>
        <p:origin x="560" y="184"/>
      </p:cViewPr>
      <p:guideLst>
        <p:guide orient="horz" pos="2160"/>
        <p:guide pos="2880"/>
      </p:guideLst>
    </p:cSldViewPr>
  </p:slideViewPr>
  <p:notesTextViewPr>
    <p:cViewPr>
      <p:scale>
        <a:sx n="100" d="100"/>
        <a:sy n="10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4722DB-04DB-4EBA-A746-BAF462CA7FA7}"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858CC2C9-6BA8-42D5-9E06-D1A7704CF8EA}">
      <dgm:prSet/>
      <dgm:spPr/>
      <dgm:t>
        <a:bodyPr/>
        <a:lstStyle/>
        <a:p>
          <a:r>
            <a:rPr lang="en-GB"/>
            <a:t>After this chapter you should be able to:</a:t>
          </a:r>
          <a:endParaRPr lang="en-US"/>
        </a:p>
      </dgm:t>
    </dgm:pt>
    <dgm:pt modelId="{A742F674-50C3-407C-A6E4-A580DF6FB64A}" type="parTrans" cxnId="{03E928A3-B952-4950-9FEF-0CA4B01256C3}">
      <dgm:prSet/>
      <dgm:spPr/>
      <dgm:t>
        <a:bodyPr/>
        <a:lstStyle/>
        <a:p>
          <a:endParaRPr lang="en-US"/>
        </a:p>
      </dgm:t>
    </dgm:pt>
    <dgm:pt modelId="{B6D40375-36D0-4478-AE50-04713CD8CC1E}" type="sibTrans" cxnId="{03E928A3-B952-4950-9FEF-0CA4B01256C3}">
      <dgm:prSet/>
      <dgm:spPr/>
      <dgm:t>
        <a:bodyPr/>
        <a:lstStyle/>
        <a:p>
          <a:endParaRPr lang="en-US"/>
        </a:p>
      </dgm:t>
    </dgm:pt>
    <dgm:pt modelId="{4AF0AC6C-28F7-43ED-8B0D-A9918CFA376F}">
      <dgm:prSet/>
      <dgm:spPr/>
      <dgm:t>
        <a:bodyPr/>
        <a:lstStyle/>
        <a:p>
          <a:r>
            <a:rPr lang="en-GB"/>
            <a:t>• Identify the individual and contextual factors which influence the creation of new ventures.</a:t>
          </a:r>
          <a:endParaRPr lang="en-US"/>
        </a:p>
      </dgm:t>
    </dgm:pt>
    <dgm:pt modelId="{44AAA8B8-B623-443F-8625-4D12785011E4}" type="parTrans" cxnId="{3792AFBB-3A52-4ACE-9E47-949C54BC13A9}">
      <dgm:prSet/>
      <dgm:spPr/>
      <dgm:t>
        <a:bodyPr/>
        <a:lstStyle/>
        <a:p>
          <a:endParaRPr lang="en-US"/>
        </a:p>
      </dgm:t>
    </dgm:pt>
    <dgm:pt modelId="{B7D6DC3A-9CE1-473C-9110-E3AEC9C321D6}" type="sibTrans" cxnId="{3792AFBB-3A52-4ACE-9E47-949C54BC13A9}">
      <dgm:prSet/>
      <dgm:spPr/>
      <dgm:t>
        <a:bodyPr/>
        <a:lstStyle/>
        <a:p>
          <a:endParaRPr lang="en-US"/>
        </a:p>
      </dgm:t>
    </dgm:pt>
    <dgm:pt modelId="{5993A564-97ED-426B-8BA6-89EC7C71A676}">
      <dgm:prSet/>
      <dgm:spPr/>
      <dgm:t>
        <a:bodyPr/>
        <a:lstStyle/>
        <a:p>
          <a:r>
            <a:rPr lang="en-GB"/>
            <a:t>• Understand the process of creating an innovative new venture.</a:t>
          </a:r>
          <a:endParaRPr lang="en-US"/>
        </a:p>
      </dgm:t>
    </dgm:pt>
    <dgm:pt modelId="{AD2270F1-A344-456C-9743-D52DC48DAE19}" type="parTrans" cxnId="{C40F3FFD-0D0D-445A-A179-FFEC7DA5EAE4}">
      <dgm:prSet/>
      <dgm:spPr/>
      <dgm:t>
        <a:bodyPr/>
        <a:lstStyle/>
        <a:p>
          <a:endParaRPr lang="en-US"/>
        </a:p>
      </dgm:t>
    </dgm:pt>
    <dgm:pt modelId="{38950F37-B6A1-44A0-8F7E-1836B5E46C96}" type="sibTrans" cxnId="{C40F3FFD-0D0D-445A-A179-FFEC7DA5EAE4}">
      <dgm:prSet/>
      <dgm:spPr/>
      <dgm:t>
        <a:bodyPr/>
        <a:lstStyle/>
        <a:p>
          <a:endParaRPr lang="en-US"/>
        </a:p>
      </dgm:t>
    </dgm:pt>
    <dgm:pt modelId="{884AEEAB-33C9-49D0-A259-B5BD9610A973}">
      <dgm:prSet/>
      <dgm:spPr/>
      <dgm:t>
        <a:bodyPr/>
        <a:lstStyle/>
        <a:p>
          <a:r>
            <a:rPr lang="en-GB"/>
            <a:t>• Distinguish the challenges of each of the stages of new venture development.</a:t>
          </a:r>
          <a:endParaRPr lang="en-US"/>
        </a:p>
      </dgm:t>
    </dgm:pt>
    <dgm:pt modelId="{E73395FA-E53E-4BB6-A521-BDB0F1E54C0A}" type="parTrans" cxnId="{06A6AFA7-5CE3-44DF-97E7-981F1D77309B}">
      <dgm:prSet/>
      <dgm:spPr/>
      <dgm:t>
        <a:bodyPr/>
        <a:lstStyle/>
        <a:p>
          <a:endParaRPr lang="en-US"/>
        </a:p>
      </dgm:t>
    </dgm:pt>
    <dgm:pt modelId="{4F6C07C3-A91C-4432-A668-5D184B246457}" type="sibTrans" cxnId="{06A6AFA7-5CE3-44DF-97E7-981F1D77309B}">
      <dgm:prSet/>
      <dgm:spPr/>
      <dgm:t>
        <a:bodyPr/>
        <a:lstStyle/>
        <a:p>
          <a:endParaRPr lang="en-US"/>
        </a:p>
      </dgm:t>
    </dgm:pt>
    <dgm:pt modelId="{8D6C629F-69A7-451C-8849-D276BD2215D7}">
      <dgm:prSet/>
      <dgm:spPr/>
      <dgm:t>
        <a:bodyPr/>
        <a:lstStyle/>
        <a:p>
          <a:r>
            <a:rPr lang="en-GB"/>
            <a:t>• Understand the motives and management of corporate ventures</a:t>
          </a:r>
          <a:endParaRPr lang="en-US"/>
        </a:p>
      </dgm:t>
    </dgm:pt>
    <dgm:pt modelId="{ACE3910C-D364-4205-B1D8-DCDF17B69852}" type="parTrans" cxnId="{5C4FE5B2-1BDF-473B-B480-9618823F5E66}">
      <dgm:prSet/>
      <dgm:spPr/>
      <dgm:t>
        <a:bodyPr/>
        <a:lstStyle/>
        <a:p>
          <a:endParaRPr lang="en-US"/>
        </a:p>
      </dgm:t>
    </dgm:pt>
    <dgm:pt modelId="{258E4CD4-DEB2-420D-B43A-CB6140A737A4}" type="sibTrans" cxnId="{5C4FE5B2-1BDF-473B-B480-9618823F5E66}">
      <dgm:prSet/>
      <dgm:spPr/>
      <dgm:t>
        <a:bodyPr/>
        <a:lstStyle/>
        <a:p>
          <a:endParaRPr lang="en-US"/>
        </a:p>
      </dgm:t>
    </dgm:pt>
    <dgm:pt modelId="{841361B0-D0C2-4A2A-882B-B778F58E300B}">
      <dgm:prSet/>
      <dgm:spPr/>
      <dgm:t>
        <a:bodyPr/>
        <a:lstStyle/>
        <a:p>
          <a:r>
            <a:rPr lang="en-GB"/>
            <a:t>• Identify the advantages and drawbacks of different structures for corporate ventures</a:t>
          </a:r>
          <a:endParaRPr lang="en-US"/>
        </a:p>
      </dgm:t>
    </dgm:pt>
    <dgm:pt modelId="{696B82B5-FFFF-467A-9289-C8B81EAB8253}" type="parTrans" cxnId="{0324D093-3859-43F5-A50C-A8A2D3D0C05C}">
      <dgm:prSet/>
      <dgm:spPr/>
      <dgm:t>
        <a:bodyPr/>
        <a:lstStyle/>
        <a:p>
          <a:endParaRPr lang="en-US"/>
        </a:p>
      </dgm:t>
    </dgm:pt>
    <dgm:pt modelId="{2173447E-9F70-4B7F-9390-31C37468B9FD}" type="sibTrans" cxnId="{0324D093-3859-43F5-A50C-A8A2D3D0C05C}">
      <dgm:prSet/>
      <dgm:spPr/>
      <dgm:t>
        <a:bodyPr/>
        <a:lstStyle/>
        <a:p>
          <a:endParaRPr lang="en-US"/>
        </a:p>
      </dgm:t>
    </dgm:pt>
    <dgm:pt modelId="{6A663C86-2126-8942-BFF3-2BE984EE3F9E}" type="pres">
      <dgm:prSet presAssocID="{314722DB-04DB-4EBA-A746-BAF462CA7FA7}" presName="linear" presStyleCnt="0">
        <dgm:presLayoutVars>
          <dgm:animLvl val="lvl"/>
          <dgm:resizeHandles val="exact"/>
        </dgm:presLayoutVars>
      </dgm:prSet>
      <dgm:spPr/>
    </dgm:pt>
    <dgm:pt modelId="{5B567E59-24D1-0B44-BCA9-16B876819276}" type="pres">
      <dgm:prSet presAssocID="{858CC2C9-6BA8-42D5-9E06-D1A7704CF8EA}" presName="parentText" presStyleLbl="node1" presStyleIdx="0" presStyleCnt="6">
        <dgm:presLayoutVars>
          <dgm:chMax val="0"/>
          <dgm:bulletEnabled val="1"/>
        </dgm:presLayoutVars>
      </dgm:prSet>
      <dgm:spPr/>
    </dgm:pt>
    <dgm:pt modelId="{ED9CA41C-528C-F949-9E05-12996E6F0F31}" type="pres">
      <dgm:prSet presAssocID="{B6D40375-36D0-4478-AE50-04713CD8CC1E}" presName="spacer" presStyleCnt="0"/>
      <dgm:spPr/>
    </dgm:pt>
    <dgm:pt modelId="{125F1EB7-E025-934A-9E6E-EA0A4D521C17}" type="pres">
      <dgm:prSet presAssocID="{4AF0AC6C-28F7-43ED-8B0D-A9918CFA376F}" presName="parentText" presStyleLbl="node1" presStyleIdx="1" presStyleCnt="6">
        <dgm:presLayoutVars>
          <dgm:chMax val="0"/>
          <dgm:bulletEnabled val="1"/>
        </dgm:presLayoutVars>
      </dgm:prSet>
      <dgm:spPr/>
    </dgm:pt>
    <dgm:pt modelId="{F6B5538B-7136-E74D-87BB-ED8B0F99E5B4}" type="pres">
      <dgm:prSet presAssocID="{B7D6DC3A-9CE1-473C-9110-E3AEC9C321D6}" presName="spacer" presStyleCnt="0"/>
      <dgm:spPr/>
    </dgm:pt>
    <dgm:pt modelId="{312F6ED7-7559-1843-B040-E72EC7D7C541}" type="pres">
      <dgm:prSet presAssocID="{5993A564-97ED-426B-8BA6-89EC7C71A676}" presName="parentText" presStyleLbl="node1" presStyleIdx="2" presStyleCnt="6">
        <dgm:presLayoutVars>
          <dgm:chMax val="0"/>
          <dgm:bulletEnabled val="1"/>
        </dgm:presLayoutVars>
      </dgm:prSet>
      <dgm:spPr/>
    </dgm:pt>
    <dgm:pt modelId="{C99E8C0C-1F6F-C640-BA65-42F6A02FF17B}" type="pres">
      <dgm:prSet presAssocID="{38950F37-B6A1-44A0-8F7E-1836B5E46C96}" presName="spacer" presStyleCnt="0"/>
      <dgm:spPr/>
    </dgm:pt>
    <dgm:pt modelId="{38C93ABB-7350-5C4C-8595-5FAB5560A8EC}" type="pres">
      <dgm:prSet presAssocID="{884AEEAB-33C9-49D0-A259-B5BD9610A973}" presName="parentText" presStyleLbl="node1" presStyleIdx="3" presStyleCnt="6">
        <dgm:presLayoutVars>
          <dgm:chMax val="0"/>
          <dgm:bulletEnabled val="1"/>
        </dgm:presLayoutVars>
      </dgm:prSet>
      <dgm:spPr/>
    </dgm:pt>
    <dgm:pt modelId="{AA718935-4DBC-8441-8E1B-E6906A14D4F4}" type="pres">
      <dgm:prSet presAssocID="{4F6C07C3-A91C-4432-A668-5D184B246457}" presName="spacer" presStyleCnt="0"/>
      <dgm:spPr/>
    </dgm:pt>
    <dgm:pt modelId="{99DAF056-8E8B-2446-A25D-21A25C6288E9}" type="pres">
      <dgm:prSet presAssocID="{8D6C629F-69A7-451C-8849-D276BD2215D7}" presName="parentText" presStyleLbl="node1" presStyleIdx="4" presStyleCnt="6">
        <dgm:presLayoutVars>
          <dgm:chMax val="0"/>
          <dgm:bulletEnabled val="1"/>
        </dgm:presLayoutVars>
      </dgm:prSet>
      <dgm:spPr/>
    </dgm:pt>
    <dgm:pt modelId="{11FF413C-E577-4E4D-80B3-BBFD9C3CEB2E}" type="pres">
      <dgm:prSet presAssocID="{258E4CD4-DEB2-420D-B43A-CB6140A737A4}" presName="spacer" presStyleCnt="0"/>
      <dgm:spPr/>
    </dgm:pt>
    <dgm:pt modelId="{01217A61-B520-624D-86BE-5A4AA7C2658E}" type="pres">
      <dgm:prSet presAssocID="{841361B0-D0C2-4A2A-882B-B778F58E300B}" presName="parentText" presStyleLbl="node1" presStyleIdx="5" presStyleCnt="6">
        <dgm:presLayoutVars>
          <dgm:chMax val="0"/>
          <dgm:bulletEnabled val="1"/>
        </dgm:presLayoutVars>
      </dgm:prSet>
      <dgm:spPr/>
    </dgm:pt>
  </dgm:ptLst>
  <dgm:cxnLst>
    <dgm:cxn modelId="{43083920-C89F-2C46-9EA5-C3FF0299C630}" type="presOf" srcId="{5993A564-97ED-426B-8BA6-89EC7C71A676}" destId="{312F6ED7-7559-1843-B040-E72EC7D7C541}" srcOrd="0" destOrd="0" presId="urn:microsoft.com/office/officeart/2005/8/layout/vList2"/>
    <dgm:cxn modelId="{5045B25C-54A5-1B43-A17D-B49F58B04F7B}" type="presOf" srcId="{4AF0AC6C-28F7-43ED-8B0D-A9918CFA376F}" destId="{125F1EB7-E025-934A-9E6E-EA0A4D521C17}" srcOrd="0" destOrd="0" presId="urn:microsoft.com/office/officeart/2005/8/layout/vList2"/>
    <dgm:cxn modelId="{9E119C76-B684-F84C-AA75-E24FDE3CCD59}" type="presOf" srcId="{884AEEAB-33C9-49D0-A259-B5BD9610A973}" destId="{38C93ABB-7350-5C4C-8595-5FAB5560A8EC}" srcOrd="0" destOrd="0" presId="urn:microsoft.com/office/officeart/2005/8/layout/vList2"/>
    <dgm:cxn modelId="{B093718B-766E-5447-BEC1-953E1907A8D3}" type="presOf" srcId="{314722DB-04DB-4EBA-A746-BAF462CA7FA7}" destId="{6A663C86-2126-8942-BFF3-2BE984EE3F9E}" srcOrd="0" destOrd="0" presId="urn:microsoft.com/office/officeart/2005/8/layout/vList2"/>
    <dgm:cxn modelId="{1CE0DF91-0D1E-F540-84D6-45766AB44EE3}" type="presOf" srcId="{858CC2C9-6BA8-42D5-9E06-D1A7704CF8EA}" destId="{5B567E59-24D1-0B44-BCA9-16B876819276}" srcOrd="0" destOrd="0" presId="urn:microsoft.com/office/officeart/2005/8/layout/vList2"/>
    <dgm:cxn modelId="{0324D093-3859-43F5-A50C-A8A2D3D0C05C}" srcId="{314722DB-04DB-4EBA-A746-BAF462CA7FA7}" destId="{841361B0-D0C2-4A2A-882B-B778F58E300B}" srcOrd="5" destOrd="0" parTransId="{696B82B5-FFFF-467A-9289-C8B81EAB8253}" sibTransId="{2173447E-9F70-4B7F-9390-31C37468B9FD}"/>
    <dgm:cxn modelId="{03E928A3-B952-4950-9FEF-0CA4B01256C3}" srcId="{314722DB-04DB-4EBA-A746-BAF462CA7FA7}" destId="{858CC2C9-6BA8-42D5-9E06-D1A7704CF8EA}" srcOrd="0" destOrd="0" parTransId="{A742F674-50C3-407C-A6E4-A580DF6FB64A}" sibTransId="{B6D40375-36D0-4478-AE50-04713CD8CC1E}"/>
    <dgm:cxn modelId="{06A6AFA7-5CE3-44DF-97E7-981F1D77309B}" srcId="{314722DB-04DB-4EBA-A746-BAF462CA7FA7}" destId="{884AEEAB-33C9-49D0-A259-B5BD9610A973}" srcOrd="3" destOrd="0" parTransId="{E73395FA-E53E-4BB6-A521-BDB0F1E54C0A}" sibTransId="{4F6C07C3-A91C-4432-A668-5D184B246457}"/>
    <dgm:cxn modelId="{5C4FE5B2-1BDF-473B-B480-9618823F5E66}" srcId="{314722DB-04DB-4EBA-A746-BAF462CA7FA7}" destId="{8D6C629F-69A7-451C-8849-D276BD2215D7}" srcOrd="4" destOrd="0" parTransId="{ACE3910C-D364-4205-B1D8-DCDF17B69852}" sibTransId="{258E4CD4-DEB2-420D-B43A-CB6140A737A4}"/>
    <dgm:cxn modelId="{3792AFBB-3A52-4ACE-9E47-949C54BC13A9}" srcId="{314722DB-04DB-4EBA-A746-BAF462CA7FA7}" destId="{4AF0AC6C-28F7-43ED-8B0D-A9918CFA376F}" srcOrd="1" destOrd="0" parTransId="{44AAA8B8-B623-443F-8625-4D12785011E4}" sibTransId="{B7D6DC3A-9CE1-473C-9110-E3AEC9C321D6}"/>
    <dgm:cxn modelId="{9DB9EAE0-1038-344D-AD15-93AA7A71F224}" type="presOf" srcId="{841361B0-D0C2-4A2A-882B-B778F58E300B}" destId="{01217A61-B520-624D-86BE-5A4AA7C2658E}" srcOrd="0" destOrd="0" presId="urn:microsoft.com/office/officeart/2005/8/layout/vList2"/>
    <dgm:cxn modelId="{A1FC58E8-3B9D-8248-9BED-DE1DD451B67A}" type="presOf" srcId="{8D6C629F-69A7-451C-8849-D276BD2215D7}" destId="{99DAF056-8E8B-2446-A25D-21A25C6288E9}" srcOrd="0" destOrd="0" presId="urn:microsoft.com/office/officeart/2005/8/layout/vList2"/>
    <dgm:cxn modelId="{C40F3FFD-0D0D-445A-A179-FFEC7DA5EAE4}" srcId="{314722DB-04DB-4EBA-A746-BAF462CA7FA7}" destId="{5993A564-97ED-426B-8BA6-89EC7C71A676}" srcOrd="2" destOrd="0" parTransId="{AD2270F1-A344-456C-9743-D52DC48DAE19}" sibTransId="{38950F37-B6A1-44A0-8F7E-1836B5E46C96}"/>
    <dgm:cxn modelId="{424BA48A-1BDE-3445-8B89-8C42F8300A8B}" type="presParOf" srcId="{6A663C86-2126-8942-BFF3-2BE984EE3F9E}" destId="{5B567E59-24D1-0B44-BCA9-16B876819276}" srcOrd="0" destOrd="0" presId="urn:microsoft.com/office/officeart/2005/8/layout/vList2"/>
    <dgm:cxn modelId="{D28AE996-3A2B-8142-98CD-DB17093C7282}" type="presParOf" srcId="{6A663C86-2126-8942-BFF3-2BE984EE3F9E}" destId="{ED9CA41C-528C-F949-9E05-12996E6F0F31}" srcOrd="1" destOrd="0" presId="urn:microsoft.com/office/officeart/2005/8/layout/vList2"/>
    <dgm:cxn modelId="{DAC7E103-96B5-684A-9781-B998F02450D3}" type="presParOf" srcId="{6A663C86-2126-8942-BFF3-2BE984EE3F9E}" destId="{125F1EB7-E025-934A-9E6E-EA0A4D521C17}" srcOrd="2" destOrd="0" presId="urn:microsoft.com/office/officeart/2005/8/layout/vList2"/>
    <dgm:cxn modelId="{942A9C15-2BE1-F246-854F-89CC9316266F}" type="presParOf" srcId="{6A663C86-2126-8942-BFF3-2BE984EE3F9E}" destId="{F6B5538B-7136-E74D-87BB-ED8B0F99E5B4}" srcOrd="3" destOrd="0" presId="urn:microsoft.com/office/officeart/2005/8/layout/vList2"/>
    <dgm:cxn modelId="{277C0448-0282-D842-B2EC-83C02DB33D97}" type="presParOf" srcId="{6A663C86-2126-8942-BFF3-2BE984EE3F9E}" destId="{312F6ED7-7559-1843-B040-E72EC7D7C541}" srcOrd="4" destOrd="0" presId="urn:microsoft.com/office/officeart/2005/8/layout/vList2"/>
    <dgm:cxn modelId="{D6362D37-02E5-D24F-A60F-9B673984F77E}" type="presParOf" srcId="{6A663C86-2126-8942-BFF3-2BE984EE3F9E}" destId="{C99E8C0C-1F6F-C640-BA65-42F6A02FF17B}" srcOrd="5" destOrd="0" presId="urn:microsoft.com/office/officeart/2005/8/layout/vList2"/>
    <dgm:cxn modelId="{64B0CDB6-EB5B-4044-BFAE-CFDF5AC4FE05}" type="presParOf" srcId="{6A663C86-2126-8942-BFF3-2BE984EE3F9E}" destId="{38C93ABB-7350-5C4C-8595-5FAB5560A8EC}" srcOrd="6" destOrd="0" presId="urn:microsoft.com/office/officeart/2005/8/layout/vList2"/>
    <dgm:cxn modelId="{EA991AAC-6FC8-8849-B390-BD1FEF7D92A7}" type="presParOf" srcId="{6A663C86-2126-8942-BFF3-2BE984EE3F9E}" destId="{AA718935-4DBC-8441-8E1B-E6906A14D4F4}" srcOrd="7" destOrd="0" presId="urn:microsoft.com/office/officeart/2005/8/layout/vList2"/>
    <dgm:cxn modelId="{F9604105-7DCA-D644-BC83-5F3AFDBB6A18}" type="presParOf" srcId="{6A663C86-2126-8942-BFF3-2BE984EE3F9E}" destId="{99DAF056-8E8B-2446-A25D-21A25C6288E9}" srcOrd="8" destOrd="0" presId="urn:microsoft.com/office/officeart/2005/8/layout/vList2"/>
    <dgm:cxn modelId="{E51FEEBE-BB64-E143-BCB0-1A20E01FFFF3}" type="presParOf" srcId="{6A663C86-2126-8942-BFF3-2BE984EE3F9E}" destId="{11FF413C-E577-4E4D-80B3-BBFD9C3CEB2E}" srcOrd="9" destOrd="0" presId="urn:microsoft.com/office/officeart/2005/8/layout/vList2"/>
    <dgm:cxn modelId="{422F8C12-057D-9943-BA8B-0F130A02A5A6}" type="presParOf" srcId="{6A663C86-2126-8942-BFF3-2BE984EE3F9E}" destId="{01217A61-B520-624D-86BE-5A4AA7C2658E}"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567E59-24D1-0B44-BCA9-16B876819276}">
      <dsp:nvSpPr>
        <dsp:cNvPr id="0" name=""/>
        <dsp:cNvSpPr/>
      </dsp:nvSpPr>
      <dsp:spPr>
        <a:xfrm>
          <a:off x="0" y="856711"/>
          <a:ext cx="3943350" cy="595877"/>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t>After this chapter you should be able to:</a:t>
          </a:r>
          <a:endParaRPr lang="en-US" sz="1500" kern="1200"/>
        </a:p>
      </dsp:txBody>
      <dsp:txXfrm>
        <a:off x="29088" y="885799"/>
        <a:ext cx="3885174" cy="537701"/>
      </dsp:txXfrm>
    </dsp:sp>
    <dsp:sp modelId="{125F1EB7-E025-934A-9E6E-EA0A4D521C17}">
      <dsp:nvSpPr>
        <dsp:cNvPr id="0" name=""/>
        <dsp:cNvSpPr/>
      </dsp:nvSpPr>
      <dsp:spPr>
        <a:xfrm>
          <a:off x="0" y="1495789"/>
          <a:ext cx="3943350" cy="595877"/>
        </a:xfrm>
        <a:prstGeom prst="roundRect">
          <a:avLst/>
        </a:prstGeom>
        <a:solidFill>
          <a:schemeClr val="accent5">
            <a:hueOff val="-1986775"/>
            <a:satOff val="7962"/>
            <a:lumOff val="172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t>• Identify the individual and contextual factors which influence the creation of new ventures.</a:t>
          </a:r>
          <a:endParaRPr lang="en-US" sz="1500" kern="1200"/>
        </a:p>
      </dsp:txBody>
      <dsp:txXfrm>
        <a:off x="29088" y="1524877"/>
        <a:ext cx="3885174" cy="537701"/>
      </dsp:txXfrm>
    </dsp:sp>
    <dsp:sp modelId="{312F6ED7-7559-1843-B040-E72EC7D7C541}">
      <dsp:nvSpPr>
        <dsp:cNvPr id="0" name=""/>
        <dsp:cNvSpPr/>
      </dsp:nvSpPr>
      <dsp:spPr>
        <a:xfrm>
          <a:off x="0" y="2134866"/>
          <a:ext cx="3943350" cy="595877"/>
        </a:xfrm>
        <a:prstGeom prst="roundRect">
          <a:avLst/>
        </a:prstGeom>
        <a:solidFill>
          <a:schemeClr val="accent5">
            <a:hueOff val="-3973551"/>
            <a:satOff val="15924"/>
            <a:lumOff val="345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t>• Understand the process of creating an innovative new venture.</a:t>
          </a:r>
          <a:endParaRPr lang="en-US" sz="1500" kern="1200"/>
        </a:p>
      </dsp:txBody>
      <dsp:txXfrm>
        <a:off x="29088" y="2163954"/>
        <a:ext cx="3885174" cy="537701"/>
      </dsp:txXfrm>
    </dsp:sp>
    <dsp:sp modelId="{38C93ABB-7350-5C4C-8595-5FAB5560A8EC}">
      <dsp:nvSpPr>
        <dsp:cNvPr id="0" name=""/>
        <dsp:cNvSpPr/>
      </dsp:nvSpPr>
      <dsp:spPr>
        <a:xfrm>
          <a:off x="0" y="2773944"/>
          <a:ext cx="3943350" cy="595877"/>
        </a:xfrm>
        <a:prstGeom prst="roundRect">
          <a:avLst/>
        </a:prstGeom>
        <a:solidFill>
          <a:schemeClr val="accent5">
            <a:hueOff val="-5960326"/>
            <a:satOff val="23887"/>
            <a:lumOff val="51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t>• Distinguish the challenges of each of the stages of new venture development.</a:t>
          </a:r>
          <a:endParaRPr lang="en-US" sz="1500" kern="1200"/>
        </a:p>
      </dsp:txBody>
      <dsp:txXfrm>
        <a:off x="29088" y="2803032"/>
        <a:ext cx="3885174" cy="537701"/>
      </dsp:txXfrm>
    </dsp:sp>
    <dsp:sp modelId="{99DAF056-8E8B-2446-A25D-21A25C6288E9}">
      <dsp:nvSpPr>
        <dsp:cNvPr id="0" name=""/>
        <dsp:cNvSpPr/>
      </dsp:nvSpPr>
      <dsp:spPr>
        <a:xfrm>
          <a:off x="0" y="3413021"/>
          <a:ext cx="3943350" cy="595877"/>
        </a:xfrm>
        <a:prstGeom prst="roundRect">
          <a:avLst/>
        </a:prstGeom>
        <a:solidFill>
          <a:schemeClr val="accent5">
            <a:hueOff val="-7947101"/>
            <a:satOff val="31849"/>
            <a:lumOff val="690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t>• Understand the motives and management of corporate ventures</a:t>
          </a:r>
          <a:endParaRPr lang="en-US" sz="1500" kern="1200"/>
        </a:p>
      </dsp:txBody>
      <dsp:txXfrm>
        <a:off x="29088" y="3442109"/>
        <a:ext cx="3885174" cy="537701"/>
      </dsp:txXfrm>
    </dsp:sp>
    <dsp:sp modelId="{01217A61-B520-624D-86BE-5A4AA7C2658E}">
      <dsp:nvSpPr>
        <dsp:cNvPr id="0" name=""/>
        <dsp:cNvSpPr/>
      </dsp:nvSpPr>
      <dsp:spPr>
        <a:xfrm>
          <a:off x="0" y="4052098"/>
          <a:ext cx="3943350" cy="595877"/>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t>• Identify the advantages and drawbacks of different structures for corporate ventures</a:t>
          </a:r>
          <a:endParaRPr lang="en-US" sz="1500" kern="1200"/>
        </a:p>
      </dsp:txBody>
      <dsp:txXfrm>
        <a:off x="29088" y="4081186"/>
        <a:ext cx="3885174" cy="53770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CADAC9-9D64-5A4B-8EAD-9420D64AA043}" type="datetimeFigureOut">
              <a:rPr lang="en-US" smtClean="0"/>
              <a:t>11/2/24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C58A31-CE2A-9D43-9EBF-36D46E62D208}" type="slidenum">
              <a:rPr lang="en-US" smtClean="0"/>
              <a:t>‹#›</a:t>
            </a:fld>
            <a:endParaRPr lang="en-US"/>
          </a:p>
        </p:txBody>
      </p:sp>
    </p:spTree>
    <p:extLst>
      <p:ext uri="{BB962C8B-B14F-4D97-AF65-F5344CB8AC3E}">
        <p14:creationId xmlns:p14="http://schemas.microsoft.com/office/powerpoint/2010/main" val="2340402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videos </a:t>
            </a:r>
          </a:p>
        </p:txBody>
      </p:sp>
      <p:sp>
        <p:nvSpPr>
          <p:cNvPr id="4" name="Slide Number Placeholder 3"/>
          <p:cNvSpPr>
            <a:spLocks noGrp="1"/>
          </p:cNvSpPr>
          <p:nvPr>
            <p:ph type="sldNum" sz="quarter" idx="5"/>
          </p:nvPr>
        </p:nvSpPr>
        <p:spPr/>
        <p:txBody>
          <a:bodyPr/>
          <a:lstStyle/>
          <a:p>
            <a:fld id="{C43EEF7A-835F-4F95-B48D-CD2F7A44E3BA}" type="slidenum">
              <a:rPr lang="en-GB" smtClean="0"/>
              <a:pPr/>
              <a:t>35</a:t>
            </a:fld>
            <a:endParaRPr lang="en-GB"/>
          </a:p>
        </p:txBody>
      </p:sp>
    </p:spTree>
    <p:extLst>
      <p:ext uri="{BB962C8B-B14F-4D97-AF65-F5344CB8AC3E}">
        <p14:creationId xmlns:p14="http://schemas.microsoft.com/office/powerpoint/2010/main" val="12389381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0F691BCA-39DE-43DC-9494-6B239780712B}" type="datetimeFigureOut">
              <a:rPr lang="en-GB" smtClean="0"/>
              <a:pPr/>
              <a:t>02/11/2024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272278B6-7313-4687-B895-F22A260F1975}" type="slidenum">
              <a:rPr lang="en-GB" smtClean="0"/>
              <a:pPr/>
              <a:t>‹#›</a:t>
            </a:fld>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F691BCA-39DE-43DC-9494-6B239780712B}" type="datetimeFigureOut">
              <a:rPr lang="en-GB" smtClean="0"/>
              <a:pPr/>
              <a:t>02/11/2024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272278B6-7313-4687-B895-F22A260F1975}" type="slidenum">
              <a:rPr lang="en-GB" smtClean="0"/>
              <a:pPr/>
              <a:t>‹#›</a:t>
            </a:fld>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691BCA-39DE-43DC-9494-6B239780712B}" type="datetimeFigureOut">
              <a:rPr lang="en-GB" smtClean="0"/>
              <a:pPr/>
              <a:t>02/11/2024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272278B6-7313-4687-B895-F22A260F1975}" type="slidenum">
              <a:rPr lang="en-GB" smtClean="0"/>
              <a:pPr/>
              <a:t>‹#›</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0F691BCA-39DE-43DC-9494-6B239780712B}" type="datetimeFigureOut">
              <a:rPr lang="en-GB" smtClean="0"/>
              <a:pPr/>
              <a:t>02/11/2024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272278B6-7313-4687-B895-F22A260F1975}" type="slidenum">
              <a:rPr lang="en-GB" smtClean="0"/>
              <a:pPr/>
              <a:t>‹#›</a:t>
            </a:fld>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0F691BCA-39DE-43DC-9494-6B239780712B}" type="datetimeFigureOut">
              <a:rPr lang="en-GB" smtClean="0"/>
              <a:pPr/>
              <a:t>02/11/2024</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272278B6-7313-4687-B895-F22A260F1975}" type="slidenum">
              <a:rPr lang="en-GB" smtClean="0"/>
              <a:pPr/>
              <a:t>‹#›</a:t>
            </a:fld>
            <a:endParaRPr lang="en-GB"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0F691BCA-39DE-43DC-9494-6B239780712B}" type="datetimeFigureOut">
              <a:rPr lang="en-GB" smtClean="0"/>
              <a:pPr/>
              <a:t>02/11/2024</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272278B6-7313-4687-B895-F22A260F1975}" type="slidenum">
              <a:rPr lang="en-GB" smtClean="0"/>
              <a:pPr/>
              <a:t>‹#›</a:t>
            </a:fld>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691BCA-39DE-43DC-9494-6B239780712B}" type="datetimeFigureOut">
              <a:rPr lang="en-GB" smtClean="0"/>
              <a:pPr/>
              <a:t>02/11/2024</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272278B6-7313-4687-B895-F22A260F1975}" type="slidenum">
              <a:rPr lang="en-GB" smtClean="0"/>
              <a:pPr/>
              <a:t>‹#›</a:t>
            </a:fld>
            <a:endParaRPr lang="en-GB"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691BCA-39DE-43DC-9494-6B239780712B}" type="datetimeFigureOut">
              <a:rPr lang="en-GB" smtClean="0"/>
              <a:pPr/>
              <a:t>02/11/2024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272278B6-7313-4687-B895-F22A260F1975}" type="slidenum">
              <a:rPr lang="en-GB" smtClean="0"/>
              <a:pPr/>
              <a:t>‹#›</a:t>
            </a:fld>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691BCA-39DE-43DC-9494-6B239780712B}" type="datetimeFigureOut">
              <a:rPr lang="en-GB" smtClean="0"/>
              <a:pPr/>
              <a:t>02/11/2024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272278B6-7313-4687-B895-F22A260F1975}" type="slidenum">
              <a:rPr lang="en-GB" smtClean="0"/>
              <a:pPr/>
              <a:t>‹#›</a:t>
            </a:fld>
            <a:endParaRPr lang="en-GB"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F691BCA-39DE-43DC-9494-6B239780712B}" type="datetimeFigureOut">
              <a:rPr lang="en-GB" smtClean="0"/>
              <a:pPr/>
              <a:t>02/11/2024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272278B6-7313-4687-B895-F22A260F1975}" type="slidenum">
              <a:rPr lang="en-GB" smtClean="0"/>
              <a:pPr/>
              <a:t>‹#›</a:t>
            </a:fld>
            <a:endParaRPr lang="en-GB"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F691BCA-39DE-43DC-9494-6B239780712B}" type="datetimeFigureOut">
              <a:rPr lang="en-GB" smtClean="0"/>
              <a:pPr/>
              <a:t>02/11/2024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272278B6-7313-4687-B895-F22A260F1975}" type="slidenum">
              <a:rPr lang="en-GB" smtClean="0"/>
              <a:pPr/>
              <a:t>‹#›</a:t>
            </a:fld>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691BCA-39DE-43DC-9494-6B239780712B}" type="datetimeFigureOut">
              <a:rPr lang="en-GB" smtClean="0"/>
              <a:pPr/>
              <a:t>02/11/2024</a:t>
            </a:fld>
            <a:endParaRPr lang="en-GB"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2278B6-7313-4687-B895-F22A260F1975}" type="slidenum">
              <a:rPr lang="en-GB" smtClean="0"/>
              <a:pPr/>
              <a:t>‹#›</a:t>
            </a:fld>
            <a:endParaRPr lang="en-GB"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hyperlink" Target="https://www.youtube.com/watch?v=n5EZnLIibpA" TargetMode="External"/><Relationship Id="rId3" Type="http://schemas.openxmlformats.org/officeDocument/2006/relationships/image" Target="../media/image13.jpeg"/><Relationship Id="rId7" Type="http://schemas.openxmlformats.org/officeDocument/2006/relationships/hyperlink" Target="https://www.youtube.com/watch?v=bOV7Aa3v3UQ"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johnbessant.org/resources/media-resources/the-innovators-media-library/" TargetMode="External"/><Relationship Id="rId5" Type="http://schemas.openxmlformats.org/officeDocument/2006/relationships/hyperlink" Target="https://youtu.be/e8YRB5299PE" TargetMode="External"/><Relationship Id="rId4" Type="http://schemas.openxmlformats.org/officeDocument/2006/relationships/hyperlink" Target="https://youtu.be/7e2zXQ3YfYs" TargetMode="External"/><Relationship Id="rId9" Type="http://schemas.openxmlformats.org/officeDocument/2006/relationships/hyperlink" Target="https://www.youtube.com/watch?v=wuiXe-F4tJc&amp;feature=youtu.be" TargetMode="External"/></Relationships>
</file>

<file path=ppt/slides/_rels/slide36.xml.rels><?xml version="1.0" encoding="UTF-8" standalone="yes"?>
<Relationships xmlns="http://schemas.openxmlformats.org/package/2006/relationships"><Relationship Id="rId2" Type="http://schemas.openxmlformats.org/officeDocument/2006/relationships/hyperlink" Target="https://www.youtube.com/watch?v=lJjILQu2xM8" TargetMode="Externa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hyperlink" Target="https://www.ted.com/talks/paul_tasner_how_i_became_an_entrepreneur_at_66/reading-list" TargetMode="Externa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www.johnbessant.org/_files/ugd/6ba33a_d1646b8500e7485d8be351872f5980e8.pdf"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www.johnbessant.org/cases"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www.johnbessant.org/tools"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5A8AFA4-5C32-4100-9C6D-839A47E15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6B5F253-7949-47C2-9DBD-1570ECDA2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4349" y="685800"/>
            <a:ext cx="4066277" cy="54864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251319" y="1254763"/>
            <a:ext cx="2583711" cy="2481729"/>
          </a:xfrm>
        </p:spPr>
        <p:txBody>
          <a:bodyPr vert="horz" lIns="91440" tIns="45720" rIns="91440" bIns="45720" rtlCol="0" anchor="b">
            <a:normAutofit/>
          </a:bodyPr>
          <a:lstStyle/>
          <a:p>
            <a:pPr>
              <a:lnSpc>
                <a:spcPct val="90000"/>
              </a:lnSpc>
            </a:pPr>
            <a:r>
              <a:rPr lang="en-US" sz="2800" b="1">
                <a:solidFill>
                  <a:srgbClr val="595959"/>
                </a:solidFill>
              </a:rPr>
              <a:t>Teaching Resources and Instructors’ Guidelines</a:t>
            </a:r>
            <a:endParaRPr lang="en-US" sz="2800" u="sng">
              <a:solidFill>
                <a:srgbClr val="595959"/>
              </a:solidFill>
            </a:endParaRPr>
          </a:p>
        </p:txBody>
      </p:sp>
      <p:sp>
        <p:nvSpPr>
          <p:cNvPr id="5" name="Rectangle 4"/>
          <p:cNvSpPr/>
          <p:nvPr/>
        </p:nvSpPr>
        <p:spPr>
          <a:xfrm>
            <a:off x="1386884" y="4046453"/>
            <a:ext cx="2312581" cy="1785506"/>
          </a:xfrm>
          <a:prstGeom prst="rect">
            <a:avLst/>
          </a:prstGeom>
        </p:spPr>
        <p:txBody>
          <a:bodyPr vert="horz" lIns="91440" tIns="45720" rIns="91440" bIns="45720" rtlCol="0" anchor="t">
            <a:normAutofit/>
          </a:bodyPr>
          <a:lstStyle/>
          <a:p>
            <a:pPr algn="ctr">
              <a:lnSpc>
                <a:spcPct val="90000"/>
              </a:lnSpc>
              <a:spcBef>
                <a:spcPts val="1000"/>
              </a:spcBef>
            </a:pPr>
            <a:r>
              <a:rPr lang="en-US" sz="1200">
                <a:solidFill>
                  <a:srgbClr val="595959"/>
                </a:solidFill>
              </a:rPr>
              <a:t>Chapter 12: Promoting entrepreneurship and new ventures</a:t>
            </a:r>
          </a:p>
        </p:txBody>
      </p:sp>
      <p:pic>
        <p:nvPicPr>
          <p:cNvPr id="3" name="Picture 2">
            <a:extLst>
              <a:ext uri="{FF2B5EF4-FFF2-40B4-BE49-F238E27FC236}">
                <a16:creationId xmlns:a16="http://schemas.microsoft.com/office/drawing/2014/main" id="{429A031D-C4F9-4835-73A8-343FE2BAF022}"/>
              </a:ext>
            </a:extLst>
          </p:cNvPr>
          <p:cNvPicPr>
            <a:picLocks noChangeAspect="1"/>
          </p:cNvPicPr>
          <p:nvPr/>
        </p:nvPicPr>
        <p:blipFill>
          <a:blip r:embed="rId2">
            <a:extLst>
              <a:ext uri="{28A0092B-C50C-407E-A947-70E740481C1C}">
                <a14:useLocalDpi xmlns:a14="http://schemas.microsoft.com/office/drawing/2010/main" val="0"/>
              </a:ext>
            </a:extLst>
          </a:blip>
          <a:srcRect l="2202" r="22522"/>
          <a:stretch/>
        </p:blipFill>
        <p:spPr>
          <a:xfrm>
            <a:off x="4580627" y="685799"/>
            <a:ext cx="4057650" cy="5486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15125" y="1153572"/>
            <a:ext cx="2400300" cy="4461163"/>
          </a:xfrm>
        </p:spPr>
        <p:txBody>
          <a:bodyPr vert="horz" lIns="91440" tIns="45720" rIns="91440" bIns="45720" rtlCol="0" anchor="ctr">
            <a:normAutofit/>
          </a:bodyPr>
          <a:lstStyle/>
          <a:p>
            <a:pPr algn="l">
              <a:lnSpc>
                <a:spcPct val="90000"/>
              </a:lnSpc>
            </a:pPr>
            <a:r>
              <a:rPr lang="en-US" sz="2400" b="1" kern="1200">
                <a:solidFill>
                  <a:srgbClr val="FFFFFF"/>
                </a:solidFill>
                <a:latin typeface="+mj-lt"/>
                <a:ea typeface="+mj-ea"/>
                <a:cs typeface="+mj-cs"/>
              </a:rPr>
              <a:t>Chapter 12: Promoting entrepreneurship and new ventures</a:t>
            </a:r>
            <a:endParaRPr lang="en-US" sz="2400" kern="1200">
              <a:solidFill>
                <a:srgbClr val="FFFFFF"/>
              </a:solidFill>
              <a:latin typeface="+mj-lt"/>
              <a:ea typeface="+mj-ea"/>
              <a:cs typeface="+mj-cs"/>
            </a:endParaRPr>
          </a:p>
        </p:txBody>
      </p:sp>
      <p:sp>
        <p:nvSpPr>
          <p:cNvPr id="16" name="Arc 1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Title 1"/>
          <p:cNvSpPr txBox="1">
            <a:spLocks/>
          </p:cNvSpPr>
          <p:nvPr/>
        </p:nvSpPr>
        <p:spPr>
          <a:xfrm>
            <a:off x="3335481" y="591344"/>
            <a:ext cx="5179868" cy="5585619"/>
          </a:xfrm>
          <a:prstGeom prst="rect">
            <a:avLst/>
          </a:prstGeom>
        </p:spPr>
        <p:txBody>
          <a:bodyPr vert="horz" lIns="91440" tIns="45720" rIns="91440" bIns="45720" rtlCol="0" anchor="ctr">
            <a:normAutofit/>
          </a:bodyPr>
          <a:lstStyle/>
          <a:p>
            <a:pPr marL="0" marR="0" lvl="0" indent="-228600" fontAlgn="auto">
              <a:lnSpc>
                <a:spcPct val="90000"/>
              </a:lnSpc>
              <a:spcAft>
                <a:spcPts val="600"/>
              </a:spcAft>
              <a:buClrTx/>
              <a:buSzTx/>
              <a:buFont typeface="Arial" panose="020B0604020202020204" pitchFamily="34" charset="0"/>
              <a:buChar char="•"/>
              <a:tabLst/>
              <a:defRPr/>
            </a:pPr>
            <a:endParaRPr kumimoji="0" lang="en-US" b="1" u="none" strike="noStrike" cap="none" spc="0" normalizeH="0" baseline="0" noProof="0">
              <a:ln>
                <a:noFill/>
              </a:ln>
              <a:effectLst/>
              <a:uLnTx/>
              <a:uFillTx/>
            </a:endParaRPr>
          </a:p>
          <a:p>
            <a:pPr indent="-228600">
              <a:lnSpc>
                <a:spcPct val="90000"/>
              </a:lnSpc>
              <a:spcAft>
                <a:spcPts val="600"/>
              </a:spcAft>
              <a:buFont typeface="Arial" panose="020B0604020202020204" pitchFamily="34" charset="0"/>
              <a:buChar char="•"/>
            </a:pPr>
            <a:r>
              <a:rPr lang="en-US" i="1"/>
              <a:t> In the following PowerPoint slides you will find the key headings from </a:t>
            </a:r>
            <a:r>
              <a:rPr lang="en-US" b="1"/>
              <a:t>CHAPTER 12</a:t>
            </a:r>
            <a:r>
              <a:rPr lang="en-US" i="1"/>
              <a:t> together with the main illustrations, tables, etc.  </a:t>
            </a:r>
          </a:p>
          <a:p>
            <a:pPr indent="-228600">
              <a:lnSpc>
                <a:spcPct val="90000"/>
              </a:lnSpc>
              <a:spcAft>
                <a:spcPts val="600"/>
              </a:spcAft>
              <a:buFont typeface="Arial" panose="020B0604020202020204" pitchFamily="34" charset="0"/>
              <a:buChar char="•"/>
            </a:pPr>
            <a:endParaRPr lang="en-US" i="1"/>
          </a:p>
          <a:p>
            <a:pPr indent="-228600">
              <a:lnSpc>
                <a:spcPct val="90000"/>
              </a:lnSpc>
              <a:spcAft>
                <a:spcPts val="600"/>
              </a:spcAft>
              <a:buFont typeface="Arial" panose="020B0604020202020204" pitchFamily="34" charset="0"/>
              <a:buChar char="•"/>
            </a:pPr>
            <a:r>
              <a:rPr lang="en-US" i="1"/>
              <a:t>There are also slides summarizing the key messages in bullet-point fashion, and a wide range of activities which you can use to help students explore around these themes.  </a:t>
            </a:r>
          </a:p>
          <a:p>
            <a:pPr indent="-228600">
              <a:lnSpc>
                <a:spcPct val="90000"/>
              </a:lnSpc>
              <a:spcAft>
                <a:spcPts val="600"/>
              </a:spcAft>
              <a:buFont typeface="Arial" panose="020B0604020202020204" pitchFamily="34" charset="0"/>
              <a:buChar char="•"/>
            </a:pPr>
            <a:endParaRPr lang="en-US" i="1"/>
          </a:p>
          <a:p>
            <a:pPr indent="-228600">
              <a:lnSpc>
                <a:spcPct val="90000"/>
              </a:lnSpc>
              <a:spcAft>
                <a:spcPts val="600"/>
              </a:spcAft>
              <a:buFont typeface="Arial" panose="020B0604020202020204" pitchFamily="34" charset="0"/>
              <a:buChar char="•"/>
            </a:pPr>
            <a:r>
              <a:rPr lang="en-US" i="1"/>
              <a:t>Finally there are some reflection questions which can be used as the basis for discussion or assignments.</a:t>
            </a:r>
          </a:p>
          <a:p>
            <a:pPr indent="-228600">
              <a:lnSpc>
                <a:spcPct val="90000"/>
              </a:lnSpc>
              <a:spcAft>
                <a:spcPts val="600"/>
              </a:spcAft>
              <a:buFont typeface="Arial" panose="020B0604020202020204" pitchFamily="34" charset="0"/>
              <a:buChar char="•"/>
            </a:pPr>
            <a:endParaRPr lang="en-US" i="1"/>
          </a:p>
        </p:txBody>
      </p:sp>
      <p:cxnSp>
        <p:nvCxnSpPr>
          <p:cNvPr id="7" name="Straight Connector 6"/>
          <p:cNvCxnSpPr/>
          <p:nvPr/>
        </p:nvCxnSpPr>
        <p:spPr>
          <a:xfrm>
            <a:off x="458167" y="1507529"/>
            <a:ext cx="8478016" cy="1588"/>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360B8-DECB-114F-847F-9F170A4C6ACC}"/>
              </a:ext>
            </a:extLst>
          </p:cNvPr>
          <p:cNvSpPr>
            <a:spLocks noGrp="1"/>
          </p:cNvSpPr>
          <p:nvPr>
            <p:ph type="title"/>
          </p:nvPr>
        </p:nvSpPr>
        <p:spPr>
          <a:xfrm>
            <a:off x="389658" y="621792"/>
            <a:ext cx="3886128" cy="5504688"/>
          </a:xfrm>
        </p:spPr>
        <p:txBody>
          <a:bodyPr>
            <a:normAutofit/>
          </a:bodyPr>
          <a:lstStyle/>
          <a:p>
            <a:r>
              <a:rPr lang="en-US" sz="4200"/>
              <a:t>Learning objectives</a:t>
            </a:r>
          </a:p>
        </p:txBody>
      </p:sp>
      <p:sp>
        <p:nvSpPr>
          <p:cNvPr id="9" name="Rectangle 8">
            <a:extLst>
              <a:ext uri="{FF2B5EF4-FFF2-40B4-BE49-F238E27FC236}">
                <a16:creationId xmlns:a16="http://schemas.microsoft.com/office/drawing/2014/main" id="{2F56F8EA-3356-4455-9899-320874F6E4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4593" cy="6858000"/>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dirty="0">
              <a:ln>
                <a:noFill/>
              </a:ln>
              <a:solidFill>
                <a:prstClr val="white"/>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id="{2EA00293-A027-42A7-95B8-7C5E28504558}"/>
              </a:ext>
            </a:extLst>
          </p:cNvPr>
          <p:cNvGraphicFramePr>
            <a:graphicFrameLocks noGrp="1"/>
          </p:cNvGraphicFramePr>
          <p:nvPr>
            <p:ph idx="1"/>
            <p:extLst>
              <p:ext uri="{D42A27DB-BD31-4B8C-83A1-F6EECF244321}">
                <p14:modId xmlns:p14="http://schemas.microsoft.com/office/powerpoint/2010/main" val="3906098433"/>
              </p:ext>
            </p:extLst>
          </p:nvPr>
        </p:nvGraphicFramePr>
        <p:xfrm>
          <a:off x="4574286" y="621792"/>
          <a:ext cx="394335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53050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301E07F-4F79-4B58-8698-EF24DC1ECD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Arc 13">
            <a:extLst>
              <a:ext uri="{FF2B5EF4-FFF2-40B4-BE49-F238E27FC236}">
                <a16:creationId xmlns:a16="http://schemas.microsoft.com/office/drawing/2014/main" id="{E58B2195-5055-402F-A3E7-53FF0E498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4377" y="775849"/>
            <a:ext cx="2240924"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2FF829E-164C-C647-862D-C0E45AB0C1E5}"/>
              </a:ext>
            </a:extLst>
          </p:cNvPr>
          <p:cNvSpPr>
            <a:spLocks noGrp="1"/>
          </p:cNvSpPr>
          <p:nvPr>
            <p:ph type="title"/>
          </p:nvPr>
        </p:nvSpPr>
        <p:spPr>
          <a:xfrm>
            <a:off x="5310553" y="647593"/>
            <a:ext cx="3350844" cy="3060541"/>
          </a:xfrm>
        </p:spPr>
        <p:txBody>
          <a:bodyPr vert="horz" lIns="91440" tIns="45720" rIns="91440" bIns="45720" rtlCol="0" anchor="b">
            <a:normAutofit/>
          </a:bodyPr>
          <a:lstStyle/>
          <a:p>
            <a:pPr>
              <a:lnSpc>
                <a:spcPct val="90000"/>
              </a:lnSpc>
            </a:pPr>
            <a:r>
              <a:rPr lang="en-US" sz="4700" kern="1200">
                <a:solidFill>
                  <a:srgbClr val="FFFFFF"/>
                </a:solidFill>
                <a:latin typeface="+mj-lt"/>
                <a:ea typeface="+mj-ea"/>
                <a:cs typeface="+mj-cs"/>
              </a:rPr>
              <a:t>Core themes and material from the book</a:t>
            </a:r>
          </a:p>
        </p:txBody>
      </p:sp>
      <p:sp>
        <p:nvSpPr>
          <p:cNvPr id="16" name="Oval 15">
            <a:extLst>
              <a:ext uri="{FF2B5EF4-FFF2-40B4-BE49-F238E27FC236}">
                <a16:creationId xmlns:a16="http://schemas.microsoft.com/office/drawing/2014/main" id="{9EE6F773-742A-491A-9A00-A2A150DF5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8276" y="366810"/>
            <a:ext cx="4593285" cy="61243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Books">
            <a:extLst>
              <a:ext uri="{FF2B5EF4-FFF2-40B4-BE49-F238E27FC236}">
                <a16:creationId xmlns:a16="http://schemas.microsoft.com/office/drawing/2014/main" id="{047FB8FE-B6DD-411D-B9FE-1BD2B5EA19B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0060" y="1834479"/>
            <a:ext cx="3189041" cy="3189041"/>
          </a:xfrm>
          <a:custGeom>
            <a:avLst/>
            <a:gdLst/>
            <a:ahLst/>
            <a:cxnLst/>
            <a:rect l="l" t="t" r="r" b="b"/>
            <a:pathLst>
              <a:path w="4273177" h="4470400">
                <a:moveTo>
                  <a:pt x="75080" y="0"/>
                </a:moveTo>
                <a:lnTo>
                  <a:pt x="4198097" y="0"/>
                </a:lnTo>
                <a:cubicBezTo>
                  <a:pt x="4239563" y="0"/>
                  <a:pt x="4273177" y="33614"/>
                  <a:pt x="4273177" y="75080"/>
                </a:cubicBezTo>
                <a:lnTo>
                  <a:pt x="4273177" y="4395320"/>
                </a:lnTo>
                <a:cubicBezTo>
                  <a:pt x="4273177" y="4436786"/>
                  <a:pt x="4239563" y="4470400"/>
                  <a:pt x="4198097" y="4470400"/>
                </a:cubicBezTo>
                <a:lnTo>
                  <a:pt x="75080" y="4470400"/>
                </a:lnTo>
                <a:cubicBezTo>
                  <a:pt x="33614" y="4470400"/>
                  <a:pt x="0" y="4436786"/>
                  <a:pt x="0" y="4395320"/>
                </a:cubicBezTo>
                <a:lnTo>
                  <a:pt x="0" y="75080"/>
                </a:lnTo>
                <a:cubicBezTo>
                  <a:pt x="0" y="33614"/>
                  <a:pt x="33614" y="0"/>
                  <a:pt x="75080" y="0"/>
                </a:cubicBezTo>
                <a:close/>
              </a:path>
            </a:pathLst>
          </a:custGeom>
        </p:spPr>
      </p:pic>
    </p:spTree>
    <p:extLst>
      <p:ext uri="{BB962C8B-B14F-4D97-AF65-F5344CB8AC3E}">
        <p14:creationId xmlns:p14="http://schemas.microsoft.com/office/powerpoint/2010/main" val="4065811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0FB5B-F106-EF44-A3F5-D55C0A987636}"/>
              </a:ext>
            </a:extLst>
          </p:cNvPr>
          <p:cNvSpPr>
            <a:spLocks noGrp="1"/>
          </p:cNvSpPr>
          <p:nvPr>
            <p:ph type="title"/>
          </p:nvPr>
        </p:nvSpPr>
        <p:spPr/>
        <p:txBody>
          <a:bodyPr/>
          <a:lstStyle/>
          <a:p>
            <a:r>
              <a:rPr lang="en-US" dirty="0"/>
              <a:t>Options in venturing</a:t>
            </a:r>
          </a:p>
        </p:txBody>
      </p:sp>
      <p:pic>
        <p:nvPicPr>
          <p:cNvPr id="5" name="Picture 4" descr="Table&#10;&#10;Description automatically generated">
            <a:extLst>
              <a:ext uri="{FF2B5EF4-FFF2-40B4-BE49-F238E27FC236}">
                <a16:creationId xmlns:a16="http://schemas.microsoft.com/office/drawing/2014/main" id="{E97B41BB-E093-6749-B158-48C844B25C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60" y="1417638"/>
            <a:ext cx="8255000" cy="5130800"/>
          </a:xfrm>
          <a:prstGeom prst="rect">
            <a:avLst/>
          </a:prstGeom>
        </p:spPr>
      </p:pic>
    </p:spTree>
    <p:extLst>
      <p:ext uri="{BB962C8B-B14F-4D97-AF65-F5344CB8AC3E}">
        <p14:creationId xmlns:p14="http://schemas.microsoft.com/office/powerpoint/2010/main" val="3104702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988840"/>
            <a:ext cx="8229600" cy="4525963"/>
          </a:xfrm>
        </p:spPr>
        <p:txBody>
          <a:bodyPr/>
          <a:lstStyle/>
          <a:p>
            <a:r>
              <a:rPr lang="en-US" dirty="0">
                <a:solidFill>
                  <a:schemeClr val="tx1">
                    <a:lumMod val="50000"/>
                    <a:lumOff val="50000"/>
                  </a:schemeClr>
                </a:solidFill>
              </a:rPr>
              <a:t>Lifestyle</a:t>
            </a:r>
            <a:r>
              <a:rPr lang="en-US" dirty="0"/>
              <a:t> entrepreneurs</a:t>
            </a:r>
          </a:p>
          <a:p>
            <a:r>
              <a:rPr lang="en-US" dirty="0">
                <a:solidFill>
                  <a:schemeClr val="tx1">
                    <a:lumMod val="50000"/>
                    <a:lumOff val="50000"/>
                  </a:schemeClr>
                </a:solidFill>
              </a:rPr>
              <a:t>Growth</a:t>
            </a:r>
            <a:r>
              <a:rPr lang="en-US" dirty="0"/>
              <a:t> entrepreneurs</a:t>
            </a:r>
            <a:endParaRPr lang="en-US" dirty="0">
              <a:solidFill>
                <a:schemeClr val="tx1">
                  <a:lumMod val="50000"/>
                  <a:lumOff val="50000"/>
                </a:schemeClr>
              </a:solidFill>
            </a:endParaRPr>
          </a:p>
          <a:p>
            <a:r>
              <a:rPr lang="en-US" dirty="0">
                <a:solidFill>
                  <a:schemeClr val="tx1">
                    <a:lumMod val="50000"/>
                    <a:lumOff val="50000"/>
                  </a:schemeClr>
                </a:solidFill>
              </a:rPr>
              <a:t>Innovative </a:t>
            </a:r>
            <a:r>
              <a:rPr lang="en-US" dirty="0"/>
              <a:t>entrepreneurs</a:t>
            </a:r>
            <a:endParaRPr lang="en-US" dirty="0">
              <a:solidFill>
                <a:schemeClr val="tx1">
                  <a:lumMod val="50000"/>
                  <a:lumOff val="50000"/>
                </a:schemeClr>
              </a:solidFill>
            </a:endParaRPr>
          </a:p>
          <a:p>
            <a:r>
              <a:rPr lang="en-US" dirty="0">
                <a:solidFill>
                  <a:schemeClr val="tx1">
                    <a:lumMod val="50000"/>
                    <a:lumOff val="50000"/>
                  </a:schemeClr>
                </a:solidFill>
              </a:rPr>
              <a:t>Socially-motivated </a:t>
            </a:r>
            <a:r>
              <a:rPr lang="en-US" dirty="0"/>
              <a:t>entrepreneurs</a:t>
            </a:r>
          </a:p>
        </p:txBody>
      </p:sp>
      <p:cxnSp>
        <p:nvCxnSpPr>
          <p:cNvPr id="4" name="Straight Connector 3"/>
          <p:cNvCxnSpPr/>
          <p:nvPr/>
        </p:nvCxnSpPr>
        <p:spPr>
          <a:xfrm>
            <a:off x="458167" y="1448303"/>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8" name="Title 1"/>
          <p:cNvSpPr>
            <a:spLocks noGrp="1"/>
          </p:cNvSpPr>
          <p:nvPr>
            <p:ph type="title"/>
          </p:nvPr>
        </p:nvSpPr>
        <p:spPr>
          <a:xfrm>
            <a:off x="323528" y="188640"/>
            <a:ext cx="8229600" cy="1143000"/>
          </a:xfrm>
        </p:spPr>
        <p:txBody>
          <a:bodyPr>
            <a:noAutofit/>
          </a:bodyPr>
          <a:lstStyle/>
          <a:p>
            <a:pPr lvl="0">
              <a:defRPr/>
            </a:pPr>
            <a:r>
              <a:rPr lang="en-GB" sz="3600" b="1" dirty="0">
                <a:solidFill>
                  <a:srgbClr val="008000"/>
                </a:solidFill>
              </a:rPr>
              <a:t>Motives for starting new ventures</a:t>
            </a:r>
          </a:p>
        </p:txBody>
      </p:sp>
      <p:pic>
        <p:nvPicPr>
          <p:cNvPr id="39938" name="Picture 2" descr="Image result for new venture"/>
          <p:cNvPicPr>
            <a:picLocks noChangeAspect="1" noChangeArrowheads="1"/>
          </p:cNvPicPr>
          <p:nvPr/>
        </p:nvPicPr>
        <p:blipFill>
          <a:blip r:embed="rId2" cstate="print"/>
          <a:srcRect/>
          <a:stretch>
            <a:fillRect/>
          </a:stretch>
        </p:blipFill>
        <p:spPr bwMode="auto">
          <a:xfrm>
            <a:off x="3131840" y="4509120"/>
            <a:ext cx="2880320" cy="1914020"/>
          </a:xfrm>
          <a:prstGeom prst="rect">
            <a:avLst/>
          </a:prstGeom>
          <a:noFill/>
        </p:spPr>
      </p:pic>
    </p:spTree>
    <p:extLst>
      <p:ext uri="{BB962C8B-B14F-4D97-AF65-F5344CB8AC3E}">
        <p14:creationId xmlns:p14="http://schemas.microsoft.com/office/powerpoint/2010/main" val="2411838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9A7C1-D30D-7141-B943-B7C4BCBF952A}"/>
              </a:ext>
            </a:extLst>
          </p:cNvPr>
          <p:cNvSpPr>
            <a:spLocks noGrp="1"/>
          </p:cNvSpPr>
          <p:nvPr>
            <p:ph type="title"/>
          </p:nvPr>
        </p:nvSpPr>
        <p:spPr/>
        <p:txBody>
          <a:bodyPr/>
          <a:lstStyle/>
          <a:p>
            <a:r>
              <a:rPr lang="en-US" dirty="0"/>
              <a:t>Influential factors</a:t>
            </a:r>
          </a:p>
        </p:txBody>
      </p:sp>
      <p:pic>
        <p:nvPicPr>
          <p:cNvPr id="5" name="Picture 4" descr="Diagram&#10;&#10;Description automatically generated">
            <a:extLst>
              <a:ext uri="{FF2B5EF4-FFF2-40B4-BE49-F238E27FC236}">
                <a16:creationId xmlns:a16="http://schemas.microsoft.com/office/drawing/2014/main" id="{D44F7A0F-DE01-F640-A843-BF22ABF00A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3688" y="1605554"/>
            <a:ext cx="5833671" cy="4959415"/>
          </a:xfrm>
          <a:prstGeom prst="rect">
            <a:avLst/>
          </a:prstGeom>
        </p:spPr>
      </p:pic>
    </p:spTree>
    <p:extLst>
      <p:ext uri="{BB962C8B-B14F-4D97-AF65-F5344CB8AC3E}">
        <p14:creationId xmlns:p14="http://schemas.microsoft.com/office/powerpoint/2010/main" val="40724658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458167" y="303754"/>
            <a:ext cx="7686519"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rPr>
              <a:t>Motives for corporate venturing</a:t>
            </a:r>
            <a:endParaRPr lang="en-GB" sz="3600" b="1" dirty="0">
              <a:solidFill>
                <a:srgbClr val="008000"/>
              </a:solidFill>
            </a:endParaRPr>
          </a:p>
        </p:txBody>
      </p:sp>
      <p:sp>
        <p:nvSpPr>
          <p:cNvPr id="9" name="Rectangle 8"/>
          <p:cNvSpPr/>
          <p:nvPr/>
        </p:nvSpPr>
        <p:spPr>
          <a:xfrm>
            <a:off x="827584" y="1412776"/>
            <a:ext cx="8518336" cy="4401205"/>
          </a:xfrm>
          <a:prstGeom prst="rect">
            <a:avLst/>
          </a:prstGeom>
        </p:spPr>
        <p:txBody>
          <a:bodyPr wrap="square">
            <a:spAutoFit/>
          </a:bodyPr>
          <a:lstStyle/>
          <a:p>
            <a:r>
              <a:rPr lang="en-US" sz="2800" dirty="0"/>
              <a:t> </a:t>
            </a:r>
            <a:endParaRPr lang="en-GB" sz="2800" dirty="0"/>
          </a:p>
          <a:p>
            <a:r>
              <a:rPr lang="en-US" sz="2800" b="1" dirty="0"/>
              <a:t>• </a:t>
            </a:r>
            <a:r>
              <a:rPr lang="en-US" sz="2800" dirty="0">
                <a:solidFill>
                  <a:schemeClr val="tx1">
                    <a:lumMod val="50000"/>
                    <a:lumOff val="50000"/>
                  </a:schemeClr>
                </a:solidFill>
              </a:rPr>
              <a:t>Grow</a:t>
            </a:r>
            <a:r>
              <a:rPr lang="en-US" sz="2800" dirty="0"/>
              <a:t> the business. </a:t>
            </a:r>
            <a:endParaRPr lang="en-GB" sz="2800" dirty="0"/>
          </a:p>
          <a:p>
            <a:r>
              <a:rPr lang="en-US" sz="2800" b="1" dirty="0"/>
              <a:t>•</a:t>
            </a:r>
            <a:r>
              <a:rPr lang="en-US" sz="2800" b="1" dirty="0">
                <a:solidFill>
                  <a:schemeClr val="tx1">
                    <a:lumMod val="50000"/>
                    <a:lumOff val="50000"/>
                  </a:schemeClr>
                </a:solidFill>
              </a:rPr>
              <a:t> </a:t>
            </a:r>
            <a:r>
              <a:rPr lang="en-US" sz="2800" dirty="0">
                <a:solidFill>
                  <a:schemeClr val="tx1">
                    <a:lumMod val="50000"/>
                    <a:lumOff val="50000"/>
                  </a:schemeClr>
                </a:solidFill>
              </a:rPr>
              <a:t>Exploit </a:t>
            </a:r>
            <a:r>
              <a:rPr lang="en-US" sz="2800" dirty="0"/>
              <a:t>underutilized resources. </a:t>
            </a:r>
            <a:endParaRPr lang="en-GB" sz="2800" dirty="0"/>
          </a:p>
          <a:p>
            <a:r>
              <a:rPr lang="en-US" sz="2800" b="1" dirty="0"/>
              <a:t>•</a:t>
            </a:r>
            <a:r>
              <a:rPr lang="en-US" sz="2800" b="1" dirty="0">
                <a:solidFill>
                  <a:schemeClr val="tx1">
                    <a:lumMod val="50000"/>
                    <a:lumOff val="50000"/>
                  </a:schemeClr>
                </a:solidFill>
              </a:rPr>
              <a:t> </a:t>
            </a:r>
            <a:r>
              <a:rPr lang="en-US" sz="2800" dirty="0">
                <a:solidFill>
                  <a:schemeClr val="tx1">
                    <a:lumMod val="50000"/>
                    <a:lumOff val="50000"/>
                  </a:schemeClr>
                </a:solidFill>
              </a:rPr>
              <a:t>Introduce </a:t>
            </a:r>
            <a:r>
              <a:rPr lang="en-US" sz="2800" dirty="0"/>
              <a:t>pressure on internal suppliers.</a:t>
            </a:r>
            <a:endParaRPr lang="en-GB" sz="2800" dirty="0"/>
          </a:p>
          <a:p>
            <a:r>
              <a:rPr lang="en-US" sz="2800" b="1" dirty="0"/>
              <a:t>•</a:t>
            </a:r>
            <a:r>
              <a:rPr lang="en-US" sz="2800" b="1" dirty="0">
                <a:solidFill>
                  <a:schemeClr val="tx1">
                    <a:lumMod val="50000"/>
                    <a:lumOff val="50000"/>
                  </a:schemeClr>
                </a:solidFill>
              </a:rPr>
              <a:t> </a:t>
            </a:r>
            <a:r>
              <a:rPr lang="en-US" sz="2800" dirty="0">
                <a:solidFill>
                  <a:schemeClr val="tx1">
                    <a:lumMod val="50000"/>
                    <a:lumOff val="50000"/>
                  </a:schemeClr>
                </a:solidFill>
              </a:rPr>
              <a:t>Divest </a:t>
            </a:r>
            <a:r>
              <a:rPr lang="en-US" sz="2800" dirty="0"/>
              <a:t>non-core activities. </a:t>
            </a:r>
            <a:endParaRPr lang="en-GB" sz="2800" dirty="0"/>
          </a:p>
          <a:p>
            <a:r>
              <a:rPr lang="en-US" sz="2800" b="1" dirty="0"/>
              <a:t>• </a:t>
            </a:r>
            <a:r>
              <a:rPr lang="en-US" sz="2800" dirty="0">
                <a:solidFill>
                  <a:schemeClr val="tx1">
                    <a:lumMod val="50000"/>
                    <a:lumOff val="50000"/>
                  </a:schemeClr>
                </a:solidFill>
              </a:rPr>
              <a:t>Satisfy</a:t>
            </a:r>
            <a:r>
              <a:rPr lang="en-US" sz="2800" dirty="0"/>
              <a:t> managers’ ambitions. </a:t>
            </a:r>
            <a:endParaRPr lang="en-GB" sz="2800" dirty="0"/>
          </a:p>
          <a:p>
            <a:r>
              <a:rPr lang="en-US" sz="2800" b="1" dirty="0"/>
              <a:t>• </a:t>
            </a:r>
            <a:r>
              <a:rPr lang="en-US" sz="2800" dirty="0">
                <a:solidFill>
                  <a:schemeClr val="tx1">
                    <a:lumMod val="50000"/>
                    <a:lumOff val="50000"/>
                  </a:schemeClr>
                </a:solidFill>
              </a:rPr>
              <a:t>Spread the risk </a:t>
            </a:r>
            <a:r>
              <a:rPr lang="en-US" sz="2800" dirty="0"/>
              <a:t>and cost of product development.</a:t>
            </a:r>
            <a:endParaRPr lang="en-GB" sz="2800" dirty="0"/>
          </a:p>
          <a:p>
            <a:endParaRPr lang="en-GB" sz="2800" dirty="0"/>
          </a:p>
          <a:p>
            <a:r>
              <a:rPr lang="en-US" sz="2800" dirty="0"/>
              <a:t> </a:t>
            </a:r>
            <a:endParaRPr lang="en-GB" sz="2800" dirty="0"/>
          </a:p>
          <a:p>
            <a:endParaRPr lang="en-GB" sz="2800" dirty="0"/>
          </a:p>
        </p:txBody>
      </p:sp>
      <p:pic>
        <p:nvPicPr>
          <p:cNvPr id="38914" name="Picture 2" descr="Image result for new venture"/>
          <p:cNvPicPr>
            <a:picLocks noChangeAspect="1" noChangeArrowheads="1"/>
          </p:cNvPicPr>
          <p:nvPr/>
        </p:nvPicPr>
        <p:blipFill>
          <a:blip r:embed="rId2" cstate="print"/>
          <a:srcRect/>
          <a:stretch>
            <a:fillRect/>
          </a:stretch>
        </p:blipFill>
        <p:spPr bwMode="auto">
          <a:xfrm>
            <a:off x="3131840" y="4581128"/>
            <a:ext cx="3024336" cy="2016224"/>
          </a:xfrm>
          <a:prstGeom prst="rect">
            <a:avLst/>
          </a:prstGeom>
          <a:noFill/>
        </p:spPr>
      </p:pic>
    </p:spTree>
    <p:extLst>
      <p:ext uri="{BB962C8B-B14F-4D97-AF65-F5344CB8AC3E}">
        <p14:creationId xmlns:p14="http://schemas.microsoft.com/office/powerpoint/2010/main" val="3125062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458167" y="280890"/>
            <a:ext cx="7686519"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rPr>
              <a:t>Motives for corporate venturing</a:t>
            </a:r>
            <a:endParaRPr lang="en-GB" sz="3600" b="1" dirty="0">
              <a:solidFill>
                <a:srgbClr val="008000"/>
              </a:solidFill>
            </a:endParaRPr>
          </a:p>
        </p:txBody>
      </p:sp>
      <p:sp>
        <p:nvSpPr>
          <p:cNvPr id="9" name="Rectangle 8"/>
          <p:cNvSpPr/>
          <p:nvPr/>
        </p:nvSpPr>
        <p:spPr>
          <a:xfrm>
            <a:off x="395536" y="1628800"/>
            <a:ext cx="8518336" cy="5693866"/>
          </a:xfrm>
          <a:prstGeom prst="rect">
            <a:avLst/>
          </a:prstGeom>
        </p:spPr>
        <p:txBody>
          <a:bodyPr wrap="square">
            <a:spAutoFit/>
          </a:bodyPr>
          <a:lstStyle/>
          <a:p>
            <a:r>
              <a:rPr lang="en-US" sz="2800" dirty="0"/>
              <a:t> </a:t>
            </a:r>
            <a:endParaRPr lang="en-GB" sz="2800" dirty="0"/>
          </a:p>
          <a:p>
            <a:pPr marL="457200" indent="-457200">
              <a:buFont typeface="Arial"/>
              <a:buChar char="•"/>
            </a:pPr>
            <a:r>
              <a:rPr lang="en-US" sz="2800" dirty="0">
                <a:solidFill>
                  <a:schemeClr val="tx1">
                    <a:lumMod val="50000"/>
                    <a:lumOff val="50000"/>
                  </a:schemeClr>
                </a:solidFill>
              </a:rPr>
              <a:t>Combat </a:t>
            </a:r>
            <a:r>
              <a:rPr lang="en-US" sz="2800" dirty="0"/>
              <a:t>cyclical demands of mainstream activities.</a:t>
            </a:r>
            <a:endParaRPr lang="en-US" sz="2800" dirty="0">
              <a:solidFill>
                <a:schemeClr val="tx1">
                  <a:lumMod val="50000"/>
                  <a:lumOff val="50000"/>
                </a:schemeClr>
              </a:solidFill>
            </a:endParaRPr>
          </a:p>
          <a:p>
            <a:pPr marL="457200" indent="-457200">
              <a:buFont typeface="Arial"/>
              <a:buChar char="•"/>
            </a:pPr>
            <a:endParaRPr lang="en-US" sz="2800" dirty="0">
              <a:solidFill>
                <a:schemeClr val="tx1">
                  <a:lumMod val="50000"/>
                  <a:lumOff val="50000"/>
                </a:schemeClr>
              </a:solidFill>
            </a:endParaRPr>
          </a:p>
          <a:p>
            <a:pPr marL="457200" indent="-457200">
              <a:buFont typeface="Arial"/>
              <a:buChar char="•"/>
            </a:pPr>
            <a:r>
              <a:rPr lang="en-US" sz="2800" dirty="0">
                <a:solidFill>
                  <a:schemeClr val="tx1">
                    <a:lumMod val="50000"/>
                    <a:lumOff val="50000"/>
                  </a:schemeClr>
                </a:solidFill>
              </a:rPr>
              <a:t>Learn </a:t>
            </a:r>
            <a:r>
              <a:rPr lang="en-US" sz="2800" dirty="0"/>
              <a:t>about the process of venturing.</a:t>
            </a:r>
          </a:p>
          <a:p>
            <a:pPr marL="457200" indent="-457200">
              <a:buFont typeface="Arial"/>
              <a:buChar char="•"/>
            </a:pPr>
            <a:endParaRPr lang="en-GB" sz="2800" dirty="0">
              <a:solidFill>
                <a:schemeClr val="tx1">
                  <a:lumMod val="50000"/>
                  <a:lumOff val="50000"/>
                </a:schemeClr>
              </a:solidFill>
            </a:endParaRPr>
          </a:p>
          <a:p>
            <a:pPr marL="457200" indent="-457200">
              <a:buFont typeface="Arial"/>
              <a:buChar char="•"/>
            </a:pPr>
            <a:r>
              <a:rPr lang="en-US" sz="2800" dirty="0">
                <a:solidFill>
                  <a:schemeClr val="tx1">
                    <a:lumMod val="50000"/>
                    <a:lumOff val="50000"/>
                  </a:schemeClr>
                </a:solidFill>
              </a:rPr>
              <a:t>Diversify </a:t>
            </a:r>
            <a:r>
              <a:rPr lang="en-US" sz="2800" dirty="0"/>
              <a:t>the business.</a:t>
            </a:r>
            <a:endParaRPr lang="en-US" sz="2800" dirty="0">
              <a:solidFill>
                <a:schemeClr val="tx1">
                  <a:lumMod val="50000"/>
                  <a:lumOff val="50000"/>
                </a:schemeClr>
              </a:solidFill>
            </a:endParaRPr>
          </a:p>
          <a:p>
            <a:pPr marL="457200" indent="-457200">
              <a:buFont typeface="Arial"/>
              <a:buChar char="•"/>
            </a:pPr>
            <a:endParaRPr lang="en-GB" sz="2800" dirty="0">
              <a:solidFill>
                <a:schemeClr val="tx1">
                  <a:lumMod val="50000"/>
                  <a:lumOff val="50000"/>
                </a:schemeClr>
              </a:solidFill>
            </a:endParaRPr>
          </a:p>
          <a:p>
            <a:pPr marL="457200" indent="-457200">
              <a:buFont typeface="Arial"/>
              <a:buChar char="•"/>
            </a:pPr>
            <a:r>
              <a:rPr lang="en-US" sz="2800" dirty="0">
                <a:solidFill>
                  <a:schemeClr val="tx1">
                    <a:lumMod val="50000"/>
                    <a:lumOff val="50000"/>
                  </a:schemeClr>
                </a:solidFill>
              </a:rPr>
              <a:t>Develop </a:t>
            </a:r>
            <a:r>
              <a:rPr lang="en-US" sz="2800" dirty="0"/>
              <a:t>new technological or market competencies.</a:t>
            </a:r>
            <a:endParaRPr lang="en-GB" sz="2800" dirty="0"/>
          </a:p>
          <a:p>
            <a:r>
              <a:rPr lang="en-US" sz="2800" dirty="0"/>
              <a:t> </a:t>
            </a:r>
            <a:endParaRPr lang="en-GB" sz="2800" dirty="0"/>
          </a:p>
          <a:p>
            <a:r>
              <a:rPr lang="en-US" sz="2800" dirty="0"/>
              <a:t> </a:t>
            </a:r>
            <a:endParaRPr lang="en-GB" sz="2800" dirty="0"/>
          </a:p>
          <a:p>
            <a:endParaRPr lang="en-GB" sz="2800" dirty="0"/>
          </a:p>
          <a:p>
            <a:r>
              <a:rPr lang="en-US" sz="2800" dirty="0"/>
              <a:t> </a:t>
            </a:r>
            <a:endParaRPr lang="en-GB" sz="2800" dirty="0"/>
          </a:p>
          <a:p>
            <a:endParaRPr lang="en-GB" sz="2800" dirty="0"/>
          </a:p>
        </p:txBody>
      </p:sp>
    </p:spTree>
    <p:extLst>
      <p:ext uri="{BB962C8B-B14F-4D97-AF65-F5344CB8AC3E}">
        <p14:creationId xmlns:p14="http://schemas.microsoft.com/office/powerpoint/2010/main" val="1409122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458167" y="312295"/>
            <a:ext cx="7686519"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rPr>
              <a:t>Combat cyclical demand</a:t>
            </a:r>
            <a:endParaRPr lang="en-GB" sz="3600" b="1" dirty="0">
              <a:solidFill>
                <a:srgbClr val="008000"/>
              </a:solidFill>
            </a:endParaRPr>
          </a:p>
        </p:txBody>
      </p:sp>
      <p:sp>
        <p:nvSpPr>
          <p:cNvPr id="9" name="Rectangle 8"/>
          <p:cNvSpPr/>
          <p:nvPr/>
        </p:nvSpPr>
        <p:spPr>
          <a:xfrm>
            <a:off x="417847" y="1369651"/>
            <a:ext cx="8518336" cy="4832093"/>
          </a:xfrm>
          <a:prstGeom prst="rect">
            <a:avLst/>
          </a:prstGeom>
        </p:spPr>
        <p:txBody>
          <a:bodyPr wrap="square">
            <a:spAutoFit/>
          </a:bodyPr>
          <a:lstStyle/>
          <a:p>
            <a:r>
              <a:rPr lang="en-US" sz="2800" dirty="0"/>
              <a:t> </a:t>
            </a:r>
            <a:endParaRPr lang="en-GB" sz="2800" dirty="0"/>
          </a:p>
          <a:p>
            <a:r>
              <a:rPr lang="en-US" sz="2800" dirty="0">
                <a:solidFill>
                  <a:schemeClr val="tx1">
                    <a:lumMod val="50000"/>
                    <a:lumOff val="50000"/>
                  </a:schemeClr>
                </a:solidFill>
              </a:rPr>
              <a:t>Boeing</a:t>
            </a:r>
            <a:r>
              <a:rPr lang="en-US" sz="2800" dirty="0"/>
              <a:t> set up two groups, Boeing Technology Services (BTS) and Boeing Associated Products (BAP), specifically with the function of keeping engineering and laboratory resources more fully employed when its own requirements waned between major development programmes.</a:t>
            </a:r>
            <a:endParaRPr lang="en-GB" sz="2800" dirty="0"/>
          </a:p>
          <a:p>
            <a:endParaRPr lang="en-GB" sz="2800" dirty="0"/>
          </a:p>
          <a:p>
            <a:endParaRPr lang="en-GB" sz="2800" dirty="0"/>
          </a:p>
          <a:p>
            <a:r>
              <a:rPr lang="en-US" sz="2800" dirty="0"/>
              <a:t> </a:t>
            </a:r>
            <a:endParaRPr lang="en-GB" sz="2800" dirty="0"/>
          </a:p>
          <a:p>
            <a:endParaRPr lang="en-GB" sz="2800" dirty="0"/>
          </a:p>
        </p:txBody>
      </p:sp>
    </p:spTree>
    <p:extLst>
      <p:ext uri="{BB962C8B-B14F-4D97-AF65-F5344CB8AC3E}">
        <p14:creationId xmlns:p14="http://schemas.microsoft.com/office/powerpoint/2010/main" val="1645861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259632" y="260648"/>
            <a:ext cx="6301997"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Reported motives for diversification</a:t>
            </a:r>
            <a:endParaRPr lang="en-GB" sz="3600" b="1" dirty="0">
              <a:solidFill>
                <a:srgbClr val="008000"/>
              </a:solidFill>
              <a:latin typeface="+mj-lt"/>
              <a:ea typeface="+mj-ea"/>
              <a:cs typeface="+mj-cs"/>
            </a:endParaRPr>
          </a:p>
        </p:txBody>
      </p:sp>
      <p:pic>
        <p:nvPicPr>
          <p:cNvPr id="2" name="Picture 1" descr="Screen Shot 2015-04-11 at 17.04.20.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855" y="1689099"/>
            <a:ext cx="8810778" cy="4564217"/>
          </a:xfrm>
          <a:prstGeom prst="rect">
            <a:avLst/>
          </a:prstGeom>
        </p:spPr>
      </p:pic>
      <p:sp>
        <p:nvSpPr>
          <p:cNvPr id="3" name="TextBox 2">
            <a:extLst>
              <a:ext uri="{FF2B5EF4-FFF2-40B4-BE49-F238E27FC236}">
                <a16:creationId xmlns:a16="http://schemas.microsoft.com/office/drawing/2014/main" id="{D62E88A7-DBA0-FC45-8EEE-19B06D5E6FB3}"/>
              </a:ext>
            </a:extLst>
          </p:cNvPr>
          <p:cNvSpPr txBox="1"/>
          <p:nvPr/>
        </p:nvSpPr>
        <p:spPr>
          <a:xfrm>
            <a:off x="482272" y="2060848"/>
            <a:ext cx="1305521" cy="369332"/>
          </a:xfrm>
          <a:prstGeom prst="rect">
            <a:avLst/>
          </a:prstGeom>
          <a:solidFill>
            <a:schemeClr val="bg2"/>
          </a:solidFill>
        </p:spPr>
        <p:txBody>
          <a:bodyPr wrap="square" rtlCol="0">
            <a:spAutoFit/>
          </a:bodyPr>
          <a:lstStyle/>
          <a:p>
            <a:endParaRPr lang="en-US" dirty="0"/>
          </a:p>
        </p:txBody>
      </p:sp>
    </p:spTree>
    <p:extLst>
      <p:ext uri="{BB962C8B-B14F-4D97-AF65-F5344CB8AC3E}">
        <p14:creationId xmlns:p14="http://schemas.microsoft.com/office/powerpoint/2010/main" val="2018145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691680" y="260648"/>
            <a:ext cx="5642107"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Motives, structure and management of CVs</a:t>
            </a:r>
            <a:endParaRPr lang="en-GB" sz="3600" b="1" dirty="0">
              <a:solidFill>
                <a:srgbClr val="008000"/>
              </a:solidFill>
              <a:latin typeface="+mj-lt"/>
              <a:ea typeface="+mj-ea"/>
              <a:cs typeface="+mj-cs"/>
            </a:endParaRPr>
          </a:p>
        </p:txBody>
      </p:sp>
      <p:pic>
        <p:nvPicPr>
          <p:cNvPr id="3" name="Picture 2" descr="Screen Shot 2015-04-11 at 17.04.46.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8929" y="1790699"/>
            <a:ext cx="8884414" cy="4374127"/>
          </a:xfrm>
          <a:prstGeom prst="rect">
            <a:avLst/>
          </a:prstGeom>
        </p:spPr>
      </p:pic>
      <p:sp>
        <p:nvSpPr>
          <p:cNvPr id="2" name="TextBox 1">
            <a:extLst>
              <a:ext uri="{FF2B5EF4-FFF2-40B4-BE49-F238E27FC236}">
                <a16:creationId xmlns:a16="http://schemas.microsoft.com/office/drawing/2014/main" id="{910C3A8D-624A-DB4D-BEA7-9C240BEF1CF7}"/>
              </a:ext>
            </a:extLst>
          </p:cNvPr>
          <p:cNvSpPr txBox="1"/>
          <p:nvPr/>
        </p:nvSpPr>
        <p:spPr>
          <a:xfrm>
            <a:off x="458167" y="2132856"/>
            <a:ext cx="1233513" cy="369332"/>
          </a:xfrm>
          <a:prstGeom prst="rect">
            <a:avLst/>
          </a:prstGeom>
          <a:solidFill>
            <a:schemeClr val="bg2"/>
          </a:solidFill>
        </p:spPr>
        <p:txBody>
          <a:bodyPr wrap="square" rtlCol="0">
            <a:spAutoFit/>
          </a:bodyPr>
          <a:lstStyle/>
          <a:p>
            <a:endParaRPr lang="en-US" dirty="0"/>
          </a:p>
        </p:txBody>
      </p:sp>
    </p:spTree>
    <p:extLst>
      <p:ext uri="{BB962C8B-B14F-4D97-AF65-F5344CB8AC3E}">
        <p14:creationId xmlns:p14="http://schemas.microsoft.com/office/powerpoint/2010/main" val="2431485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755576" y="260648"/>
            <a:ext cx="7552464"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Options in setting up ventures</a:t>
            </a:r>
            <a:endParaRPr lang="en-GB" sz="3600" b="1" dirty="0">
              <a:solidFill>
                <a:srgbClr val="008000"/>
              </a:solidFill>
              <a:latin typeface="+mj-lt"/>
              <a:ea typeface="+mj-ea"/>
              <a:cs typeface="+mj-cs"/>
            </a:endParaRPr>
          </a:p>
        </p:txBody>
      </p:sp>
      <p:sp>
        <p:nvSpPr>
          <p:cNvPr id="9" name="Rectangle 8"/>
          <p:cNvSpPr/>
          <p:nvPr/>
        </p:nvSpPr>
        <p:spPr>
          <a:xfrm>
            <a:off x="683568" y="1595020"/>
            <a:ext cx="8118588" cy="5262980"/>
          </a:xfrm>
          <a:prstGeom prst="rect">
            <a:avLst/>
          </a:prstGeom>
        </p:spPr>
        <p:txBody>
          <a:bodyPr wrap="square">
            <a:spAutoFit/>
          </a:bodyPr>
          <a:lstStyle/>
          <a:p>
            <a:r>
              <a:rPr lang="en-US" sz="2800" dirty="0"/>
              <a:t>Two critical dimensions for managing ventures:</a:t>
            </a:r>
            <a:endParaRPr lang="en-GB" sz="2800" dirty="0"/>
          </a:p>
          <a:p>
            <a:r>
              <a:rPr lang="en-US" sz="2800" dirty="0"/>
              <a:t> </a:t>
            </a:r>
            <a:endParaRPr lang="en-GB" sz="2800" dirty="0"/>
          </a:p>
          <a:p>
            <a:pPr marL="457200" indent="-457200">
              <a:buFont typeface="Arial"/>
              <a:buChar char="•"/>
            </a:pPr>
            <a:r>
              <a:rPr lang="en-US" sz="2800" dirty="0"/>
              <a:t>Who </a:t>
            </a:r>
            <a:r>
              <a:rPr lang="en-US" sz="2800" dirty="0">
                <a:solidFill>
                  <a:schemeClr val="tx1">
                    <a:lumMod val="50000"/>
                    <a:lumOff val="50000"/>
                  </a:schemeClr>
                </a:solidFill>
              </a:rPr>
              <a:t>owns</a:t>
            </a:r>
            <a:r>
              <a:rPr lang="en-US" sz="2800" dirty="0"/>
              <a:t> them?</a:t>
            </a:r>
            <a:endParaRPr lang="en-GB" sz="2800" dirty="0"/>
          </a:p>
          <a:p>
            <a:pPr marL="457200" indent="-457200">
              <a:buFont typeface="Arial"/>
              <a:buChar char="•"/>
            </a:pPr>
            <a:r>
              <a:rPr lang="en-US" sz="2800" dirty="0"/>
              <a:t>Who </a:t>
            </a:r>
            <a:r>
              <a:rPr lang="en-US" sz="2800" dirty="0">
                <a:solidFill>
                  <a:schemeClr val="tx1">
                    <a:lumMod val="50000"/>
                    <a:lumOff val="50000"/>
                  </a:schemeClr>
                </a:solidFill>
              </a:rPr>
              <a:t>funds</a:t>
            </a:r>
            <a:r>
              <a:rPr lang="en-US" sz="2800" dirty="0"/>
              <a:t> them?</a:t>
            </a:r>
          </a:p>
          <a:p>
            <a:pPr marL="457200" indent="-457200">
              <a:buFont typeface="Arial"/>
              <a:buChar char="•"/>
            </a:pPr>
            <a:endParaRPr lang="en-US" sz="2800" dirty="0"/>
          </a:p>
          <a:p>
            <a:r>
              <a:rPr lang="en-GB" sz="2800" dirty="0"/>
              <a:t>Four possible options:</a:t>
            </a:r>
          </a:p>
          <a:p>
            <a:endParaRPr lang="en-GB" sz="2800" dirty="0"/>
          </a:p>
          <a:p>
            <a:pPr marL="457200" indent="-457200">
              <a:buFont typeface="Arial"/>
              <a:buChar char="•"/>
            </a:pPr>
            <a:r>
              <a:rPr lang="en-US" sz="2800" dirty="0"/>
              <a:t>Opportunistic</a:t>
            </a:r>
            <a:endParaRPr lang="en-GB" sz="2800" dirty="0"/>
          </a:p>
          <a:p>
            <a:pPr marL="457200" indent="-457200">
              <a:buFont typeface="Arial"/>
              <a:buChar char="•"/>
            </a:pPr>
            <a:r>
              <a:rPr lang="en-US" sz="2800" dirty="0"/>
              <a:t>Enabling</a:t>
            </a:r>
            <a:endParaRPr lang="en-GB" sz="2800" dirty="0"/>
          </a:p>
          <a:p>
            <a:pPr marL="457200" indent="-457200">
              <a:buFont typeface="Arial"/>
              <a:buChar char="•"/>
            </a:pPr>
            <a:r>
              <a:rPr lang="en-US" sz="2800" dirty="0"/>
              <a:t>Advocacy</a:t>
            </a:r>
            <a:endParaRPr lang="en-GB" sz="2800" dirty="0"/>
          </a:p>
          <a:p>
            <a:pPr marL="457200" indent="-457200">
              <a:buFont typeface="Arial"/>
              <a:buChar char="•"/>
            </a:pPr>
            <a:r>
              <a:rPr lang="en-US" sz="2800" dirty="0"/>
              <a:t>Producer</a:t>
            </a:r>
            <a:endParaRPr lang="en-GB" sz="2800" dirty="0"/>
          </a:p>
          <a:p>
            <a:endParaRPr lang="en-GB" sz="2800" dirty="0"/>
          </a:p>
        </p:txBody>
      </p:sp>
    </p:spTree>
    <p:extLst>
      <p:ext uri="{BB962C8B-B14F-4D97-AF65-F5344CB8AC3E}">
        <p14:creationId xmlns:p14="http://schemas.microsoft.com/office/powerpoint/2010/main" val="1075426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395536" y="105273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611560" y="0"/>
            <a:ext cx="7552464"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Establishing a CV – definition phase</a:t>
            </a:r>
            <a:endParaRPr lang="en-GB" sz="3600" b="1" dirty="0">
              <a:solidFill>
                <a:srgbClr val="008000"/>
              </a:solidFill>
              <a:latin typeface="+mj-lt"/>
              <a:ea typeface="+mj-ea"/>
              <a:cs typeface="+mj-cs"/>
            </a:endParaRPr>
          </a:p>
        </p:txBody>
      </p:sp>
      <p:sp>
        <p:nvSpPr>
          <p:cNvPr id="9" name="Rectangle 8"/>
          <p:cNvSpPr/>
          <p:nvPr/>
        </p:nvSpPr>
        <p:spPr>
          <a:xfrm>
            <a:off x="417847" y="1223119"/>
            <a:ext cx="8518336" cy="5765681"/>
          </a:xfrm>
          <a:prstGeom prst="rect">
            <a:avLst/>
          </a:prstGeom>
        </p:spPr>
        <p:txBody>
          <a:bodyPr wrap="square">
            <a:spAutoFit/>
          </a:bodyPr>
          <a:lstStyle/>
          <a:p>
            <a:pPr marL="457200" lvl="0" indent="-457200">
              <a:buFont typeface="Arial"/>
              <a:buChar char="•"/>
            </a:pPr>
            <a:r>
              <a:rPr lang="en-US" sz="2800" dirty="0"/>
              <a:t>Establish an </a:t>
            </a:r>
            <a:r>
              <a:rPr lang="en-US" sz="2800" dirty="0">
                <a:solidFill>
                  <a:schemeClr val="tx1">
                    <a:lumMod val="50000"/>
                    <a:lumOff val="50000"/>
                  </a:schemeClr>
                </a:solidFill>
              </a:rPr>
              <a:t>environment</a:t>
            </a:r>
            <a:r>
              <a:rPr lang="en-US" sz="2800" dirty="0"/>
              <a:t> that encourages the generation of new ideas and the identification of new opportunities, and establish a process for managing entrepreneurial activity. </a:t>
            </a:r>
          </a:p>
          <a:p>
            <a:pPr lvl="0"/>
            <a:endParaRPr lang="en-GB" sz="2800" dirty="0"/>
          </a:p>
          <a:p>
            <a:pPr marL="457200" lvl="0" indent="-457200">
              <a:buFont typeface="Arial"/>
              <a:buChar char="•"/>
            </a:pPr>
            <a:r>
              <a:rPr lang="en-US" sz="2800" dirty="0">
                <a:solidFill>
                  <a:schemeClr val="tx1">
                    <a:lumMod val="50000"/>
                    <a:lumOff val="50000"/>
                  </a:schemeClr>
                </a:solidFill>
              </a:rPr>
              <a:t>Select and evaluate opportunities </a:t>
            </a:r>
            <a:r>
              <a:rPr lang="en-US" sz="2800" dirty="0"/>
              <a:t>for new ventures, and select managers to implement the venturing programme. </a:t>
            </a:r>
          </a:p>
          <a:p>
            <a:pPr lvl="0"/>
            <a:endParaRPr lang="en-GB" sz="2800" dirty="0"/>
          </a:p>
          <a:p>
            <a:pPr marL="457200" lvl="0" indent="-457200">
              <a:buFont typeface="Arial"/>
              <a:buChar char="•"/>
            </a:pPr>
            <a:r>
              <a:rPr lang="en-US" sz="2800" dirty="0"/>
              <a:t>Develop a </a:t>
            </a:r>
            <a:r>
              <a:rPr lang="en-US" sz="2800" dirty="0">
                <a:solidFill>
                  <a:schemeClr val="tx1">
                    <a:lumMod val="50000"/>
                    <a:lumOff val="50000"/>
                  </a:schemeClr>
                </a:solidFill>
              </a:rPr>
              <a:t>business plan</a:t>
            </a:r>
            <a:r>
              <a:rPr lang="en-US" sz="2800" dirty="0"/>
              <a:t> for the new venture, decide the best location and organization of the venture and begin operations. </a:t>
            </a:r>
            <a:endParaRPr lang="en-GB" sz="2800" dirty="0"/>
          </a:p>
          <a:p>
            <a:pPr marL="457200" indent="-457200">
              <a:lnSpc>
                <a:spcPct val="120000"/>
              </a:lnSpc>
              <a:buFont typeface="Arial"/>
              <a:buChar char="•"/>
            </a:pPr>
            <a:endParaRPr lang="en-GB" sz="2800" dirty="0"/>
          </a:p>
        </p:txBody>
      </p:sp>
    </p:spTree>
    <p:extLst>
      <p:ext uri="{BB962C8B-B14F-4D97-AF65-F5344CB8AC3E}">
        <p14:creationId xmlns:p14="http://schemas.microsoft.com/office/powerpoint/2010/main" val="3600971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Title 1"/>
          <p:cNvSpPr txBox="1">
            <a:spLocks/>
          </p:cNvSpPr>
          <p:nvPr/>
        </p:nvSpPr>
        <p:spPr>
          <a:xfrm>
            <a:off x="1979712" y="260648"/>
            <a:ext cx="5224656"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Establishing a CV – development phase</a:t>
            </a:r>
            <a:endParaRPr lang="en-GB" sz="3600" b="1" dirty="0">
              <a:solidFill>
                <a:srgbClr val="008000"/>
              </a:solidFill>
              <a:latin typeface="+mj-lt"/>
              <a:ea typeface="+mj-ea"/>
              <a:cs typeface="+mj-cs"/>
            </a:endParaRPr>
          </a:p>
        </p:txBody>
      </p:sp>
      <p:sp>
        <p:nvSpPr>
          <p:cNvPr id="3" name="Content Placeholder 2"/>
          <p:cNvSpPr>
            <a:spLocks noGrp="1"/>
          </p:cNvSpPr>
          <p:nvPr>
            <p:ph idx="1"/>
          </p:nvPr>
        </p:nvSpPr>
        <p:spPr>
          <a:xfrm>
            <a:off x="467544" y="1844824"/>
            <a:ext cx="8229600" cy="4525963"/>
          </a:xfrm>
        </p:spPr>
        <p:txBody>
          <a:bodyPr/>
          <a:lstStyle/>
          <a:p>
            <a:pPr lvl="0"/>
            <a:r>
              <a:rPr lang="en-US" dirty="0">
                <a:solidFill>
                  <a:schemeClr val="tx1">
                    <a:lumMod val="50000"/>
                    <a:lumOff val="50000"/>
                  </a:schemeClr>
                </a:solidFill>
              </a:rPr>
              <a:t>Monitor </a:t>
            </a:r>
            <a:r>
              <a:rPr lang="en-US" dirty="0"/>
              <a:t>the development of the venture and venturing process.</a:t>
            </a:r>
            <a:endParaRPr lang="en-GB" dirty="0">
              <a:solidFill>
                <a:schemeClr val="tx1">
                  <a:lumMod val="50000"/>
                  <a:lumOff val="50000"/>
                </a:schemeClr>
              </a:solidFill>
            </a:endParaRPr>
          </a:p>
          <a:p>
            <a:pPr lvl="0"/>
            <a:r>
              <a:rPr lang="en-US" dirty="0">
                <a:solidFill>
                  <a:schemeClr val="tx1">
                    <a:lumMod val="50000"/>
                    <a:lumOff val="50000"/>
                  </a:schemeClr>
                </a:solidFill>
              </a:rPr>
              <a:t>Champion</a:t>
            </a:r>
            <a:r>
              <a:rPr lang="en-US" dirty="0"/>
              <a:t> the new venture as it grows and becomes institutionalized within the corporation.</a:t>
            </a:r>
            <a:r>
              <a:rPr lang="en-US" b="1" dirty="0"/>
              <a:t> </a:t>
            </a:r>
            <a:endParaRPr lang="en-GB" dirty="0">
              <a:solidFill>
                <a:schemeClr val="tx1">
                  <a:lumMod val="50000"/>
                  <a:lumOff val="50000"/>
                </a:schemeClr>
              </a:solidFill>
            </a:endParaRPr>
          </a:p>
          <a:p>
            <a:pPr lvl="0"/>
            <a:r>
              <a:rPr lang="en-US" dirty="0">
                <a:solidFill>
                  <a:schemeClr val="tx1">
                    <a:lumMod val="50000"/>
                    <a:lumOff val="50000"/>
                  </a:schemeClr>
                </a:solidFill>
              </a:rPr>
              <a:t>Learn </a:t>
            </a:r>
            <a:r>
              <a:rPr lang="en-US" dirty="0"/>
              <a:t>from experience in order to improve the overall venturing process.</a:t>
            </a:r>
            <a:endParaRPr lang="en-GB" dirty="0"/>
          </a:p>
          <a:p>
            <a:endParaRPr lang="en-US" dirty="0"/>
          </a:p>
        </p:txBody>
      </p:sp>
    </p:spTree>
    <p:extLst>
      <p:ext uri="{BB962C8B-B14F-4D97-AF65-F5344CB8AC3E}">
        <p14:creationId xmlns:p14="http://schemas.microsoft.com/office/powerpoint/2010/main" val="3595006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67544" y="1196752"/>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Title 1"/>
          <p:cNvSpPr txBox="1">
            <a:spLocks/>
          </p:cNvSpPr>
          <p:nvPr/>
        </p:nvSpPr>
        <p:spPr>
          <a:xfrm>
            <a:off x="899592" y="188640"/>
            <a:ext cx="7187698"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Options in conceptualization of CVs</a:t>
            </a:r>
            <a:endParaRPr lang="en-GB" sz="3600" b="1" dirty="0">
              <a:solidFill>
                <a:srgbClr val="008000"/>
              </a:solidFill>
              <a:latin typeface="+mj-lt"/>
              <a:ea typeface="+mj-ea"/>
              <a:cs typeface="+mj-cs"/>
            </a:endParaRPr>
          </a:p>
        </p:txBody>
      </p:sp>
      <p:sp>
        <p:nvSpPr>
          <p:cNvPr id="3" name="Content Placeholder 2"/>
          <p:cNvSpPr>
            <a:spLocks noGrp="1"/>
          </p:cNvSpPr>
          <p:nvPr>
            <p:ph idx="1"/>
          </p:nvPr>
        </p:nvSpPr>
        <p:spPr/>
        <p:txBody>
          <a:bodyPr>
            <a:normAutofit fontScale="92500" lnSpcReduction="10000"/>
          </a:bodyPr>
          <a:lstStyle/>
          <a:p>
            <a:r>
              <a:rPr lang="en-US" dirty="0"/>
              <a:t>Rely on R&amp;D personnel to identify new business opportunities based on their technological developments (i.e. essentially a ‘technology-push’ approach).</a:t>
            </a:r>
            <a:endParaRPr lang="en-GB" dirty="0"/>
          </a:p>
          <a:p>
            <a:pPr lvl="0"/>
            <a:r>
              <a:rPr lang="en-US" dirty="0"/>
              <a:t>Rely on marketing managers to identify opportunities, and direct the R&amp;D staff into the appropriate development work (i.e. essentially a ‘market-pull’ approach). </a:t>
            </a:r>
            <a:endParaRPr lang="en-GB" dirty="0"/>
          </a:p>
          <a:p>
            <a:pPr lvl="0"/>
            <a:r>
              <a:rPr lang="en-US" dirty="0"/>
              <a:t>Encourage marketing and R&amp;D personnel to work together to identify opportunities. </a:t>
            </a:r>
            <a:endParaRPr lang="en-GB" dirty="0"/>
          </a:p>
          <a:p>
            <a:endParaRPr lang="en-US" dirty="0"/>
          </a:p>
        </p:txBody>
      </p:sp>
    </p:spTree>
    <p:extLst>
      <p:ext uri="{BB962C8B-B14F-4D97-AF65-F5344CB8AC3E}">
        <p14:creationId xmlns:p14="http://schemas.microsoft.com/office/powerpoint/2010/main" val="581993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763688" y="260648"/>
            <a:ext cx="5666532"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Challenges facing corporate entrepreneurs</a:t>
            </a:r>
            <a:endParaRPr lang="en-GB" sz="3600" b="1" dirty="0">
              <a:solidFill>
                <a:srgbClr val="008000"/>
              </a:solidFill>
              <a:latin typeface="+mj-lt"/>
              <a:ea typeface="+mj-ea"/>
              <a:cs typeface="+mj-cs"/>
            </a:endParaRPr>
          </a:p>
        </p:txBody>
      </p:sp>
      <p:sp>
        <p:nvSpPr>
          <p:cNvPr id="9" name="Rectangle 8"/>
          <p:cNvSpPr/>
          <p:nvPr/>
        </p:nvSpPr>
        <p:spPr>
          <a:xfrm>
            <a:off x="417847" y="1521749"/>
            <a:ext cx="8518336" cy="5232202"/>
          </a:xfrm>
          <a:prstGeom prst="rect">
            <a:avLst/>
          </a:prstGeom>
        </p:spPr>
        <p:txBody>
          <a:bodyPr wrap="square">
            <a:spAutoFit/>
          </a:bodyPr>
          <a:lstStyle/>
          <a:p>
            <a:pPr marL="457200" lvl="0" indent="-457200">
              <a:buFont typeface="Arial"/>
              <a:buChar char="•"/>
            </a:pPr>
            <a:r>
              <a:rPr lang="en-US" sz="2800" dirty="0"/>
              <a:t>They must establish their legitimacy within the firm by convincing others of the importance and viability of the venture. </a:t>
            </a:r>
          </a:p>
          <a:p>
            <a:pPr marL="457200" lvl="0" indent="-457200">
              <a:buFont typeface="Arial"/>
              <a:buChar char="•"/>
            </a:pPr>
            <a:endParaRPr lang="en-GB" sz="2800" dirty="0"/>
          </a:p>
          <a:p>
            <a:pPr marL="457200" lvl="0" indent="-457200">
              <a:buFont typeface="Arial"/>
              <a:buChar char="•"/>
            </a:pPr>
            <a:r>
              <a:rPr lang="en-US" sz="2800" dirty="0"/>
              <a:t>They are likely to be short of resources, but will have to compete internally against established and powerful departments and managers. </a:t>
            </a:r>
          </a:p>
          <a:p>
            <a:pPr marL="457200" lvl="0" indent="-457200">
              <a:buFont typeface="Arial"/>
              <a:buChar char="•"/>
            </a:pPr>
            <a:endParaRPr lang="en-GB" sz="2800" dirty="0"/>
          </a:p>
          <a:p>
            <a:pPr marL="457200" lvl="0" indent="-457200">
              <a:buFont typeface="Arial"/>
              <a:buChar char="•"/>
            </a:pPr>
            <a:r>
              <a:rPr lang="en-US" sz="2800" dirty="0"/>
              <a:t>As advocates of change and innovation, they are likely to face at best organizational indifference and at worst hostile attacks. </a:t>
            </a:r>
            <a:endParaRPr lang="en-GB" sz="2800" dirty="0"/>
          </a:p>
          <a:p>
            <a:pPr>
              <a:spcAft>
                <a:spcPts val="1800"/>
              </a:spcAft>
            </a:pPr>
            <a:endParaRPr lang="en-GB" sz="2600" dirty="0"/>
          </a:p>
        </p:txBody>
      </p:sp>
    </p:spTree>
    <p:extLst>
      <p:ext uri="{BB962C8B-B14F-4D97-AF65-F5344CB8AC3E}">
        <p14:creationId xmlns:p14="http://schemas.microsoft.com/office/powerpoint/2010/main" val="16134223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043608" y="188640"/>
            <a:ext cx="7287515"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Key roles of </a:t>
            </a:r>
          </a:p>
          <a:p>
            <a:pPr algn="ctr">
              <a:spcBef>
                <a:spcPct val="0"/>
              </a:spcBef>
              <a:defRPr/>
            </a:pPr>
            <a:r>
              <a:rPr lang="en-US" sz="3600" b="1" dirty="0">
                <a:solidFill>
                  <a:srgbClr val="008000"/>
                </a:solidFill>
                <a:latin typeface="+mj-lt"/>
                <a:ea typeface="+mj-ea"/>
                <a:cs typeface="+mj-cs"/>
              </a:rPr>
              <a:t>corporate entrepreneurs</a:t>
            </a:r>
            <a:endParaRPr lang="en-GB" sz="3600" b="1" dirty="0">
              <a:solidFill>
                <a:srgbClr val="008000"/>
              </a:solidFill>
              <a:latin typeface="+mj-lt"/>
              <a:ea typeface="+mj-ea"/>
              <a:cs typeface="+mj-cs"/>
            </a:endParaRPr>
          </a:p>
        </p:txBody>
      </p:sp>
      <p:sp>
        <p:nvSpPr>
          <p:cNvPr id="9" name="Rectangle 8"/>
          <p:cNvSpPr/>
          <p:nvPr/>
        </p:nvSpPr>
        <p:spPr>
          <a:xfrm>
            <a:off x="417847" y="1369651"/>
            <a:ext cx="8518336" cy="5262979"/>
          </a:xfrm>
          <a:prstGeom prst="rect">
            <a:avLst/>
          </a:prstGeom>
        </p:spPr>
        <p:txBody>
          <a:bodyPr wrap="square">
            <a:spAutoFit/>
          </a:bodyPr>
          <a:lstStyle/>
          <a:p>
            <a:pPr marL="457200" lvl="0" indent="-457200">
              <a:buFont typeface="Arial"/>
              <a:buChar char="•"/>
            </a:pPr>
            <a:r>
              <a:rPr lang="en-US" sz="2800" i="1" dirty="0">
                <a:solidFill>
                  <a:schemeClr val="tx1">
                    <a:lumMod val="50000"/>
                    <a:lumOff val="50000"/>
                  </a:schemeClr>
                </a:solidFill>
              </a:rPr>
              <a:t>technical innovator </a:t>
            </a:r>
            <a:r>
              <a:rPr lang="en-US" sz="2800" dirty="0"/>
              <a:t>– responsible for the main technological development </a:t>
            </a:r>
            <a:endParaRPr lang="en-GB" sz="2800" dirty="0"/>
          </a:p>
          <a:p>
            <a:pPr marL="457200" lvl="0" indent="-457200">
              <a:buFont typeface="Arial"/>
              <a:buChar char="•"/>
            </a:pPr>
            <a:r>
              <a:rPr lang="en-US" sz="2800" i="1" dirty="0">
                <a:solidFill>
                  <a:schemeClr val="tx1">
                    <a:lumMod val="50000"/>
                    <a:lumOff val="50000"/>
                  </a:schemeClr>
                </a:solidFill>
              </a:rPr>
              <a:t>business innovator </a:t>
            </a:r>
            <a:r>
              <a:rPr lang="en-US" sz="2800" dirty="0">
                <a:solidFill>
                  <a:schemeClr val="tx1">
                    <a:lumMod val="50000"/>
                    <a:lumOff val="50000"/>
                  </a:schemeClr>
                </a:solidFill>
              </a:rPr>
              <a:t>or </a:t>
            </a:r>
            <a:r>
              <a:rPr lang="en-US" sz="2800" i="1" dirty="0">
                <a:solidFill>
                  <a:schemeClr val="tx1">
                    <a:lumMod val="50000"/>
                    <a:lumOff val="50000"/>
                  </a:schemeClr>
                </a:solidFill>
              </a:rPr>
              <a:t>venture manager </a:t>
            </a:r>
            <a:r>
              <a:rPr lang="en-US" sz="2800" dirty="0"/>
              <a:t>– responsible for the overall progress of the venture </a:t>
            </a:r>
            <a:endParaRPr lang="en-GB" sz="2800" dirty="0">
              <a:solidFill>
                <a:schemeClr val="tx1">
                  <a:lumMod val="50000"/>
                  <a:lumOff val="50000"/>
                </a:schemeClr>
              </a:solidFill>
            </a:endParaRPr>
          </a:p>
          <a:p>
            <a:pPr marL="457200" lvl="0" indent="-457200">
              <a:buFont typeface="Arial"/>
              <a:buChar char="•"/>
            </a:pPr>
            <a:r>
              <a:rPr lang="en-US" sz="2800" i="1" dirty="0">
                <a:solidFill>
                  <a:schemeClr val="tx1">
                    <a:lumMod val="50000"/>
                    <a:lumOff val="50000"/>
                  </a:schemeClr>
                </a:solidFill>
              </a:rPr>
              <a:t>product champion </a:t>
            </a:r>
            <a:r>
              <a:rPr lang="en-US" sz="2800" dirty="0"/>
              <a:t>– promotes the venture through the early critical stages </a:t>
            </a:r>
            <a:endParaRPr lang="en-GB" sz="2800" dirty="0">
              <a:solidFill>
                <a:schemeClr val="tx1">
                  <a:lumMod val="50000"/>
                  <a:lumOff val="50000"/>
                </a:schemeClr>
              </a:solidFill>
            </a:endParaRPr>
          </a:p>
          <a:p>
            <a:pPr marL="457200" lvl="0" indent="-457200">
              <a:buFont typeface="Arial"/>
              <a:buChar char="•"/>
            </a:pPr>
            <a:r>
              <a:rPr lang="en-US" sz="2800" i="1" dirty="0">
                <a:solidFill>
                  <a:schemeClr val="tx1">
                    <a:lumMod val="50000"/>
                    <a:lumOff val="50000"/>
                  </a:schemeClr>
                </a:solidFill>
              </a:rPr>
              <a:t>executive champion </a:t>
            </a:r>
            <a:r>
              <a:rPr lang="en-US" sz="2800" dirty="0">
                <a:solidFill>
                  <a:schemeClr val="tx1">
                    <a:lumMod val="50000"/>
                    <a:lumOff val="50000"/>
                  </a:schemeClr>
                </a:solidFill>
              </a:rPr>
              <a:t>or </a:t>
            </a:r>
            <a:r>
              <a:rPr lang="en-US" sz="2800" i="1" dirty="0">
                <a:solidFill>
                  <a:schemeClr val="tx1">
                    <a:lumMod val="50000"/>
                    <a:lumOff val="50000"/>
                  </a:schemeClr>
                </a:solidFill>
              </a:rPr>
              <a:t>organizational champion </a:t>
            </a:r>
            <a:r>
              <a:rPr lang="en-US" sz="2800" dirty="0"/>
              <a:t>– acts as a protector and buffer between the corporation and venture </a:t>
            </a:r>
            <a:endParaRPr lang="en-GB" sz="2800" dirty="0">
              <a:solidFill>
                <a:schemeClr val="tx1">
                  <a:lumMod val="50000"/>
                  <a:lumOff val="50000"/>
                </a:schemeClr>
              </a:solidFill>
            </a:endParaRPr>
          </a:p>
          <a:p>
            <a:pPr marL="457200" lvl="0" indent="-457200">
              <a:buFont typeface="Arial"/>
              <a:buChar char="•"/>
            </a:pPr>
            <a:r>
              <a:rPr lang="en-US" sz="2800" i="1" dirty="0">
                <a:solidFill>
                  <a:schemeClr val="tx1">
                    <a:lumMod val="50000"/>
                    <a:lumOff val="50000"/>
                  </a:schemeClr>
                </a:solidFill>
              </a:rPr>
              <a:t>high-level executive </a:t>
            </a:r>
            <a:r>
              <a:rPr lang="en-US" sz="2800" dirty="0"/>
              <a:t>– responsible for evaluating, monitoring and authorizing resources for the venture, but not the operation of specific ventures. </a:t>
            </a:r>
            <a:endParaRPr lang="en-GB" sz="2800" dirty="0"/>
          </a:p>
        </p:txBody>
      </p:sp>
    </p:spTree>
    <p:extLst>
      <p:ext uri="{BB962C8B-B14F-4D97-AF65-F5344CB8AC3E}">
        <p14:creationId xmlns:p14="http://schemas.microsoft.com/office/powerpoint/2010/main" val="12150454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67544" y="1556792"/>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043608" y="260648"/>
            <a:ext cx="6924762"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Checklist for matching proximity and competencies</a:t>
            </a:r>
            <a:endParaRPr lang="en-GB" sz="3600" b="1" dirty="0">
              <a:solidFill>
                <a:srgbClr val="008000"/>
              </a:solidFill>
              <a:latin typeface="+mj-lt"/>
              <a:ea typeface="+mj-ea"/>
              <a:cs typeface="+mj-cs"/>
            </a:endParaRPr>
          </a:p>
        </p:txBody>
      </p:sp>
      <p:sp>
        <p:nvSpPr>
          <p:cNvPr id="9" name="Rectangle 8"/>
          <p:cNvSpPr/>
          <p:nvPr/>
        </p:nvSpPr>
        <p:spPr>
          <a:xfrm>
            <a:off x="467544" y="2204864"/>
            <a:ext cx="8518336" cy="3539430"/>
          </a:xfrm>
          <a:prstGeom prst="rect">
            <a:avLst/>
          </a:prstGeom>
        </p:spPr>
        <p:txBody>
          <a:bodyPr wrap="square">
            <a:spAutoFit/>
          </a:bodyPr>
          <a:lstStyle/>
          <a:p>
            <a:pPr lvl="0"/>
            <a:r>
              <a:rPr lang="en-US" sz="2800" b="1" dirty="0"/>
              <a:t>• </a:t>
            </a:r>
            <a:r>
              <a:rPr lang="en-US" sz="2800" dirty="0">
                <a:solidFill>
                  <a:schemeClr val="tx1">
                    <a:lumMod val="50000"/>
                    <a:lumOff val="50000"/>
                  </a:schemeClr>
                </a:solidFill>
              </a:rPr>
              <a:t>What</a:t>
            </a:r>
            <a:r>
              <a:rPr lang="en-US" sz="2800" dirty="0"/>
              <a:t> are the key capabilities required for the venture? </a:t>
            </a:r>
          </a:p>
          <a:p>
            <a:pPr lvl="0">
              <a:buFont typeface="Arial" pitchFamily="34" charset="0"/>
              <a:buChar char="•"/>
            </a:pPr>
            <a:r>
              <a:rPr lang="en-US" sz="2800" dirty="0"/>
              <a:t> </a:t>
            </a:r>
            <a:r>
              <a:rPr lang="en-US" sz="2800" dirty="0">
                <a:solidFill>
                  <a:schemeClr val="tx1">
                    <a:lumMod val="50000"/>
                    <a:lumOff val="50000"/>
                  </a:schemeClr>
                </a:solidFill>
              </a:rPr>
              <a:t>Where</a:t>
            </a:r>
            <a:r>
              <a:rPr lang="en-US" sz="2800" dirty="0"/>
              <a:t>, how and when is the firm going to acquire the capabilities, and at what cost? </a:t>
            </a:r>
            <a:endParaRPr lang="en-GB" sz="2800" dirty="0"/>
          </a:p>
          <a:p>
            <a:pPr lvl="0"/>
            <a:r>
              <a:rPr lang="en-US" sz="2800" b="1" dirty="0"/>
              <a:t>• </a:t>
            </a:r>
            <a:r>
              <a:rPr lang="en-US" sz="2800" dirty="0">
                <a:solidFill>
                  <a:schemeClr val="tx1">
                    <a:lumMod val="50000"/>
                    <a:lumOff val="50000"/>
                  </a:schemeClr>
                </a:solidFill>
              </a:rPr>
              <a:t>How</a:t>
            </a:r>
            <a:r>
              <a:rPr lang="en-US" sz="2800" dirty="0"/>
              <a:t> will these new capabilities affect current capabilities?</a:t>
            </a:r>
            <a:endParaRPr lang="en-GB" sz="2800" dirty="0"/>
          </a:p>
          <a:p>
            <a:pPr lvl="0"/>
            <a:r>
              <a:rPr lang="en-US" sz="2800" b="1" dirty="0"/>
              <a:t>• </a:t>
            </a:r>
            <a:r>
              <a:rPr lang="en-US" sz="2800" dirty="0">
                <a:solidFill>
                  <a:schemeClr val="tx1">
                    <a:lumMod val="50000"/>
                    <a:lumOff val="50000"/>
                  </a:schemeClr>
                </a:solidFill>
              </a:rPr>
              <a:t>Where</a:t>
            </a:r>
            <a:r>
              <a:rPr lang="en-US" sz="2800" dirty="0"/>
              <a:t> else could they be exploited?</a:t>
            </a:r>
            <a:endParaRPr lang="en-GB" sz="2800" dirty="0"/>
          </a:p>
          <a:p>
            <a:pPr lvl="0"/>
            <a:r>
              <a:rPr lang="en-US" sz="2800" b="1" dirty="0"/>
              <a:t>• </a:t>
            </a:r>
            <a:r>
              <a:rPr lang="en-US" sz="2800" dirty="0">
                <a:solidFill>
                  <a:schemeClr val="tx1">
                    <a:lumMod val="50000"/>
                    <a:lumOff val="50000"/>
                  </a:schemeClr>
                </a:solidFill>
              </a:rPr>
              <a:t>Who</a:t>
            </a:r>
            <a:r>
              <a:rPr lang="en-US" sz="2800" dirty="0"/>
              <a:t> else would be able to do this, perhaps better? </a:t>
            </a:r>
            <a:endParaRPr lang="en-GB" sz="2800" dirty="0"/>
          </a:p>
        </p:txBody>
      </p:sp>
    </p:spTree>
    <p:extLst>
      <p:ext uri="{BB962C8B-B14F-4D97-AF65-F5344CB8AC3E}">
        <p14:creationId xmlns:p14="http://schemas.microsoft.com/office/powerpoint/2010/main" val="2600295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Title 1"/>
          <p:cNvSpPr txBox="1">
            <a:spLocks/>
          </p:cNvSpPr>
          <p:nvPr/>
        </p:nvSpPr>
        <p:spPr>
          <a:xfrm>
            <a:off x="1979712" y="260648"/>
            <a:ext cx="5224656"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Leveraging competencies</a:t>
            </a:r>
            <a:endParaRPr lang="en-GB" sz="3600" b="1" dirty="0">
              <a:solidFill>
                <a:srgbClr val="008000"/>
              </a:solidFill>
              <a:latin typeface="+mj-lt"/>
              <a:ea typeface="+mj-ea"/>
              <a:cs typeface="+mj-cs"/>
            </a:endParaRPr>
          </a:p>
        </p:txBody>
      </p:sp>
      <p:pic>
        <p:nvPicPr>
          <p:cNvPr id="3" name="Picture 2" descr="Screen Shot 2015-04-11 at 17.06.07.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2352" y="1671181"/>
            <a:ext cx="7250263" cy="5009838"/>
          </a:xfrm>
          <a:prstGeom prst="rect">
            <a:avLst/>
          </a:prstGeom>
        </p:spPr>
      </p:pic>
    </p:spTree>
    <p:extLst>
      <p:ext uri="{BB962C8B-B14F-4D97-AF65-F5344CB8AC3E}">
        <p14:creationId xmlns:p14="http://schemas.microsoft.com/office/powerpoint/2010/main" val="31786620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Title 1"/>
          <p:cNvSpPr txBox="1">
            <a:spLocks/>
          </p:cNvSpPr>
          <p:nvPr/>
        </p:nvSpPr>
        <p:spPr>
          <a:xfrm>
            <a:off x="1835696" y="332656"/>
            <a:ext cx="5224656"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Design options for CVs</a:t>
            </a:r>
            <a:endParaRPr lang="en-GB" sz="3600" b="1" dirty="0">
              <a:solidFill>
                <a:srgbClr val="008000"/>
              </a:solidFill>
              <a:latin typeface="+mj-lt"/>
              <a:ea typeface="+mj-ea"/>
              <a:cs typeface="+mj-cs"/>
            </a:endParaRPr>
          </a:p>
        </p:txBody>
      </p:sp>
      <p:sp>
        <p:nvSpPr>
          <p:cNvPr id="3" name="Content Placeholder 2"/>
          <p:cNvSpPr>
            <a:spLocks noGrp="1"/>
          </p:cNvSpPr>
          <p:nvPr>
            <p:ph idx="1"/>
          </p:nvPr>
        </p:nvSpPr>
        <p:spPr>
          <a:xfrm>
            <a:off x="611560" y="1844824"/>
            <a:ext cx="8229600" cy="4525963"/>
          </a:xfrm>
        </p:spPr>
        <p:txBody>
          <a:bodyPr>
            <a:normAutofit/>
          </a:bodyPr>
          <a:lstStyle/>
          <a:p>
            <a:pPr marL="0" indent="0">
              <a:buNone/>
            </a:pPr>
            <a:r>
              <a:rPr lang="en-US" b="1" dirty="0"/>
              <a:t>• </a:t>
            </a:r>
            <a:r>
              <a:rPr lang="en-US" dirty="0"/>
              <a:t>direct integration with existing business </a:t>
            </a:r>
            <a:endParaRPr lang="en-GB" dirty="0"/>
          </a:p>
          <a:p>
            <a:pPr marL="0" indent="0">
              <a:buNone/>
            </a:pPr>
            <a:r>
              <a:rPr lang="en-US" b="1" dirty="0"/>
              <a:t>• </a:t>
            </a:r>
            <a:r>
              <a:rPr lang="en-US" dirty="0"/>
              <a:t>integrated business teams </a:t>
            </a:r>
            <a:endParaRPr lang="en-GB" dirty="0"/>
          </a:p>
          <a:p>
            <a:pPr marL="0" indent="0">
              <a:buNone/>
            </a:pPr>
            <a:r>
              <a:rPr lang="en-US" b="1" dirty="0"/>
              <a:t>• </a:t>
            </a:r>
            <a:r>
              <a:rPr lang="en-US" dirty="0"/>
              <a:t>a dedicated staff function to support efforts company-wide </a:t>
            </a:r>
            <a:endParaRPr lang="en-GB" dirty="0"/>
          </a:p>
          <a:p>
            <a:pPr marL="0" indent="0">
              <a:buNone/>
            </a:pPr>
            <a:r>
              <a:rPr lang="en-US" b="1" dirty="0"/>
              <a:t>• </a:t>
            </a:r>
            <a:r>
              <a:rPr lang="en-US" dirty="0"/>
              <a:t>a separate corporate venturing unit, department or division </a:t>
            </a:r>
            <a:endParaRPr lang="en-GB" dirty="0"/>
          </a:p>
          <a:p>
            <a:pPr marL="0" indent="0">
              <a:buNone/>
            </a:pPr>
            <a:r>
              <a:rPr lang="en-US" b="1" dirty="0"/>
              <a:t>• </a:t>
            </a:r>
            <a:r>
              <a:rPr lang="en-US" dirty="0"/>
              <a:t>divestment and spin-off.</a:t>
            </a:r>
            <a:endParaRPr lang="en-GB" dirty="0"/>
          </a:p>
          <a:p>
            <a:endParaRPr lang="en-US" dirty="0"/>
          </a:p>
        </p:txBody>
      </p:sp>
    </p:spTree>
    <p:extLst>
      <p:ext uri="{BB962C8B-B14F-4D97-AF65-F5344CB8AC3E}">
        <p14:creationId xmlns:p14="http://schemas.microsoft.com/office/powerpoint/2010/main" val="41161958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Title 1"/>
          <p:cNvSpPr txBox="1">
            <a:spLocks/>
          </p:cNvSpPr>
          <p:nvPr/>
        </p:nvSpPr>
        <p:spPr>
          <a:xfrm>
            <a:off x="1115616" y="332656"/>
            <a:ext cx="7014792" cy="917864"/>
          </a:xfrm>
          <a:prstGeom prst="rect">
            <a:avLst/>
          </a:prstGeom>
        </p:spPr>
        <p:txBody>
          <a:bodyPr vert="horz" lIns="91440" tIns="45720" rIns="91440" bIns="45720" rtlCol="0" anchor="ctr">
            <a:noAutofit/>
          </a:bodyPr>
          <a:lstStyle/>
          <a:p>
            <a:pPr>
              <a:spcBef>
                <a:spcPct val="0"/>
              </a:spcBef>
              <a:defRPr/>
            </a:pPr>
            <a:r>
              <a:rPr lang="en-US" sz="3600" b="1" dirty="0">
                <a:solidFill>
                  <a:srgbClr val="008000"/>
                </a:solidFill>
                <a:latin typeface="+mj-lt"/>
                <a:ea typeface="+mj-ea"/>
                <a:cs typeface="+mj-cs"/>
              </a:rPr>
              <a:t>Linking new ventures with parents</a:t>
            </a:r>
            <a:endParaRPr lang="en-GB" sz="3600" b="1" dirty="0">
              <a:solidFill>
                <a:srgbClr val="008000"/>
              </a:solidFill>
              <a:latin typeface="+mj-lt"/>
              <a:ea typeface="+mj-ea"/>
              <a:cs typeface="+mj-cs"/>
            </a:endParaRPr>
          </a:p>
        </p:txBody>
      </p:sp>
      <p:pic>
        <p:nvPicPr>
          <p:cNvPr id="3" name="Picture 2" descr="Screen Shot 2015-04-11 at 17.06.40.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7923" y="1656345"/>
            <a:ext cx="8300512" cy="5201654"/>
          </a:xfrm>
          <a:prstGeom prst="rect">
            <a:avLst/>
          </a:prstGeom>
        </p:spPr>
      </p:pic>
      <p:sp>
        <p:nvSpPr>
          <p:cNvPr id="2" name="TextBox 1">
            <a:extLst>
              <a:ext uri="{FF2B5EF4-FFF2-40B4-BE49-F238E27FC236}">
                <a16:creationId xmlns:a16="http://schemas.microsoft.com/office/drawing/2014/main" id="{98E650E9-0086-6B42-80C3-8C07655B22B1}"/>
              </a:ext>
            </a:extLst>
          </p:cNvPr>
          <p:cNvSpPr txBox="1"/>
          <p:nvPr/>
        </p:nvSpPr>
        <p:spPr>
          <a:xfrm>
            <a:off x="971600" y="2060848"/>
            <a:ext cx="1152128" cy="369332"/>
          </a:xfrm>
          <a:prstGeom prst="rect">
            <a:avLst/>
          </a:prstGeom>
          <a:solidFill>
            <a:schemeClr val="bg2"/>
          </a:solidFill>
        </p:spPr>
        <p:txBody>
          <a:bodyPr wrap="square" rtlCol="0">
            <a:spAutoFit/>
          </a:bodyPr>
          <a:lstStyle/>
          <a:p>
            <a:endParaRPr lang="en-US" dirty="0"/>
          </a:p>
        </p:txBody>
      </p:sp>
    </p:spTree>
    <p:extLst>
      <p:ext uri="{BB962C8B-B14F-4D97-AF65-F5344CB8AC3E}">
        <p14:creationId xmlns:p14="http://schemas.microsoft.com/office/powerpoint/2010/main" val="4083411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Title 1"/>
          <p:cNvSpPr txBox="1">
            <a:spLocks/>
          </p:cNvSpPr>
          <p:nvPr/>
        </p:nvSpPr>
        <p:spPr>
          <a:xfrm>
            <a:off x="773476" y="390281"/>
            <a:ext cx="7272787"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Reasons for establishing a new venture</a:t>
            </a:r>
            <a:endParaRPr lang="en-GB" sz="3600" b="1" dirty="0">
              <a:solidFill>
                <a:srgbClr val="008000"/>
              </a:solidFill>
              <a:latin typeface="+mj-lt"/>
              <a:ea typeface="+mj-ea"/>
              <a:cs typeface="+mj-cs"/>
            </a:endParaRPr>
          </a:p>
        </p:txBody>
      </p:sp>
      <p:sp>
        <p:nvSpPr>
          <p:cNvPr id="3" name="Content Placeholder 2"/>
          <p:cNvSpPr>
            <a:spLocks noGrp="1"/>
          </p:cNvSpPr>
          <p:nvPr>
            <p:ph idx="1"/>
          </p:nvPr>
        </p:nvSpPr>
        <p:spPr>
          <a:xfrm>
            <a:off x="467544" y="1844824"/>
            <a:ext cx="8229600" cy="4525963"/>
          </a:xfrm>
        </p:spPr>
        <p:txBody>
          <a:bodyPr>
            <a:normAutofit fontScale="85000" lnSpcReduction="10000"/>
          </a:bodyPr>
          <a:lstStyle/>
          <a:p>
            <a:pPr lvl="0"/>
            <a:r>
              <a:rPr lang="en-US" dirty="0"/>
              <a:t>An effort to bring existing technologies and expertise throughout the company together for </a:t>
            </a:r>
            <a:r>
              <a:rPr lang="en-US" dirty="0">
                <a:solidFill>
                  <a:schemeClr val="tx1">
                    <a:lumMod val="50000"/>
                    <a:lumOff val="50000"/>
                  </a:schemeClr>
                </a:solidFill>
              </a:rPr>
              <a:t>adaptation</a:t>
            </a:r>
            <a:r>
              <a:rPr lang="en-US" dirty="0"/>
              <a:t> to new or existing markets. </a:t>
            </a:r>
            <a:endParaRPr lang="en-GB" dirty="0"/>
          </a:p>
          <a:p>
            <a:pPr lvl="0"/>
            <a:r>
              <a:rPr lang="en-US" dirty="0"/>
              <a:t>To </a:t>
            </a:r>
            <a:r>
              <a:rPr lang="en-US" dirty="0">
                <a:solidFill>
                  <a:schemeClr val="tx1">
                    <a:lumMod val="50000"/>
                    <a:lumOff val="50000"/>
                  </a:schemeClr>
                </a:solidFill>
              </a:rPr>
              <a:t>combine research </a:t>
            </a:r>
            <a:r>
              <a:rPr lang="en-US" dirty="0"/>
              <a:t>from different fields or locations, to accelerate the development of new products. </a:t>
            </a:r>
            <a:endParaRPr lang="en-GB" dirty="0"/>
          </a:p>
          <a:p>
            <a:pPr lvl="0"/>
            <a:r>
              <a:rPr lang="en-US" dirty="0"/>
              <a:t>To </a:t>
            </a:r>
            <a:r>
              <a:rPr lang="en-US" dirty="0">
                <a:solidFill>
                  <a:schemeClr val="tx1">
                    <a:lumMod val="50000"/>
                    <a:lumOff val="50000"/>
                  </a:schemeClr>
                </a:solidFill>
              </a:rPr>
              <a:t>purchase or acquire expertise </a:t>
            </a:r>
            <a:r>
              <a:rPr lang="en-US" dirty="0"/>
              <a:t>currently outside of the business for application to internal operations, or to assist new developments. </a:t>
            </a:r>
            <a:endParaRPr lang="en-GB" dirty="0"/>
          </a:p>
          <a:p>
            <a:pPr lvl="0"/>
            <a:r>
              <a:rPr lang="en-US" dirty="0"/>
              <a:t>To </a:t>
            </a:r>
            <a:r>
              <a:rPr lang="en-US" dirty="0">
                <a:solidFill>
                  <a:schemeClr val="tx1">
                    <a:lumMod val="50000"/>
                    <a:lumOff val="50000"/>
                  </a:schemeClr>
                </a:solidFill>
              </a:rPr>
              <a:t>examine new market areas </a:t>
            </a:r>
            <a:r>
              <a:rPr lang="en-US" dirty="0"/>
              <a:t>as potential targets for existing or adapted products within the current portfolio. </a:t>
            </a:r>
            <a:endParaRPr lang="en-GB" dirty="0"/>
          </a:p>
          <a:p>
            <a:endParaRPr lang="en-US" dirty="0"/>
          </a:p>
        </p:txBody>
      </p:sp>
    </p:spTree>
    <p:extLst>
      <p:ext uri="{BB962C8B-B14F-4D97-AF65-F5344CB8AC3E}">
        <p14:creationId xmlns:p14="http://schemas.microsoft.com/office/powerpoint/2010/main" val="41892112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Title 1"/>
          <p:cNvSpPr txBox="1">
            <a:spLocks/>
          </p:cNvSpPr>
          <p:nvPr/>
        </p:nvSpPr>
        <p:spPr>
          <a:xfrm>
            <a:off x="899592" y="332656"/>
            <a:ext cx="6994945"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Benefits of independent business units</a:t>
            </a:r>
            <a:endParaRPr lang="en-GB" sz="3600" b="1" dirty="0">
              <a:solidFill>
                <a:srgbClr val="008000"/>
              </a:solidFill>
              <a:latin typeface="+mj-lt"/>
              <a:ea typeface="+mj-ea"/>
              <a:cs typeface="+mj-cs"/>
            </a:endParaRPr>
          </a:p>
        </p:txBody>
      </p:sp>
      <p:sp>
        <p:nvSpPr>
          <p:cNvPr id="8" name="Rectangle 7"/>
          <p:cNvSpPr/>
          <p:nvPr/>
        </p:nvSpPr>
        <p:spPr>
          <a:xfrm>
            <a:off x="417847" y="1868282"/>
            <a:ext cx="7263724" cy="3785652"/>
          </a:xfrm>
          <a:prstGeom prst="rect">
            <a:avLst/>
          </a:prstGeom>
        </p:spPr>
        <p:txBody>
          <a:bodyPr wrap="square">
            <a:spAutoFit/>
          </a:bodyPr>
          <a:lstStyle/>
          <a:p>
            <a:pPr marL="285750" lvl="0" indent="-285750">
              <a:buFont typeface="Arial"/>
              <a:buChar char="•"/>
            </a:pPr>
            <a:r>
              <a:rPr lang="en-US" sz="2400" dirty="0"/>
              <a:t>Defrayed risk for parent, greater freedom for venture. </a:t>
            </a:r>
            <a:endParaRPr lang="en-GB" sz="2400" dirty="0"/>
          </a:p>
          <a:p>
            <a:pPr marL="285750" lvl="0" indent="-285750">
              <a:buFont typeface="Arial"/>
              <a:buChar char="•"/>
            </a:pPr>
            <a:r>
              <a:rPr lang="en-US" sz="2400" dirty="0"/>
              <a:t>Less supervisory requirement for parent, less interference for venture. </a:t>
            </a:r>
            <a:endParaRPr lang="en-GB" sz="2400" dirty="0"/>
          </a:p>
          <a:p>
            <a:pPr marL="285750" lvl="0" indent="-285750">
              <a:buFont typeface="Arial"/>
              <a:buChar char="•"/>
            </a:pPr>
            <a:r>
              <a:rPr lang="en-US" sz="2400" dirty="0"/>
              <a:t>Reduced management distraction for parent, and greater focus for venture. </a:t>
            </a:r>
            <a:endParaRPr lang="en-GB" sz="2400" dirty="0"/>
          </a:p>
          <a:p>
            <a:pPr marL="285750" lvl="0" indent="-285750">
              <a:buFont typeface="Arial"/>
              <a:buChar char="•"/>
            </a:pPr>
            <a:r>
              <a:rPr lang="en-US" sz="2400" dirty="0"/>
              <a:t>Continued share of financial returns for parent, greater commitment from managers of the venture. </a:t>
            </a:r>
            <a:endParaRPr lang="en-GB" sz="2400" dirty="0"/>
          </a:p>
          <a:p>
            <a:pPr marL="285750" lvl="0" indent="-285750">
              <a:buFont typeface="Arial"/>
              <a:buChar char="•"/>
            </a:pPr>
            <a:r>
              <a:rPr lang="en-US" sz="2400" dirty="0"/>
              <a:t>Potential for flow-back, process improvements or product developments for parent, and learning for the venture. </a:t>
            </a:r>
            <a:endParaRPr lang="en-GB" sz="2400" dirty="0"/>
          </a:p>
        </p:txBody>
      </p:sp>
    </p:spTree>
    <p:extLst>
      <p:ext uri="{BB962C8B-B14F-4D97-AF65-F5344CB8AC3E}">
        <p14:creationId xmlns:p14="http://schemas.microsoft.com/office/powerpoint/2010/main" val="9091366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Title 1"/>
          <p:cNvSpPr txBox="1">
            <a:spLocks/>
          </p:cNvSpPr>
          <p:nvPr/>
        </p:nvSpPr>
        <p:spPr>
          <a:xfrm>
            <a:off x="1115616" y="332656"/>
            <a:ext cx="6657564"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Strategic impact of new ventures</a:t>
            </a:r>
            <a:endParaRPr lang="en-GB" sz="3600" b="1" dirty="0">
              <a:solidFill>
                <a:srgbClr val="008000"/>
              </a:solidFill>
              <a:latin typeface="+mj-lt"/>
              <a:ea typeface="+mj-ea"/>
              <a:cs typeface="+mj-cs"/>
            </a:endParaRPr>
          </a:p>
        </p:txBody>
      </p:sp>
      <p:sp>
        <p:nvSpPr>
          <p:cNvPr id="3" name="Content Placeholder 2"/>
          <p:cNvSpPr>
            <a:spLocks noGrp="1"/>
          </p:cNvSpPr>
          <p:nvPr>
            <p:ph idx="1"/>
          </p:nvPr>
        </p:nvSpPr>
        <p:spPr/>
        <p:txBody>
          <a:bodyPr/>
          <a:lstStyle/>
          <a:p>
            <a:pPr marL="0" indent="0">
              <a:buNone/>
            </a:pPr>
            <a:r>
              <a:rPr lang="en-US" dirty="0"/>
              <a:t>A study of 35 spin-offs from </a:t>
            </a:r>
            <a:r>
              <a:rPr lang="en-US" dirty="0">
                <a:solidFill>
                  <a:schemeClr val="tx1">
                    <a:lumMod val="50000"/>
                    <a:lumOff val="50000"/>
                  </a:schemeClr>
                </a:solidFill>
              </a:rPr>
              <a:t>Xerox</a:t>
            </a:r>
            <a:r>
              <a:rPr lang="en-US" dirty="0"/>
              <a:t> over a period of 22 years reveals that the aggregate market value of these spin- offs exceeded those of the parent by a factor of two by 2001, and by a factor of five at the peak of the previous stock market bubble.</a:t>
            </a:r>
            <a:r>
              <a:rPr lang="en-GB" dirty="0"/>
              <a:t> </a:t>
            </a:r>
            <a:endParaRPr lang="en-US" dirty="0"/>
          </a:p>
        </p:txBody>
      </p:sp>
    </p:spTree>
    <p:extLst>
      <p:ext uri="{BB962C8B-B14F-4D97-AF65-F5344CB8AC3E}">
        <p14:creationId xmlns:p14="http://schemas.microsoft.com/office/powerpoint/2010/main" val="31426308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No existing company is ready or able to take on the project on a licensing basis. </a:t>
            </a:r>
          </a:p>
          <a:p>
            <a:r>
              <a:rPr lang="en-US" dirty="0"/>
              <a:t>The invention consists of a portfolio of products or is an ‘enabling technology’ capable of application in a number of fields. </a:t>
            </a:r>
          </a:p>
          <a:p>
            <a:r>
              <a:rPr lang="en-US" dirty="0"/>
              <a:t>The inventors have a strong preference for forming a company and are prepared to invest their time, effort and money in a start-up. </a:t>
            </a:r>
          </a:p>
        </p:txBody>
      </p:sp>
      <p:cxnSp>
        <p:nvCxnSpPr>
          <p:cNvPr id="4" name="Straight Connector 3"/>
          <p:cNvCxnSpPr/>
          <p:nvPr/>
        </p:nvCxnSpPr>
        <p:spPr>
          <a:xfrm>
            <a:off x="458167" y="143355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7" name="Title 1"/>
          <p:cNvSpPr>
            <a:spLocks noGrp="1"/>
          </p:cNvSpPr>
          <p:nvPr>
            <p:ph type="title"/>
          </p:nvPr>
        </p:nvSpPr>
        <p:spPr>
          <a:xfrm>
            <a:off x="205920" y="204072"/>
            <a:ext cx="8229600" cy="1143000"/>
          </a:xfrm>
        </p:spPr>
        <p:txBody>
          <a:bodyPr>
            <a:noAutofit/>
          </a:bodyPr>
          <a:lstStyle/>
          <a:p>
            <a:pPr lvl="0">
              <a:defRPr/>
            </a:pPr>
            <a:r>
              <a:rPr lang="en-GB" sz="3600" b="1" dirty="0">
                <a:solidFill>
                  <a:srgbClr val="008000"/>
                </a:solidFill>
              </a:rPr>
              <a:t>Reasons for forming </a:t>
            </a:r>
            <a:br>
              <a:rPr lang="en-GB" sz="3600" b="1" dirty="0">
                <a:solidFill>
                  <a:srgbClr val="008000"/>
                </a:solidFill>
              </a:rPr>
            </a:br>
            <a:r>
              <a:rPr lang="en-GB" sz="3600" b="1" dirty="0">
                <a:solidFill>
                  <a:srgbClr val="008000"/>
                </a:solidFill>
              </a:rPr>
              <a:t>spin-out ventures</a:t>
            </a:r>
          </a:p>
        </p:txBody>
      </p:sp>
    </p:spTree>
    <p:extLst>
      <p:ext uri="{BB962C8B-B14F-4D97-AF65-F5344CB8AC3E}">
        <p14:creationId xmlns:p14="http://schemas.microsoft.com/office/powerpoint/2010/main" val="9167650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Shot 2015-04-17 at 20.17.33.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3900" y="1814052"/>
            <a:ext cx="7362197" cy="5043948"/>
          </a:xfrm>
          <a:prstGeom prst="rect">
            <a:avLst/>
          </a:prstGeom>
        </p:spPr>
      </p:pic>
      <p:cxnSp>
        <p:nvCxnSpPr>
          <p:cNvPr id="5" name="Straight Connector 4"/>
          <p:cNvCxnSpPr/>
          <p:nvPr/>
        </p:nvCxnSpPr>
        <p:spPr>
          <a:xfrm>
            <a:off x="458167" y="143355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8" name="Title 1"/>
          <p:cNvSpPr>
            <a:spLocks noGrp="1"/>
          </p:cNvSpPr>
          <p:nvPr>
            <p:ph type="title"/>
          </p:nvPr>
        </p:nvSpPr>
        <p:spPr>
          <a:xfrm>
            <a:off x="457200" y="274638"/>
            <a:ext cx="8229600" cy="1143000"/>
          </a:xfrm>
        </p:spPr>
        <p:txBody>
          <a:bodyPr>
            <a:noAutofit/>
          </a:bodyPr>
          <a:lstStyle/>
          <a:p>
            <a:pPr lvl="0">
              <a:defRPr/>
            </a:pPr>
            <a:r>
              <a:rPr lang="en-GB" sz="3600" b="1" dirty="0">
                <a:solidFill>
                  <a:srgbClr val="008000"/>
                </a:solidFill>
              </a:rPr>
              <a:t>Examples of spin-offs</a:t>
            </a:r>
          </a:p>
        </p:txBody>
      </p:sp>
    </p:spTree>
    <p:extLst>
      <p:ext uri="{BB962C8B-B14F-4D97-AF65-F5344CB8AC3E}">
        <p14:creationId xmlns:p14="http://schemas.microsoft.com/office/powerpoint/2010/main" val="7111632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US" b="1" i="1" dirty="0">
                <a:solidFill>
                  <a:schemeClr val="tx1">
                    <a:lumMod val="50000"/>
                    <a:lumOff val="50000"/>
                  </a:schemeClr>
                </a:solidFill>
              </a:rPr>
              <a:t>Antecedent influences. </a:t>
            </a:r>
            <a:r>
              <a:rPr lang="en-US" dirty="0"/>
              <a:t>Often called the ‘characteristics’ of the entrepreneur, including genetic factors, family influences, educational choices and previous career experiences, all contribute to the entrepreneur’s decision to start a venture. </a:t>
            </a:r>
            <a:endParaRPr lang="en-US" dirty="0">
              <a:solidFill>
                <a:schemeClr val="tx1">
                  <a:lumMod val="50000"/>
                  <a:lumOff val="50000"/>
                </a:schemeClr>
              </a:solidFill>
            </a:endParaRPr>
          </a:p>
          <a:p>
            <a:r>
              <a:rPr lang="en-US" b="1" i="1" dirty="0">
                <a:solidFill>
                  <a:schemeClr val="tx1">
                    <a:lumMod val="50000"/>
                    <a:lumOff val="50000"/>
                  </a:schemeClr>
                </a:solidFill>
              </a:rPr>
              <a:t>Individual incubator experiences. </a:t>
            </a:r>
            <a:r>
              <a:rPr lang="en-US" dirty="0"/>
              <a:t>Immediately prior to start-up include the nature of the physical location, the type of skills and knowledge acquired, contact with possible fellow founders, the type of new venture or small business experience gained. </a:t>
            </a:r>
            <a:endParaRPr lang="en-US" dirty="0">
              <a:solidFill>
                <a:schemeClr val="tx1">
                  <a:lumMod val="50000"/>
                  <a:lumOff val="50000"/>
                </a:schemeClr>
              </a:solidFill>
            </a:endParaRPr>
          </a:p>
          <a:p>
            <a:r>
              <a:rPr lang="en-US" b="1" i="1" dirty="0">
                <a:solidFill>
                  <a:schemeClr val="tx1">
                    <a:lumMod val="50000"/>
                    <a:lumOff val="50000"/>
                  </a:schemeClr>
                </a:solidFill>
              </a:rPr>
              <a:t>Environmental factors. </a:t>
            </a:r>
            <a:r>
              <a:rPr lang="en-US" dirty="0"/>
              <a:t>Include economic conditions, availability of venture capital, entrepreneurial role models, availability of support services. </a:t>
            </a:r>
          </a:p>
          <a:p>
            <a:pPr marL="0" indent="0">
              <a:buNone/>
            </a:pPr>
            <a:endParaRPr lang="en-US" dirty="0"/>
          </a:p>
        </p:txBody>
      </p:sp>
      <p:cxnSp>
        <p:nvCxnSpPr>
          <p:cNvPr id="4" name="Straight Connector 3"/>
          <p:cNvCxnSpPr/>
          <p:nvPr/>
        </p:nvCxnSpPr>
        <p:spPr>
          <a:xfrm>
            <a:off x="458167" y="143355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Title 1"/>
          <p:cNvSpPr>
            <a:spLocks noGrp="1"/>
          </p:cNvSpPr>
          <p:nvPr>
            <p:ph type="title"/>
          </p:nvPr>
        </p:nvSpPr>
        <p:spPr>
          <a:xfrm>
            <a:off x="683568" y="188640"/>
            <a:ext cx="8229600" cy="1143000"/>
          </a:xfrm>
        </p:spPr>
        <p:txBody>
          <a:bodyPr>
            <a:noAutofit/>
          </a:bodyPr>
          <a:lstStyle/>
          <a:p>
            <a:pPr lvl="0">
              <a:defRPr/>
            </a:pPr>
            <a:r>
              <a:rPr lang="en-GB" sz="3600" b="1" dirty="0">
                <a:solidFill>
                  <a:srgbClr val="008000"/>
                </a:solidFill>
              </a:rPr>
              <a:t>Motives for launching depend on...</a:t>
            </a:r>
          </a:p>
        </p:txBody>
      </p:sp>
    </p:spTree>
    <p:extLst>
      <p:ext uri="{BB962C8B-B14F-4D97-AF65-F5344CB8AC3E}">
        <p14:creationId xmlns:p14="http://schemas.microsoft.com/office/powerpoint/2010/main" val="2990621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b="1" dirty="0"/>
              <a:t>• </a:t>
            </a:r>
            <a:r>
              <a:rPr lang="en-US" dirty="0"/>
              <a:t>Formal policy and support for entrepreneurial activity from management.</a:t>
            </a:r>
            <a:br>
              <a:rPr lang="en-US" dirty="0"/>
            </a:br>
            <a:r>
              <a:rPr lang="en-US" b="1" dirty="0"/>
              <a:t>• </a:t>
            </a:r>
            <a:r>
              <a:rPr lang="en-US" dirty="0"/>
              <a:t>Perceived seriousness of constraints to entrepreneurship, e.g. IPR issues.</a:t>
            </a:r>
            <a:br>
              <a:rPr lang="en-US" dirty="0"/>
            </a:br>
            <a:r>
              <a:rPr lang="en-US" b="1" dirty="0"/>
              <a:t>• </a:t>
            </a:r>
            <a:r>
              <a:rPr lang="en-US" dirty="0"/>
              <a:t>Incidence of successful commercialization, which demonstrates feasibility and provides role models. </a:t>
            </a:r>
          </a:p>
          <a:p>
            <a:pPr marL="0" indent="0">
              <a:buNone/>
            </a:pPr>
            <a:endParaRPr lang="en-US" dirty="0"/>
          </a:p>
        </p:txBody>
      </p:sp>
      <p:cxnSp>
        <p:nvCxnSpPr>
          <p:cNvPr id="4" name="Straight Connector 3"/>
          <p:cNvCxnSpPr/>
          <p:nvPr/>
        </p:nvCxnSpPr>
        <p:spPr>
          <a:xfrm>
            <a:off x="458167" y="143355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7" name="Title 1"/>
          <p:cNvSpPr>
            <a:spLocks noGrp="1"/>
          </p:cNvSpPr>
          <p:nvPr>
            <p:ph type="title"/>
          </p:nvPr>
        </p:nvSpPr>
        <p:spPr>
          <a:xfrm>
            <a:off x="467544" y="188640"/>
            <a:ext cx="8229600" cy="1143000"/>
          </a:xfrm>
        </p:spPr>
        <p:txBody>
          <a:bodyPr>
            <a:noAutofit/>
          </a:bodyPr>
          <a:lstStyle/>
          <a:p>
            <a:pPr lvl="0">
              <a:defRPr/>
            </a:pPr>
            <a:r>
              <a:rPr lang="en-GB" sz="3600" b="1" dirty="0">
                <a:solidFill>
                  <a:srgbClr val="008000"/>
                </a:solidFill>
              </a:rPr>
              <a:t>Institutional variables in academic entrepreneurship</a:t>
            </a:r>
          </a:p>
        </p:txBody>
      </p:sp>
    </p:spTree>
    <p:extLst>
      <p:ext uri="{BB962C8B-B14F-4D97-AF65-F5344CB8AC3E}">
        <p14:creationId xmlns:p14="http://schemas.microsoft.com/office/powerpoint/2010/main" val="19052884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r>
              <a:rPr lang="en-US" dirty="0"/>
              <a:t>specific guidelines on the use of university facilities, staff and students and IPR. </a:t>
            </a:r>
          </a:p>
          <a:p>
            <a:r>
              <a:rPr lang="en-US" dirty="0"/>
              <a:t>specific guidelines for, and periodic reviews of, the dual employment of scientist-entrepreneurs, including permanent part-time positions. </a:t>
            </a:r>
          </a:p>
          <a:p>
            <a:r>
              <a:rPr lang="en-US" dirty="0"/>
              <a:t>mechanisms to resolve issues of financial ownership and the allocation of research contracts between the university and the venture. </a:t>
            </a:r>
          </a:p>
          <a:p>
            <a:pPr marL="0" indent="0">
              <a:buNone/>
            </a:pPr>
            <a:endParaRPr lang="en-US" dirty="0"/>
          </a:p>
        </p:txBody>
      </p:sp>
      <p:cxnSp>
        <p:nvCxnSpPr>
          <p:cNvPr id="4" name="Straight Connector 3"/>
          <p:cNvCxnSpPr/>
          <p:nvPr/>
        </p:nvCxnSpPr>
        <p:spPr>
          <a:xfrm>
            <a:off x="458167" y="143355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7" name="Title 1"/>
          <p:cNvSpPr>
            <a:spLocks noGrp="1"/>
          </p:cNvSpPr>
          <p:nvPr>
            <p:ph type="title"/>
          </p:nvPr>
        </p:nvSpPr>
        <p:spPr>
          <a:xfrm>
            <a:off x="457200" y="274638"/>
            <a:ext cx="8229600" cy="1143000"/>
          </a:xfrm>
        </p:spPr>
        <p:txBody>
          <a:bodyPr>
            <a:noAutofit/>
          </a:bodyPr>
          <a:lstStyle/>
          <a:p>
            <a:pPr lvl="0">
              <a:defRPr/>
            </a:pPr>
            <a:r>
              <a:rPr lang="en-GB" sz="3600" b="1" dirty="0">
                <a:solidFill>
                  <a:srgbClr val="008000"/>
                </a:solidFill>
              </a:rPr>
              <a:t>Policy guidelines needed</a:t>
            </a:r>
          </a:p>
        </p:txBody>
      </p:sp>
    </p:spTree>
    <p:extLst>
      <p:ext uri="{BB962C8B-B14F-4D97-AF65-F5344CB8AC3E}">
        <p14:creationId xmlns:p14="http://schemas.microsoft.com/office/powerpoint/2010/main" val="29222091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a:t>are more likely to involve product innovation than process innovation </a:t>
            </a:r>
          </a:p>
          <a:p>
            <a:r>
              <a:rPr lang="en-US" dirty="0"/>
              <a:t>are focused on products for niche markets, rather than mass markets </a:t>
            </a:r>
          </a:p>
          <a:p>
            <a:r>
              <a:rPr lang="en-US" dirty="0"/>
              <a:t>will be more common amongst producers of final products, rather than producers of components </a:t>
            </a:r>
          </a:p>
          <a:p>
            <a:r>
              <a:rPr lang="en-US" dirty="0"/>
              <a:t>will frequently involve some form of external linkage </a:t>
            </a:r>
          </a:p>
          <a:p>
            <a:r>
              <a:rPr lang="en-US" dirty="0"/>
              <a:t>tend to be associated with growth in output and employment, but not necessarily profit. </a:t>
            </a:r>
          </a:p>
          <a:p>
            <a:pPr marL="0" indent="0">
              <a:buNone/>
            </a:pPr>
            <a:endParaRPr lang="en-US" dirty="0"/>
          </a:p>
        </p:txBody>
      </p:sp>
      <p:cxnSp>
        <p:nvCxnSpPr>
          <p:cNvPr id="4" name="Straight Connector 3"/>
          <p:cNvCxnSpPr/>
          <p:nvPr/>
        </p:nvCxnSpPr>
        <p:spPr>
          <a:xfrm>
            <a:off x="458167" y="143355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7" name="Title 1"/>
          <p:cNvSpPr>
            <a:spLocks noGrp="1"/>
          </p:cNvSpPr>
          <p:nvPr>
            <p:ph type="title"/>
          </p:nvPr>
        </p:nvSpPr>
        <p:spPr>
          <a:xfrm>
            <a:off x="457200" y="274638"/>
            <a:ext cx="8229600" cy="1143000"/>
          </a:xfrm>
        </p:spPr>
        <p:txBody>
          <a:bodyPr>
            <a:noAutofit/>
          </a:bodyPr>
          <a:lstStyle/>
          <a:p>
            <a:pPr lvl="0">
              <a:defRPr/>
            </a:pPr>
            <a:r>
              <a:rPr lang="en-GB" sz="3600" b="1" dirty="0">
                <a:solidFill>
                  <a:srgbClr val="008000"/>
                </a:solidFill>
              </a:rPr>
              <a:t>Innovative SMEs</a:t>
            </a:r>
          </a:p>
        </p:txBody>
      </p:sp>
    </p:spTree>
    <p:extLst>
      <p:ext uri="{BB962C8B-B14F-4D97-AF65-F5344CB8AC3E}">
        <p14:creationId xmlns:p14="http://schemas.microsoft.com/office/powerpoint/2010/main" val="4680486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62500" lnSpcReduction="20000"/>
          </a:bodyPr>
          <a:lstStyle/>
          <a:p>
            <a:r>
              <a:rPr lang="en-US" dirty="0"/>
              <a:t>The first relates to long-term prospects for growth. Very few technology-based small firms can become superstars, since they provide mainly specialized ‘niche’ products with no obvious or spectacular synergies with other markets. How far the firm will grow, or how long it will survive, will often depend on its ability to negotiate the transition from the first to the second (improved) generation of products, and to develop the supporting managerial competencies. </a:t>
            </a:r>
          </a:p>
          <a:p>
            <a:endParaRPr lang="en-US" dirty="0"/>
          </a:p>
          <a:p>
            <a:r>
              <a:rPr lang="en-US" dirty="0"/>
              <a:t>How far the NTBF will grow depends on the second strategic choice: whether the management is aiming to maximize long-term value of the business or merely seeking an increase in income and independence. Thus, owners of small firms often sell their firms after a few years and live off their investments. And university researchers set up consultancy firms, either to increase their personal income (the BMW effect) or to find supplementary income for their university-based research and teaching activities in times of increasing financial stringency. </a:t>
            </a:r>
          </a:p>
          <a:p>
            <a:endParaRPr lang="en-US" b="1" dirty="0"/>
          </a:p>
          <a:p>
            <a:endParaRPr lang="en-US" dirty="0"/>
          </a:p>
        </p:txBody>
      </p:sp>
      <p:cxnSp>
        <p:nvCxnSpPr>
          <p:cNvPr id="4" name="Straight Connector 3"/>
          <p:cNvCxnSpPr/>
          <p:nvPr/>
        </p:nvCxnSpPr>
        <p:spPr>
          <a:xfrm>
            <a:off x="458167" y="143355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7" name="Title 1"/>
          <p:cNvSpPr>
            <a:spLocks noGrp="1"/>
          </p:cNvSpPr>
          <p:nvPr>
            <p:ph type="title"/>
          </p:nvPr>
        </p:nvSpPr>
        <p:spPr>
          <a:xfrm>
            <a:off x="457200" y="274638"/>
            <a:ext cx="8229600" cy="1143000"/>
          </a:xfrm>
        </p:spPr>
        <p:txBody>
          <a:bodyPr>
            <a:noAutofit/>
          </a:bodyPr>
          <a:lstStyle/>
          <a:p>
            <a:pPr lvl="0">
              <a:defRPr/>
            </a:pPr>
            <a:r>
              <a:rPr lang="en-GB" sz="3600" b="1" dirty="0">
                <a:solidFill>
                  <a:srgbClr val="008000"/>
                </a:solidFill>
              </a:rPr>
              <a:t>Challenges for NTBFs</a:t>
            </a:r>
          </a:p>
        </p:txBody>
      </p:sp>
    </p:spTree>
    <p:extLst>
      <p:ext uri="{BB962C8B-B14F-4D97-AF65-F5344CB8AC3E}">
        <p14:creationId xmlns:p14="http://schemas.microsoft.com/office/powerpoint/2010/main" val="33605666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69A4F7-A38B-0B44-8DCB-3D3D56520281}"/>
              </a:ext>
            </a:extLst>
          </p:cNvPr>
          <p:cNvSpPr>
            <a:spLocks noGrp="1"/>
          </p:cNvSpPr>
          <p:nvPr>
            <p:ph type="title"/>
          </p:nvPr>
        </p:nvSpPr>
        <p:spPr>
          <a:xfrm>
            <a:off x="515125" y="1153572"/>
            <a:ext cx="2400300" cy="4461163"/>
          </a:xfrm>
        </p:spPr>
        <p:txBody>
          <a:bodyPr>
            <a:normAutofit/>
          </a:bodyPr>
          <a:lstStyle/>
          <a:p>
            <a:r>
              <a:rPr lang="en-US">
                <a:solidFill>
                  <a:srgbClr val="FFFFFF"/>
                </a:solidFill>
              </a:rPr>
              <a:t>Summary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E8E9FA0B-7BBF-684D-A955-F315F5DB0EF2}"/>
              </a:ext>
            </a:extLst>
          </p:cNvPr>
          <p:cNvSpPr>
            <a:spLocks noGrp="1"/>
          </p:cNvSpPr>
          <p:nvPr>
            <p:ph idx="1"/>
          </p:nvPr>
        </p:nvSpPr>
        <p:spPr>
          <a:xfrm>
            <a:off x="3335481" y="591344"/>
            <a:ext cx="5179868" cy="5585619"/>
          </a:xfrm>
        </p:spPr>
        <p:txBody>
          <a:bodyPr anchor="ctr">
            <a:normAutofit/>
          </a:bodyPr>
          <a:lstStyle/>
          <a:p>
            <a:pPr marL="457200" lvl="0" indent="-457200">
              <a:lnSpc>
                <a:spcPct val="90000"/>
              </a:lnSpc>
              <a:buFont typeface="Arial"/>
              <a:buChar char="•"/>
            </a:pPr>
            <a:r>
              <a:rPr lang="en-US" sz="2500" dirty="0"/>
              <a:t>There are a wide range of motives for establishing corporate ventures, including to attract, motivate and retain talent, to grow the business, diversify or to develop and exploit new technological or market capabilities. </a:t>
            </a:r>
          </a:p>
          <a:p>
            <a:pPr marL="457200" lvl="0" indent="-457200">
              <a:lnSpc>
                <a:spcPct val="90000"/>
              </a:lnSpc>
              <a:buFont typeface="Arial"/>
              <a:buChar char="•"/>
            </a:pPr>
            <a:endParaRPr lang="en-GB" sz="2500" dirty="0"/>
          </a:p>
          <a:p>
            <a:pPr marL="457200" lvl="0" indent="-457200">
              <a:lnSpc>
                <a:spcPct val="90000"/>
              </a:lnSpc>
              <a:buFont typeface="Arial"/>
              <a:buChar char="•"/>
            </a:pPr>
            <a:r>
              <a:rPr lang="en-US" sz="2500" dirty="0"/>
              <a:t>The best structure for a corporate venture depends on a number of factors, such as who owns and funds these, and the proximity of the technological or market capabilities to the core businesses. </a:t>
            </a:r>
            <a:endParaRPr lang="en-GB" sz="2500" dirty="0"/>
          </a:p>
          <a:p>
            <a:pPr>
              <a:lnSpc>
                <a:spcPct val="90000"/>
              </a:lnSpc>
            </a:pPr>
            <a:endParaRPr lang="en-US" sz="2500" dirty="0"/>
          </a:p>
        </p:txBody>
      </p:sp>
    </p:spTree>
    <p:extLst>
      <p:ext uri="{BB962C8B-B14F-4D97-AF65-F5344CB8AC3E}">
        <p14:creationId xmlns:p14="http://schemas.microsoft.com/office/powerpoint/2010/main" val="21472438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0A53C2-A3EB-314C-8F4D-1188A6CEDD68}"/>
              </a:ext>
            </a:extLst>
          </p:cNvPr>
          <p:cNvSpPr>
            <a:spLocks noGrp="1"/>
          </p:cNvSpPr>
          <p:nvPr>
            <p:ph type="title"/>
          </p:nvPr>
        </p:nvSpPr>
        <p:spPr>
          <a:xfrm>
            <a:off x="515125" y="1153572"/>
            <a:ext cx="2400300" cy="4461163"/>
          </a:xfrm>
        </p:spPr>
        <p:txBody>
          <a:bodyPr>
            <a:normAutofit/>
          </a:bodyPr>
          <a:lstStyle/>
          <a:p>
            <a:r>
              <a:rPr lang="en-US">
                <a:solidFill>
                  <a:srgbClr val="FFFFFF"/>
                </a:solidFill>
              </a:rPr>
              <a:t>Summary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292E32E-D72D-B146-AC2E-E7B98CB6D6B0}"/>
              </a:ext>
            </a:extLst>
          </p:cNvPr>
          <p:cNvSpPr>
            <a:spLocks noGrp="1"/>
          </p:cNvSpPr>
          <p:nvPr>
            <p:ph idx="1"/>
          </p:nvPr>
        </p:nvSpPr>
        <p:spPr>
          <a:xfrm>
            <a:off x="3335481" y="591344"/>
            <a:ext cx="5179868" cy="5585619"/>
          </a:xfrm>
        </p:spPr>
        <p:txBody>
          <a:bodyPr anchor="ctr">
            <a:normAutofit/>
          </a:bodyPr>
          <a:lstStyle/>
          <a:p>
            <a:r>
              <a:rPr lang="en-US" sz="3000" dirty="0"/>
              <a:t>The outcomes and success of corporate venturing should be assessed in broad terms, including the long-term survival, growth and evolution of the organization, rather than only by narrow financial evaluations of specific projects. It represents a process of corporate experimentation and evolution</a:t>
            </a:r>
          </a:p>
        </p:txBody>
      </p:sp>
    </p:spTree>
    <p:extLst>
      <p:ext uri="{BB962C8B-B14F-4D97-AF65-F5344CB8AC3E}">
        <p14:creationId xmlns:p14="http://schemas.microsoft.com/office/powerpoint/2010/main" val="40449036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50BCDA0-42BA-42AB-8E58-A25C965D01F9}"/>
              </a:ext>
            </a:extLst>
          </p:cNvPr>
          <p:cNvPicPr>
            <a:picLocks noChangeAspect="1"/>
          </p:cNvPicPr>
          <p:nvPr/>
        </p:nvPicPr>
        <p:blipFill rotWithShape="1">
          <a:blip r:embed="rId3"/>
          <a:srcRect l="19722" r="44833" b="-1"/>
          <a:stretch/>
        </p:blipFill>
        <p:spPr>
          <a:xfrm>
            <a:off x="-5524" y="10"/>
            <a:ext cx="3641692"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2" name="Title 1">
            <a:extLst>
              <a:ext uri="{FF2B5EF4-FFF2-40B4-BE49-F238E27FC236}">
                <a16:creationId xmlns:a16="http://schemas.microsoft.com/office/drawing/2014/main" id="{614D8143-9088-1A4A-858B-DB874C43BBC6}"/>
              </a:ext>
            </a:extLst>
          </p:cNvPr>
          <p:cNvSpPr>
            <a:spLocks noGrp="1"/>
          </p:cNvSpPr>
          <p:nvPr>
            <p:ph type="title"/>
          </p:nvPr>
        </p:nvSpPr>
        <p:spPr>
          <a:xfrm>
            <a:off x="4370286" y="407987"/>
            <a:ext cx="4291113" cy="1325563"/>
          </a:xfrm>
        </p:spPr>
        <p:txBody>
          <a:bodyPr>
            <a:normAutofit/>
          </a:bodyPr>
          <a:lstStyle/>
          <a:p>
            <a:r>
              <a:rPr lang="en-US" dirty="0"/>
              <a:t>Videos</a:t>
            </a:r>
          </a:p>
        </p:txBody>
      </p:sp>
      <p:sp>
        <p:nvSpPr>
          <p:cNvPr id="3" name="Content Placeholder 2">
            <a:extLst>
              <a:ext uri="{FF2B5EF4-FFF2-40B4-BE49-F238E27FC236}">
                <a16:creationId xmlns:a16="http://schemas.microsoft.com/office/drawing/2014/main" id="{49BFE31F-7315-164A-BF78-744336F5540D}"/>
              </a:ext>
            </a:extLst>
          </p:cNvPr>
          <p:cNvSpPr>
            <a:spLocks noGrp="1"/>
          </p:cNvSpPr>
          <p:nvPr>
            <p:ph idx="1"/>
          </p:nvPr>
        </p:nvSpPr>
        <p:spPr>
          <a:xfrm>
            <a:off x="4370286" y="1868487"/>
            <a:ext cx="4291113" cy="4351338"/>
          </a:xfrm>
        </p:spPr>
        <p:txBody>
          <a:bodyPr>
            <a:normAutofit fontScale="92500" lnSpcReduction="20000"/>
          </a:bodyPr>
          <a:lstStyle/>
          <a:p>
            <a:pPr marL="0" indent="0">
              <a:lnSpc>
                <a:spcPct val="90000"/>
              </a:lnSpc>
              <a:buNone/>
            </a:pPr>
            <a:r>
              <a:rPr lang="en-US" sz="2000" dirty="0"/>
              <a:t>There are several videos which can help explore and present the key themes of the chapter:</a:t>
            </a:r>
          </a:p>
          <a:p>
            <a:r>
              <a:rPr lang="en-GB" sz="2000" dirty="0">
                <a:hlinkClick r:id="rId4"/>
              </a:rPr>
              <a:t>Tidewave is a start-up originally from the University of Stavanger in Norway and now growing into a successful business. </a:t>
            </a:r>
            <a:r>
              <a:rPr lang="en-GB" sz="2000" dirty="0"/>
              <a:t>This series of interviews explores the challenges facing the founders</a:t>
            </a:r>
          </a:p>
          <a:p>
            <a:r>
              <a:rPr lang="en-GB" sz="2000" dirty="0">
                <a:hlinkClick r:id="rId5"/>
              </a:rPr>
              <a:t>Victor Cui </a:t>
            </a:r>
            <a:r>
              <a:rPr lang="en-GB" sz="2000" dirty="0"/>
              <a:t>and</a:t>
            </a:r>
            <a:endParaRPr lang="en-GB" sz="2000" dirty="0">
              <a:hlinkClick r:id="rId6"/>
            </a:endParaRPr>
          </a:p>
          <a:p>
            <a:r>
              <a:rPr lang="en-GB" sz="2000" dirty="0">
                <a:hlinkClick r:id="rId7"/>
              </a:rPr>
              <a:t>Melissa Clark-Reynolds </a:t>
            </a:r>
            <a:r>
              <a:rPr lang="en-GB" sz="2000" dirty="0"/>
              <a:t>talk about setting up their new ventures</a:t>
            </a:r>
          </a:p>
          <a:p>
            <a:r>
              <a:rPr lang="en-GB" sz="2000" dirty="0">
                <a:hlinkClick r:id="rId8"/>
              </a:rPr>
              <a:t>Catherina van </a:t>
            </a:r>
            <a:r>
              <a:rPr lang="en-GB" sz="2000" dirty="0" err="1">
                <a:hlinkClick r:id="rId8"/>
              </a:rPr>
              <a:t>Delden</a:t>
            </a:r>
            <a:r>
              <a:rPr lang="en-GB" sz="2000" dirty="0">
                <a:hlinkClick r:id="rId8"/>
              </a:rPr>
              <a:t> </a:t>
            </a:r>
            <a:r>
              <a:rPr lang="en-GB" sz="2000" dirty="0"/>
              <a:t>talks in this video about her start-up </a:t>
            </a:r>
            <a:r>
              <a:rPr lang="en-GB" sz="2000" dirty="0" err="1"/>
              <a:t>Innosabi</a:t>
            </a:r>
            <a:r>
              <a:rPr lang="en-GB" sz="2000" dirty="0"/>
              <a:t> and then reflects </a:t>
            </a:r>
            <a:r>
              <a:rPr lang="en-GB" sz="2000" dirty="0">
                <a:hlinkClick r:id="rId9"/>
              </a:rPr>
              <a:t>here about its current challenges now </a:t>
            </a:r>
            <a:r>
              <a:rPr lang="en-GB" sz="2000" dirty="0"/>
              <a:t>employing over 50 people</a:t>
            </a:r>
          </a:p>
          <a:p>
            <a:pPr>
              <a:lnSpc>
                <a:spcPct val="90000"/>
              </a:lnSpc>
            </a:pPr>
            <a:endParaRPr lang="en-US" sz="2000" dirty="0"/>
          </a:p>
        </p:txBody>
      </p:sp>
    </p:spTree>
    <p:extLst>
      <p:ext uri="{BB962C8B-B14F-4D97-AF65-F5344CB8AC3E}">
        <p14:creationId xmlns:p14="http://schemas.microsoft.com/office/powerpoint/2010/main" val="27540852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539552" y="188640"/>
            <a:ext cx="7686519"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rPr>
              <a:t>Media: Entrepreneurship</a:t>
            </a:r>
            <a:endParaRPr lang="en-GB" sz="3600" b="1" dirty="0">
              <a:solidFill>
                <a:srgbClr val="008000"/>
              </a:solidFill>
            </a:endParaRPr>
          </a:p>
        </p:txBody>
      </p:sp>
      <p:sp>
        <p:nvSpPr>
          <p:cNvPr id="9" name="Rectangle 8"/>
          <p:cNvSpPr/>
          <p:nvPr/>
        </p:nvSpPr>
        <p:spPr>
          <a:xfrm>
            <a:off x="417847" y="1369651"/>
            <a:ext cx="8518336" cy="4401205"/>
          </a:xfrm>
          <a:prstGeom prst="rect">
            <a:avLst/>
          </a:prstGeom>
        </p:spPr>
        <p:txBody>
          <a:bodyPr wrap="square">
            <a:spAutoFit/>
          </a:bodyPr>
          <a:lstStyle/>
          <a:p>
            <a:r>
              <a:rPr lang="en-US" sz="2800" dirty="0"/>
              <a:t> </a:t>
            </a:r>
            <a:endParaRPr lang="en-GB" sz="2800" dirty="0"/>
          </a:p>
          <a:p>
            <a:r>
              <a:rPr lang="en-GB" sz="2800" dirty="0"/>
              <a:t>Follow the link below to watch a video by The School of Life on ‘How to be an Entrepreneur’</a:t>
            </a:r>
          </a:p>
          <a:p>
            <a:endParaRPr lang="en-GB" sz="2800" dirty="0"/>
          </a:p>
          <a:p>
            <a:endParaRPr lang="en-GB" sz="2800" dirty="0"/>
          </a:p>
          <a:p>
            <a:r>
              <a:rPr lang="en-GB" sz="2800" dirty="0">
                <a:hlinkClick r:id="rId2"/>
              </a:rPr>
              <a:t>https://www.youtube.com/watch?v=lJjILQu2xM8</a:t>
            </a:r>
            <a:endParaRPr lang="en-GB" sz="2800" dirty="0"/>
          </a:p>
          <a:p>
            <a:endParaRPr lang="en-GB" sz="2800" dirty="0"/>
          </a:p>
          <a:p>
            <a:endParaRPr lang="en-GB" sz="2800" dirty="0"/>
          </a:p>
          <a:p>
            <a:r>
              <a:rPr lang="en-US" sz="2800" dirty="0"/>
              <a:t> </a:t>
            </a:r>
            <a:endParaRPr lang="en-GB" sz="2800" dirty="0"/>
          </a:p>
          <a:p>
            <a:endParaRPr lang="en-GB" sz="2800" dirty="0"/>
          </a:p>
        </p:txBody>
      </p:sp>
    </p:spTree>
    <p:extLst>
      <p:ext uri="{BB962C8B-B14F-4D97-AF65-F5344CB8AC3E}">
        <p14:creationId xmlns:p14="http://schemas.microsoft.com/office/powerpoint/2010/main" val="23892012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539552" y="188640"/>
            <a:ext cx="7686519"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rPr>
              <a:t>Media: Entrepreneurship</a:t>
            </a:r>
            <a:endParaRPr lang="en-GB" sz="3600" b="1" dirty="0">
              <a:solidFill>
                <a:srgbClr val="008000"/>
              </a:solidFill>
            </a:endParaRPr>
          </a:p>
        </p:txBody>
      </p:sp>
      <p:sp>
        <p:nvSpPr>
          <p:cNvPr id="9" name="Rectangle 8"/>
          <p:cNvSpPr/>
          <p:nvPr/>
        </p:nvSpPr>
        <p:spPr>
          <a:xfrm>
            <a:off x="417847" y="1369651"/>
            <a:ext cx="8518336" cy="3970318"/>
          </a:xfrm>
          <a:prstGeom prst="rect">
            <a:avLst/>
          </a:prstGeom>
        </p:spPr>
        <p:txBody>
          <a:bodyPr wrap="square">
            <a:spAutoFit/>
          </a:bodyPr>
          <a:lstStyle/>
          <a:p>
            <a:r>
              <a:rPr lang="en-US" sz="2800" dirty="0"/>
              <a:t> </a:t>
            </a:r>
            <a:endParaRPr lang="en-GB" sz="2800" dirty="0"/>
          </a:p>
          <a:p>
            <a:r>
              <a:rPr lang="en-GB" sz="2800" dirty="0"/>
              <a:t>Follow the link below to watch Paul </a:t>
            </a:r>
            <a:r>
              <a:rPr lang="en-GB" sz="2800" dirty="0" err="1"/>
              <a:t>Tasner’s</a:t>
            </a:r>
            <a:r>
              <a:rPr lang="en-GB" sz="2800" dirty="0"/>
              <a:t> TED Talk, ‘How I became an entrepreneur at 66’</a:t>
            </a:r>
          </a:p>
          <a:p>
            <a:endParaRPr lang="en-GB" sz="2800" dirty="0"/>
          </a:p>
          <a:p>
            <a:r>
              <a:rPr lang="en-GB" sz="2800" dirty="0">
                <a:hlinkClick r:id="rId2"/>
              </a:rPr>
              <a:t>https://www.ted.com/talks/paul_tasner_how_i_became_an_entrepreneur_at_66/reading-list</a:t>
            </a:r>
            <a:endParaRPr lang="en-GB" sz="2800" dirty="0"/>
          </a:p>
          <a:p>
            <a:endParaRPr lang="en-GB" sz="2800" dirty="0"/>
          </a:p>
          <a:p>
            <a:r>
              <a:rPr lang="en-US" sz="2800" dirty="0"/>
              <a:t> </a:t>
            </a:r>
            <a:endParaRPr lang="en-GB" sz="2800" dirty="0"/>
          </a:p>
          <a:p>
            <a:endParaRPr lang="en-GB" sz="2800" dirty="0"/>
          </a:p>
        </p:txBody>
      </p:sp>
    </p:spTree>
    <p:extLst>
      <p:ext uri="{BB962C8B-B14F-4D97-AF65-F5344CB8AC3E}">
        <p14:creationId xmlns:p14="http://schemas.microsoft.com/office/powerpoint/2010/main" val="33049036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E829F1-84C0-044B-BBE4-ABFAD581D452}"/>
              </a:ext>
            </a:extLst>
          </p:cNvPr>
          <p:cNvSpPr>
            <a:spLocks noGrp="1"/>
          </p:cNvSpPr>
          <p:nvPr>
            <p:ph type="title"/>
          </p:nvPr>
        </p:nvSpPr>
        <p:spPr>
          <a:xfrm>
            <a:off x="515125" y="1153572"/>
            <a:ext cx="2400300" cy="4461163"/>
          </a:xfrm>
        </p:spPr>
        <p:txBody>
          <a:bodyPr>
            <a:normAutofit/>
          </a:bodyPr>
          <a:lstStyle/>
          <a:p>
            <a:r>
              <a:rPr lang="en-US">
                <a:solidFill>
                  <a:srgbClr val="FFFFFF"/>
                </a:solidFill>
              </a:rPr>
              <a:t>Activities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2B2D3D1-2581-F94B-9851-1F31823967E9}"/>
              </a:ext>
            </a:extLst>
          </p:cNvPr>
          <p:cNvSpPr>
            <a:spLocks noGrp="1"/>
          </p:cNvSpPr>
          <p:nvPr>
            <p:ph idx="1"/>
          </p:nvPr>
        </p:nvSpPr>
        <p:spPr>
          <a:xfrm>
            <a:off x="3335481" y="591344"/>
            <a:ext cx="5179868" cy="5585619"/>
          </a:xfrm>
        </p:spPr>
        <p:txBody>
          <a:bodyPr anchor="ctr">
            <a:normAutofit/>
          </a:bodyPr>
          <a:lstStyle/>
          <a:p>
            <a:r>
              <a:rPr lang="en-US" dirty="0"/>
              <a:t>There are a variety of activities (for both groups and individuals and for online as well as offline work.  These include:</a:t>
            </a:r>
          </a:p>
        </p:txBody>
      </p:sp>
    </p:spTree>
    <p:extLst>
      <p:ext uri="{BB962C8B-B14F-4D97-AF65-F5344CB8AC3E}">
        <p14:creationId xmlns:p14="http://schemas.microsoft.com/office/powerpoint/2010/main" val="36898400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8BF799-FB5B-FD44-86B5-07990728E866}"/>
              </a:ext>
            </a:extLst>
          </p:cNvPr>
          <p:cNvSpPr>
            <a:spLocks noGrp="1"/>
          </p:cNvSpPr>
          <p:nvPr>
            <p:ph type="title"/>
          </p:nvPr>
        </p:nvSpPr>
        <p:spPr>
          <a:xfrm>
            <a:off x="515125" y="1153572"/>
            <a:ext cx="2400300" cy="4461163"/>
          </a:xfrm>
        </p:spPr>
        <p:txBody>
          <a:bodyPr>
            <a:normAutofit/>
          </a:bodyPr>
          <a:lstStyle/>
          <a:p>
            <a:r>
              <a:rPr lang="en-US" sz="4100" dirty="0">
                <a:solidFill>
                  <a:srgbClr val="FFFFFF"/>
                </a:solidFill>
              </a:rPr>
              <a:t>Activity: Corporate venturing</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E99C6CDC-FB6A-CD49-8ED9-EEDC9ADFF32F}"/>
              </a:ext>
            </a:extLst>
          </p:cNvPr>
          <p:cNvSpPr>
            <a:spLocks noGrp="1"/>
          </p:cNvSpPr>
          <p:nvPr>
            <p:ph idx="1"/>
          </p:nvPr>
        </p:nvSpPr>
        <p:spPr>
          <a:xfrm>
            <a:off x="3335481" y="591344"/>
            <a:ext cx="5179868" cy="5585619"/>
          </a:xfrm>
        </p:spPr>
        <p:txBody>
          <a:bodyPr anchor="ctr">
            <a:normAutofit/>
          </a:bodyPr>
          <a:lstStyle/>
          <a:p>
            <a:pPr>
              <a:lnSpc>
                <a:spcPct val="90000"/>
              </a:lnSpc>
            </a:pPr>
            <a:r>
              <a:rPr lang="en-US" sz="2200" dirty="0"/>
              <a:t>Tesco is a successful supermarket retailer.  In order to grow it has tried expanding into new geographical markets.  </a:t>
            </a:r>
            <a:r>
              <a:rPr lang="en-US" sz="2200" dirty="0">
                <a:hlinkClick r:id="rId2"/>
              </a:rPr>
              <a:t>This case explores its attempt to move into the US market.</a:t>
            </a:r>
            <a:endParaRPr lang="en-US" sz="2200" dirty="0"/>
          </a:p>
          <a:p>
            <a:pPr>
              <a:lnSpc>
                <a:spcPct val="90000"/>
              </a:lnSpc>
            </a:pPr>
            <a:endParaRPr lang="en-GB" sz="2200" dirty="0"/>
          </a:p>
          <a:p>
            <a:pPr>
              <a:lnSpc>
                <a:spcPct val="90000"/>
              </a:lnSpc>
            </a:pPr>
            <a:r>
              <a:rPr lang="en-US" sz="2200" dirty="0"/>
              <a:t> Using these resources and your own research, explore the ways in which Tesco approached this corporate venture and suggest reasons for its eventual pull out of the venture.  What lessons could it learn about future moves of this kind?</a:t>
            </a:r>
            <a:endParaRPr lang="en-GB" sz="2200" dirty="0"/>
          </a:p>
          <a:p>
            <a:pPr>
              <a:lnSpc>
                <a:spcPct val="90000"/>
              </a:lnSpc>
            </a:pPr>
            <a:endParaRPr lang="en-US" sz="2200" dirty="0"/>
          </a:p>
        </p:txBody>
      </p:sp>
    </p:spTree>
    <p:extLst>
      <p:ext uri="{BB962C8B-B14F-4D97-AF65-F5344CB8AC3E}">
        <p14:creationId xmlns:p14="http://schemas.microsoft.com/office/powerpoint/2010/main" val="20590849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A686B1-6EC4-8141-905A-86C6494805BF}"/>
              </a:ext>
            </a:extLst>
          </p:cNvPr>
          <p:cNvSpPr>
            <a:spLocks noGrp="1"/>
          </p:cNvSpPr>
          <p:nvPr>
            <p:ph type="title"/>
          </p:nvPr>
        </p:nvSpPr>
        <p:spPr>
          <a:xfrm>
            <a:off x="515125" y="1153572"/>
            <a:ext cx="2400300" cy="4461163"/>
          </a:xfrm>
        </p:spPr>
        <p:txBody>
          <a:bodyPr>
            <a:normAutofit/>
          </a:bodyPr>
          <a:lstStyle/>
          <a:p>
            <a:r>
              <a:rPr lang="en-US">
                <a:solidFill>
                  <a:srgbClr val="FFFFFF"/>
                </a:solidFill>
              </a:rPr>
              <a:t>Activity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15C7BE0-7F8F-1343-A82F-39962738D59A}"/>
              </a:ext>
            </a:extLst>
          </p:cNvPr>
          <p:cNvSpPr>
            <a:spLocks noGrp="1"/>
          </p:cNvSpPr>
          <p:nvPr>
            <p:ph idx="1"/>
          </p:nvPr>
        </p:nvSpPr>
        <p:spPr>
          <a:xfrm>
            <a:off x="3335481" y="591344"/>
            <a:ext cx="5179868" cy="5585619"/>
          </a:xfrm>
        </p:spPr>
        <p:txBody>
          <a:bodyPr anchor="ctr">
            <a:normAutofit/>
          </a:bodyPr>
          <a:lstStyle/>
          <a:p>
            <a:pPr>
              <a:lnSpc>
                <a:spcPct val="90000"/>
              </a:lnSpc>
            </a:pPr>
            <a:r>
              <a:rPr lang="en-GB" sz="1300" dirty="0">
                <a:ea typeface="ＭＳ Ｐゴシック" charset="0"/>
                <a:cs typeface="ＭＳ Ｐゴシック" charset="0"/>
              </a:rPr>
              <a:t>You’ve been asked as consultants to recommend ways of enhancing innovation capability in an established business..  They already have effective ‘steady state’ capability– what else would you recommend? What structures and ‘routines’ do they need to:</a:t>
            </a:r>
          </a:p>
          <a:p>
            <a:pPr lvl="1">
              <a:lnSpc>
                <a:spcPct val="90000"/>
              </a:lnSpc>
            </a:pPr>
            <a:r>
              <a:rPr lang="en-GB" sz="1300" dirty="0">
                <a:ea typeface="ＭＳ Ｐゴシック" charset="0"/>
                <a:cs typeface="ＭＳ Ｐゴシック" charset="0"/>
              </a:rPr>
              <a:t>search beyond their lamp-post?</a:t>
            </a:r>
          </a:p>
          <a:p>
            <a:pPr lvl="1">
              <a:lnSpc>
                <a:spcPct val="90000"/>
              </a:lnSpc>
            </a:pPr>
            <a:r>
              <a:rPr lang="en-GB" sz="1300" dirty="0">
                <a:ea typeface="ＭＳ Ｐゴシック" charset="0"/>
                <a:cs typeface="ＭＳ Ｐゴシック" charset="0"/>
              </a:rPr>
              <a:t>handle the ‘immune system’ and persuade the company to do something very different?</a:t>
            </a:r>
          </a:p>
          <a:p>
            <a:pPr lvl="1">
              <a:lnSpc>
                <a:spcPct val="90000"/>
              </a:lnSpc>
            </a:pPr>
            <a:r>
              <a:rPr lang="en-GB" sz="1300" dirty="0">
                <a:ea typeface="ＭＳ Ｐゴシック" charset="0"/>
                <a:cs typeface="ＭＳ Ｐゴシック" charset="0"/>
              </a:rPr>
              <a:t>implement what may be alien ideas, incompatible with current skills, resources and a ‘how we do things around here’ culture?</a:t>
            </a:r>
          </a:p>
          <a:p>
            <a:pPr>
              <a:lnSpc>
                <a:spcPct val="90000"/>
              </a:lnSpc>
            </a:pPr>
            <a:r>
              <a:rPr lang="en-GB" sz="1300" dirty="0">
                <a:ea typeface="ＭＳ Ｐゴシック" charset="0"/>
                <a:cs typeface="ＭＳ Ｐゴシック" charset="0"/>
              </a:rPr>
              <a:t>Prepare a short feedback presentation to ‘the Board’</a:t>
            </a:r>
            <a:endParaRPr lang="en-US" sz="1300" dirty="0">
              <a:ea typeface="ＭＳ Ｐゴシック" charset="0"/>
              <a:cs typeface="ＭＳ Ｐゴシック" charset="0"/>
            </a:endParaRPr>
          </a:p>
          <a:p>
            <a:pPr>
              <a:lnSpc>
                <a:spcPct val="90000"/>
              </a:lnSpc>
            </a:pPr>
            <a:endParaRPr lang="en-US" sz="1300" dirty="0"/>
          </a:p>
        </p:txBody>
      </p:sp>
    </p:spTree>
    <p:extLst>
      <p:ext uri="{BB962C8B-B14F-4D97-AF65-F5344CB8AC3E}">
        <p14:creationId xmlns:p14="http://schemas.microsoft.com/office/powerpoint/2010/main" val="41925231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F3E2-DE82-684F-AB96-D65AACA856AA}"/>
              </a:ext>
            </a:extLst>
          </p:cNvPr>
          <p:cNvSpPr>
            <a:spLocks noGrp="1"/>
          </p:cNvSpPr>
          <p:nvPr>
            <p:ph type="title"/>
          </p:nvPr>
        </p:nvSpPr>
        <p:spPr>
          <a:xfrm>
            <a:off x="515125" y="1153572"/>
            <a:ext cx="2400300" cy="4461163"/>
          </a:xfrm>
        </p:spPr>
        <p:txBody>
          <a:bodyPr>
            <a:normAutofit/>
          </a:bodyPr>
          <a:lstStyle/>
          <a:p>
            <a:r>
              <a:rPr lang="en-US">
                <a:solidFill>
                  <a:srgbClr val="FFFFFF"/>
                </a:solidFill>
              </a:rPr>
              <a:t>Cases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FC5492F-86A8-4E4C-88C3-DE87089A6DE2}"/>
              </a:ext>
            </a:extLst>
          </p:cNvPr>
          <p:cNvSpPr>
            <a:spLocks noGrp="1"/>
          </p:cNvSpPr>
          <p:nvPr>
            <p:ph idx="1"/>
          </p:nvPr>
        </p:nvSpPr>
        <p:spPr>
          <a:xfrm>
            <a:off x="3335481" y="591344"/>
            <a:ext cx="5179868" cy="5585619"/>
          </a:xfrm>
        </p:spPr>
        <p:txBody>
          <a:bodyPr anchor="ctr">
            <a:normAutofit fontScale="92500" lnSpcReduction="20000"/>
          </a:bodyPr>
          <a:lstStyle/>
          <a:p>
            <a:pPr marL="0" indent="0">
              <a:lnSpc>
                <a:spcPct val="90000"/>
              </a:lnSpc>
              <a:buNone/>
            </a:pPr>
            <a:r>
              <a:rPr lang="en-US" sz="2000" dirty="0"/>
              <a:t>There are several </a:t>
            </a:r>
            <a:r>
              <a:rPr lang="en-US" sz="2000" dirty="0">
                <a:hlinkClick r:id="rId2"/>
              </a:rPr>
              <a:t>case studies </a:t>
            </a:r>
            <a:r>
              <a:rPr lang="en-US" sz="2000" dirty="0"/>
              <a:t>which highlight key themes in the chapter, including:</a:t>
            </a:r>
          </a:p>
          <a:p>
            <a:pPr marL="0" indent="0">
              <a:lnSpc>
                <a:spcPct val="90000"/>
              </a:lnSpc>
              <a:buNone/>
            </a:pPr>
            <a:endParaRPr lang="en-GB" sz="2000" dirty="0"/>
          </a:p>
          <a:p>
            <a:pPr>
              <a:lnSpc>
                <a:spcPct val="90000"/>
              </a:lnSpc>
            </a:pPr>
            <a:r>
              <a:rPr lang="en-GB" sz="2000" dirty="0" err="1"/>
              <a:t>Tidewave</a:t>
            </a:r>
            <a:r>
              <a:rPr lang="en-GB" sz="2000" dirty="0"/>
              <a:t>, a detailed longitudinal study following from start-up through early stage growth</a:t>
            </a:r>
          </a:p>
          <a:p>
            <a:pPr>
              <a:lnSpc>
                <a:spcPct val="90000"/>
              </a:lnSpc>
            </a:pPr>
            <a:r>
              <a:rPr lang="en-GB" sz="2000" dirty="0"/>
              <a:t>Espresso Mushroom, </a:t>
            </a:r>
            <a:r>
              <a:rPr lang="en-GB" sz="2000" dirty="0" err="1"/>
              <a:t>Aquapax</a:t>
            </a:r>
            <a:r>
              <a:rPr lang="en-GB" sz="2000" dirty="0"/>
              <a:t>, Brighton Beard Company, </a:t>
            </a:r>
            <a:r>
              <a:rPr lang="en-GB" sz="2000" dirty="0" err="1"/>
              <a:t>Luminaid</a:t>
            </a:r>
            <a:r>
              <a:rPr lang="en-GB" sz="2000" dirty="0"/>
              <a:t> as start-up ventures</a:t>
            </a:r>
          </a:p>
          <a:p>
            <a:pPr>
              <a:lnSpc>
                <a:spcPct val="90000"/>
              </a:lnSpc>
            </a:pPr>
            <a:r>
              <a:rPr lang="en-GB" sz="2000" dirty="0"/>
              <a:t>The case of Spirit illustrates an entrepreneurial approach to exploiting dormant knowledge resources</a:t>
            </a:r>
          </a:p>
          <a:p>
            <a:pPr>
              <a:lnSpc>
                <a:spcPct val="90000"/>
              </a:lnSpc>
            </a:pPr>
            <a:r>
              <a:rPr lang="en-GB" sz="2000" dirty="0"/>
              <a:t>Hella Ventures describes the process of setting up a corporate venture and some of the challenge sin its operation</a:t>
            </a:r>
          </a:p>
          <a:p>
            <a:pPr>
              <a:lnSpc>
                <a:spcPct val="90000"/>
              </a:lnSpc>
            </a:pPr>
            <a:r>
              <a:rPr lang="en-GB" sz="2000" dirty="0">
                <a:solidFill>
                  <a:srgbClr val="000000"/>
                </a:solidFill>
              </a:rPr>
              <a:t>The case study of radical change within Philips Lighting with some reflections by the change agent, Dorothea </a:t>
            </a:r>
            <a:r>
              <a:rPr lang="en-GB" sz="2000" dirty="0" err="1">
                <a:solidFill>
                  <a:srgbClr val="000000"/>
                </a:solidFill>
              </a:rPr>
              <a:t>Seebode</a:t>
            </a:r>
            <a:r>
              <a:rPr lang="en-GB" sz="2000" dirty="0">
                <a:solidFill>
                  <a:srgbClr val="000000"/>
                </a:solidFill>
              </a:rPr>
              <a:t>, on the process</a:t>
            </a:r>
          </a:p>
          <a:p>
            <a:pPr>
              <a:lnSpc>
                <a:spcPct val="90000"/>
              </a:lnSpc>
            </a:pPr>
            <a:r>
              <a:rPr lang="en-GB" sz="2000" dirty="0"/>
              <a:t>The Gamechanger approach to corporate venturing used by Shell over many years.</a:t>
            </a:r>
          </a:p>
          <a:p>
            <a:pPr>
              <a:lnSpc>
                <a:spcPct val="90000"/>
              </a:lnSpc>
            </a:pPr>
            <a:r>
              <a:rPr lang="en-GB" sz="2000" dirty="0"/>
              <a:t>The examples of </a:t>
            </a:r>
            <a:r>
              <a:rPr lang="en-GB" sz="2000" dirty="0">
                <a:solidFill>
                  <a:schemeClr val="tx1">
                    <a:lumMod val="50000"/>
                    <a:lumOff val="50000"/>
                  </a:schemeClr>
                </a:solidFill>
              </a:rPr>
              <a:t>Kodak and Fuji </a:t>
            </a:r>
            <a:r>
              <a:rPr lang="en-GB" sz="2000" dirty="0"/>
              <a:t>show how diversification takes place as they try to respond to the decline in their mainstream photography markets</a:t>
            </a:r>
          </a:p>
          <a:p>
            <a:pPr>
              <a:lnSpc>
                <a:spcPct val="90000"/>
              </a:lnSpc>
            </a:pPr>
            <a:endParaRPr lang="en-GB" sz="2000" dirty="0"/>
          </a:p>
          <a:p>
            <a:pPr>
              <a:lnSpc>
                <a:spcPct val="90000"/>
              </a:lnSpc>
            </a:pPr>
            <a:endParaRPr lang="en-GB" sz="2000" dirty="0"/>
          </a:p>
          <a:p>
            <a:pPr marL="0" indent="0">
              <a:lnSpc>
                <a:spcPct val="90000"/>
              </a:lnSpc>
              <a:buNone/>
            </a:pPr>
            <a:endParaRPr lang="en-US" sz="2000" dirty="0"/>
          </a:p>
          <a:p>
            <a:pPr>
              <a:lnSpc>
                <a:spcPct val="90000"/>
              </a:lnSpc>
            </a:pPr>
            <a:endParaRPr lang="en-US" sz="2000" dirty="0"/>
          </a:p>
        </p:txBody>
      </p:sp>
    </p:spTree>
    <p:extLst>
      <p:ext uri="{BB962C8B-B14F-4D97-AF65-F5344CB8AC3E}">
        <p14:creationId xmlns:p14="http://schemas.microsoft.com/office/powerpoint/2010/main" val="18643130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0C5149-6727-EC41-B559-990C947441D8}"/>
              </a:ext>
            </a:extLst>
          </p:cNvPr>
          <p:cNvSpPr>
            <a:spLocks noGrp="1"/>
          </p:cNvSpPr>
          <p:nvPr>
            <p:ph type="title"/>
          </p:nvPr>
        </p:nvSpPr>
        <p:spPr>
          <a:xfrm>
            <a:off x="515125" y="1153572"/>
            <a:ext cx="2400300" cy="4461163"/>
          </a:xfrm>
        </p:spPr>
        <p:txBody>
          <a:bodyPr>
            <a:normAutofit/>
          </a:bodyPr>
          <a:lstStyle/>
          <a:p>
            <a:r>
              <a:rPr lang="en-US">
                <a:solidFill>
                  <a:srgbClr val="FFFFFF"/>
                </a:solidFill>
              </a:rPr>
              <a:t>Tools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3511DA1-4502-DE40-9733-E5DEE76C0F3A}"/>
              </a:ext>
            </a:extLst>
          </p:cNvPr>
          <p:cNvSpPr>
            <a:spLocks noGrp="1"/>
          </p:cNvSpPr>
          <p:nvPr>
            <p:ph idx="1"/>
          </p:nvPr>
        </p:nvSpPr>
        <p:spPr>
          <a:xfrm>
            <a:off x="3335481" y="591344"/>
            <a:ext cx="5179868" cy="5585619"/>
          </a:xfrm>
        </p:spPr>
        <p:txBody>
          <a:bodyPr anchor="ctr">
            <a:normAutofit lnSpcReduction="10000"/>
          </a:bodyPr>
          <a:lstStyle/>
          <a:p>
            <a:r>
              <a:rPr lang="en-US" dirty="0"/>
              <a:t>There is a rich variety of tools to help with themes raised in the chapter  You can </a:t>
            </a:r>
            <a:r>
              <a:rPr lang="en-US" dirty="0">
                <a:hlinkClick r:id="rId2"/>
              </a:rPr>
              <a:t>find them on the website here.</a:t>
            </a:r>
            <a:endParaRPr lang="en-US" dirty="0"/>
          </a:p>
          <a:p>
            <a:endParaRPr lang="en-US" dirty="0"/>
          </a:p>
          <a:p>
            <a:r>
              <a:rPr lang="en-US" dirty="0"/>
              <a:t>Lean start-up</a:t>
            </a:r>
          </a:p>
          <a:p>
            <a:r>
              <a:rPr lang="en-US" dirty="0"/>
              <a:t>Business model Canvas</a:t>
            </a:r>
          </a:p>
          <a:p>
            <a:r>
              <a:rPr lang="en-US" dirty="0"/>
              <a:t>Entrepreneur’s storyboard</a:t>
            </a:r>
          </a:p>
          <a:p>
            <a:r>
              <a:rPr lang="en-US" dirty="0"/>
              <a:t>Entrepreneur’s audit</a:t>
            </a:r>
          </a:p>
          <a:p>
            <a:r>
              <a:rPr lang="en-US" dirty="0"/>
              <a:t>Decision matrix</a:t>
            </a:r>
          </a:p>
          <a:p>
            <a:endParaRPr lang="en-US" dirty="0"/>
          </a:p>
        </p:txBody>
      </p:sp>
    </p:spTree>
    <p:extLst>
      <p:ext uri="{BB962C8B-B14F-4D97-AF65-F5344CB8AC3E}">
        <p14:creationId xmlns:p14="http://schemas.microsoft.com/office/powerpoint/2010/main" val="30603043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95DED7-C8FE-5242-ADAE-C017B2D9B442}"/>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 and discussion questions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45D7A7D-5FDF-D74F-AF4C-16DE0AD14877}"/>
              </a:ext>
            </a:extLst>
          </p:cNvPr>
          <p:cNvSpPr>
            <a:spLocks noGrp="1"/>
          </p:cNvSpPr>
          <p:nvPr>
            <p:ph idx="1"/>
          </p:nvPr>
        </p:nvSpPr>
        <p:spPr>
          <a:xfrm>
            <a:off x="3335481" y="591344"/>
            <a:ext cx="5179868" cy="5585619"/>
          </a:xfrm>
        </p:spPr>
        <p:txBody>
          <a:bodyPr anchor="ctr">
            <a:normAutofit fontScale="85000" lnSpcReduction="20000"/>
          </a:bodyPr>
          <a:lstStyle/>
          <a:p>
            <a:pPr lvl="0"/>
            <a:r>
              <a:rPr lang="en-GB" dirty="0"/>
              <a:t>1.	</a:t>
            </a:r>
            <a:r>
              <a:rPr lang="en-US" dirty="0"/>
              <a:t>What options exist for corporate venturing? Discuss the relative strengths and weaknesses of different approaches.</a:t>
            </a:r>
          </a:p>
          <a:p>
            <a:pPr lvl="0"/>
            <a:endParaRPr lang="en-GB" dirty="0"/>
          </a:p>
          <a:p>
            <a:pPr lvl="0"/>
            <a:r>
              <a:rPr lang="en-US" dirty="0"/>
              <a:t>2.	Jim Smith has asked for your help since his company is in a declining market and using old technology.  He feels they are ‘running out of road’ and wants to implement some form of corporate venturing approach to identify new options.  What advice would you give him?</a:t>
            </a:r>
            <a:endParaRPr lang="en-GB" dirty="0"/>
          </a:p>
          <a:p>
            <a:endParaRPr lang="en-US" dirty="0"/>
          </a:p>
        </p:txBody>
      </p:sp>
    </p:spTree>
    <p:extLst>
      <p:ext uri="{BB962C8B-B14F-4D97-AF65-F5344CB8AC3E}">
        <p14:creationId xmlns:p14="http://schemas.microsoft.com/office/powerpoint/2010/main" val="37415812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06A2E2-8479-BA4D-B1F5-27C8769673E4}"/>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 and discussion questions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050F688-A905-AB42-9D8A-FBEFD43DB715}"/>
              </a:ext>
            </a:extLst>
          </p:cNvPr>
          <p:cNvSpPr>
            <a:spLocks noGrp="1"/>
          </p:cNvSpPr>
          <p:nvPr>
            <p:ph idx="1"/>
          </p:nvPr>
        </p:nvSpPr>
        <p:spPr>
          <a:xfrm>
            <a:off x="3335481" y="591344"/>
            <a:ext cx="5179868" cy="5585619"/>
          </a:xfrm>
        </p:spPr>
        <p:txBody>
          <a:bodyPr anchor="ctr">
            <a:normAutofit/>
          </a:bodyPr>
          <a:lstStyle/>
          <a:p>
            <a:pPr lvl="0">
              <a:lnSpc>
                <a:spcPct val="90000"/>
              </a:lnSpc>
            </a:pPr>
            <a:r>
              <a:rPr lang="en-US" dirty="0"/>
              <a:t>3.	Why would an organization consider corporate venturing?  What motives might drive them in this direction?</a:t>
            </a:r>
            <a:endParaRPr lang="en-GB" dirty="0"/>
          </a:p>
          <a:p>
            <a:pPr>
              <a:lnSpc>
                <a:spcPct val="90000"/>
              </a:lnSpc>
            </a:pPr>
            <a:endParaRPr lang="en-GB" dirty="0"/>
          </a:p>
          <a:p>
            <a:pPr lvl="0">
              <a:lnSpc>
                <a:spcPct val="90000"/>
              </a:lnSpc>
            </a:pPr>
            <a:r>
              <a:rPr lang="en-US" dirty="0"/>
              <a:t>4.	What might the challenges be for a CV group set up to exploit the untapped knowledge base within an organization?</a:t>
            </a:r>
            <a:endParaRPr lang="en-GB" dirty="0"/>
          </a:p>
          <a:p>
            <a:pPr>
              <a:lnSpc>
                <a:spcPct val="90000"/>
              </a:lnSpc>
            </a:pPr>
            <a:endParaRPr lang="en-US" dirty="0"/>
          </a:p>
        </p:txBody>
      </p:sp>
    </p:spTree>
    <p:extLst>
      <p:ext uri="{BB962C8B-B14F-4D97-AF65-F5344CB8AC3E}">
        <p14:creationId xmlns:p14="http://schemas.microsoft.com/office/powerpoint/2010/main" val="40515840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F1E5A1-B87A-6449-9100-94ACD820F818}"/>
              </a:ext>
            </a:extLst>
          </p:cNvPr>
          <p:cNvSpPr>
            <a:spLocks noGrp="1"/>
          </p:cNvSpPr>
          <p:nvPr>
            <p:ph type="title"/>
          </p:nvPr>
        </p:nvSpPr>
        <p:spPr>
          <a:xfrm>
            <a:off x="515125" y="1153572"/>
            <a:ext cx="2400300" cy="4461163"/>
          </a:xfrm>
        </p:spPr>
        <p:txBody>
          <a:bodyPr>
            <a:normAutofit/>
          </a:bodyPr>
          <a:lstStyle/>
          <a:p>
            <a:r>
              <a:rPr lang="en-US" sz="3400">
                <a:solidFill>
                  <a:srgbClr val="FFFFFF"/>
                </a:solidFill>
              </a:rPr>
              <a:t>Assessment and discussion questions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F26F8CA-162A-9A4A-A66F-165BB5E4BA98}"/>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US" sz="2700" dirty="0"/>
              <a:t>5.	What are the differences between corporate venturing and new product development? </a:t>
            </a:r>
          </a:p>
          <a:p>
            <a:pPr marL="0" indent="0">
              <a:lnSpc>
                <a:spcPct val="90000"/>
              </a:lnSpc>
              <a:buNone/>
            </a:pPr>
            <a:r>
              <a:rPr lang="en-US" sz="2700" dirty="0"/>
              <a:t>6.	In what ways could strategic and operational goals create conflicts? </a:t>
            </a:r>
          </a:p>
          <a:p>
            <a:pPr marL="0" indent="0">
              <a:lnSpc>
                <a:spcPct val="90000"/>
              </a:lnSpc>
              <a:buNone/>
            </a:pPr>
            <a:r>
              <a:rPr lang="en-US" sz="2700" dirty="0"/>
              <a:t>7. 	What are the main management challenges in the relationships between the parent organization and its ventures? </a:t>
            </a:r>
          </a:p>
          <a:p>
            <a:pPr marL="0" indent="0">
              <a:lnSpc>
                <a:spcPct val="90000"/>
              </a:lnSpc>
              <a:buNone/>
            </a:pPr>
            <a:r>
              <a:rPr lang="en-US" sz="2700" dirty="0"/>
              <a:t>8.	What are the advantages and disadvantages of the different approaches to resourcing and structuring corporate ventures? </a:t>
            </a:r>
          </a:p>
          <a:p>
            <a:pPr>
              <a:lnSpc>
                <a:spcPct val="90000"/>
              </a:lnSpc>
            </a:pPr>
            <a:endParaRPr lang="en-US" sz="2700" dirty="0"/>
          </a:p>
        </p:txBody>
      </p:sp>
    </p:spTree>
    <p:extLst>
      <p:ext uri="{BB962C8B-B14F-4D97-AF65-F5344CB8AC3E}">
        <p14:creationId xmlns:p14="http://schemas.microsoft.com/office/powerpoint/2010/main" val="5036154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2425</Words>
  <Application>Microsoft Macintosh PowerPoint</Application>
  <PresentationFormat>On-screen Show (4:3)</PresentationFormat>
  <Paragraphs>221</Paragraphs>
  <Slides>45</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Teaching Resources and Instructors’ Guidelines</vt:lpstr>
      <vt:lpstr>Chapter 12: Promoting entrepreneurship and new ventures</vt:lpstr>
      <vt:lpstr>Learning objectives</vt:lpstr>
      <vt:lpstr>Core themes and material from the book</vt:lpstr>
      <vt:lpstr>Options in venturing</vt:lpstr>
      <vt:lpstr>Motives for starting new ventures</vt:lpstr>
      <vt:lpstr>Influential factors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Reasons for forming  spin-out ventures</vt:lpstr>
      <vt:lpstr>Examples of spin-offs</vt:lpstr>
      <vt:lpstr>Motives for launching depend on...</vt:lpstr>
      <vt:lpstr>Institutional variables in academic entrepreneurship</vt:lpstr>
      <vt:lpstr>Policy guidelines needed</vt:lpstr>
      <vt:lpstr>Innovative SMEs</vt:lpstr>
      <vt:lpstr>Challenges for NTBFs</vt:lpstr>
      <vt:lpstr>Summary</vt:lpstr>
      <vt:lpstr>Summary</vt:lpstr>
      <vt:lpstr>Videos</vt:lpstr>
      <vt:lpstr>PowerPoint Presentation</vt:lpstr>
      <vt:lpstr>PowerPoint Presentation</vt:lpstr>
      <vt:lpstr>Activities</vt:lpstr>
      <vt:lpstr>Activity: Corporate venturing</vt:lpstr>
      <vt:lpstr>Activity</vt:lpstr>
      <vt:lpstr>Cases </vt:lpstr>
      <vt:lpstr>Tools</vt:lpstr>
      <vt:lpstr>Assessments and discussion questions</vt:lpstr>
      <vt:lpstr>Assessments and discussion questions</vt:lpstr>
      <vt:lpstr>Assessment and discussion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Resources and Instructors’ Guidelines</dc:title>
  <dc:creator>john bessant</dc:creator>
  <cp:lastModifiedBy>john bessant</cp:lastModifiedBy>
  <cp:revision>6</cp:revision>
  <dcterms:created xsi:type="dcterms:W3CDTF">2020-11-15T12:51:31Z</dcterms:created>
  <dcterms:modified xsi:type="dcterms:W3CDTF">2024-11-02T08:08:24Z</dcterms:modified>
</cp:coreProperties>
</file>