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56" r:id="rId5"/>
    <p:sldId id="318" r:id="rId6"/>
    <p:sldId id="326" r:id="rId7"/>
    <p:sldId id="261" r:id="rId8"/>
    <p:sldId id="272" r:id="rId9"/>
    <p:sldId id="274" r:id="rId10"/>
    <p:sldId id="265" r:id="rId11"/>
    <p:sldId id="267" r:id="rId12"/>
    <p:sldId id="268" r:id="rId13"/>
    <p:sldId id="270" r:id="rId14"/>
    <p:sldId id="276" r:id="rId15"/>
    <p:sldId id="277" r:id="rId16"/>
    <p:sldId id="327" r:id="rId17"/>
    <p:sldId id="328" r:id="rId18"/>
    <p:sldId id="329" r:id="rId19"/>
    <p:sldId id="330" r:id="rId20"/>
    <p:sldId id="331" r:id="rId21"/>
    <p:sldId id="332" r:id="rId22"/>
    <p:sldId id="283" r:id="rId23"/>
    <p:sldId id="284" r:id="rId24"/>
    <p:sldId id="285" r:id="rId25"/>
    <p:sldId id="286" r:id="rId26"/>
    <p:sldId id="334" r:id="rId27"/>
    <p:sldId id="333" r:id="rId28"/>
    <p:sldId id="335" r:id="rId29"/>
    <p:sldId id="359" r:id="rId30"/>
    <p:sldId id="324" r:id="rId31"/>
    <p:sldId id="336" r:id="rId32"/>
    <p:sldId id="337" r:id="rId33"/>
    <p:sldId id="338" r:id="rId34"/>
    <p:sldId id="319" r:id="rId35"/>
    <p:sldId id="339" r:id="rId36"/>
    <p:sldId id="340" r:id="rId37"/>
    <p:sldId id="342" r:id="rId38"/>
    <p:sldId id="343" r:id="rId39"/>
    <p:sldId id="320" r:id="rId40"/>
    <p:sldId id="341" r:id="rId41"/>
    <p:sldId id="321" r:id="rId42"/>
    <p:sldId id="262" r:id="rId43"/>
    <p:sldId id="271" r:id="rId44"/>
    <p:sldId id="266" r:id="rId45"/>
    <p:sldId id="344" r:id="rId46"/>
    <p:sldId id="281" r:id="rId47"/>
    <p:sldId id="345" r:id="rId48"/>
    <p:sldId id="346" r:id="rId49"/>
    <p:sldId id="354" r:id="rId50"/>
    <p:sldId id="322" r:id="rId51"/>
    <p:sldId id="360" r:id="rId52"/>
    <p:sldId id="325" r:id="rId53"/>
    <p:sldId id="348" r:id="rId54"/>
    <p:sldId id="349" r:id="rId55"/>
    <p:sldId id="350" r:id="rId56"/>
    <p:sldId id="351" r:id="rId57"/>
    <p:sldId id="352" r:id="rId58"/>
    <p:sldId id="353" r:id="rId59"/>
    <p:sldId id="355" r:id="rId60"/>
    <p:sldId id="356"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11"/>
  </p:normalViewPr>
  <p:slideViewPr>
    <p:cSldViewPr>
      <p:cViewPr varScale="1">
        <p:scale>
          <a:sx n="116" d="100"/>
          <a:sy n="116" d="100"/>
        </p:scale>
        <p:origin x="1760" y="19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2.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png"/></Relationships>
</file>

<file path=ppt/diagrams/_rels/data3.xml.rels><?xml version="1.0" encoding="UTF-8" standalone="yes"?>
<Relationships xmlns="http://schemas.openxmlformats.org/package/2006/relationships"><Relationship Id="rId1" Type="http://schemas.openxmlformats.org/officeDocument/2006/relationships/hyperlink" Target="https://www.johnbessant.org/_files/ugd/f6594a_052e406b74d643678f6afa6adcc4f74d.pdf" TargetMode="External"/></Relationships>
</file>

<file path=ppt/diagrams/_rels/data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hyperlink" Target="https://www.johnbessant.org/_files/ugd/6ba33a_adf6259194c04f4a94359be0e64ece14.pdf" TargetMode="External"/></Relationships>
</file>

<file path=ppt/diagrams/_rels/drawing2.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png"/></Relationships>
</file>

<file path=ppt/diagrams/_rels/drawing3.xml.rels><?xml version="1.0" encoding="UTF-8" standalone="yes"?>
<Relationships xmlns="http://schemas.openxmlformats.org/package/2006/relationships"><Relationship Id="rId1" Type="http://schemas.openxmlformats.org/officeDocument/2006/relationships/hyperlink" Target="https://www.johnbessant.org/_files/ugd/f6594a_052e406b74d643678f6afa6adcc4f74d.pdf" TargetMode="External"/></Relationships>
</file>

<file path=ppt/diagrams/_rels/drawing4.xml.rels><?xml version="1.0" encoding="UTF-8" standalone="yes"?>
<Relationships xmlns="http://schemas.openxmlformats.org/package/2006/relationships"><Relationship Id="rId3" Type="http://schemas.openxmlformats.org/officeDocument/2006/relationships/hyperlink" Target="https://www.johnbessant.org/_files/ugd/6ba33a_adf6259194c04f4a94359be0e64ece14.pdf" TargetMode="External"/><Relationship Id="rId2" Type="http://schemas.openxmlformats.org/officeDocument/2006/relationships/image" Target="../media/image25.svg"/><Relationship Id="rId1"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1A63C1-B045-47F2-8D37-1AE834B19FF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37587D9-FDA8-40C7-8CDD-AD60F43868C6}">
      <dgm:prSet/>
      <dgm:spPr/>
      <dgm:t>
        <a:bodyPr/>
        <a:lstStyle/>
        <a:p>
          <a:r>
            <a:rPr lang="en-GB" i="1"/>
            <a:t>By the end of this chapter you will understand:</a:t>
          </a:r>
          <a:endParaRPr lang="en-US"/>
        </a:p>
      </dgm:t>
    </dgm:pt>
    <dgm:pt modelId="{9D770FFF-867C-4CFF-9517-7B014A0726D5}" type="parTrans" cxnId="{BC7965C9-911B-414D-A5AB-CA88070697AF}">
      <dgm:prSet/>
      <dgm:spPr/>
      <dgm:t>
        <a:bodyPr/>
        <a:lstStyle/>
        <a:p>
          <a:endParaRPr lang="en-US"/>
        </a:p>
      </dgm:t>
    </dgm:pt>
    <dgm:pt modelId="{0279F3AA-CD65-411E-A643-2BAD617F32E0}" type="sibTrans" cxnId="{BC7965C9-911B-414D-A5AB-CA88070697AF}">
      <dgm:prSet/>
      <dgm:spPr/>
      <dgm:t>
        <a:bodyPr/>
        <a:lstStyle/>
        <a:p>
          <a:endParaRPr lang="en-US"/>
        </a:p>
      </dgm:t>
    </dgm:pt>
    <dgm:pt modelId="{2F42F6C7-FA2C-48C5-B46B-C9CA7C51A872}">
      <dgm:prSet/>
      <dgm:spPr/>
      <dgm:t>
        <a:bodyPr/>
        <a:lstStyle/>
        <a:p>
          <a:r>
            <a:rPr lang="en-GB" i="1"/>
            <a:t>Innovation as a process rather than a single flash of inspiration;</a:t>
          </a:r>
          <a:endParaRPr lang="en-US"/>
        </a:p>
      </dgm:t>
    </dgm:pt>
    <dgm:pt modelId="{954C7CD8-FCE0-49E3-904D-14E8B3C84363}" type="parTrans" cxnId="{3CC1F332-0C38-4FC0-AB1B-2EA3E9EA4F39}">
      <dgm:prSet/>
      <dgm:spPr/>
      <dgm:t>
        <a:bodyPr/>
        <a:lstStyle/>
        <a:p>
          <a:endParaRPr lang="en-US"/>
        </a:p>
      </dgm:t>
    </dgm:pt>
    <dgm:pt modelId="{8D6C176C-D834-448B-9A60-7AA6B7459F4B}" type="sibTrans" cxnId="{3CC1F332-0C38-4FC0-AB1B-2EA3E9EA4F39}">
      <dgm:prSet/>
      <dgm:spPr/>
      <dgm:t>
        <a:bodyPr/>
        <a:lstStyle/>
        <a:p>
          <a:endParaRPr lang="en-US"/>
        </a:p>
      </dgm:t>
    </dgm:pt>
    <dgm:pt modelId="{765F5C8A-B18C-4B66-B200-33A22B2684BF}">
      <dgm:prSet/>
      <dgm:spPr/>
      <dgm:t>
        <a:bodyPr/>
        <a:lstStyle/>
        <a:p>
          <a:r>
            <a:rPr lang="en-GB" i="1"/>
            <a:t>The difficulties in managing what is an uncertain and risky process;</a:t>
          </a:r>
          <a:endParaRPr lang="en-US"/>
        </a:p>
      </dgm:t>
    </dgm:pt>
    <dgm:pt modelId="{DAF88B66-BBF6-4F54-8A47-E1BED6F6F06A}" type="parTrans" cxnId="{204FD745-6718-4E62-AD6B-C8C798E20005}">
      <dgm:prSet/>
      <dgm:spPr/>
      <dgm:t>
        <a:bodyPr/>
        <a:lstStyle/>
        <a:p>
          <a:endParaRPr lang="en-US"/>
        </a:p>
      </dgm:t>
    </dgm:pt>
    <dgm:pt modelId="{C6F0382F-D939-4D94-B514-CFAD39245345}" type="sibTrans" cxnId="{204FD745-6718-4E62-AD6B-C8C798E20005}">
      <dgm:prSet/>
      <dgm:spPr/>
      <dgm:t>
        <a:bodyPr/>
        <a:lstStyle/>
        <a:p>
          <a:endParaRPr lang="en-US"/>
        </a:p>
      </dgm:t>
    </dgm:pt>
    <dgm:pt modelId="{70B8B0D8-D145-44CB-A7C6-252A94ACA0D1}">
      <dgm:prSet/>
      <dgm:spPr/>
      <dgm:t>
        <a:bodyPr/>
        <a:lstStyle/>
        <a:p>
          <a:r>
            <a:rPr lang="en-GB" i="1"/>
            <a:t>The key themes in thinking about how to manage this process effectively.</a:t>
          </a:r>
          <a:endParaRPr lang="en-US"/>
        </a:p>
      </dgm:t>
    </dgm:pt>
    <dgm:pt modelId="{C53E2F68-E873-4D98-8CD8-472DCA68C124}" type="parTrans" cxnId="{BEFC2140-AF6D-4D55-82CF-B0221B4944A9}">
      <dgm:prSet/>
      <dgm:spPr/>
      <dgm:t>
        <a:bodyPr/>
        <a:lstStyle/>
        <a:p>
          <a:endParaRPr lang="en-US"/>
        </a:p>
      </dgm:t>
    </dgm:pt>
    <dgm:pt modelId="{25764A0D-2CE1-4580-A787-4BDD6A45639E}" type="sibTrans" cxnId="{BEFC2140-AF6D-4D55-82CF-B0221B4944A9}">
      <dgm:prSet/>
      <dgm:spPr/>
      <dgm:t>
        <a:bodyPr/>
        <a:lstStyle/>
        <a:p>
          <a:endParaRPr lang="en-US"/>
        </a:p>
      </dgm:t>
    </dgm:pt>
    <dgm:pt modelId="{EFC070CE-3A01-7D4C-99D9-A886BE0B0C35}" type="pres">
      <dgm:prSet presAssocID="{7F1A63C1-B045-47F2-8D37-1AE834B19FFE}" presName="linear" presStyleCnt="0">
        <dgm:presLayoutVars>
          <dgm:animLvl val="lvl"/>
          <dgm:resizeHandles val="exact"/>
        </dgm:presLayoutVars>
      </dgm:prSet>
      <dgm:spPr/>
    </dgm:pt>
    <dgm:pt modelId="{7C5575AB-9FC1-994D-AEAF-9EFB18A69853}" type="pres">
      <dgm:prSet presAssocID="{937587D9-FDA8-40C7-8CDD-AD60F43868C6}" presName="parentText" presStyleLbl="node1" presStyleIdx="0" presStyleCnt="1">
        <dgm:presLayoutVars>
          <dgm:chMax val="0"/>
          <dgm:bulletEnabled val="1"/>
        </dgm:presLayoutVars>
      </dgm:prSet>
      <dgm:spPr/>
    </dgm:pt>
    <dgm:pt modelId="{04522F9D-0472-4F4D-8101-73321B8C1C97}" type="pres">
      <dgm:prSet presAssocID="{937587D9-FDA8-40C7-8CDD-AD60F43868C6}" presName="childText" presStyleLbl="revTx" presStyleIdx="0" presStyleCnt="1">
        <dgm:presLayoutVars>
          <dgm:bulletEnabled val="1"/>
        </dgm:presLayoutVars>
      </dgm:prSet>
      <dgm:spPr/>
    </dgm:pt>
  </dgm:ptLst>
  <dgm:cxnLst>
    <dgm:cxn modelId="{3CC1F332-0C38-4FC0-AB1B-2EA3E9EA4F39}" srcId="{937587D9-FDA8-40C7-8CDD-AD60F43868C6}" destId="{2F42F6C7-FA2C-48C5-B46B-C9CA7C51A872}" srcOrd="0" destOrd="0" parTransId="{954C7CD8-FCE0-49E3-904D-14E8B3C84363}" sibTransId="{8D6C176C-D834-448B-9A60-7AA6B7459F4B}"/>
    <dgm:cxn modelId="{BEFC2140-AF6D-4D55-82CF-B0221B4944A9}" srcId="{937587D9-FDA8-40C7-8CDD-AD60F43868C6}" destId="{70B8B0D8-D145-44CB-A7C6-252A94ACA0D1}" srcOrd="2" destOrd="0" parTransId="{C53E2F68-E873-4D98-8CD8-472DCA68C124}" sibTransId="{25764A0D-2CE1-4580-A787-4BDD6A45639E}"/>
    <dgm:cxn modelId="{204FD745-6718-4E62-AD6B-C8C798E20005}" srcId="{937587D9-FDA8-40C7-8CDD-AD60F43868C6}" destId="{765F5C8A-B18C-4B66-B200-33A22B2684BF}" srcOrd="1" destOrd="0" parTransId="{DAF88B66-BBF6-4F54-8A47-E1BED6F6F06A}" sibTransId="{C6F0382F-D939-4D94-B514-CFAD39245345}"/>
    <dgm:cxn modelId="{ED4DEA50-71FE-6D4F-A891-BCAA400EDA7E}" type="presOf" srcId="{937587D9-FDA8-40C7-8CDD-AD60F43868C6}" destId="{7C5575AB-9FC1-994D-AEAF-9EFB18A69853}" srcOrd="0" destOrd="0" presId="urn:microsoft.com/office/officeart/2005/8/layout/vList2"/>
    <dgm:cxn modelId="{B9564B57-EFBF-9C4F-9070-8A8CE9D4645A}" type="presOf" srcId="{7F1A63C1-B045-47F2-8D37-1AE834B19FFE}" destId="{EFC070CE-3A01-7D4C-99D9-A886BE0B0C35}" srcOrd="0" destOrd="0" presId="urn:microsoft.com/office/officeart/2005/8/layout/vList2"/>
    <dgm:cxn modelId="{CEFCCA7F-DB94-8C4E-80A4-4BA81340AD21}" type="presOf" srcId="{2F42F6C7-FA2C-48C5-B46B-C9CA7C51A872}" destId="{04522F9D-0472-4F4D-8101-73321B8C1C97}" srcOrd="0" destOrd="0" presId="urn:microsoft.com/office/officeart/2005/8/layout/vList2"/>
    <dgm:cxn modelId="{BC7965C9-911B-414D-A5AB-CA88070697AF}" srcId="{7F1A63C1-B045-47F2-8D37-1AE834B19FFE}" destId="{937587D9-FDA8-40C7-8CDD-AD60F43868C6}" srcOrd="0" destOrd="0" parTransId="{9D770FFF-867C-4CFF-9517-7B014A0726D5}" sibTransId="{0279F3AA-CD65-411E-A643-2BAD617F32E0}"/>
    <dgm:cxn modelId="{16737BCB-A11F-0642-8111-37DF7CAA1E13}" type="presOf" srcId="{70B8B0D8-D145-44CB-A7C6-252A94ACA0D1}" destId="{04522F9D-0472-4F4D-8101-73321B8C1C97}" srcOrd="0" destOrd="2" presId="urn:microsoft.com/office/officeart/2005/8/layout/vList2"/>
    <dgm:cxn modelId="{ABC714F4-BAEE-8E40-921C-03DB3E47BB69}" type="presOf" srcId="{765F5C8A-B18C-4B66-B200-33A22B2684BF}" destId="{04522F9D-0472-4F4D-8101-73321B8C1C97}" srcOrd="0" destOrd="1" presId="urn:microsoft.com/office/officeart/2005/8/layout/vList2"/>
    <dgm:cxn modelId="{522062E8-9D78-664B-854A-CD139670CE8F}" type="presParOf" srcId="{EFC070CE-3A01-7D4C-99D9-A886BE0B0C35}" destId="{7C5575AB-9FC1-994D-AEAF-9EFB18A69853}" srcOrd="0" destOrd="0" presId="urn:microsoft.com/office/officeart/2005/8/layout/vList2"/>
    <dgm:cxn modelId="{A0D168C4-1B78-024C-831D-FD76E33C5527}" type="presParOf" srcId="{EFC070CE-3A01-7D4C-99D9-A886BE0B0C35}" destId="{04522F9D-0472-4F4D-8101-73321B8C1C9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7C7520-28DC-4CF4-8C05-7C518E20CBB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9133905-A921-4625-9A44-E7FB409EF95B}">
      <dgm:prSet/>
      <dgm:spPr/>
      <dgm:t>
        <a:bodyPr/>
        <a:lstStyle/>
        <a:p>
          <a:pPr>
            <a:lnSpc>
              <a:spcPct val="100000"/>
            </a:lnSpc>
          </a:pPr>
          <a:r>
            <a:rPr lang="en-US" dirty="0"/>
            <a:t>Ask students to pick a sector – e.g. food retailing, airlines, chemicals, public administration – and draw a map of their particular version of this process. How does it work out in practice? </a:t>
          </a:r>
          <a:r>
            <a:rPr lang="en-US"/>
            <a:t>Where are they likely to need or to place most emphasis? </a:t>
          </a:r>
        </a:p>
      </dgm:t>
    </dgm:pt>
    <dgm:pt modelId="{78F5D12F-8ABD-4C9C-85DD-01892EFD5E6D}" type="parTrans" cxnId="{1C3D9511-3DC7-46E2-988B-232A7513DD21}">
      <dgm:prSet/>
      <dgm:spPr/>
      <dgm:t>
        <a:bodyPr/>
        <a:lstStyle/>
        <a:p>
          <a:endParaRPr lang="en-US"/>
        </a:p>
      </dgm:t>
    </dgm:pt>
    <dgm:pt modelId="{5E7C93CC-EC1E-4B82-AD20-6937A20B30D2}" type="sibTrans" cxnId="{1C3D9511-3DC7-46E2-988B-232A7513DD21}">
      <dgm:prSet/>
      <dgm:spPr/>
      <dgm:t>
        <a:bodyPr/>
        <a:lstStyle/>
        <a:p>
          <a:endParaRPr lang="en-US"/>
        </a:p>
      </dgm:t>
    </dgm:pt>
    <dgm:pt modelId="{18756F2D-AAC4-4272-933E-A06CD1745491}" type="pres">
      <dgm:prSet presAssocID="{967C7520-28DC-4CF4-8C05-7C518E20CBB8}" presName="root" presStyleCnt="0">
        <dgm:presLayoutVars>
          <dgm:dir/>
          <dgm:resizeHandles val="exact"/>
        </dgm:presLayoutVars>
      </dgm:prSet>
      <dgm:spPr/>
    </dgm:pt>
    <dgm:pt modelId="{FB306476-822E-4525-9221-47A1C73CAEF4}" type="pres">
      <dgm:prSet presAssocID="{C9133905-A921-4625-9A44-E7FB409EF95B}" presName="compNode" presStyleCnt="0"/>
      <dgm:spPr/>
    </dgm:pt>
    <dgm:pt modelId="{71ADDC6C-0439-4859-AE70-FAE1D6243E5D}" type="pres">
      <dgm:prSet presAssocID="{C9133905-A921-4625-9A44-E7FB409EF95B}" presName="bgRect" presStyleLbl="bgShp" presStyleIdx="0" presStyleCnt="1"/>
      <dgm:spPr/>
    </dgm:pt>
    <dgm:pt modelId="{2D46E6AB-AE26-45A1-8BC6-DAF97E47CAEB}" type="pres">
      <dgm:prSet presAssocID="{C9133905-A921-4625-9A44-E7FB409EF95B}"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ientist"/>
        </a:ext>
      </dgm:extLst>
    </dgm:pt>
    <dgm:pt modelId="{47A95BE5-1F46-4985-AA25-E30C853DCF93}" type="pres">
      <dgm:prSet presAssocID="{C9133905-A921-4625-9A44-E7FB409EF95B}" presName="spaceRect" presStyleCnt="0"/>
      <dgm:spPr/>
    </dgm:pt>
    <dgm:pt modelId="{CCF3EA9C-9069-4E1F-A39A-DCC6A15641F5}" type="pres">
      <dgm:prSet presAssocID="{C9133905-A921-4625-9A44-E7FB409EF95B}" presName="parTx" presStyleLbl="revTx" presStyleIdx="0" presStyleCnt="1">
        <dgm:presLayoutVars>
          <dgm:chMax val="0"/>
          <dgm:chPref val="0"/>
        </dgm:presLayoutVars>
      </dgm:prSet>
      <dgm:spPr/>
    </dgm:pt>
  </dgm:ptLst>
  <dgm:cxnLst>
    <dgm:cxn modelId="{1C3D9511-3DC7-46E2-988B-232A7513DD21}" srcId="{967C7520-28DC-4CF4-8C05-7C518E20CBB8}" destId="{C9133905-A921-4625-9A44-E7FB409EF95B}" srcOrd="0" destOrd="0" parTransId="{78F5D12F-8ABD-4C9C-85DD-01892EFD5E6D}" sibTransId="{5E7C93CC-EC1E-4B82-AD20-6937A20B30D2}"/>
    <dgm:cxn modelId="{AA69DD4F-1904-4DED-A446-E82486726DE8}" type="presOf" srcId="{C9133905-A921-4625-9A44-E7FB409EF95B}" destId="{CCF3EA9C-9069-4E1F-A39A-DCC6A15641F5}" srcOrd="0" destOrd="0" presId="urn:microsoft.com/office/officeart/2018/2/layout/IconVerticalSolidList"/>
    <dgm:cxn modelId="{4F7F7159-4036-4E5F-8D2D-A77E157EBD3B}" type="presOf" srcId="{967C7520-28DC-4CF4-8C05-7C518E20CBB8}" destId="{18756F2D-AAC4-4272-933E-A06CD1745491}" srcOrd="0" destOrd="0" presId="urn:microsoft.com/office/officeart/2018/2/layout/IconVerticalSolidList"/>
    <dgm:cxn modelId="{414A341A-1DE5-4668-BA54-BF128BA6A793}" type="presParOf" srcId="{18756F2D-AAC4-4272-933E-A06CD1745491}" destId="{FB306476-822E-4525-9221-47A1C73CAEF4}" srcOrd="0" destOrd="0" presId="urn:microsoft.com/office/officeart/2018/2/layout/IconVerticalSolidList"/>
    <dgm:cxn modelId="{0744BF26-A78F-41D0-A78A-1D4FC9CF9F82}" type="presParOf" srcId="{FB306476-822E-4525-9221-47A1C73CAEF4}" destId="{71ADDC6C-0439-4859-AE70-FAE1D6243E5D}" srcOrd="0" destOrd="0" presId="urn:microsoft.com/office/officeart/2018/2/layout/IconVerticalSolidList"/>
    <dgm:cxn modelId="{9A84EFFD-E01E-4F31-8994-326CCBFA76CD}" type="presParOf" srcId="{FB306476-822E-4525-9221-47A1C73CAEF4}" destId="{2D46E6AB-AE26-45A1-8BC6-DAF97E47CAEB}" srcOrd="1" destOrd="0" presId="urn:microsoft.com/office/officeart/2018/2/layout/IconVerticalSolidList"/>
    <dgm:cxn modelId="{3B345181-B317-4C4B-A9D7-ECA91A5AF6B0}" type="presParOf" srcId="{FB306476-822E-4525-9221-47A1C73CAEF4}" destId="{47A95BE5-1F46-4985-AA25-E30C853DCF93}" srcOrd="2" destOrd="0" presId="urn:microsoft.com/office/officeart/2018/2/layout/IconVerticalSolidList"/>
    <dgm:cxn modelId="{2500658C-991E-4269-BF73-AC1C71360853}" type="presParOf" srcId="{FB306476-822E-4525-9221-47A1C73CAEF4}" destId="{CCF3EA9C-9069-4E1F-A39A-DCC6A15641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9DB14B-BBD0-408B-B834-1643EEDB8F0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060FD5B6-1A81-4113-8728-CD914B25F9C3}">
      <dgm:prSet/>
      <dgm:spPr/>
      <dgm:t>
        <a:bodyPr/>
        <a:lstStyle/>
        <a:p>
          <a:pPr>
            <a:defRPr cap="all"/>
          </a:pPr>
          <a:r>
            <a:rPr lang="en-US" dirty="0">
              <a:hlinkClick xmlns:r="http://schemas.openxmlformats.org/officeDocument/2006/relationships" r:id="rId1"/>
            </a:rPr>
            <a:t>Read the case study of Eastville community shop.  Try and map the innovation process involved</a:t>
          </a:r>
          <a:endParaRPr lang="en-US" dirty="0"/>
        </a:p>
      </dgm:t>
    </dgm:pt>
    <dgm:pt modelId="{E15E1AB7-7FAF-4EAE-985E-CABE37EBC3D9}" type="parTrans" cxnId="{5B89639F-8E38-4712-84AF-CAB29CC5EA7D}">
      <dgm:prSet/>
      <dgm:spPr/>
      <dgm:t>
        <a:bodyPr/>
        <a:lstStyle/>
        <a:p>
          <a:endParaRPr lang="en-US"/>
        </a:p>
      </dgm:t>
    </dgm:pt>
    <dgm:pt modelId="{E9F3AA66-F656-4E96-B643-C1622633F254}" type="sibTrans" cxnId="{5B89639F-8E38-4712-84AF-CAB29CC5EA7D}">
      <dgm:prSet/>
      <dgm:spPr/>
      <dgm:t>
        <a:bodyPr/>
        <a:lstStyle/>
        <a:p>
          <a:endParaRPr lang="en-US"/>
        </a:p>
      </dgm:t>
    </dgm:pt>
    <dgm:pt modelId="{A425DB0B-C6FB-6C49-B673-8E7FA15D5D04}" type="pres">
      <dgm:prSet presAssocID="{169DB14B-BBD0-408B-B834-1643EEDB8F06}" presName="outerComposite" presStyleCnt="0">
        <dgm:presLayoutVars>
          <dgm:chMax val="5"/>
          <dgm:dir/>
          <dgm:resizeHandles val="exact"/>
        </dgm:presLayoutVars>
      </dgm:prSet>
      <dgm:spPr/>
    </dgm:pt>
    <dgm:pt modelId="{935A2720-8DAA-7D4C-8547-08A16F67A5D9}" type="pres">
      <dgm:prSet presAssocID="{169DB14B-BBD0-408B-B834-1643EEDB8F06}" presName="dummyMaxCanvas" presStyleCnt="0">
        <dgm:presLayoutVars/>
      </dgm:prSet>
      <dgm:spPr/>
    </dgm:pt>
    <dgm:pt modelId="{52AAB7B9-1563-2843-BB34-D766E7E0E530}" type="pres">
      <dgm:prSet presAssocID="{169DB14B-BBD0-408B-B834-1643EEDB8F06}" presName="OneNode_1" presStyleLbl="node1" presStyleIdx="0" presStyleCnt="1">
        <dgm:presLayoutVars>
          <dgm:bulletEnabled val="1"/>
        </dgm:presLayoutVars>
      </dgm:prSet>
      <dgm:spPr/>
    </dgm:pt>
  </dgm:ptLst>
  <dgm:cxnLst>
    <dgm:cxn modelId="{9C38C32B-5315-9141-929C-1241DB31AC75}" type="presOf" srcId="{169DB14B-BBD0-408B-B834-1643EEDB8F06}" destId="{A425DB0B-C6FB-6C49-B673-8E7FA15D5D04}" srcOrd="0" destOrd="0" presId="urn:microsoft.com/office/officeart/2005/8/layout/vProcess5"/>
    <dgm:cxn modelId="{359DDC5F-A551-884E-AF86-692F606B0E73}" type="presOf" srcId="{060FD5B6-1A81-4113-8728-CD914B25F9C3}" destId="{52AAB7B9-1563-2843-BB34-D766E7E0E530}" srcOrd="0" destOrd="0" presId="urn:microsoft.com/office/officeart/2005/8/layout/vProcess5"/>
    <dgm:cxn modelId="{5B89639F-8E38-4712-84AF-CAB29CC5EA7D}" srcId="{169DB14B-BBD0-408B-B834-1643EEDB8F06}" destId="{060FD5B6-1A81-4113-8728-CD914B25F9C3}" srcOrd="0" destOrd="0" parTransId="{E15E1AB7-7FAF-4EAE-985E-CABE37EBC3D9}" sibTransId="{E9F3AA66-F656-4E96-B643-C1622633F254}"/>
    <dgm:cxn modelId="{A3B27047-4FE1-D14F-B197-837D8036E396}" type="presParOf" srcId="{A425DB0B-C6FB-6C49-B673-8E7FA15D5D04}" destId="{935A2720-8DAA-7D4C-8547-08A16F67A5D9}" srcOrd="0" destOrd="0" presId="urn:microsoft.com/office/officeart/2005/8/layout/vProcess5"/>
    <dgm:cxn modelId="{20D23803-944E-A34D-9489-FFC1CEE7758E}" type="presParOf" srcId="{A425DB0B-C6FB-6C49-B673-8E7FA15D5D04}" destId="{52AAB7B9-1563-2843-BB34-D766E7E0E530}" srcOrd="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F0716B-FA34-428A-B649-76EAD23B42E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948E71D-05E5-4D02-967D-C6E4ED9C8E99}">
      <dgm:prSet/>
      <dgm:spPr/>
      <dgm:t>
        <a:bodyPr/>
        <a:lstStyle/>
        <a:p>
          <a:pPr>
            <a:lnSpc>
              <a:spcPct val="100000"/>
            </a:lnSpc>
          </a:pPr>
          <a:r>
            <a:rPr lang="en-GB" dirty="0">
              <a:hlinkClick xmlns:r="http://schemas.openxmlformats.org/officeDocument/2006/relationships" r:id="rId1"/>
            </a:rPr>
            <a:t>On the portal there is an activity based on </a:t>
          </a:r>
          <a:r>
            <a:rPr lang="en-US" dirty="0">
              <a:hlinkClick xmlns:r="http://schemas.openxmlformats.org/officeDocument/2006/relationships" r:id="rId1"/>
            </a:rPr>
            <a:t>the concept of routines and embedding them into a culture. ‘</a:t>
          </a:r>
          <a:r>
            <a:rPr lang="en-US" i="1" dirty="0">
              <a:hlinkClick xmlns:r="http://schemas.openxmlformats.org/officeDocument/2006/relationships" r:id="rId1"/>
            </a:rPr>
            <a:t>The way we do things around here</a:t>
          </a:r>
          <a:r>
            <a:rPr lang="en-US" dirty="0">
              <a:hlinkClick xmlns:r="http://schemas.openxmlformats.org/officeDocument/2006/relationships" r:id="rId1"/>
            </a:rPr>
            <a:t>’:</a:t>
          </a:r>
          <a:r>
            <a:rPr lang="en-GB" dirty="0">
              <a:hlinkClick xmlns:r="http://schemas.openxmlformats.org/officeDocument/2006/relationships" r:id="rId1"/>
            </a:rPr>
            <a:t> </a:t>
          </a:r>
          <a:endParaRPr lang="en-US" dirty="0"/>
        </a:p>
      </dgm:t>
    </dgm:pt>
    <dgm:pt modelId="{AD609852-11C5-4D33-AC86-FC8F345362ED}" type="parTrans" cxnId="{4A7527C8-39F5-448C-AFA1-DEAED3BF332C}">
      <dgm:prSet/>
      <dgm:spPr/>
      <dgm:t>
        <a:bodyPr/>
        <a:lstStyle/>
        <a:p>
          <a:endParaRPr lang="en-US"/>
        </a:p>
      </dgm:t>
    </dgm:pt>
    <dgm:pt modelId="{146CC298-D9DC-4B12-91F7-ADF07315AFCD}" type="sibTrans" cxnId="{4A7527C8-39F5-448C-AFA1-DEAED3BF332C}">
      <dgm:prSet/>
      <dgm:spPr/>
      <dgm:t>
        <a:bodyPr/>
        <a:lstStyle/>
        <a:p>
          <a:endParaRPr lang="en-US"/>
        </a:p>
      </dgm:t>
    </dgm:pt>
    <dgm:pt modelId="{2E91A5CE-8BDC-4081-A886-155A09B59EE8}" type="pres">
      <dgm:prSet presAssocID="{4FF0716B-FA34-428A-B649-76EAD23B42E1}" presName="root" presStyleCnt="0">
        <dgm:presLayoutVars>
          <dgm:dir/>
          <dgm:resizeHandles val="exact"/>
        </dgm:presLayoutVars>
      </dgm:prSet>
      <dgm:spPr/>
    </dgm:pt>
    <dgm:pt modelId="{6BFD4C07-42BA-45B0-992C-0A006599218B}" type="pres">
      <dgm:prSet presAssocID="{F948E71D-05E5-4D02-967D-C6E4ED9C8E99}" presName="compNode" presStyleCnt="0"/>
      <dgm:spPr/>
    </dgm:pt>
    <dgm:pt modelId="{2C2EA766-D428-4436-A50E-BC571AB5DEEE}" type="pres">
      <dgm:prSet presAssocID="{F948E71D-05E5-4D02-967D-C6E4ED9C8E99}" presName="bgRect" presStyleLbl="bgShp" presStyleIdx="0" presStyleCnt="1"/>
      <dgm:spPr/>
    </dgm:pt>
    <dgm:pt modelId="{1F29A6A2-66F4-431F-8EA5-04DF06BFB1D2}" type="pres">
      <dgm:prSet presAssocID="{F948E71D-05E5-4D02-967D-C6E4ED9C8E99}" presName="iconRect" presStyleLbl="node1" presStyleIdx="0" presStyleCnt="1"/>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orkflow"/>
        </a:ext>
      </dgm:extLst>
    </dgm:pt>
    <dgm:pt modelId="{B01A9413-8FA7-409C-A0ED-90EACF67B08F}" type="pres">
      <dgm:prSet presAssocID="{F948E71D-05E5-4D02-967D-C6E4ED9C8E99}" presName="spaceRect" presStyleCnt="0"/>
      <dgm:spPr/>
    </dgm:pt>
    <dgm:pt modelId="{AAB2F97B-244C-4E66-99BE-D96140DC5525}" type="pres">
      <dgm:prSet presAssocID="{F948E71D-05E5-4D02-967D-C6E4ED9C8E99}" presName="parTx" presStyleLbl="revTx" presStyleIdx="0" presStyleCnt="1">
        <dgm:presLayoutVars>
          <dgm:chMax val="0"/>
          <dgm:chPref val="0"/>
        </dgm:presLayoutVars>
      </dgm:prSet>
      <dgm:spPr/>
    </dgm:pt>
  </dgm:ptLst>
  <dgm:cxnLst>
    <dgm:cxn modelId="{06FCF688-8A6C-4721-8147-72D19222F89B}" type="presOf" srcId="{4FF0716B-FA34-428A-B649-76EAD23B42E1}" destId="{2E91A5CE-8BDC-4081-A886-155A09B59EE8}" srcOrd="0" destOrd="0" presId="urn:microsoft.com/office/officeart/2018/2/layout/IconVerticalSolidList"/>
    <dgm:cxn modelId="{858D7790-B85C-4EFB-ACD2-3C6E7C8A2D29}" type="presOf" srcId="{F948E71D-05E5-4D02-967D-C6E4ED9C8E99}" destId="{AAB2F97B-244C-4E66-99BE-D96140DC5525}" srcOrd="0" destOrd="0" presId="urn:microsoft.com/office/officeart/2018/2/layout/IconVerticalSolidList"/>
    <dgm:cxn modelId="{4A7527C8-39F5-448C-AFA1-DEAED3BF332C}" srcId="{4FF0716B-FA34-428A-B649-76EAD23B42E1}" destId="{F948E71D-05E5-4D02-967D-C6E4ED9C8E99}" srcOrd="0" destOrd="0" parTransId="{AD609852-11C5-4D33-AC86-FC8F345362ED}" sibTransId="{146CC298-D9DC-4B12-91F7-ADF07315AFCD}"/>
    <dgm:cxn modelId="{BFD5E821-4CF1-4317-8A7E-F4CCB925BBC2}" type="presParOf" srcId="{2E91A5CE-8BDC-4081-A886-155A09B59EE8}" destId="{6BFD4C07-42BA-45B0-992C-0A006599218B}" srcOrd="0" destOrd="0" presId="urn:microsoft.com/office/officeart/2018/2/layout/IconVerticalSolidList"/>
    <dgm:cxn modelId="{BD9FA899-B102-44E3-9C17-146D54F249F2}" type="presParOf" srcId="{6BFD4C07-42BA-45B0-992C-0A006599218B}" destId="{2C2EA766-D428-4436-A50E-BC571AB5DEEE}" srcOrd="0" destOrd="0" presId="urn:microsoft.com/office/officeart/2018/2/layout/IconVerticalSolidList"/>
    <dgm:cxn modelId="{40A2868C-C0DC-4BC6-922C-60D0A23081BA}" type="presParOf" srcId="{6BFD4C07-42BA-45B0-992C-0A006599218B}" destId="{1F29A6A2-66F4-431F-8EA5-04DF06BFB1D2}" srcOrd="1" destOrd="0" presId="urn:microsoft.com/office/officeart/2018/2/layout/IconVerticalSolidList"/>
    <dgm:cxn modelId="{6CBF83CC-102B-4E8C-A5F5-4281F5EEFF42}" type="presParOf" srcId="{6BFD4C07-42BA-45B0-992C-0A006599218B}" destId="{B01A9413-8FA7-409C-A0ED-90EACF67B08F}" srcOrd="2" destOrd="0" presId="urn:microsoft.com/office/officeart/2018/2/layout/IconVerticalSolidList"/>
    <dgm:cxn modelId="{C43DFE1B-8E4D-443F-AC41-7DD9622A2108}" type="presParOf" srcId="{6BFD4C07-42BA-45B0-992C-0A006599218B}" destId="{AAB2F97B-244C-4E66-99BE-D96140DC552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575AB-9FC1-994D-AEAF-9EFB18A69853}">
      <dsp:nvSpPr>
        <dsp:cNvPr id="0" name=""/>
        <dsp:cNvSpPr/>
      </dsp:nvSpPr>
      <dsp:spPr>
        <a:xfrm>
          <a:off x="0" y="190511"/>
          <a:ext cx="4025646" cy="170469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i="1" kern="1200"/>
            <a:t>By the end of this chapter you will understand:</a:t>
          </a:r>
          <a:endParaRPr lang="en-US" sz="3100" kern="1200"/>
        </a:p>
      </dsp:txBody>
      <dsp:txXfrm>
        <a:off x="83216" y="273727"/>
        <a:ext cx="3859214" cy="1538258"/>
      </dsp:txXfrm>
    </dsp:sp>
    <dsp:sp modelId="{04522F9D-0472-4F4D-8101-73321B8C1C97}">
      <dsp:nvSpPr>
        <dsp:cNvPr id="0" name=""/>
        <dsp:cNvSpPr/>
      </dsp:nvSpPr>
      <dsp:spPr>
        <a:xfrm>
          <a:off x="0" y="1895201"/>
          <a:ext cx="4025646" cy="3272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81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GB" sz="2400" i="1" kern="1200"/>
            <a:t>Innovation as a process rather than a single flash of inspiration;</a:t>
          </a:r>
          <a:endParaRPr lang="en-US" sz="2400" kern="1200"/>
        </a:p>
        <a:p>
          <a:pPr marL="228600" lvl="1" indent="-228600" algn="l" defTabSz="1066800">
            <a:lnSpc>
              <a:spcPct val="90000"/>
            </a:lnSpc>
            <a:spcBef>
              <a:spcPct val="0"/>
            </a:spcBef>
            <a:spcAft>
              <a:spcPct val="20000"/>
            </a:spcAft>
            <a:buChar char="•"/>
          </a:pPr>
          <a:r>
            <a:rPr lang="en-GB" sz="2400" i="1" kern="1200"/>
            <a:t>The difficulties in managing what is an uncertain and risky process;</a:t>
          </a:r>
          <a:endParaRPr lang="en-US" sz="2400" kern="1200"/>
        </a:p>
        <a:p>
          <a:pPr marL="228600" lvl="1" indent="-228600" algn="l" defTabSz="1066800">
            <a:lnSpc>
              <a:spcPct val="90000"/>
            </a:lnSpc>
            <a:spcBef>
              <a:spcPct val="0"/>
            </a:spcBef>
            <a:spcAft>
              <a:spcPct val="20000"/>
            </a:spcAft>
            <a:buChar char="•"/>
          </a:pPr>
          <a:r>
            <a:rPr lang="en-GB" sz="2400" i="1" kern="1200"/>
            <a:t>The key themes in thinking about how to manage this process effectively.</a:t>
          </a:r>
          <a:endParaRPr lang="en-US" sz="2400" kern="1200"/>
        </a:p>
      </dsp:txBody>
      <dsp:txXfrm>
        <a:off x="0" y="1895201"/>
        <a:ext cx="4025646" cy="3272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DDC6C-0439-4859-AE70-FAE1D6243E5D}">
      <dsp:nvSpPr>
        <dsp:cNvPr id="0" name=""/>
        <dsp:cNvSpPr/>
      </dsp:nvSpPr>
      <dsp:spPr>
        <a:xfrm>
          <a:off x="0" y="1522968"/>
          <a:ext cx="78867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6E6AB-AE26-45A1-8BC6-DAF97E47CAEB}">
      <dsp:nvSpPr>
        <dsp:cNvPr id="0" name=""/>
        <dsp:cNvSpPr/>
      </dsp:nvSpPr>
      <dsp:spPr>
        <a:xfrm>
          <a:off x="394883" y="1816683"/>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F3EA9C-9069-4E1F-A39A-DCC6A15641F5}">
      <dsp:nvSpPr>
        <dsp:cNvPr id="0" name=""/>
        <dsp:cNvSpPr/>
      </dsp:nvSpPr>
      <dsp:spPr>
        <a:xfrm>
          <a:off x="1507738" y="1522968"/>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11200">
            <a:lnSpc>
              <a:spcPct val="100000"/>
            </a:lnSpc>
            <a:spcBef>
              <a:spcPct val="0"/>
            </a:spcBef>
            <a:spcAft>
              <a:spcPct val="35000"/>
            </a:spcAft>
            <a:buNone/>
          </a:pPr>
          <a:r>
            <a:rPr lang="en-US" sz="1600" kern="1200" dirty="0"/>
            <a:t>Ask students to pick a sector – e.g. food retailing, airlines, chemicals, public administration – and draw a map of their particular version of this process. How does it work out in practice? </a:t>
          </a:r>
          <a:r>
            <a:rPr lang="en-US" sz="1600" kern="1200"/>
            <a:t>Where are they likely to need or to place most emphasis? </a:t>
          </a:r>
        </a:p>
      </dsp:txBody>
      <dsp:txXfrm>
        <a:off x="1507738" y="1522968"/>
        <a:ext cx="6378961" cy="1305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AB7B9-1563-2843-BB34-D766E7E0E530}">
      <dsp:nvSpPr>
        <dsp:cNvPr id="0" name=""/>
        <dsp:cNvSpPr/>
      </dsp:nvSpPr>
      <dsp:spPr>
        <a:xfrm>
          <a:off x="0" y="1083564"/>
          <a:ext cx="7674102" cy="216712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defRPr cap="all"/>
          </a:pPr>
          <a:r>
            <a:rPr lang="en-US" sz="3700" kern="1200" dirty="0">
              <a:hlinkClick xmlns:r="http://schemas.openxmlformats.org/officeDocument/2006/relationships" r:id="rId1"/>
            </a:rPr>
            <a:t>Read the case study of Eastville community shop.  Try and map the innovation process involved</a:t>
          </a:r>
          <a:endParaRPr lang="en-US" sz="3700" kern="1200" dirty="0"/>
        </a:p>
      </dsp:txBody>
      <dsp:txXfrm>
        <a:off x="63473" y="1147037"/>
        <a:ext cx="7547156" cy="20401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EA766-D428-4436-A50E-BC571AB5DEEE}">
      <dsp:nvSpPr>
        <dsp:cNvPr id="0" name=""/>
        <dsp:cNvSpPr/>
      </dsp:nvSpPr>
      <dsp:spPr>
        <a:xfrm>
          <a:off x="0" y="1584087"/>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29A6A2-66F4-431F-8EA5-04DF06BFB1D2}">
      <dsp:nvSpPr>
        <dsp:cNvPr id="0" name=""/>
        <dsp:cNvSpPr/>
      </dsp:nvSpPr>
      <dsp:spPr>
        <a:xfrm>
          <a:off x="410731" y="1889589"/>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B2F97B-244C-4E66-99BE-D96140DC5525}">
      <dsp:nvSpPr>
        <dsp:cNvPr id="0" name=""/>
        <dsp:cNvSpPr/>
      </dsp:nvSpPr>
      <dsp:spPr>
        <a:xfrm>
          <a:off x="1568246" y="1584087"/>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022350">
            <a:lnSpc>
              <a:spcPct val="100000"/>
            </a:lnSpc>
            <a:spcBef>
              <a:spcPct val="0"/>
            </a:spcBef>
            <a:spcAft>
              <a:spcPct val="35000"/>
            </a:spcAft>
            <a:buNone/>
          </a:pPr>
          <a:r>
            <a:rPr lang="en-GB" sz="2300" kern="1200" dirty="0">
              <a:hlinkClick xmlns:r="http://schemas.openxmlformats.org/officeDocument/2006/relationships" r:id="rId3"/>
            </a:rPr>
            <a:t>On the portal there is an activity based on </a:t>
          </a:r>
          <a:r>
            <a:rPr lang="en-US" sz="2300" kern="1200" dirty="0">
              <a:hlinkClick xmlns:r="http://schemas.openxmlformats.org/officeDocument/2006/relationships" r:id="rId3"/>
            </a:rPr>
            <a:t>the concept of routines and embedding them into a culture. ‘</a:t>
          </a:r>
          <a:r>
            <a:rPr lang="en-US" sz="2300" i="1" kern="1200" dirty="0">
              <a:hlinkClick xmlns:r="http://schemas.openxmlformats.org/officeDocument/2006/relationships" r:id="rId3"/>
            </a:rPr>
            <a:t>The way we do things around here</a:t>
          </a:r>
          <a:r>
            <a:rPr lang="en-US" sz="2300" kern="1200" dirty="0">
              <a:hlinkClick xmlns:r="http://schemas.openxmlformats.org/officeDocument/2006/relationships" r:id="rId3"/>
            </a:rPr>
            <a:t>’:</a:t>
          </a:r>
          <a:r>
            <a:rPr lang="en-GB" sz="2300" kern="1200" dirty="0">
              <a:hlinkClick xmlns:r="http://schemas.openxmlformats.org/officeDocument/2006/relationships" r:id="rId3"/>
            </a:rPr>
            <a:t> </a:t>
          </a:r>
          <a:endParaRPr lang="en-US" sz="2300" kern="1200" dirty="0"/>
        </a:p>
      </dsp:txBody>
      <dsp:txXfrm>
        <a:off x="1568246" y="1584087"/>
        <a:ext cx="6661353" cy="135778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7B386D0-8B6C-4728-BE6A-557EE8D65745}"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4D69C1-7B41-47B6-BC05-19270CE98C90}" type="datetimeFigureOut">
              <a:rPr lang="en-GB" smtClean="0"/>
              <a:pPr/>
              <a:t>02/11/2024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B386D0-8B6C-4728-BE6A-557EE8D65745}"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OLE_LINK13"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OLE_LINK2"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higuide.elrha.org/toolkits/get-started/innovation-proces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OLE_LINK18"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Macintosh%20HD:Users:annatrifilova:Documents:Teaching:wiley%20strategic%20innovation%20management:Wiley_Teaching_Guide:Lecturer_Guide:SIM%20Lecturer%20guide%20ch%205%20Process%20model%20.docx!OLE_LINK20"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youtu.be/npKQeHn1diY" TargetMode="External"/><Relationship Id="rId7" Type="http://schemas.openxmlformats.org/officeDocument/2006/relationships/hyperlink" Target="https://youtu.be/y0uqqEyaSSk" TargetMode="External"/><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hyperlink" Target="https://youtu.be/rhrj8TNqKSQ" TargetMode="External"/><Relationship Id="rId5" Type="http://schemas.openxmlformats.org/officeDocument/2006/relationships/hyperlink" Target="https://youtu.be/e15RoUYDTHA" TargetMode="External"/><Relationship Id="rId4" Type="http://schemas.openxmlformats.org/officeDocument/2006/relationships/hyperlink" Target="https://youtu.be/8CDAqk3tAfo"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youtu.be/skMvFWDfEo8" TargetMode="External"/><Relationship Id="rId2" Type="http://schemas.openxmlformats.org/officeDocument/2006/relationships/hyperlink" Target="https://youtu.be/B_FW1Z10Xws" TargetMode="External"/><Relationship Id="rId1" Type="http://schemas.openxmlformats.org/officeDocument/2006/relationships/slideLayout" Target="../slideLayouts/slideLayout2.xml"/><Relationship Id="rId4" Type="http://schemas.openxmlformats.org/officeDocument/2006/relationships/hyperlink" Target="https://youtu.be/foL9Zxel-Js"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youtu.be/ShXOIZiZLmM" TargetMode="External"/><Relationship Id="rId2" Type="http://schemas.openxmlformats.org/officeDocument/2006/relationships/hyperlink" Target="https://youtu.be/fTD93mewHvk" TargetMode="External"/><Relationship Id="rId1" Type="http://schemas.openxmlformats.org/officeDocument/2006/relationships/slideLayout" Target="../slideLayouts/slideLayout2.xml"/><Relationship Id="rId5" Type="http://schemas.openxmlformats.org/officeDocument/2006/relationships/hyperlink" Target="https://youtu.be/skMvFWDfEo8" TargetMode="External"/><Relationship Id="rId4" Type="http://schemas.openxmlformats.org/officeDocument/2006/relationships/hyperlink" Target="http://www.mowoza.com/"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youtu.be/x5n2AkB5vNk" TargetMode="External"/><Relationship Id="rId2" Type="http://schemas.openxmlformats.org/officeDocument/2006/relationships/hyperlink" Target="https://youtu.be/hJlm_eDNqP4" TargetMode="External"/><Relationship Id="rId1" Type="http://schemas.openxmlformats.org/officeDocument/2006/relationships/slideLayout" Target="../slideLayouts/slideLayout2.xml"/><Relationship Id="rId4" Type="http://schemas.openxmlformats.org/officeDocument/2006/relationships/hyperlink" Target="https://youtu.be/_aDYseDOHnI"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youtu.be/tu7178mH3oo" TargetMode="External"/><Relationship Id="rId2" Type="http://schemas.openxmlformats.org/officeDocument/2006/relationships/hyperlink" Target="https://www.youtube.com/watch?v=l9sNGnxMEXE" TargetMode="External"/><Relationship Id="rId1" Type="http://schemas.openxmlformats.org/officeDocument/2006/relationships/slideLayout" Target="../slideLayouts/slideLayout2.xml"/><Relationship Id="rId4" Type="http://schemas.openxmlformats.org/officeDocument/2006/relationships/hyperlink" Target="https://www.johnbessant.org/_files/ugd/6ba33a_e3b3e554a8ca41be8852cf5603784a66.pdf"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buzzsprout.com/721626/5029130-the-importance-of-innovation-models" TargetMode="External"/><Relationship Id="rId7" Type="http://schemas.openxmlformats.org/officeDocument/2006/relationships/hyperlink" Target="https://www.buzzsprout.com/721626/5029046-success-and-failure-in-innovation" TargetMode="External"/><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 Id="rId6" Type="http://schemas.openxmlformats.org/officeDocument/2006/relationships/hyperlink" Target="https://www.buzzsprout.com/721626/5028992-making-the-innovation-journey" TargetMode="External"/><Relationship Id="rId5" Type="http://schemas.openxmlformats.org/officeDocument/2006/relationships/hyperlink" Target="https://www.buzzsprout.com/721626/3068131-preparing-for-the-journey" TargetMode="External"/><Relationship Id="rId4" Type="http://schemas.openxmlformats.org/officeDocument/2006/relationships/hyperlink" Target="https://www.buzzsprout.com/721626/3068125-the-innovation-journey"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buzzsprout.com/721626/3105190-crisis-driven-innovation" TargetMode="External"/><Relationship Id="rId2" Type="http://schemas.openxmlformats.org/officeDocument/2006/relationships/hyperlink" Target="https://www.buzzsprout.com/721626/3233218-experience-innovation"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4.xml.rels><?xml version="1.0" encoding="UTF-8" standalone="yes"?>
<Relationships xmlns="http://schemas.openxmlformats.org/package/2006/relationships"><Relationship Id="rId3" Type="http://schemas.openxmlformats.org/officeDocument/2006/relationships/hyperlink" Target="https://youtu.be/e8YRB5299PE" TargetMode="External"/><Relationship Id="rId2" Type="http://schemas.openxmlformats.org/officeDocument/2006/relationships/hyperlink" Target="https://youtu.be/8__mYrbQ33Y" TargetMode="External"/><Relationship Id="rId1" Type="http://schemas.openxmlformats.org/officeDocument/2006/relationships/slideLayout" Target="../slideLayouts/slideLayout2.xml"/><Relationship Id="rId5" Type="http://schemas.openxmlformats.org/officeDocument/2006/relationships/hyperlink" Target="https://youtu.be/JJzJHebxHOA" TargetMode="External"/><Relationship Id="rId4" Type="http://schemas.openxmlformats.org/officeDocument/2006/relationships/hyperlink" Target="https://youtu.be/bOV7Aa3v3UQ" TargetMode="External"/></Relationships>
</file>

<file path=ppt/slides/_rels/slide45.xml.rels><?xml version="1.0" encoding="UTF-8" standalone="yes"?>
<Relationships xmlns="http://schemas.openxmlformats.org/package/2006/relationships"><Relationship Id="rId2" Type="http://schemas.openxmlformats.org/officeDocument/2006/relationships/hyperlink" Target="https://www.johnbessant.org/_files/ugd/6ba33a_ee4c5277ceb8498699f94373563a2c13.pdf"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7.xml.rels><?xml version="1.0" encoding="UTF-8" standalone="yes"?>
<Relationships xmlns="http://schemas.openxmlformats.org/package/2006/relationships"><Relationship Id="rId3" Type="http://schemas.openxmlformats.org/officeDocument/2006/relationships/hyperlink" Target="https://www.johnbessant.org/cases" TargetMode="External"/><Relationship Id="rId2" Type="http://schemas.openxmlformats.org/officeDocument/2006/relationships/hyperlink" Target="https://www.johnbessant.org/_files/ugd/f6594a_cc27a3af539f47169f81a628f89f0406.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johnbessant.org/_files/ugd/f6594a_cc27a3af539f47169f81a628f89f0406.pdf"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johnbessant.org/case-studies/" TargetMode="External"/><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3: Managing innovation as a core business process</a:t>
            </a:r>
          </a:p>
        </p:txBody>
      </p:sp>
      <p:pic>
        <p:nvPicPr>
          <p:cNvPr id="3" name="Picture 2">
            <a:extLst>
              <a:ext uri="{FF2B5EF4-FFF2-40B4-BE49-F238E27FC236}">
                <a16:creationId xmlns:a16="http://schemas.microsoft.com/office/drawing/2014/main" id="{B9D5E206-B39F-F4FB-2D81-893279179933}"/>
              </a:ext>
            </a:extLst>
          </p:cNvPr>
          <p:cNvPicPr>
            <a:picLocks noChangeAspect="1"/>
          </p:cNvPicPr>
          <p:nvPr/>
        </p:nvPicPr>
        <p:blipFill>
          <a:blip r:embed="rId2">
            <a:extLst>
              <a:ext uri="{28A0092B-C50C-407E-A947-70E740481C1C}">
                <a14:useLocalDpi xmlns:a14="http://schemas.microsoft.com/office/drawing/2010/main" val="0"/>
              </a:ext>
            </a:extLst>
          </a:blip>
          <a:srcRect l="92" r="24633"/>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6" name="Group 1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508838"/>
            <a:ext cx="3913467" cy="6239661"/>
            <a:chOff x="-19221" y="251144"/>
            <a:chExt cx="5217958" cy="6239661"/>
          </a:xfrm>
        </p:grpSpPr>
        <p:sp>
          <p:nvSpPr>
            <p:cNvPr id="17" name="Freeform: Shape 1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480060" y="1243013"/>
            <a:ext cx="2891790" cy="4371974"/>
          </a:xfrm>
        </p:spPr>
        <p:txBody>
          <a:bodyPr vert="horz" lIns="91440" tIns="45720" rIns="91440" bIns="45720" rtlCol="0" anchor="ctr">
            <a:normAutofit/>
          </a:bodyPr>
          <a:lstStyle/>
          <a:p>
            <a:pPr algn="l">
              <a:lnSpc>
                <a:spcPct val="90000"/>
              </a:lnSpc>
            </a:pPr>
            <a:r>
              <a:rPr lang="en-US" sz="3100" b="1" kern="1200">
                <a:solidFill>
                  <a:schemeClr val="tx2"/>
                </a:solidFill>
                <a:latin typeface="+mj-lt"/>
                <a:ea typeface="+mj-ea"/>
                <a:cs typeface="+mj-cs"/>
              </a:rPr>
              <a:t>Chapter 3: Managing innovation as a core business process</a:t>
            </a:r>
            <a:endParaRPr lang="en-US" sz="3100" kern="1200">
              <a:solidFill>
                <a:schemeClr val="tx2"/>
              </a:solidFill>
              <a:latin typeface="+mj-lt"/>
              <a:ea typeface="+mj-ea"/>
              <a:cs typeface="+mj-cs"/>
            </a:endParaRPr>
          </a:p>
        </p:txBody>
      </p:sp>
      <p:sp>
        <p:nvSpPr>
          <p:cNvPr id="5" name="Title 1"/>
          <p:cNvSpPr txBox="1">
            <a:spLocks/>
          </p:cNvSpPr>
          <p:nvPr/>
        </p:nvSpPr>
        <p:spPr>
          <a:xfrm>
            <a:off x="4629150" y="804672"/>
            <a:ext cx="3915918" cy="5230368"/>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sz="1600" b="1" u="none" strike="noStrike" cap="none" spc="0" normalizeH="0" baseline="0" noProof="0">
              <a:ln>
                <a:noFill/>
              </a:ln>
              <a:solidFill>
                <a:schemeClr val="tx2"/>
              </a:solidFill>
              <a:effectLst/>
              <a:uLnTx/>
              <a:uFillTx/>
            </a:endParaRPr>
          </a:p>
          <a:p>
            <a:pPr indent="-228600">
              <a:lnSpc>
                <a:spcPct val="90000"/>
              </a:lnSpc>
              <a:spcAft>
                <a:spcPts val="600"/>
              </a:spcAft>
              <a:buFont typeface="Arial" panose="020B0604020202020204" pitchFamily="34" charset="0"/>
              <a:buChar char="•"/>
            </a:pPr>
            <a:r>
              <a:rPr lang="en-US" sz="1600" i="1">
                <a:solidFill>
                  <a:schemeClr val="tx2"/>
                </a:solidFill>
              </a:rPr>
              <a:t> In the following PowerPoint slides you will find the key headings from </a:t>
            </a:r>
            <a:r>
              <a:rPr lang="en-US" sz="1600" b="1">
                <a:solidFill>
                  <a:schemeClr val="tx2"/>
                </a:solidFill>
              </a:rPr>
              <a:t>CHAPTER 3</a:t>
            </a:r>
            <a:r>
              <a:rPr lang="en-US" sz="1600" i="1">
                <a:solidFill>
                  <a:schemeClr val="tx2"/>
                </a:solidFill>
              </a:rPr>
              <a:t> together with the main illustrations, tables, etc.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sz="1600" i="1">
              <a:solidFill>
                <a:schemeClr val="tx2"/>
              </a:solidFill>
            </a:endParaRPr>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E761768-3858-4B55-A983-E0B7B1409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3E51905-F374-4E1A-97CF-B741584B7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26280"/>
            <a:ext cx="3337098" cy="2331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10685A-6235-45A7-850D-A6F555466E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2530" y="702944"/>
            <a:ext cx="4026994" cy="5586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603" y="1345958"/>
            <a:ext cx="3144897" cy="4166085"/>
          </a:xfrm>
        </p:spPr>
        <p:txBody>
          <a:bodyPr vert="horz" lIns="91440" tIns="45720" rIns="91440" bIns="45720" rtlCol="0" anchor="ctr">
            <a:normAutofit/>
          </a:bodyPr>
          <a:lstStyle/>
          <a:p>
            <a:pPr lvl="0" algn="l">
              <a:lnSpc>
                <a:spcPct val="90000"/>
              </a:lnSpc>
              <a:defRPr/>
            </a:pPr>
            <a:r>
              <a:rPr lang="en-US" b="1" kern="1200">
                <a:solidFill>
                  <a:schemeClr val="tx1"/>
                </a:solidFill>
                <a:latin typeface="+mj-lt"/>
                <a:ea typeface="+mj-ea"/>
                <a:cs typeface="+mj-cs"/>
              </a:rPr>
              <a:t>Learning Objectives</a:t>
            </a:r>
          </a:p>
        </p:txBody>
      </p:sp>
      <p:grpSp>
        <p:nvGrpSpPr>
          <p:cNvPr id="19" name="Group 18">
            <a:extLst>
              <a:ext uri="{FF2B5EF4-FFF2-40B4-BE49-F238E27FC236}">
                <a16:creationId xmlns:a16="http://schemas.microsoft.com/office/drawing/2014/main" id="{AB70F8CE-E82E-416C-9783-C495D90B9E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147" y="3048506"/>
            <a:ext cx="472714" cy="765242"/>
            <a:chOff x="45711" y="3048506"/>
            <a:chExt cx="630289" cy="765242"/>
          </a:xfrm>
        </p:grpSpPr>
        <p:sp>
          <p:nvSpPr>
            <p:cNvPr id="20" name="Rectangle 2">
              <a:extLst>
                <a:ext uri="{FF2B5EF4-FFF2-40B4-BE49-F238E27FC236}">
                  <a16:creationId xmlns:a16="http://schemas.microsoft.com/office/drawing/2014/main" id="{29A4BC2C-696B-4395-9400-045CDEEA3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59">
              <a:extLst>
                <a:ext uri="{FF2B5EF4-FFF2-40B4-BE49-F238E27FC236}">
                  <a16:creationId xmlns:a16="http://schemas.microsoft.com/office/drawing/2014/main" id="{260F70B9-87BD-4263-9F05-E90EA5889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2">
              <a:extLst>
                <a:ext uri="{FF2B5EF4-FFF2-40B4-BE49-F238E27FC236}">
                  <a16:creationId xmlns:a16="http://schemas.microsoft.com/office/drawing/2014/main" id="{032DDFCA-6EDF-4605-9349-8ED81B247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4">
              <a:extLst>
                <a:ext uri="{FF2B5EF4-FFF2-40B4-BE49-F238E27FC236}">
                  <a16:creationId xmlns:a16="http://schemas.microsoft.com/office/drawing/2014/main" id="{9361BA33-8989-4034-B3B2-3353D81F1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6">
              <a:extLst>
                <a:ext uri="{FF2B5EF4-FFF2-40B4-BE49-F238E27FC236}">
                  <a16:creationId xmlns:a16="http://schemas.microsoft.com/office/drawing/2014/main" id="{0418FE74-A99A-4EFE-A5EF-293657165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
              <a:extLst>
                <a:ext uri="{FF2B5EF4-FFF2-40B4-BE49-F238E27FC236}">
                  <a16:creationId xmlns:a16="http://schemas.microsoft.com/office/drawing/2014/main" id="{3860D389-B4A1-4C8D-B729-1FBAAF932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59">
              <a:extLst>
                <a:ext uri="{FF2B5EF4-FFF2-40B4-BE49-F238E27FC236}">
                  <a16:creationId xmlns:a16="http://schemas.microsoft.com/office/drawing/2014/main" id="{94EE628D-5F81-4593-A546-FE5341A4F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2">
              <a:extLst>
                <a:ext uri="{FF2B5EF4-FFF2-40B4-BE49-F238E27FC236}">
                  <a16:creationId xmlns:a16="http://schemas.microsoft.com/office/drawing/2014/main" id="{3F59FFE1-E919-4382-8B19-0F59E0CFD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C72A68C0-67B2-4059-B9FB-DAF2DE6C9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76E81708-DB09-4AC2-B02A-07394F8D2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
              <a:extLst>
                <a:ext uri="{FF2B5EF4-FFF2-40B4-BE49-F238E27FC236}">
                  <a16:creationId xmlns:a16="http://schemas.microsoft.com/office/drawing/2014/main" id="{9EE3BA06-C343-456D-B024-9F730A332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59">
              <a:extLst>
                <a:ext uri="{FF2B5EF4-FFF2-40B4-BE49-F238E27FC236}">
                  <a16:creationId xmlns:a16="http://schemas.microsoft.com/office/drawing/2014/main" id="{6CD71060-F14E-4990-8698-52DFE9C73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2">
              <a:extLst>
                <a:ext uri="{FF2B5EF4-FFF2-40B4-BE49-F238E27FC236}">
                  <a16:creationId xmlns:a16="http://schemas.microsoft.com/office/drawing/2014/main" id="{88D6FF31-8CBC-4EA6-886D-2798CFA58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4">
              <a:extLst>
                <a:ext uri="{FF2B5EF4-FFF2-40B4-BE49-F238E27FC236}">
                  <a16:creationId xmlns:a16="http://schemas.microsoft.com/office/drawing/2014/main" id="{8331D18D-CADD-4888-99CB-C76BDBF9F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6">
              <a:extLst>
                <a:ext uri="{FF2B5EF4-FFF2-40B4-BE49-F238E27FC236}">
                  <a16:creationId xmlns:a16="http://schemas.microsoft.com/office/drawing/2014/main" id="{CA52436E-27FC-4F19-97F2-1E1ABAA8C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
              <a:extLst>
                <a:ext uri="{FF2B5EF4-FFF2-40B4-BE49-F238E27FC236}">
                  <a16:creationId xmlns:a16="http://schemas.microsoft.com/office/drawing/2014/main" id="{7910BDE3-A3BE-43A9-9337-0B43549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59">
              <a:extLst>
                <a:ext uri="{FF2B5EF4-FFF2-40B4-BE49-F238E27FC236}">
                  <a16:creationId xmlns:a16="http://schemas.microsoft.com/office/drawing/2014/main" id="{B6EAAB17-E229-40D5-9D27-4FC5B49F6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2">
              <a:extLst>
                <a:ext uri="{FF2B5EF4-FFF2-40B4-BE49-F238E27FC236}">
                  <a16:creationId xmlns:a16="http://schemas.microsoft.com/office/drawing/2014/main" id="{EE364DC9-B9E3-4C68-B68C-ED16C8E58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4">
              <a:extLst>
                <a:ext uri="{FF2B5EF4-FFF2-40B4-BE49-F238E27FC236}">
                  <a16:creationId xmlns:a16="http://schemas.microsoft.com/office/drawing/2014/main" id="{53718762-3A1D-4B08-AA92-C57069D44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66">
              <a:extLst>
                <a:ext uri="{FF2B5EF4-FFF2-40B4-BE49-F238E27FC236}">
                  <a16:creationId xmlns:a16="http://schemas.microsoft.com/office/drawing/2014/main" id="{A0C820CF-BE9A-4275-84DC-80740E34E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
              <a:extLst>
                <a:ext uri="{FF2B5EF4-FFF2-40B4-BE49-F238E27FC236}">
                  <a16:creationId xmlns:a16="http://schemas.microsoft.com/office/drawing/2014/main" id="{11490484-3AE4-41A8-976F-26E4D4892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59">
              <a:extLst>
                <a:ext uri="{FF2B5EF4-FFF2-40B4-BE49-F238E27FC236}">
                  <a16:creationId xmlns:a16="http://schemas.microsoft.com/office/drawing/2014/main" id="{D5969311-8D34-4F15-BE5D-95F0B6EDC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62">
              <a:extLst>
                <a:ext uri="{FF2B5EF4-FFF2-40B4-BE49-F238E27FC236}">
                  <a16:creationId xmlns:a16="http://schemas.microsoft.com/office/drawing/2014/main" id="{B64A2B04-A2CC-4FE5-B1FD-B16A84A38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64">
              <a:extLst>
                <a:ext uri="{FF2B5EF4-FFF2-40B4-BE49-F238E27FC236}">
                  <a16:creationId xmlns:a16="http://schemas.microsoft.com/office/drawing/2014/main" id="{095AA4F0-534F-4A74-AA86-6A9EC993D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66">
              <a:extLst>
                <a:ext uri="{FF2B5EF4-FFF2-40B4-BE49-F238E27FC236}">
                  <a16:creationId xmlns:a16="http://schemas.microsoft.com/office/drawing/2014/main" id="{51B81732-52BB-4062-8A4A-3C477855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 name="Straight Connector 6"/>
          <p:cNvCxnSpPr/>
          <p:nvPr/>
        </p:nvCxnSpPr>
        <p:spPr>
          <a:xfrm>
            <a:off x="458167" y="1435143"/>
            <a:ext cx="8478016" cy="1588"/>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9" name="Title 1">
            <a:extLst>
              <a:ext uri="{FF2B5EF4-FFF2-40B4-BE49-F238E27FC236}">
                <a16:creationId xmlns:a16="http://schemas.microsoft.com/office/drawing/2014/main" id="{8431E682-2312-48C3-A02C-50BD7CE12982}"/>
              </a:ext>
            </a:extLst>
          </p:cNvPr>
          <p:cNvGraphicFramePr/>
          <p:nvPr>
            <p:extLst>
              <p:ext uri="{D42A27DB-BD31-4B8C-83A1-F6EECF244321}">
                <p14:modId xmlns:p14="http://schemas.microsoft.com/office/powerpoint/2010/main" val="264529301"/>
              </p:ext>
            </p:extLst>
          </p:nvPr>
        </p:nvGraphicFramePr>
        <p:xfrm>
          <a:off x="4670298" y="749808"/>
          <a:ext cx="4025646" cy="5358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5585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ounded Rectangle 54">
            <a:extLst>
              <a:ext uri="{FF2B5EF4-FFF2-40B4-BE49-F238E27FC236}">
                <a16:creationId xmlns:a16="http://schemas.microsoft.com/office/drawing/2014/main" id="{5E413457-364A-6C4F-83F2-88E43E1BBECF}"/>
              </a:ext>
            </a:extLst>
          </p:cNvPr>
          <p:cNvSpPr/>
          <p:nvPr/>
        </p:nvSpPr>
        <p:spPr>
          <a:xfrm>
            <a:off x="6073036" y="3821653"/>
            <a:ext cx="1462424" cy="61400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29219770-9C99-0940-A3F2-D0D756CFF7DE}"/>
              </a:ext>
            </a:extLst>
          </p:cNvPr>
          <p:cNvSpPr/>
          <p:nvPr/>
        </p:nvSpPr>
        <p:spPr>
          <a:xfrm>
            <a:off x="5015429" y="4748768"/>
            <a:ext cx="1046198" cy="894155"/>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39CF12BD-243B-504E-A1E1-CB8C82A5FB8A}"/>
              </a:ext>
            </a:extLst>
          </p:cNvPr>
          <p:cNvSpPr/>
          <p:nvPr/>
        </p:nvSpPr>
        <p:spPr>
          <a:xfrm>
            <a:off x="3095762" y="4799865"/>
            <a:ext cx="1133466" cy="738664"/>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0812B912-2BCB-FA42-A9AD-21326C199680}"/>
              </a:ext>
            </a:extLst>
          </p:cNvPr>
          <p:cNvSpPr/>
          <p:nvPr/>
        </p:nvSpPr>
        <p:spPr>
          <a:xfrm>
            <a:off x="1625430" y="3406154"/>
            <a:ext cx="1252330" cy="61400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CEE2744-131E-A94D-A91E-D43D9ECEC231}"/>
              </a:ext>
            </a:extLst>
          </p:cNvPr>
          <p:cNvSpPr/>
          <p:nvPr/>
        </p:nvSpPr>
        <p:spPr>
          <a:xfrm>
            <a:off x="4308138" y="187739"/>
            <a:ext cx="1296144" cy="80264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9D42092C-E374-0847-A424-CAE29CA58EE2}"/>
              </a:ext>
            </a:extLst>
          </p:cNvPr>
          <p:cNvSpPr/>
          <p:nvPr/>
        </p:nvSpPr>
        <p:spPr>
          <a:xfrm>
            <a:off x="5956129" y="1262555"/>
            <a:ext cx="1221295" cy="63502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314A9311-1D79-144D-B85C-5E55D5DE5F85}"/>
              </a:ext>
            </a:extLst>
          </p:cNvPr>
          <p:cNvSpPr/>
          <p:nvPr/>
        </p:nvSpPr>
        <p:spPr>
          <a:xfrm>
            <a:off x="2565918" y="1317047"/>
            <a:ext cx="1126570" cy="871267"/>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rain in head">
            <a:extLst>
              <a:ext uri="{FF2B5EF4-FFF2-40B4-BE49-F238E27FC236}">
                <a16:creationId xmlns:a16="http://schemas.microsoft.com/office/drawing/2014/main" id="{85701FC7-A826-D64A-90FF-7626D8B279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4800" y="2971800"/>
            <a:ext cx="914400" cy="914400"/>
          </a:xfrm>
          <a:prstGeom prst="rect">
            <a:avLst/>
          </a:prstGeom>
        </p:spPr>
      </p:pic>
      <p:sp>
        <p:nvSpPr>
          <p:cNvPr id="7" name="TextBox 6">
            <a:extLst>
              <a:ext uri="{FF2B5EF4-FFF2-40B4-BE49-F238E27FC236}">
                <a16:creationId xmlns:a16="http://schemas.microsoft.com/office/drawing/2014/main" id="{056B0592-D9EA-1445-88B0-86BBE83382D3}"/>
              </a:ext>
            </a:extLst>
          </p:cNvPr>
          <p:cNvSpPr txBox="1"/>
          <p:nvPr/>
        </p:nvSpPr>
        <p:spPr>
          <a:xfrm>
            <a:off x="3829279" y="2599169"/>
            <a:ext cx="1997766" cy="523220"/>
          </a:xfrm>
          <a:prstGeom prst="rect">
            <a:avLst/>
          </a:prstGeom>
          <a:noFill/>
        </p:spPr>
        <p:txBody>
          <a:bodyPr wrap="square" rtlCol="0">
            <a:spAutoFit/>
          </a:bodyPr>
          <a:lstStyle/>
          <a:p>
            <a:r>
              <a:rPr lang="en-US" sz="1400" dirty="0"/>
              <a:t>Managing innovation as a core business process</a:t>
            </a:r>
          </a:p>
        </p:txBody>
      </p:sp>
      <p:sp>
        <p:nvSpPr>
          <p:cNvPr id="14" name="TextBox 13">
            <a:extLst>
              <a:ext uri="{FF2B5EF4-FFF2-40B4-BE49-F238E27FC236}">
                <a16:creationId xmlns:a16="http://schemas.microsoft.com/office/drawing/2014/main" id="{A92F3431-C782-AD44-A0D0-07DA244AE7EA}"/>
              </a:ext>
            </a:extLst>
          </p:cNvPr>
          <p:cNvSpPr txBox="1"/>
          <p:nvPr/>
        </p:nvSpPr>
        <p:spPr>
          <a:xfrm>
            <a:off x="6050044" y="1284477"/>
            <a:ext cx="1252330" cy="523220"/>
          </a:xfrm>
          <a:prstGeom prst="rect">
            <a:avLst/>
          </a:prstGeom>
          <a:noFill/>
        </p:spPr>
        <p:txBody>
          <a:bodyPr wrap="square" rtlCol="0">
            <a:spAutoFit/>
          </a:bodyPr>
          <a:lstStyle/>
          <a:p>
            <a:r>
              <a:rPr lang="en-US" sz="1400" dirty="0"/>
              <a:t>Stages in the journey </a:t>
            </a:r>
          </a:p>
        </p:txBody>
      </p:sp>
      <p:sp>
        <p:nvSpPr>
          <p:cNvPr id="15" name="TextBox 14">
            <a:extLst>
              <a:ext uri="{FF2B5EF4-FFF2-40B4-BE49-F238E27FC236}">
                <a16:creationId xmlns:a16="http://schemas.microsoft.com/office/drawing/2014/main" id="{341750DA-9D36-8D46-850C-70CB5EFCA46E}"/>
              </a:ext>
            </a:extLst>
          </p:cNvPr>
          <p:cNvSpPr txBox="1"/>
          <p:nvPr/>
        </p:nvSpPr>
        <p:spPr>
          <a:xfrm>
            <a:off x="4299972" y="235414"/>
            <a:ext cx="1562235" cy="738664"/>
          </a:xfrm>
          <a:prstGeom prst="rect">
            <a:avLst/>
          </a:prstGeom>
          <a:noFill/>
        </p:spPr>
        <p:txBody>
          <a:bodyPr wrap="square" rtlCol="0">
            <a:spAutoFit/>
          </a:bodyPr>
          <a:lstStyle/>
          <a:p>
            <a:r>
              <a:rPr lang="en-US" sz="1400" dirty="0"/>
              <a:t>Innovation is a journey, not an event </a:t>
            </a:r>
          </a:p>
        </p:txBody>
      </p:sp>
      <p:sp>
        <p:nvSpPr>
          <p:cNvPr id="17" name="TextBox 16">
            <a:extLst>
              <a:ext uri="{FF2B5EF4-FFF2-40B4-BE49-F238E27FC236}">
                <a16:creationId xmlns:a16="http://schemas.microsoft.com/office/drawing/2014/main" id="{AEFCB261-3802-9045-9A4B-CFBD3E061EFD}"/>
              </a:ext>
            </a:extLst>
          </p:cNvPr>
          <p:cNvSpPr txBox="1"/>
          <p:nvPr/>
        </p:nvSpPr>
        <p:spPr>
          <a:xfrm>
            <a:off x="2503038" y="1419369"/>
            <a:ext cx="1252330" cy="738664"/>
          </a:xfrm>
          <a:prstGeom prst="rect">
            <a:avLst/>
          </a:prstGeom>
          <a:noFill/>
        </p:spPr>
        <p:txBody>
          <a:bodyPr wrap="square" rtlCol="0">
            <a:spAutoFit/>
          </a:bodyPr>
          <a:lstStyle/>
          <a:p>
            <a:r>
              <a:rPr lang="en-US" sz="1400" dirty="0"/>
              <a:t>Contingency model – it all depends </a:t>
            </a:r>
          </a:p>
        </p:txBody>
      </p:sp>
      <p:sp>
        <p:nvSpPr>
          <p:cNvPr id="18" name="TextBox 17">
            <a:extLst>
              <a:ext uri="{FF2B5EF4-FFF2-40B4-BE49-F238E27FC236}">
                <a16:creationId xmlns:a16="http://schemas.microsoft.com/office/drawing/2014/main" id="{809EA160-93D8-C543-A950-D98ACCCFA45E}"/>
              </a:ext>
            </a:extLst>
          </p:cNvPr>
          <p:cNvSpPr txBox="1"/>
          <p:nvPr/>
        </p:nvSpPr>
        <p:spPr>
          <a:xfrm>
            <a:off x="1565149" y="3458403"/>
            <a:ext cx="1252330" cy="523220"/>
          </a:xfrm>
          <a:prstGeom prst="rect">
            <a:avLst/>
          </a:prstGeom>
          <a:noFill/>
        </p:spPr>
        <p:txBody>
          <a:bodyPr wrap="square" rtlCol="0">
            <a:spAutoFit/>
          </a:bodyPr>
          <a:lstStyle/>
          <a:p>
            <a:r>
              <a:rPr lang="en-US" sz="1400" dirty="0"/>
              <a:t>Innovation life cycle</a:t>
            </a:r>
          </a:p>
        </p:txBody>
      </p:sp>
      <p:sp>
        <p:nvSpPr>
          <p:cNvPr id="19" name="TextBox 18">
            <a:extLst>
              <a:ext uri="{FF2B5EF4-FFF2-40B4-BE49-F238E27FC236}">
                <a16:creationId xmlns:a16="http://schemas.microsoft.com/office/drawing/2014/main" id="{EE07225C-B796-C843-9087-A5ED131FA5FB}"/>
              </a:ext>
            </a:extLst>
          </p:cNvPr>
          <p:cNvSpPr txBox="1"/>
          <p:nvPr/>
        </p:nvSpPr>
        <p:spPr>
          <a:xfrm>
            <a:off x="6168784" y="3942434"/>
            <a:ext cx="1252330" cy="307777"/>
          </a:xfrm>
          <a:prstGeom prst="rect">
            <a:avLst/>
          </a:prstGeom>
          <a:noFill/>
        </p:spPr>
        <p:txBody>
          <a:bodyPr wrap="square" rtlCol="0">
            <a:spAutoFit/>
          </a:bodyPr>
          <a:lstStyle/>
          <a:p>
            <a:r>
              <a:rPr lang="en-US" sz="1400" dirty="0"/>
              <a:t>Key influences</a:t>
            </a:r>
          </a:p>
        </p:txBody>
      </p:sp>
      <p:sp>
        <p:nvSpPr>
          <p:cNvPr id="21" name="TextBox 20">
            <a:extLst>
              <a:ext uri="{FF2B5EF4-FFF2-40B4-BE49-F238E27FC236}">
                <a16:creationId xmlns:a16="http://schemas.microsoft.com/office/drawing/2014/main" id="{9328EEA4-8503-B84F-AE58-2886AD3659E7}"/>
              </a:ext>
            </a:extLst>
          </p:cNvPr>
          <p:cNvSpPr txBox="1"/>
          <p:nvPr/>
        </p:nvSpPr>
        <p:spPr>
          <a:xfrm>
            <a:off x="5051532" y="4856781"/>
            <a:ext cx="1252330" cy="738664"/>
          </a:xfrm>
          <a:prstGeom prst="rect">
            <a:avLst/>
          </a:prstGeom>
          <a:noFill/>
        </p:spPr>
        <p:txBody>
          <a:bodyPr wrap="square" rtlCol="0">
            <a:spAutoFit/>
          </a:bodyPr>
          <a:lstStyle/>
          <a:p>
            <a:r>
              <a:rPr lang="en-US" sz="1400" dirty="0"/>
              <a:t>Learning to manage innovation</a:t>
            </a:r>
          </a:p>
        </p:txBody>
      </p:sp>
      <p:sp>
        <p:nvSpPr>
          <p:cNvPr id="2" name="TextBox 1">
            <a:extLst>
              <a:ext uri="{FF2B5EF4-FFF2-40B4-BE49-F238E27FC236}">
                <a16:creationId xmlns:a16="http://schemas.microsoft.com/office/drawing/2014/main" id="{5CBC94C0-35F4-8F44-BED0-8C9FD97C9AFF}"/>
              </a:ext>
            </a:extLst>
          </p:cNvPr>
          <p:cNvSpPr txBox="1"/>
          <p:nvPr/>
        </p:nvSpPr>
        <p:spPr>
          <a:xfrm>
            <a:off x="7673415" y="2093342"/>
            <a:ext cx="1440160" cy="276999"/>
          </a:xfrm>
          <a:prstGeom prst="rect">
            <a:avLst/>
          </a:prstGeom>
          <a:noFill/>
        </p:spPr>
        <p:txBody>
          <a:bodyPr wrap="square" rtlCol="0">
            <a:spAutoFit/>
          </a:bodyPr>
          <a:lstStyle/>
          <a:p>
            <a:r>
              <a:rPr lang="en-US" sz="1200" dirty="0"/>
              <a:t>Capture value</a:t>
            </a:r>
          </a:p>
        </p:txBody>
      </p:sp>
      <p:sp>
        <p:nvSpPr>
          <p:cNvPr id="30" name="TextBox 29">
            <a:extLst>
              <a:ext uri="{FF2B5EF4-FFF2-40B4-BE49-F238E27FC236}">
                <a16:creationId xmlns:a16="http://schemas.microsoft.com/office/drawing/2014/main" id="{FEFAB475-DB45-8D4D-803D-0B91D9C577E4}"/>
              </a:ext>
            </a:extLst>
          </p:cNvPr>
          <p:cNvSpPr txBox="1"/>
          <p:nvPr/>
        </p:nvSpPr>
        <p:spPr>
          <a:xfrm>
            <a:off x="811435" y="601523"/>
            <a:ext cx="1440160" cy="276999"/>
          </a:xfrm>
          <a:prstGeom prst="rect">
            <a:avLst/>
          </a:prstGeom>
          <a:noFill/>
        </p:spPr>
        <p:txBody>
          <a:bodyPr wrap="square" rtlCol="0">
            <a:spAutoFit/>
          </a:bodyPr>
          <a:lstStyle/>
          <a:p>
            <a:r>
              <a:rPr lang="en-US" sz="1200" dirty="0"/>
              <a:t>Sector</a:t>
            </a:r>
          </a:p>
        </p:txBody>
      </p:sp>
      <p:sp>
        <p:nvSpPr>
          <p:cNvPr id="31" name="TextBox 30">
            <a:extLst>
              <a:ext uri="{FF2B5EF4-FFF2-40B4-BE49-F238E27FC236}">
                <a16:creationId xmlns:a16="http://schemas.microsoft.com/office/drawing/2014/main" id="{D3DD6E87-40EB-714C-B7B2-B3609960D57A}"/>
              </a:ext>
            </a:extLst>
          </p:cNvPr>
          <p:cNvSpPr txBox="1"/>
          <p:nvPr/>
        </p:nvSpPr>
        <p:spPr>
          <a:xfrm>
            <a:off x="792317" y="1182831"/>
            <a:ext cx="1440160" cy="646331"/>
          </a:xfrm>
          <a:prstGeom prst="rect">
            <a:avLst/>
          </a:prstGeom>
          <a:noFill/>
        </p:spPr>
        <p:txBody>
          <a:bodyPr wrap="square" rtlCol="0">
            <a:spAutoFit/>
          </a:bodyPr>
          <a:lstStyle/>
          <a:p>
            <a:r>
              <a:rPr lang="en-US" sz="1200" dirty="0"/>
              <a:t>For profit/not for profit</a:t>
            </a:r>
          </a:p>
          <a:p>
            <a:endParaRPr lang="en-US" sz="1200" dirty="0"/>
          </a:p>
        </p:txBody>
      </p:sp>
      <p:sp>
        <p:nvSpPr>
          <p:cNvPr id="32" name="TextBox 31">
            <a:extLst>
              <a:ext uri="{FF2B5EF4-FFF2-40B4-BE49-F238E27FC236}">
                <a16:creationId xmlns:a16="http://schemas.microsoft.com/office/drawing/2014/main" id="{93B985FB-27AA-1947-AA8B-AAD8C9BFC138}"/>
              </a:ext>
            </a:extLst>
          </p:cNvPr>
          <p:cNvSpPr txBox="1"/>
          <p:nvPr/>
        </p:nvSpPr>
        <p:spPr>
          <a:xfrm>
            <a:off x="827584" y="2833300"/>
            <a:ext cx="1440160" cy="276999"/>
          </a:xfrm>
          <a:prstGeom prst="rect">
            <a:avLst/>
          </a:prstGeom>
          <a:noFill/>
        </p:spPr>
        <p:txBody>
          <a:bodyPr wrap="square" rtlCol="0">
            <a:spAutoFit/>
          </a:bodyPr>
          <a:lstStyle/>
          <a:p>
            <a:r>
              <a:rPr lang="en-US" sz="1200" dirty="0"/>
              <a:t>Geography</a:t>
            </a:r>
          </a:p>
        </p:txBody>
      </p:sp>
      <p:sp>
        <p:nvSpPr>
          <p:cNvPr id="33" name="TextBox 32">
            <a:extLst>
              <a:ext uri="{FF2B5EF4-FFF2-40B4-BE49-F238E27FC236}">
                <a16:creationId xmlns:a16="http://schemas.microsoft.com/office/drawing/2014/main" id="{EF93EC8C-54D0-9C4C-98A5-C4B474665492}"/>
              </a:ext>
            </a:extLst>
          </p:cNvPr>
          <p:cNvSpPr txBox="1"/>
          <p:nvPr/>
        </p:nvSpPr>
        <p:spPr>
          <a:xfrm>
            <a:off x="811435" y="1801852"/>
            <a:ext cx="1440160" cy="461665"/>
          </a:xfrm>
          <a:prstGeom prst="rect">
            <a:avLst/>
          </a:prstGeom>
          <a:noFill/>
        </p:spPr>
        <p:txBody>
          <a:bodyPr wrap="square" rtlCol="0">
            <a:spAutoFit/>
          </a:bodyPr>
          <a:lstStyle/>
          <a:p>
            <a:r>
              <a:rPr lang="en-US" sz="1200" dirty="0"/>
              <a:t>Regulatory environment</a:t>
            </a:r>
          </a:p>
        </p:txBody>
      </p:sp>
      <p:sp>
        <p:nvSpPr>
          <p:cNvPr id="35" name="TextBox 34">
            <a:extLst>
              <a:ext uri="{FF2B5EF4-FFF2-40B4-BE49-F238E27FC236}">
                <a16:creationId xmlns:a16="http://schemas.microsoft.com/office/drawing/2014/main" id="{762BEABF-4D5C-4646-8998-43EECE49A723}"/>
              </a:ext>
            </a:extLst>
          </p:cNvPr>
          <p:cNvSpPr txBox="1"/>
          <p:nvPr/>
        </p:nvSpPr>
        <p:spPr>
          <a:xfrm>
            <a:off x="818331" y="2403362"/>
            <a:ext cx="1440160" cy="276999"/>
          </a:xfrm>
          <a:prstGeom prst="rect">
            <a:avLst/>
          </a:prstGeom>
          <a:noFill/>
        </p:spPr>
        <p:txBody>
          <a:bodyPr wrap="square" rtlCol="0">
            <a:spAutoFit/>
          </a:bodyPr>
          <a:lstStyle/>
          <a:p>
            <a:r>
              <a:rPr lang="en-US" sz="1200" dirty="0"/>
              <a:t>Social innovation</a:t>
            </a:r>
          </a:p>
        </p:txBody>
      </p:sp>
      <p:sp>
        <p:nvSpPr>
          <p:cNvPr id="39" name="TextBox 38">
            <a:extLst>
              <a:ext uri="{FF2B5EF4-FFF2-40B4-BE49-F238E27FC236}">
                <a16:creationId xmlns:a16="http://schemas.microsoft.com/office/drawing/2014/main" id="{2BFF83A5-E83D-AD41-B6FC-669861E120C1}"/>
              </a:ext>
            </a:extLst>
          </p:cNvPr>
          <p:cNvSpPr txBox="1"/>
          <p:nvPr/>
        </p:nvSpPr>
        <p:spPr>
          <a:xfrm>
            <a:off x="8028384" y="4204820"/>
            <a:ext cx="1440160" cy="461665"/>
          </a:xfrm>
          <a:prstGeom prst="rect">
            <a:avLst/>
          </a:prstGeom>
          <a:noFill/>
        </p:spPr>
        <p:txBody>
          <a:bodyPr wrap="square" rtlCol="0">
            <a:spAutoFit/>
          </a:bodyPr>
          <a:lstStyle/>
          <a:p>
            <a:r>
              <a:rPr lang="en-US" sz="1200" dirty="0"/>
              <a:t>Innovative organization</a:t>
            </a:r>
          </a:p>
        </p:txBody>
      </p:sp>
      <p:sp>
        <p:nvSpPr>
          <p:cNvPr id="40" name="TextBox 39">
            <a:extLst>
              <a:ext uri="{FF2B5EF4-FFF2-40B4-BE49-F238E27FC236}">
                <a16:creationId xmlns:a16="http://schemas.microsoft.com/office/drawing/2014/main" id="{55850AD5-CDE9-4843-A51D-5134241369D5}"/>
              </a:ext>
            </a:extLst>
          </p:cNvPr>
          <p:cNvSpPr txBox="1"/>
          <p:nvPr/>
        </p:nvSpPr>
        <p:spPr>
          <a:xfrm>
            <a:off x="8028384" y="4929618"/>
            <a:ext cx="1440160" cy="461665"/>
          </a:xfrm>
          <a:prstGeom prst="rect">
            <a:avLst/>
          </a:prstGeom>
          <a:noFill/>
        </p:spPr>
        <p:txBody>
          <a:bodyPr wrap="square" rtlCol="0">
            <a:spAutoFit/>
          </a:bodyPr>
          <a:lstStyle/>
          <a:p>
            <a:r>
              <a:rPr lang="en-US" sz="1200" dirty="0"/>
              <a:t>Pro-active </a:t>
            </a:r>
          </a:p>
          <a:p>
            <a:r>
              <a:rPr lang="en-US" sz="1200" dirty="0"/>
              <a:t>linkages</a:t>
            </a:r>
          </a:p>
        </p:txBody>
      </p:sp>
      <p:sp>
        <p:nvSpPr>
          <p:cNvPr id="41" name="TextBox 40">
            <a:extLst>
              <a:ext uri="{FF2B5EF4-FFF2-40B4-BE49-F238E27FC236}">
                <a16:creationId xmlns:a16="http://schemas.microsoft.com/office/drawing/2014/main" id="{31F216E1-ECB1-0C46-9EF2-4FA12404FAF6}"/>
              </a:ext>
            </a:extLst>
          </p:cNvPr>
          <p:cNvSpPr txBox="1"/>
          <p:nvPr/>
        </p:nvSpPr>
        <p:spPr>
          <a:xfrm>
            <a:off x="7646403" y="990379"/>
            <a:ext cx="1440160" cy="276999"/>
          </a:xfrm>
          <a:prstGeom prst="rect">
            <a:avLst/>
          </a:prstGeom>
          <a:noFill/>
        </p:spPr>
        <p:txBody>
          <a:bodyPr wrap="square" rtlCol="0">
            <a:spAutoFit/>
          </a:bodyPr>
          <a:lstStyle/>
          <a:p>
            <a:r>
              <a:rPr lang="en-US" sz="1200" dirty="0"/>
              <a:t>Search</a:t>
            </a:r>
          </a:p>
        </p:txBody>
      </p:sp>
      <p:sp>
        <p:nvSpPr>
          <p:cNvPr id="42" name="TextBox 41">
            <a:extLst>
              <a:ext uri="{FF2B5EF4-FFF2-40B4-BE49-F238E27FC236}">
                <a16:creationId xmlns:a16="http://schemas.microsoft.com/office/drawing/2014/main" id="{15204661-7B3C-5D46-9784-9DFB063B51DD}"/>
              </a:ext>
            </a:extLst>
          </p:cNvPr>
          <p:cNvSpPr txBox="1"/>
          <p:nvPr/>
        </p:nvSpPr>
        <p:spPr>
          <a:xfrm>
            <a:off x="7646403" y="1331234"/>
            <a:ext cx="1440160" cy="276999"/>
          </a:xfrm>
          <a:prstGeom prst="rect">
            <a:avLst/>
          </a:prstGeom>
          <a:noFill/>
        </p:spPr>
        <p:txBody>
          <a:bodyPr wrap="square" rtlCol="0">
            <a:spAutoFit/>
          </a:bodyPr>
          <a:lstStyle/>
          <a:p>
            <a:r>
              <a:rPr lang="en-US" sz="1200" dirty="0"/>
              <a:t>Select</a:t>
            </a:r>
          </a:p>
        </p:txBody>
      </p:sp>
      <p:sp>
        <p:nvSpPr>
          <p:cNvPr id="43" name="TextBox 42">
            <a:extLst>
              <a:ext uri="{FF2B5EF4-FFF2-40B4-BE49-F238E27FC236}">
                <a16:creationId xmlns:a16="http://schemas.microsoft.com/office/drawing/2014/main" id="{1BD7D0F3-4833-E24F-A519-5A85AB379334}"/>
              </a:ext>
            </a:extLst>
          </p:cNvPr>
          <p:cNvSpPr txBox="1"/>
          <p:nvPr/>
        </p:nvSpPr>
        <p:spPr>
          <a:xfrm>
            <a:off x="7673415" y="1685034"/>
            <a:ext cx="1440160" cy="276999"/>
          </a:xfrm>
          <a:prstGeom prst="rect">
            <a:avLst/>
          </a:prstGeom>
          <a:noFill/>
        </p:spPr>
        <p:txBody>
          <a:bodyPr wrap="square" rtlCol="0">
            <a:spAutoFit/>
          </a:bodyPr>
          <a:lstStyle/>
          <a:p>
            <a:r>
              <a:rPr lang="en-US" sz="1200" dirty="0"/>
              <a:t>Implement</a:t>
            </a:r>
          </a:p>
        </p:txBody>
      </p:sp>
      <p:sp>
        <p:nvSpPr>
          <p:cNvPr id="44" name="TextBox 43">
            <a:extLst>
              <a:ext uri="{FF2B5EF4-FFF2-40B4-BE49-F238E27FC236}">
                <a16:creationId xmlns:a16="http://schemas.microsoft.com/office/drawing/2014/main" id="{3089B039-1762-5E49-9B92-F5E05D4F77CC}"/>
              </a:ext>
            </a:extLst>
          </p:cNvPr>
          <p:cNvSpPr txBox="1"/>
          <p:nvPr/>
        </p:nvSpPr>
        <p:spPr>
          <a:xfrm>
            <a:off x="792317" y="101217"/>
            <a:ext cx="1440160" cy="276999"/>
          </a:xfrm>
          <a:prstGeom prst="rect">
            <a:avLst/>
          </a:prstGeom>
          <a:noFill/>
        </p:spPr>
        <p:txBody>
          <a:bodyPr wrap="square" rtlCol="0">
            <a:spAutoFit/>
          </a:bodyPr>
          <a:lstStyle/>
          <a:p>
            <a:r>
              <a:rPr lang="en-US" sz="1200" dirty="0"/>
              <a:t>Size</a:t>
            </a:r>
          </a:p>
        </p:txBody>
      </p:sp>
      <p:sp>
        <p:nvSpPr>
          <p:cNvPr id="45" name="TextBox 44">
            <a:extLst>
              <a:ext uri="{FF2B5EF4-FFF2-40B4-BE49-F238E27FC236}">
                <a16:creationId xmlns:a16="http://schemas.microsoft.com/office/drawing/2014/main" id="{7AC8055C-BCB5-F94D-9992-C1E0F2A8CE92}"/>
              </a:ext>
            </a:extLst>
          </p:cNvPr>
          <p:cNvSpPr txBox="1"/>
          <p:nvPr/>
        </p:nvSpPr>
        <p:spPr>
          <a:xfrm>
            <a:off x="8100392" y="3480022"/>
            <a:ext cx="1440160" cy="461665"/>
          </a:xfrm>
          <a:prstGeom prst="rect">
            <a:avLst/>
          </a:prstGeom>
          <a:noFill/>
        </p:spPr>
        <p:txBody>
          <a:bodyPr wrap="square" rtlCol="0">
            <a:spAutoFit/>
          </a:bodyPr>
          <a:lstStyle/>
          <a:p>
            <a:r>
              <a:rPr lang="en-US" sz="1200" dirty="0"/>
              <a:t>Innovation </a:t>
            </a:r>
          </a:p>
          <a:p>
            <a:r>
              <a:rPr lang="en-US" sz="1200" dirty="0"/>
              <a:t>strategy</a:t>
            </a:r>
          </a:p>
        </p:txBody>
      </p:sp>
      <p:sp>
        <p:nvSpPr>
          <p:cNvPr id="46" name="TextBox 45">
            <a:extLst>
              <a:ext uri="{FF2B5EF4-FFF2-40B4-BE49-F238E27FC236}">
                <a16:creationId xmlns:a16="http://schemas.microsoft.com/office/drawing/2014/main" id="{59599921-0916-0944-9231-D23A4B76F234}"/>
              </a:ext>
            </a:extLst>
          </p:cNvPr>
          <p:cNvSpPr txBox="1"/>
          <p:nvPr/>
        </p:nvSpPr>
        <p:spPr>
          <a:xfrm>
            <a:off x="7673415" y="2522193"/>
            <a:ext cx="1440160" cy="461665"/>
          </a:xfrm>
          <a:prstGeom prst="rect">
            <a:avLst/>
          </a:prstGeom>
          <a:noFill/>
        </p:spPr>
        <p:txBody>
          <a:bodyPr wrap="square" rtlCol="0">
            <a:spAutoFit/>
          </a:bodyPr>
          <a:lstStyle/>
          <a:p>
            <a:r>
              <a:rPr lang="en-US" sz="1200" dirty="0"/>
              <a:t>Learn and build capability</a:t>
            </a:r>
          </a:p>
        </p:txBody>
      </p:sp>
      <p:sp>
        <p:nvSpPr>
          <p:cNvPr id="47" name="TextBox 46">
            <a:extLst>
              <a:ext uri="{FF2B5EF4-FFF2-40B4-BE49-F238E27FC236}">
                <a16:creationId xmlns:a16="http://schemas.microsoft.com/office/drawing/2014/main" id="{F30D89C9-D711-CB45-A7C7-541BD746D2C9}"/>
              </a:ext>
            </a:extLst>
          </p:cNvPr>
          <p:cNvSpPr txBox="1"/>
          <p:nvPr/>
        </p:nvSpPr>
        <p:spPr>
          <a:xfrm>
            <a:off x="3111256" y="4799865"/>
            <a:ext cx="1252330" cy="738664"/>
          </a:xfrm>
          <a:prstGeom prst="rect">
            <a:avLst/>
          </a:prstGeom>
          <a:noFill/>
        </p:spPr>
        <p:txBody>
          <a:bodyPr wrap="square" rtlCol="0">
            <a:spAutoFit/>
          </a:bodyPr>
          <a:lstStyle/>
          <a:p>
            <a:r>
              <a:rPr lang="en-US" sz="1400" dirty="0"/>
              <a:t>Changing innovation models</a:t>
            </a:r>
          </a:p>
        </p:txBody>
      </p:sp>
      <p:sp>
        <p:nvSpPr>
          <p:cNvPr id="49" name="TextBox 48">
            <a:extLst>
              <a:ext uri="{FF2B5EF4-FFF2-40B4-BE49-F238E27FC236}">
                <a16:creationId xmlns:a16="http://schemas.microsoft.com/office/drawing/2014/main" id="{9B300AAC-0D66-CE48-A4C5-BF5CE80B7AFE}"/>
              </a:ext>
            </a:extLst>
          </p:cNvPr>
          <p:cNvSpPr txBox="1"/>
          <p:nvPr/>
        </p:nvSpPr>
        <p:spPr>
          <a:xfrm>
            <a:off x="4287843" y="6059307"/>
            <a:ext cx="1440160" cy="276999"/>
          </a:xfrm>
          <a:prstGeom prst="rect">
            <a:avLst/>
          </a:prstGeom>
          <a:noFill/>
        </p:spPr>
        <p:txBody>
          <a:bodyPr wrap="square" rtlCol="0">
            <a:spAutoFit/>
          </a:bodyPr>
          <a:lstStyle/>
          <a:p>
            <a:r>
              <a:rPr lang="en-US" sz="1200" dirty="0"/>
              <a:t>Concept of routines</a:t>
            </a:r>
          </a:p>
        </p:txBody>
      </p:sp>
      <p:sp>
        <p:nvSpPr>
          <p:cNvPr id="50" name="TextBox 49">
            <a:extLst>
              <a:ext uri="{FF2B5EF4-FFF2-40B4-BE49-F238E27FC236}">
                <a16:creationId xmlns:a16="http://schemas.microsoft.com/office/drawing/2014/main" id="{40940E05-049F-5944-A095-6995BAAD87E0}"/>
              </a:ext>
            </a:extLst>
          </p:cNvPr>
          <p:cNvSpPr txBox="1"/>
          <p:nvPr/>
        </p:nvSpPr>
        <p:spPr>
          <a:xfrm>
            <a:off x="6145205" y="6059307"/>
            <a:ext cx="1440160" cy="276999"/>
          </a:xfrm>
          <a:prstGeom prst="rect">
            <a:avLst/>
          </a:prstGeom>
          <a:noFill/>
        </p:spPr>
        <p:txBody>
          <a:bodyPr wrap="square" rtlCol="0">
            <a:spAutoFit/>
          </a:bodyPr>
          <a:lstStyle/>
          <a:p>
            <a:r>
              <a:rPr lang="en-US" sz="1200" dirty="0"/>
              <a:t>Dynamic capability</a:t>
            </a:r>
          </a:p>
        </p:txBody>
      </p:sp>
      <p:sp>
        <p:nvSpPr>
          <p:cNvPr id="52" name="TextBox 51">
            <a:extLst>
              <a:ext uri="{FF2B5EF4-FFF2-40B4-BE49-F238E27FC236}">
                <a16:creationId xmlns:a16="http://schemas.microsoft.com/office/drawing/2014/main" id="{145F78E7-2479-1840-84F2-D4372C826439}"/>
              </a:ext>
            </a:extLst>
          </p:cNvPr>
          <p:cNvSpPr txBox="1"/>
          <p:nvPr/>
        </p:nvSpPr>
        <p:spPr>
          <a:xfrm>
            <a:off x="1297047" y="5686700"/>
            <a:ext cx="1440160" cy="461665"/>
          </a:xfrm>
          <a:prstGeom prst="rect">
            <a:avLst/>
          </a:prstGeom>
          <a:noFill/>
        </p:spPr>
        <p:txBody>
          <a:bodyPr wrap="square" rtlCol="0">
            <a:spAutoFit/>
          </a:bodyPr>
          <a:lstStyle/>
          <a:p>
            <a:r>
              <a:rPr lang="en-US" sz="1200" dirty="0"/>
              <a:t>Problem of partial models</a:t>
            </a:r>
          </a:p>
        </p:txBody>
      </p:sp>
      <p:cxnSp>
        <p:nvCxnSpPr>
          <p:cNvPr id="59" name="Straight Arrow Connector 58">
            <a:extLst>
              <a:ext uri="{FF2B5EF4-FFF2-40B4-BE49-F238E27FC236}">
                <a16:creationId xmlns:a16="http://schemas.microsoft.com/office/drawing/2014/main" id="{360A0D23-5716-0F4B-9E80-F5F751806268}"/>
              </a:ext>
            </a:extLst>
          </p:cNvPr>
          <p:cNvCxnSpPr>
            <a:cxnSpLocks/>
          </p:cNvCxnSpPr>
          <p:nvPr/>
        </p:nvCxnSpPr>
        <p:spPr>
          <a:xfrm flipV="1">
            <a:off x="5220072" y="1693624"/>
            <a:ext cx="606973" cy="569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D6BF50-521B-8742-8EE2-0384BD4BBDE3}"/>
              </a:ext>
            </a:extLst>
          </p:cNvPr>
          <p:cNvCxnSpPr/>
          <p:nvPr/>
        </p:nvCxnSpPr>
        <p:spPr>
          <a:xfrm flipV="1">
            <a:off x="4828162" y="1128878"/>
            <a:ext cx="0" cy="1029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2377DAC-6184-6D4D-8D64-47D2BCBBBC1A}"/>
              </a:ext>
            </a:extLst>
          </p:cNvPr>
          <p:cNvCxnSpPr/>
          <p:nvPr/>
        </p:nvCxnSpPr>
        <p:spPr>
          <a:xfrm flipH="1" flipV="1">
            <a:off x="3829279" y="2231841"/>
            <a:ext cx="238665" cy="31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E53E289-014A-E342-892E-5DA8AAC8A991}"/>
              </a:ext>
            </a:extLst>
          </p:cNvPr>
          <p:cNvCxnSpPr/>
          <p:nvPr/>
        </p:nvCxnSpPr>
        <p:spPr>
          <a:xfrm>
            <a:off x="5220072" y="3573016"/>
            <a:ext cx="606973" cy="31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3B2914B-4720-FD44-9EA4-8EE2845D8CF0}"/>
              </a:ext>
            </a:extLst>
          </p:cNvPr>
          <p:cNvCxnSpPr/>
          <p:nvPr/>
        </p:nvCxnSpPr>
        <p:spPr>
          <a:xfrm>
            <a:off x="4909931" y="3835524"/>
            <a:ext cx="310141" cy="745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EAA03B5-15FB-744B-AA2A-7728CB4FF271}"/>
              </a:ext>
            </a:extLst>
          </p:cNvPr>
          <p:cNvCxnSpPr/>
          <p:nvPr/>
        </p:nvCxnSpPr>
        <p:spPr>
          <a:xfrm flipH="1">
            <a:off x="4067944" y="4158654"/>
            <a:ext cx="219899" cy="422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81FA209-E74E-A443-B3C4-02F3C5AEB13A}"/>
              </a:ext>
            </a:extLst>
          </p:cNvPr>
          <p:cNvCxnSpPr/>
          <p:nvPr/>
        </p:nvCxnSpPr>
        <p:spPr>
          <a:xfrm flipH="1">
            <a:off x="3095762" y="3406154"/>
            <a:ext cx="852849" cy="415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457DAFC-6A9C-764C-9DDB-D4CAD0018228}"/>
              </a:ext>
            </a:extLst>
          </p:cNvPr>
          <p:cNvCxnSpPr>
            <a:endCxn id="41" idx="1"/>
          </p:cNvCxnSpPr>
          <p:nvPr/>
        </p:nvCxnSpPr>
        <p:spPr>
          <a:xfrm flipV="1">
            <a:off x="7302374" y="1128879"/>
            <a:ext cx="344029" cy="72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01404E52-8F6D-A54E-9BAE-2BAC74287066}"/>
              </a:ext>
            </a:extLst>
          </p:cNvPr>
          <p:cNvCxnSpPr/>
          <p:nvPr/>
        </p:nvCxnSpPr>
        <p:spPr>
          <a:xfrm flipV="1">
            <a:off x="7315184" y="1443558"/>
            <a:ext cx="344029" cy="72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4825097-93F0-C149-9BB6-EF90AF471B47}"/>
              </a:ext>
            </a:extLst>
          </p:cNvPr>
          <p:cNvCxnSpPr>
            <a:cxnSpLocks/>
          </p:cNvCxnSpPr>
          <p:nvPr/>
        </p:nvCxnSpPr>
        <p:spPr>
          <a:xfrm>
            <a:off x="7354629" y="1784413"/>
            <a:ext cx="3187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DD77035-8CDB-B64F-83D4-B0AE068BFEA0}"/>
              </a:ext>
            </a:extLst>
          </p:cNvPr>
          <p:cNvCxnSpPr>
            <a:cxnSpLocks/>
          </p:cNvCxnSpPr>
          <p:nvPr/>
        </p:nvCxnSpPr>
        <p:spPr>
          <a:xfrm>
            <a:off x="7329386" y="2074057"/>
            <a:ext cx="329826" cy="8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A4EC2E32-0592-E945-B5A7-4E4370770D4A}"/>
              </a:ext>
            </a:extLst>
          </p:cNvPr>
          <p:cNvCxnSpPr>
            <a:cxnSpLocks/>
          </p:cNvCxnSpPr>
          <p:nvPr/>
        </p:nvCxnSpPr>
        <p:spPr>
          <a:xfrm>
            <a:off x="7302374" y="2291789"/>
            <a:ext cx="199026" cy="169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4A5DDDD-9B4B-4944-965C-F45287D90495}"/>
              </a:ext>
            </a:extLst>
          </p:cNvPr>
          <p:cNvCxnSpPr>
            <a:endCxn id="45" idx="1"/>
          </p:cNvCxnSpPr>
          <p:nvPr/>
        </p:nvCxnSpPr>
        <p:spPr>
          <a:xfrm flipV="1">
            <a:off x="7673415" y="3710855"/>
            <a:ext cx="426977" cy="270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65603203-5736-A041-8027-1461769FE383}"/>
              </a:ext>
            </a:extLst>
          </p:cNvPr>
          <p:cNvCxnSpPr>
            <a:cxnSpLocks/>
          </p:cNvCxnSpPr>
          <p:nvPr/>
        </p:nvCxnSpPr>
        <p:spPr>
          <a:xfrm>
            <a:off x="7659212" y="4320669"/>
            <a:ext cx="384770" cy="46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D1EC941-11E2-684D-85CF-89A837EFAE0C}"/>
              </a:ext>
            </a:extLst>
          </p:cNvPr>
          <p:cNvCxnSpPr>
            <a:cxnSpLocks/>
          </p:cNvCxnSpPr>
          <p:nvPr/>
        </p:nvCxnSpPr>
        <p:spPr>
          <a:xfrm>
            <a:off x="7474388" y="4581128"/>
            <a:ext cx="553996" cy="416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5EDB549E-CEB5-4D43-942B-19259BD9B340}"/>
              </a:ext>
            </a:extLst>
          </p:cNvPr>
          <p:cNvCxnSpPr>
            <a:cxnSpLocks/>
          </p:cNvCxnSpPr>
          <p:nvPr/>
        </p:nvCxnSpPr>
        <p:spPr>
          <a:xfrm>
            <a:off x="6139799" y="5728657"/>
            <a:ext cx="426977" cy="296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187F7B3-4633-784F-83B6-9258CB01919C}"/>
              </a:ext>
            </a:extLst>
          </p:cNvPr>
          <p:cNvCxnSpPr>
            <a:cxnSpLocks/>
          </p:cNvCxnSpPr>
          <p:nvPr/>
        </p:nvCxnSpPr>
        <p:spPr>
          <a:xfrm flipH="1">
            <a:off x="5185616" y="5752720"/>
            <a:ext cx="492750" cy="259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66E55B92-5A93-874B-B967-BCAFB8CBACB3}"/>
              </a:ext>
            </a:extLst>
          </p:cNvPr>
          <p:cNvCxnSpPr>
            <a:cxnSpLocks/>
          </p:cNvCxnSpPr>
          <p:nvPr/>
        </p:nvCxnSpPr>
        <p:spPr>
          <a:xfrm flipH="1">
            <a:off x="2587038" y="5451295"/>
            <a:ext cx="365606" cy="17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F0C3E0E-6B21-874D-929D-DB60F13BE1FA}"/>
              </a:ext>
            </a:extLst>
          </p:cNvPr>
          <p:cNvCxnSpPr>
            <a:cxnSpLocks/>
          </p:cNvCxnSpPr>
          <p:nvPr/>
        </p:nvCxnSpPr>
        <p:spPr>
          <a:xfrm flipH="1" flipV="1">
            <a:off x="1826074" y="476672"/>
            <a:ext cx="1126571" cy="433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8164FF07-54E1-2D47-8D94-DFA6DC3D42FA}"/>
              </a:ext>
            </a:extLst>
          </p:cNvPr>
          <p:cNvCxnSpPr>
            <a:cxnSpLocks/>
          </p:cNvCxnSpPr>
          <p:nvPr/>
        </p:nvCxnSpPr>
        <p:spPr>
          <a:xfrm flipH="1" flipV="1">
            <a:off x="1522633" y="780981"/>
            <a:ext cx="1126571" cy="433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9A71BB9B-5AC7-9A46-A483-4BCEDF46B3C4}"/>
              </a:ext>
            </a:extLst>
          </p:cNvPr>
          <p:cNvCxnSpPr>
            <a:cxnSpLocks/>
          </p:cNvCxnSpPr>
          <p:nvPr/>
        </p:nvCxnSpPr>
        <p:spPr>
          <a:xfrm flipH="1" flipV="1">
            <a:off x="1368290" y="1541601"/>
            <a:ext cx="1073794" cy="19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760E7E9-FD85-3948-9054-B0BD2C595EBC}"/>
              </a:ext>
            </a:extLst>
          </p:cNvPr>
          <p:cNvCxnSpPr>
            <a:cxnSpLocks/>
          </p:cNvCxnSpPr>
          <p:nvPr/>
        </p:nvCxnSpPr>
        <p:spPr>
          <a:xfrm flipH="1">
            <a:off x="1859133" y="1940757"/>
            <a:ext cx="582924" cy="192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DCE6C3DE-8888-F24B-9BD2-8C83B07F329A}"/>
              </a:ext>
            </a:extLst>
          </p:cNvPr>
          <p:cNvCxnSpPr>
            <a:cxnSpLocks/>
          </p:cNvCxnSpPr>
          <p:nvPr/>
        </p:nvCxnSpPr>
        <p:spPr>
          <a:xfrm flipH="1">
            <a:off x="1982994" y="2303593"/>
            <a:ext cx="582924" cy="192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92659257-0957-CD43-B833-80F0A8088ABC}"/>
              </a:ext>
            </a:extLst>
          </p:cNvPr>
          <p:cNvCxnSpPr>
            <a:cxnSpLocks/>
          </p:cNvCxnSpPr>
          <p:nvPr/>
        </p:nvCxnSpPr>
        <p:spPr>
          <a:xfrm flipH="1">
            <a:off x="1941015" y="2324455"/>
            <a:ext cx="796192" cy="501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38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c 18">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21" name="Oval 20">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10147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61F6-0FF1-894E-824B-A19356911195}"/>
              </a:ext>
            </a:extLst>
          </p:cNvPr>
          <p:cNvSpPr>
            <a:spLocks noGrp="1"/>
          </p:cNvSpPr>
          <p:nvPr>
            <p:ph type="title"/>
          </p:nvPr>
        </p:nvSpPr>
        <p:spPr/>
        <p:txBody>
          <a:bodyPr/>
          <a:lstStyle/>
          <a:p>
            <a:r>
              <a:rPr lang="en-US" dirty="0"/>
              <a:t>Innovation as a journey</a:t>
            </a:r>
          </a:p>
        </p:txBody>
      </p:sp>
      <p:pic>
        <p:nvPicPr>
          <p:cNvPr id="5" name="Picture 4" descr="A picture containing diagram&#10;&#10;Description automatically generated">
            <a:extLst>
              <a:ext uri="{FF2B5EF4-FFF2-40B4-BE49-F238E27FC236}">
                <a16:creationId xmlns:a16="http://schemas.microsoft.com/office/drawing/2014/main" id="{2B2D52B8-2D4B-4445-BE97-7409F7677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2060248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9E744-218F-2A47-973D-17D4FF9E8F3E}"/>
              </a:ext>
            </a:extLst>
          </p:cNvPr>
          <p:cNvSpPr>
            <a:spLocks noGrp="1"/>
          </p:cNvSpPr>
          <p:nvPr>
            <p:ph type="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b="1" kern="1200">
                <a:solidFill>
                  <a:srgbClr val="FFFFFF"/>
                </a:solidFill>
                <a:latin typeface="+mj-lt"/>
                <a:ea typeface="+mj-ea"/>
                <a:cs typeface="+mj-cs"/>
              </a:rPr>
              <a:t>Key stages in the process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779EDF8-B6CC-784C-B6F6-604F2AE635F1}"/>
              </a:ext>
            </a:extLst>
          </p:cNvPr>
          <p:cNvSpPr>
            <a:spLocks noGrp="1"/>
          </p:cNvSpPr>
          <p:nvPr>
            <p:ph idx="1"/>
          </p:nvPr>
        </p:nvSpPr>
        <p:spPr>
          <a:xfrm>
            <a:off x="3335481" y="591344"/>
            <a:ext cx="5179868" cy="5585619"/>
          </a:xfrm>
        </p:spPr>
        <p:txBody>
          <a:bodyPr vert="horz" lIns="91440" tIns="45720" rIns="91440" bIns="45720" rtlCol="0" anchor="ctr">
            <a:normAutofit/>
          </a:bodyPr>
          <a:lstStyle/>
          <a:p>
            <a:pPr lvl="1" indent="-228600">
              <a:lnSpc>
                <a:spcPct val="90000"/>
              </a:lnSpc>
              <a:spcAft>
                <a:spcPts val="1800"/>
              </a:spcAft>
              <a:buFont typeface="Arial" panose="020B0604020202020204" pitchFamily="34" charset="0"/>
              <a:buChar char="•"/>
            </a:pPr>
            <a:r>
              <a:rPr lang="en-US" sz="1700" dirty="0"/>
              <a:t>Searching for trigger ideas.</a:t>
            </a:r>
            <a:endParaRPr lang="en-US" sz="1700" b="1" dirty="0"/>
          </a:p>
          <a:p>
            <a:pPr lvl="1" indent="-228600">
              <a:lnSpc>
                <a:spcPct val="90000"/>
              </a:lnSpc>
              <a:spcAft>
                <a:spcPts val="1800"/>
              </a:spcAft>
              <a:buFont typeface="Arial" panose="020B0604020202020204" pitchFamily="34" charset="0"/>
              <a:buChar char="•"/>
            </a:pPr>
            <a:r>
              <a:rPr lang="en-US" sz="1700" dirty="0"/>
              <a:t> Selecting from the possibilities the one we are going to follow through.</a:t>
            </a:r>
            <a:endParaRPr lang="en-US" sz="1700" b="1" dirty="0"/>
          </a:p>
          <a:p>
            <a:pPr lvl="1" indent="-228600">
              <a:lnSpc>
                <a:spcPct val="90000"/>
              </a:lnSpc>
              <a:spcAft>
                <a:spcPts val="1800"/>
              </a:spcAft>
              <a:buFont typeface="Arial" panose="020B0604020202020204" pitchFamily="34" charset="0"/>
              <a:buChar char="•"/>
            </a:pPr>
            <a:r>
              <a:rPr lang="en-US" sz="1700" dirty="0"/>
              <a:t> Developing the idea from initial ‘gleam in the eye’ to a fully-developed reality.</a:t>
            </a:r>
            <a:endParaRPr lang="en-US" sz="1700" b="1" dirty="0"/>
          </a:p>
          <a:p>
            <a:pPr lvl="1" indent="-228600">
              <a:lnSpc>
                <a:spcPct val="90000"/>
              </a:lnSpc>
              <a:spcAft>
                <a:spcPts val="1800"/>
              </a:spcAft>
              <a:buFont typeface="Arial" panose="020B0604020202020204" pitchFamily="34" charset="0"/>
              <a:buChar char="•"/>
            </a:pPr>
            <a:r>
              <a:rPr lang="en-US" sz="1700" dirty="0"/>
              <a:t> Managing its diffusion and take up in our chosen market.</a:t>
            </a:r>
            <a:endParaRPr lang="en-US" sz="1700" b="1" dirty="0"/>
          </a:p>
          <a:p>
            <a:pPr lvl="1" indent="-228600">
              <a:lnSpc>
                <a:spcPct val="90000"/>
              </a:lnSpc>
              <a:spcAft>
                <a:spcPts val="1800"/>
              </a:spcAft>
              <a:buFont typeface="Arial" panose="020B0604020202020204" pitchFamily="34" charset="0"/>
              <a:buChar char="•"/>
            </a:pPr>
            <a:r>
              <a:rPr lang="en-US" sz="1700" dirty="0"/>
              <a:t> Capturing value from the process.</a:t>
            </a:r>
          </a:p>
          <a:p>
            <a:pPr indent="-228600">
              <a:lnSpc>
                <a:spcPct val="90000"/>
              </a:lnSpc>
            </a:pPr>
            <a:endParaRPr lang="en-US" sz="1700" dirty="0"/>
          </a:p>
        </p:txBody>
      </p:sp>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8599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515124" y="1153572"/>
            <a:ext cx="2760731"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Influences on the process</a:t>
            </a:r>
          </a:p>
          <a:p>
            <a:pPr>
              <a:lnSpc>
                <a:spcPct val="90000"/>
              </a:lnSpc>
              <a:spcBef>
                <a:spcPct val="0"/>
              </a:spcBef>
              <a:spcAft>
                <a:spcPts val="600"/>
              </a:spcAft>
              <a:defRPr/>
            </a:pPr>
            <a:endParaRPr lang="en-US" sz="4400" b="1" kern="1200"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a:lnSpc>
                <a:spcPct val="90000"/>
              </a:lnSpc>
              <a:spcAft>
                <a:spcPts val="1800"/>
              </a:spcAft>
            </a:pPr>
            <a:r>
              <a:rPr lang="en-US" dirty="0"/>
              <a:t>Innovation needs:</a:t>
            </a:r>
          </a:p>
          <a:p>
            <a:pPr lvl="1" indent="-228600">
              <a:lnSpc>
                <a:spcPct val="90000"/>
              </a:lnSpc>
              <a:spcAft>
                <a:spcPts val="1800"/>
              </a:spcAft>
              <a:buFont typeface="Arial" panose="020B0604020202020204" pitchFamily="34" charset="0"/>
              <a:buChar char="•"/>
            </a:pPr>
            <a:r>
              <a:rPr lang="en-US" dirty="0"/>
              <a:t> Strategy;</a:t>
            </a:r>
          </a:p>
          <a:p>
            <a:pPr lvl="1" indent="-228600">
              <a:lnSpc>
                <a:spcPct val="90000"/>
              </a:lnSpc>
              <a:spcAft>
                <a:spcPts val="1800"/>
              </a:spcAft>
              <a:buFont typeface="Arial" panose="020B0604020202020204" pitchFamily="34" charset="0"/>
              <a:buChar char="•"/>
            </a:pPr>
            <a:r>
              <a:rPr lang="en-US" dirty="0"/>
              <a:t> Innovative organization;</a:t>
            </a:r>
          </a:p>
          <a:p>
            <a:pPr lvl="1" indent="-228600">
              <a:lnSpc>
                <a:spcPct val="90000"/>
              </a:lnSpc>
              <a:spcAft>
                <a:spcPts val="1800"/>
              </a:spcAft>
              <a:buFont typeface="Arial" panose="020B0604020202020204" pitchFamily="34" charset="0"/>
              <a:buChar char="•"/>
            </a:pPr>
            <a:r>
              <a:rPr lang="en-US" dirty="0"/>
              <a:t> Proactive linkages;</a:t>
            </a:r>
          </a:p>
          <a:p>
            <a:pPr lvl="1" indent="-228600">
              <a:lnSpc>
                <a:spcPct val="90000"/>
              </a:lnSpc>
              <a:spcAft>
                <a:spcPts val="1800"/>
              </a:spcAft>
              <a:buFont typeface="Arial" panose="020B0604020202020204" pitchFamily="34" charset="0"/>
              <a:buChar char="•"/>
            </a:pPr>
            <a:r>
              <a:rPr lang="en-US" dirty="0"/>
              <a:t> Learning and improvement loop.</a:t>
            </a:r>
          </a:p>
          <a:p>
            <a:pPr indent="-228600">
              <a:lnSpc>
                <a:spcPct val="90000"/>
              </a:lnSpc>
              <a:spcAft>
                <a:spcPts val="1800"/>
              </a:spcAft>
              <a:buFont typeface="Arial" panose="020B0604020202020204" pitchFamily="34" charset="0"/>
              <a:buChar char="•"/>
            </a:pPr>
            <a:endParaRPr lang="en-US" dirty="0"/>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3382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107504" y="1153572"/>
            <a:ext cx="2807921"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dirty="0">
                <a:solidFill>
                  <a:srgbClr val="FFFFFF"/>
                </a:solidFill>
                <a:latin typeface="+mj-lt"/>
                <a:ea typeface="+mj-ea"/>
                <a:cs typeface="+mj-cs"/>
              </a:rPr>
              <a:t>Key questions about how we manage innovation</a:t>
            </a:r>
          </a:p>
          <a:p>
            <a:pPr>
              <a:lnSpc>
                <a:spcPct val="90000"/>
              </a:lnSpc>
              <a:spcBef>
                <a:spcPct val="0"/>
              </a:spcBef>
              <a:spcAft>
                <a:spcPts val="600"/>
              </a:spcAft>
              <a:defRPr/>
            </a:pPr>
            <a:endParaRPr lang="en-US" sz="4400" b="1" kern="1200"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1800"/>
              </a:spcAft>
              <a:buFont typeface="Arial" panose="020B0604020202020204" pitchFamily="34" charset="0"/>
              <a:buChar char="•"/>
            </a:pPr>
            <a:r>
              <a:rPr lang="en-US"/>
              <a:t> Do we search as well as we could?</a:t>
            </a:r>
            <a:endParaRPr lang="en-US" b="1"/>
          </a:p>
          <a:p>
            <a:pPr lvl="0" indent="-228600">
              <a:lnSpc>
                <a:spcPct val="90000"/>
              </a:lnSpc>
              <a:spcAft>
                <a:spcPts val="1800"/>
              </a:spcAft>
              <a:buFont typeface="Arial" panose="020B0604020202020204" pitchFamily="34" charset="0"/>
              <a:buChar char="•"/>
            </a:pPr>
            <a:r>
              <a:rPr lang="en-US"/>
              <a:t> How well do we manage the selection and resource acquisition process?</a:t>
            </a:r>
            <a:endParaRPr lang="en-US" b="1"/>
          </a:p>
          <a:p>
            <a:pPr lvl="0" indent="-228600">
              <a:lnSpc>
                <a:spcPct val="90000"/>
              </a:lnSpc>
              <a:spcAft>
                <a:spcPts val="1800"/>
              </a:spcAft>
              <a:buFont typeface="Arial" panose="020B0604020202020204" pitchFamily="34" charset="0"/>
              <a:buChar char="•"/>
            </a:pPr>
            <a:r>
              <a:rPr lang="en-US"/>
              <a:t> How well do we implement?</a:t>
            </a:r>
            <a:endParaRPr lang="en-US" b="1"/>
          </a:p>
          <a:p>
            <a:pPr lvl="0" indent="-228600">
              <a:lnSpc>
                <a:spcPct val="90000"/>
              </a:lnSpc>
              <a:spcAft>
                <a:spcPts val="1800"/>
              </a:spcAft>
              <a:buFont typeface="Arial" panose="020B0604020202020204" pitchFamily="34" charset="0"/>
              <a:buChar char="•"/>
            </a:pPr>
            <a:r>
              <a:rPr lang="en-US"/>
              <a:t> Do we capture value?  Improve our technical and market knowledge for next time?  Generate and protect the gains so they are sustainable?</a:t>
            </a:r>
            <a:endParaRPr lang="en-US" b="1"/>
          </a:p>
          <a:p>
            <a:pPr lvl="0" indent="-228600">
              <a:lnSpc>
                <a:spcPct val="90000"/>
              </a:lnSpc>
              <a:spcAft>
                <a:spcPts val="1800"/>
              </a:spcAft>
              <a:buFont typeface="Arial" panose="020B0604020202020204" pitchFamily="34" charset="0"/>
              <a:buChar char="•"/>
            </a:pPr>
            <a:r>
              <a:rPr lang="en-US"/>
              <a:t> Do we learn from experience? How do we capture this learning and feed it back into the next time?</a:t>
            </a:r>
            <a:endParaRPr lang="en-US" b="1"/>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4167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a:solidFill>
                  <a:srgbClr val="FFFFFF"/>
                </a:solidFill>
                <a:latin typeface="+mj-lt"/>
                <a:ea typeface="+mj-ea"/>
                <a:cs typeface="+mj-cs"/>
              </a:rPr>
              <a:t>Different versions of the core process model</a:t>
            </a:r>
          </a:p>
          <a:p>
            <a:pPr>
              <a:lnSpc>
                <a:spcPct val="90000"/>
              </a:lnSpc>
              <a:spcBef>
                <a:spcPct val="0"/>
              </a:spcBef>
              <a:spcAft>
                <a:spcPts val="600"/>
              </a:spcAft>
              <a:defRPr/>
            </a:pPr>
            <a:endParaRPr lang="en-US" sz="4400" b="1" kern="120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1800"/>
              </a:spcAft>
              <a:buFont typeface="Arial" panose="020B0604020202020204" pitchFamily="34" charset="0"/>
              <a:buChar char="•"/>
            </a:pPr>
            <a:r>
              <a:rPr lang="en-US"/>
              <a:t> For a start-up entrepreneur the ‘search’ stage is often called ‘opportunity recognition’ – but once they have spotted something they think they can exploit the challenge is of making it happen.  They have to acquire resources making various pitches to get backing and buy-in.  </a:t>
            </a:r>
          </a:p>
          <a:p>
            <a:pPr lvl="0" indent="-228600">
              <a:lnSpc>
                <a:spcPct val="90000"/>
              </a:lnSpc>
              <a:spcAft>
                <a:spcPts val="1800"/>
              </a:spcAft>
              <a:buFont typeface="Arial" panose="020B0604020202020204" pitchFamily="34" charset="0"/>
              <a:buChar char="•"/>
            </a:pPr>
            <a:r>
              <a:rPr lang="en-US"/>
              <a:t>Then they have to develop the venture and finally launch it into their chosen marketplace and capture the rewards and also the learning to allow them to do it again.</a:t>
            </a:r>
            <a:endParaRPr lang="en-US" b="1"/>
          </a:p>
        </p:txBody>
      </p:sp>
      <p:cxnSp>
        <p:nvCxnSpPr>
          <p:cNvPr id="7" name="Straight Connector 6"/>
          <p:cNvCxnSpPr/>
          <p:nvPr/>
        </p:nvCxnSpPr>
        <p:spPr>
          <a:xfrm>
            <a:off x="458167" y="17408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485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0" y="1153572"/>
            <a:ext cx="2915425"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dirty="0">
                <a:solidFill>
                  <a:srgbClr val="FFFFFF"/>
                </a:solidFill>
                <a:latin typeface="+mj-lt"/>
                <a:ea typeface="+mj-ea"/>
                <a:cs typeface="+mj-cs"/>
              </a:rPr>
              <a:t>Different versions of the process model (continued)</a:t>
            </a:r>
          </a:p>
          <a:p>
            <a:pPr>
              <a:lnSpc>
                <a:spcPct val="90000"/>
              </a:lnSpc>
              <a:spcBef>
                <a:spcPct val="0"/>
              </a:spcBef>
              <a:spcAft>
                <a:spcPts val="600"/>
              </a:spcAft>
              <a:defRPr/>
            </a:pPr>
            <a:endParaRPr lang="en-US" sz="4400" b="1" kern="1200"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600"/>
              </a:spcAft>
              <a:buFont typeface="Arial" panose="020B0604020202020204" pitchFamily="34" charset="0"/>
              <a:buChar char="•"/>
            </a:pPr>
            <a:r>
              <a:rPr lang="en-US"/>
              <a:t> For a new product development team in a company it is about searching for ideas (maybe in the R&amp;D lab, maybe via customer survey, maybe some combination of both).  Then they have to secure internal resources – pitching for backing against other competing projects form different teams.  Then they manage the development process, bringing the product through various stages of prototyping and simultaneously developing the market and launch plans. Finally launch and, hopefully, widespread adoption – and capturing the gains in commercial terms but also in terms of what has been learned for next time.</a:t>
            </a:r>
            <a:endParaRPr lang="en-US" b="1"/>
          </a:p>
        </p:txBody>
      </p:sp>
      <p:cxnSp>
        <p:nvCxnSpPr>
          <p:cNvPr id="7" name="Straight Connector 6"/>
          <p:cNvCxnSpPr/>
          <p:nvPr/>
        </p:nvCxnSpPr>
        <p:spPr>
          <a:xfrm>
            <a:off x="458167" y="169152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3795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207818" y="1153572"/>
            <a:ext cx="2917636"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dirty="0">
                <a:solidFill>
                  <a:srgbClr val="FFFFFF"/>
                </a:solidFill>
                <a:latin typeface="+mj-lt"/>
                <a:ea typeface="+mj-ea"/>
                <a:cs typeface="+mj-cs"/>
              </a:rPr>
              <a:t>Different versions of the process model (continued)</a:t>
            </a:r>
          </a:p>
          <a:p>
            <a:pPr>
              <a:lnSpc>
                <a:spcPct val="90000"/>
              </a:lnSpc>
              <a:spcBef>
                <a:spcPct val="0"/>
              </a:spcBef>
              <a:spcAft>
                <a:spcPts val="600"/>
              </a:spcAft>
              <a:defRPr/>
            </a:pPr>
            <a:endParaRPr lang="en-US" sz="4400" b="1" kern="1200"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 For a public service team in a hospital the search may be for more efficient ways of delivering the service under resource constraints.  Once again an individual or team has to convince others and secure resources and the permission to explore, they have to develop it and then diffuse it as a new method to an internal market of people in the service who will adopt the new way.  And once again they capture value, in terms of efficiency improvement but also in learning.</a:t>
            </a:r>
            <a:endParaRPr lang="en-US" b="1"/>
          </a:p>
        </p:txBody>
      </p:sp>
      <p:cxnSp>
        <p:nvCxnSpPr>
          <p:cNvPr id="7" name="Straight Connector 6"/>
          <p:cNvCxnSpPr/>
          <p:nvPr/>
        </p:nvCxnSpPr>
        <p:spPr>
          <a:xfrm>
            <a:off x="458167" y="1728507"/>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6098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0" y="1153572"/>
            <a:ext cx="2915425"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dirty="0">
                <a:solidFill>
                  <a:srgbClr val="FFFFFF"/>
                </a:solidFill>
                <a:latin typeface="+mj-lt"/>
                <a:ea typeface="+mj-ea"/>
                <a:cs typeface="+mj-cs"/>
              </a:rPr>
              <a:t>Different versions of the core model (continued)</a:t>
            </a:r>
          </a:p>
          <a:p>
            <a:pPr>
              <a:lnSpc>
                <a:spcPct val="90000"/>
              </a:lnSpc>
              <a:spcBef>
                <a:spcPct val="0"/>
              </a:spcBef>
              <a:spcAft>
                <a:spcPts val="600"/>
              </a:spcAft>
              <a:defRPr/>
            </a:pPr>
            <a:endParaRPr lang="en-US" sz="4400" b="1" kern="1200"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Rectangle 11"/>
          <p:cNvSpPr/>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1200"/>
              </a:spcAft>
              <a:buFont typeface="Arial" panose="020B0604020202020204" pitchFamily="34" charset="0"/>
              <a:buChar char="•"/>
            </a:pPr>
            <a:r>
              <a:rPr lang="en-US"/>
              <a:t> For the social entrepreneur it is about finding a trigger need, then developing and sharing a vision around how to meet that need better.  Securing support and buy in is followed by development, implementation and hopefully widespread adoption – and the value is captured in social improvements as well as learning.</a:t>
            </a:r>
          </a:p>
        </p:txBody>
      </p:sp>
      <p:cxnSp>
        <p:nvCxnSpPr>
          <p:cNvPr id="7" name="Straight Connector 6"/>
          <p:cNvCxnSpPr/>
          <p:nvPr/>
        </p:nvCxnSpPr>
        <p:spPr>
          <a:xfrm>
            <a:off x="458167" y="17408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6539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739505" cy="1164328"/>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Variations on a theme</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295939" name="Object 3"/>
          <p:cNvGraphicFramePr>
            <a:graphicFrameLocks noChangeAspect="1"/>
          </p:cNvGraphicFramePr>
          <p:nvPr/>
        </p:nvGraphicFramePr>
        <p:xfrm>
          <a:off x="458167" y="1904915"/>
          <a:ext cx="8139329" cy="3931941"/>
        </p:xfrm>
        <a:graphic>
          <a:graphicData uri="http://schemas.openxmlformats.org/presentationml/2006/ole">
            <mc:AlternateContent xmlns:mc="http://schemas.openxmlformats.org/markup-compatibility/2006">
              <mc:Choice xmlns:v="urn:schemas-microsoft-com:vml" Requires="v">
                <p:oleObj name="Document" r:id="rId2" imgW="22501587" imgH="7669841" progId="Word.Document.12">
                  <p:link updateAutomatic="1"/>
                </p:oleObj>
              </mc:Choice>
              <mc:Fallback>
                <p:oleObj name="Document" r:id="rId2" imgW="22501587" imgH="766984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904915"/>
                        <a:ext cx="8139329" cy="39319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9479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763688" y="332656"/>
            <a:ext cx="5739505" cy="1164328"/>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Variations on a theme (continued)</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sp>
        <p:nvSpPr>
          <p:cNvPr id="12" name="Rectangle 11"/>
          <p:cNvSpPr/>
          <p:nvPr/>
        </p:nvSpPr>
        <p:spPr>
          <a:xfrm>
            <a:off x="458167" y="4615756"/>
            <a:ext cx="8478016" cy="1107996"/>
          </a:xfrm>
          <a:prstGeom prst="rect">
            <a:avLst/>
          </a:prstGeom>
        </p:spPr>
        <p:txBody>
          <a:bodyPr wrap="square">
            <a:spAutoFit/>
          </a:bodyPr>
          <a:lstStyle/>
          <a:p>
            <a:r>
              <a:rPr lang="en-US" sz="2200" dirty="0"/>
              <a:t>We can use a process model as a framework reminding ourselves the reality will vary, for example, by the sector, the size of our enterprise, or the stage in the industry life-cycle.  </a:t>
            </a:r>
            <a:endParaRPr lang="en-GB" sz="2200" b="1" dirty="0"/>
          </a:p>
        </p:txBody>
      </p:sp>
      <p:graphicFrame>
        <p:nvGraphicFramePr>
          <p:cNvPr id="296966" name="Object 6"/>
          <p:cNvGraphicFramePr>
            <a:graphicFrameLocks noChangeAspect="1"/>
          </p:cNvGraphicFramePr>
          <p:nvPr/>
        </p:nvGraphicFramePr>
        <p:xfrm>
          <a:off x="458167" y="1807226"/>
          <a:ext cx="8331375" cy="2808529"/>
        </p:xfrm>
        <a:graphic>
          <a:graphicData uri="http://schemas.openxmlformats.org/presentationml/2006/ole">
            <mc:AlternateContent xmlns:mc="http://schemas.openxmlformats.org/markup-compatibility/2006">
              <mc:Choice xmlns:v="urn:schemas-microsoft-com:vml" Requires="v">
                <p:oleObj name="Document" r:id="rId2" imgW="22501587" imgH="6958730" progId="Word.Document.12">
                  <p:link updateAutomatic="1"/>
                </p:oleObj>
              </mc:Choice>
              <mc:Fallback>
                <p:oleObj name="Document" r:id="rId2" imgW="22501587" imgH="6958730"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807226"/>
                        <a:ext cx="8331375" cy="28085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82380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9A35A6-2022-5048-B095-4F61837D20C4}"/>
              </a:ext>
            </a:extLst>
          </p:cNvPr>
          <p:cNvSpPr>
            <a:spLocks noGrp="1"/>
          </p:cNvSpPr>
          <p:nvPr>
            <p:ph type="title"/>
          </p:nvPr>
        </p:nvSpPr>
        <p:spPr>
          <a:xfrm>
            <a:off x="628650" y="562271"/>
            <a:ext cx="7886700" cy="1128417"/>
          </a:xfrm>
        </p:spPr>
        <p:txBody>
          <a:bodyPr vert="horz" lIns="91440" tIns="45720" rIns="91440" bIns="45720" rtlCol="0" anchor="ctr">
            <a:normAutofit/>
          </a:bodyPr>
          <a:lstStyle/>
          <a:p>
            <a:pPr algn="l">
              <a:lnSpc>
                <a:spcPct val="90000"/>
              </a:lnSpc>
            </a:pPr>
            <a:r>
              <a:rPr lang="en-US" sz="3800"/>
              <a:t>Different sectors, different approaches</a:t>
            </a:r>
          </a:p>
        </p:txBody>
      </p:sp>
      <p:pic>
        <p:nvPicPr>
          <p:cNvPr id="7" name="Picture 6" descr="Text&#10;&#10;Description automatically generated">
            <a:extLst>
              <a:ext uri="{FF2B5EF4-FFF2-40B4-BE49-F238E27FC236}">
                <a16:creationId xmlns:a16="http://schemas.microsoft.com/office/drawing/2014/main" id="{D68E560C-D195-7B4C-8915-E6FEAE9F7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660661"/>
            <a:ext cx="7020272" cy="4779952"/>
          </a:xfrm>
          <a:prstGeom prst="rect">
            <a:avLst/>
          </a:prstGeom>
        </p:spPr>
      </p:pic>
    </p:spTree>
    <p:extLst>
      <p:ext uri="{BB962C8B-B14F-4D97-AF65-F5344CB8AC3E}">
        <p14:creationId xmlns:p14="http://schemas.microsoft.com/office/powerpoint/2010/main" val="216361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76BA-D83B-704F-97C4-0E8F277E731B}"/>
              </a:ext>
            </a:extLst>
          </p:cNvPr>
          <p:cNvSpPr>
            <a:spLocks noGrp="1"/>
          </p:cNvSpPr>
          <p:nvPr>
            <p:ph type="title"/>
          </p:nvPr>
        </p:nvSpPr>
        <p:spPr/>
        <p:txBody>
          <a:bodyPr>
            <a:normAutofit fontScale="90000"/>
          </a:bodyPr>
          <a:lstStyle/>
          <a:p>
            <a:r>
              <a:rPr lang="en-US" dirty="0"/>
              <a:t>Innovation in the humanitarian world</a:t>
            </a:r>
          </a:p>
        </p:txBody>
      </p:sp>
      <p:sp>
        <p:nvSpPr>
          <p:cNvPr id="4" name="Rectangle 3">
            <a:extLst>
              <a:ext uri="{FF2B5EF4-FFF2-40B4-BE49-F238E27FC236}">
                <a16:creationId xmlns:a16="http://schemas.microsoft.com/office/drawing/2014/main" id="{3CA33A1C-C9C5-5F40-B34C-CE923DBC3219}"/>
              </a:ext>
            </a:extLst>
          </p:cNvPr>
          <p:cNvSpPr/>
          <p:nvPr/>
        </p:nvSpPr>
        <p:spPr>
          <a:xfrm>
            <a:off x="4644008" y="5956427"/>
            <a:ext cx="4572000" cy="923330"/>
          </a:xfrm>
          <a:prstGeom prst="rect">
            <a:avLst/>
          </a:prstGeom>
        </p:spPr>
        <p:txBody>
          <a:bodyPr>
            <a:spAutoFit/>
          </a:bodyPr>
          <a:lstStyle/>
          <a:p>
            <a:r>
              <a:rPr lang="en-US" dirty="0">
                <a:hlinkClick r:id="rId2"/>
              </a:rPr>
              <a:t>https://higuide.elrha.org/toolkits/get-started/innovation-process/</a:t>
            </a:r>
            <a:endParaRPr lang="en-US" dirty="0"/>
          </a:p>
          <a:p>
            <a:endParaRPr lang="en-US" dirty="0"/>
          </a:p>
        </p:txBody>
      </p:sp>
      <p:pic>
        <p:nvPicPr>
          <p:cNvPr id="6" name="Picture 5" descr="Company name&#10;&#10;Description automatically generated">
            <a:extLst>
              <a:ext uri="{FF2B5EF4-FFF2-40B4-BE49-F238E27FC236}">
                <a16:creationId xmlns:a16="http://schemas.microsoft.com/office/drawing/2014/main" id="{C02E1BEA-E618-5A43-88E8-F0D001B7A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02774"/>
            <a:ext cx="9144000" cy="4252452"/>
          </a:xfrm>
          <a:prstGeom prst="rect">
            <a:avLst/>
          </a:prstGeom>
        </p:spPr>
      </p:pic>
    </p:spTree>
    <p:extLst>
      <p:ext uri="{BB962C8B-B14F-4D97-AF65-F5344CB8AC3E}">
        <p14:creationId xmlns:p14="http://schemas.microsoft.com/office/powerpoint/2010/main" val="1175729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29C9-8FFA-7A43-8280-E58D2353C8CD}"/>
              </a:ext>
            </a:extLst>
          </p:cNvPr>
          <p:cNvSpPr>
            <a:spLocks noGrp="1"/>
          </p:cNvSpPr>
          <p:nvPr>
            <p:ph type="title"/>
          </p:nvPr>
        </p:nvSpPr>
        <p:spPr/>
        <p:txBody>
          <a:bodyPr/>
          <a:lstStyle/>
          <a:p>
            <a:r>
              <a:rPr lang="en-US" dirty="0"/>
              <a:t>Size as an influence</a:t>
            </a:r>
          </a:p>
        </p:txBody>
      </p:sp>
      <p:pic>
        <p:nvPicPr>
          <p:cNvPr id="5" name="Picture 4" descr="Graphical user interface, text&#10;&#10;Description automatically generated">
            <a:extLst>
              <a:ext uri="{FF2B5EF4-FFF2-40B4-BE49-F238E27FC236}">
                <a16:creationId xmlns:a16="http://schemas.microsoft.com/office/drawing/2014/main" id="{EF9DF065-65C5-844B-B088-9E90280B8D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8811"/>
            <a:ext cx="9144000" cy="4420378"/>
          </a:xfrm>
          <a:prstGeom prst="rect">
            <a:avLst/>
          </a:prstGeom>
        </p:spPr>
      </p:pic>
    </p:spTree>
    <p:extLst>
      <p:ext uri="{BB962C8B-B14F-4D97-AF65-F5344CB8AC3E}">
        <p14:creationId xmlns:p14="http://schemas.microsoft.com/office/powerpoint/2010/main" val="702515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07D5E-C076-994E-80C1-A602B52B6777}"/>
              </a:ext>
            </a:extLst>
          </p:cNvPr>
          <p:cNvSpPr>
            <a:spLocks noGrp="1"/>
          </p:cNvSpPr>
          <p:nvPr>
            <p:ph type="title"/>
          </p:nvPr>
        </p:nvSpPr>
        <p:spPr>
          <a:xfrm>
            <a:off x="478220" y="32900"/>
            <a:ext cx="8229600" cy="1143000"/>
          </a:xfrm>
        </p:spPr>
        <p:txBody>
          <a:bodyPr>
            <a:normAutofit fontScale="90000"/>
          </a:bodyPr>
          <a:lstStyle/>
          <a:p>
            <a:r>
              <a:rPr lang="en-US" sz="4000" dirty="0"/>
              <a:t>Different models for ‘steady state’ and discontinuous innovatio</a:t>
            </a:r>
            <a:r>
              <a:rPr lang="en-US" dirty="0"/>
              <a:t>n</a:t>
            </a:r>
          </a:p>
        </p:txBody>
      </p:sp>
      <p:pic>
        <p:nvPicPr>
          <p:cNvPr id="7" name="Picture 6" descr="Graphical user interface, diagram&#10;&#10;Description automatically generated">
            <a:extLst>
              <a:ext uri="{FF2B5EF4-FFF2-40B4-BE49-F238E27FC236}">
                <a16:creationId xmlns:a16="http://schemas.microsoft.com/office/drawing/2014/main" id="{AECCCE4D-A065-074F-A643-7F0FF97F0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340768"/>
            <a:ext cx="9144000" cy="5693434"/>
          </a:xfrm>
          <a:prstGeom prst="rect">
            <a:avLst/>
          </a:prstGeom>
        </p:spPr>
      </p:pic>
    </p:spTree>
    <p:extLst>
      <p:ext uri="{BB962C8B-B14F-4D97-AF65-F5344CB8AC3E}">
        <p14:creationId xmlns:p14="http://schemas.microsoft.com/office/powerpoint/2010/main" val="1771437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10;&#10;Description automatically generated">
            <a:extLst>
              <a:ext uri="{FF2B5EF4-FFF2-40B4-BE49-F238E27FC236}">
                <a16:creationId xmlns:a16="http://schemas.microsoft.com/office/drawing/2014/main" id="{2916C76F-7447-0A48-AD45-8B924EC9AB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808" y="310344"/>
            <a:ext cx="8646384" cy="6237312"/>
          </a:xfrm>
          <a:prstGeom prst="rect">
            <a:avLst/>
          </a:prstGeom>
        </p:spPr>
      </p:pic>
    </p:spTree>
    <p:extLst>
      <p:ext uri="{BB962C8B-B14F-4D97-AF65-F5344CB8AC3E}">
        <p14:creationId xmlns:p14="http://schemas.microsoft.com/office/powerpoint/2010/main" val="533406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B0E38-8B21-734D-948C-15142697EC71}"/>
              </a:ext>
            </a:extLst>
          </p:cNvPr>
          <p:cNvSpPr>
            <a:spLocks noGrp="1"/>
          </p:cNvSpPr>
          <p:nvPr>
            <p:ph type="title"/>
          </p:nvPr>
        </p:nvSpPr>
        <p:spPr/>
        <p:txBody>
          <a:bodyPr>
            <a:normAutofit fontScale="90000"/>
          </a:bodyPr>
          <a:lstStyle/>
          <a:p>
            <a:r>
              <a:rPr lang="en-US" dirty="0"/>
              <a:t>Changing models of innovation over time</a:t>
            </a:r>
          </a:p>
        </p:txBody>
      </p:sp>
      <p:pic>
        <p:nvPicPr>
          <p:cNvPr id="5" name="Picture 4" descr="Graphical user interface, text, application, email&#10;&#10;Description automatically generated">
            <a:extLst>
              <a:ext uri="{FF2B5EF4-FFF2-40B4-BE49-F238E27FC236}">
                <a16:creationId xmlns:a16="http://schemas.microsoft.com/office/drawing/2014/main" id="{E0583C10-A7D6-0D43-AF80-BB8A94548B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67395"/>
            <a:ext cx="9144000" cy="3123210"/>
          </a:xfrm>
          <a:prstGeom prst="rect">
            <a:avLst/>
          </a:prstGeom>
        </p:spPr>
      </p:pic>
    </p:spTree>
    <p:extLst>
      <p:ext uri="{BB962C8B-B14F-4D97-AF65-F5344CB8AC3E}">
        <p14:creationId xmlns:p14="http://schemas.microsoft.com/office/powerpoint/2010/main" val="93399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19672" y="332656"/>
            <a:ext cx="5739505" cy="1164328"/>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The problem of partial models</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303107" name="Object 3"/>
          <p:cNvGraphicFramePr>
            <a:graphicFrameLocks noChangeAspect="1"/>
          </p:cNvGraphicFramePr>
          <p:nvPr/>
        </p:nvGraphicFramePr>
        <p:xfrm>
          <a:off x="611560" y="1916832"/>
          <a:ext cx="8212604" cy="4286059"/>
        </p:xfrm>
        <a:graphic>
          <a:graphicData uri="http://schemas.openxmlformats.org/presentationml/2006/ole">
            <mc:AlternateContent xmlns:mc="http://schemas.openxmlformats.org/markup-compatibility/2006">
              <mc:Choice xmlns:v="urn:schemas-microsoft-com:vml" Requires="v">
                <p:oleObj name="Document" r:id="rId2" imgW="22501587" imgH="11326984" progId="Word.Document.12">
                  <p:link updateAutomatic="1"/>
                </p:oleObj>
              </mc:Choice>
              <mc:Fallback>
                <p:oleObj name="Document" r:id="rId2" imgW="22501587" imgH="11326984"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916832"/>
                        <a:ext cx="8212604" cy="4286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16377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404664"/>
            <a:ext cx="5739505" cy="1164328"/>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The problem of partial models (continued)</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304131" name="Object 3"/>
          <p:cNvGraphicFramePr>
            <a:graphicFrameLocks noChangeAspect="1"/>
          </p:cNvGraphicFramePr>
          <p:nvPr/>
        </p:nvGraphicFramePr>
        <p:xfrm>
          <a:off x="610617" y="1733961"/>
          <a:ext cx="8226925" cy="4481435"/>
        </p:xfrm>
        <a:graphic>
          <a:graphicData uri="http://schemas.openxmlformats.org/presentationml/2006/ole">
            <mc:AlternateContent xmlns:mc="http://schemas.openxmlformats.org/markup-compatibility/2006">
              <mc:Choice xmlns:v="urn:schemas-microsoft-com:vml" Requires="v">
                <p:oleObj name="Document" r:id="rId2" imgW="22501587" imgH="12038095" progId="Word.Document.12">
                  <p:link updateAutomatic="1"/>
                </p:oleObj>
              </mc:Choice>
              <mc:Fallback>
                <p:oleObj name="Document" r:id="rId2" imgW="22501587" imgH="12038095"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17" y="1733961"/>
                        <a:ext cx="8226925" cy="4481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91184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763688" y="0"/>
            <a:ext cx="5523481" cy="908720"/>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Core abilities in innovation</a:t>
            </a:r>
          </a:p>
        </p:txBody>
      </p:sp>
      <p:cxnSp>
        <p:nvCxnSpPr>
          <p:cNvPr id="8" name="Straight Connector 7"/>
          <p:cNvCxnSpPr/>
          <p:nvPr/>
        </p:nvCxnSpPr>
        <p:spPr>
          <a:xfrm>
            <a:off x="395536" y="90872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3" name="Picture 2" descr="Graphical user interface, text, application&#10;&#10;Description automatically generated">
            <a:extLst>
              <a:ext uri="{FF2B5EF4-FFF2-40B4-BE49-F238E27FC236}">
                <a16:creationId xmlns:a16="http://schemas.microsoft.com/office/drawing/2014/main" id="{D5805E61-A9D5-4B40-BD09-7C8F9C880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069517"/>
            <a:ext cx="8028384" cy="5506907"/>
          </a:xfrm>
          <a:prstGeom prst="rect">
            <a:avLst/>
          </a:prstGeom>
        </p:spPr>
      </p:pic>
    </p:spTree>
    <p:extLst>
      <p:ext uri="{BB962C8B-B14F-4D97-AF65-F5344CB8AC3E}">
        <p14:creationId xmlns:p14="http://schemas.microsoft.com/office/powerpoint/2010/main" val="309400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10.11.5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412776"/>
            <a:ext cx="8064500" cy="4800600"/>
          </a:xfrm>
          <a:prstGeom prst="rect">
            <a:avLst/>
          </a:prstGeom>
        </p:spPr>
      </p:pic>
      <p:sp>
        <p:nvSpPr>
          <p:cNvPr id="7" name="Title 1"/>
          <p:cNvSpPr txBox="1">
            <a:spLocks/>
          </p:cNvSpPr>
          <p:nvPr/>
        </p:nvSpPr>
        <p:spPr>
          <a:xfrm>
            <a:off x="1763688" y="188640"/>
            <a:ext cx="5523481" cy="908720"/>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Developing innovation capability</a:t>
            </a:r>
          </a:p>
        </p:txBody>
      </p:sp>
      <p:cxnSp>
        <p:nvCxnSpPr>
          <p:cNvPr id="8" name="Straight Connector 7"/>
          <p:cNvCxnSpPr/>
          <p:nvPr/>
        </p:nvCxnSpPr>
        <p:spPr>
          <a:xfrm>
            <a:off x="395536" y="13407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5969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61F6-0FF1-894E-824B-A19356911195}"/>
              </a:ext>
            </a:extLst>
          </p:cNvPr>
          <p:cNvSpPr>
            <a:spLocks noGrp="1"/>
          </p:cNvSpPr>
          <p:nvPr>
            <p:ph type="title"/>
          </p:nvPr>
        </p:nvSpPr>
        <p:spPr/>
        <p:txBody>
          <a:bodyPr/>
          <a:lstStyle/>
          <a:p>
            <a:r>
              <a:rPr lang="en-US" dirty="0"/>
              <a:t>Innovation as a journey</a:t>
            </a:r>
          </a:p>
        </p:txBody>
      </p:sp>
      <p:pic>
        <p:nvPicPr>
          <p:cNvPr id="5" name="Picture 4" descr="A picture containing diagram&#10;&#10;Description automatically generated">
            <a:extLst>
              <a:ext uri="{FF2B5EF4-FFF2-40B4-BE49-F238E27FC236}">
                <a16:creationId xmlns:a16="http://schemas.microsoft.com/office/drawing/2014/main" id="{2B2D52B8-2D4B-4445-BE97-7409F7677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879677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7F7B5-094E-6148-81DC-9142048742DD}"/>
              </a:ext>
            </a:extLst>
          </p:cNvPr>
          <p:cNvSpPr>
            <a:spLocks noGrp="1"/>
          </p:cNvSpPr>
          <p:nvPr>
            <p:ph type="title"/>
          </p:nvPr>
        </p:nvSpPr>
        <p:spPr/>
        <p:txBody>
          <a:bodyPr>
            <a:normAutofit fontScale="90000"/>
          </a:bodyPr>
          <a:lstStyle/>
          <a:p>
            <a:r>
              <a:rPr lang="en-US" dirty="0"/>
              <a:t>Key questions in the selection phase</a:t>
            </a:r>
          </a:p>
        </p:txBody>
      </p:sp>
      <p:pic>
        <p:nvPicPr>
          <p:cNvPr id="5" name="Picture 4" descr="Diagram&#10;&#10;Description automatically generated">
            <a:extLst>
              <a:ext uri="{FF2B5EF4-FFF2-40B4-BE49-F238E27FC236}">
                <a16:creationId xmlns:a16="http://schemas.microsoft.com/office/drawing/2014/main" id="{9572B3C0-D194-FD42-9472-36511FE3D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600" y="1301750"/>
            <a:ext cx="6654800" cy="4254500"/>
          </a:xfrm>
          <a:prstGeom prst="rect">
            <a:avLst/>
          </a:prstGeom>
        </p:spPr>
      </p:pic>
    </p:spTree>
    <p:extLst>
      <p:ext uri="{BB962C8B-B14F-4D97-AF65-F5344CB8AC3E}">
        <p14:creationId xmlns:p14="http://schemas.microsoft.com/office/powerpoint/2010/main" val="1461646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65495-E943-6C46-851E-8F4179F96C4B}"/>
              </a:ext>
            </a:extLst>
          </p:cNvPr>
          <p:cNvSpPr>
            <a:spLocks noGrp="1"/>
          </p:cNvSpPr>
          <p:nvPr>
            <p:ph type="title"/>
          </p:nvPr>
        </p:nvSpPr>
        <p:spPr/>
        <p:txBody>
          <a:bodyPr>
            <a:normAutofit fontScale="90000"/>
          </a:bodyPr>
          <a:lstStyle/>
          <a:p>
            <a:r>
              <a:rPr lang="en-US"/>
              <a:t>Key questions in the implementation phase</a:t>
            </a:r>
            <a:endParaRPr lang="en-US" dirty="0"/>
          </a:p>
        </p:txBody>
      </p:sp>
      <p:pic>
        <p:nvPicPr>
          <p:cNvPr id="5" name="Picture 4" descr="Diagram&#10;&#10;Description automatically generated">
            <a:extLst>
              <a:ext uri="{FF2B5EF4-FFF2-40B4-BE49-F238E27FC236}">
                <a16:creationId xmlns:a16="http://schemas.microsoft.com/office/drawing/2014/main" id="{4C4A6E04-1547-FD45-8583-B6185D533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50" y="1835150"/>
            <a:ext cx="6286500" cy="3187700"/>
          </a:xfrm>
          <a:prstGeom prst="rect">
            <a:avLst/>
          </a:prstGeom>
        </p:spPr>
      </p:pic>
    </p:spTree>
    <p:extLst>
      <p:ext uri="{BB962C8B-B14F-4D97-AF65-F5344CB8AC3E}">
        <p14:creationId xmlns:p14="http://schemas.microsoft.com/office/powerpoint/2010/main" val="3490492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583B-7231-CC40-98F7-5C6FD5B54768}"/>
              </a:ext>
            </a:extLst>
          </p:cNvPr>
          <p:cNvSpPr>
            <a:spLocks noGrp="1"/>
          </p:cNvSpPr>
          <p:nvPr>
            <p:ph type="title"/>
          </p:nvPr>
        </p:nvSpPr>
        <p:spPr>
          <a:xfrm>
            <a:off x="515125" y="1153572"/>
            <a:ext cx="2400300" cy="4461163"/>
          </a:xfrm>
        </p:spPr>
        <p:txBody>
          <a:bodyPr>
            <a:normAutofit/>
          </a:bodyPr>
          <a:lstStyle/>
          <a:p>
            <a:r>
              <a:rPr lang="en-US">
                <a:solidFill>
                  <a:srgbClr val="FFFFFF"/>
                </a:solidFill>
              </a:rPr>
              <a:t>Dynamic capability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78E48EB-8FBA-184B-8C6A-16F419C3FC0C}"/>
              </a:ext>
            </a:extLst>
          </p:cNvPr>
          <p:cNvSpPr>
            <a:spLocks noGrp="1"/>
          </p:cNvSpPr>
          <p:nvPr>
            <p:ph idx="1"/>
          </p:nvPr>
        </p:nvSpPr>
        <p:spPr>
          <a:xfrm>
            <a:off x="3335481" y="591344"/>
            <a:ext cx="5179868" cy="5585619"/>
          </a:xfrm>
        </p:spPr>
        <p:txBody>
          <a:bodyPr anchor="ctr">
            <a:normAutofit/>
          </a:bodyPr>
          <a:lstStyle/>
          <a:p>
            <a:pPr>
              <a:lnSpc>
                <a:spcPct val="90000"/>
              </a:lnSpc>
            </a:pPr>
            <a:r>
              <a:rPr lang="en-US" sz="1300" dirty="0"/>
              <a:t>Dynamic capability – need to update and change our routines in a changing world.</a:t>
            </a:r>
          </a:p>
          <a:p>
            <a:pPr>
              <a:lnSpc>
                <a:spcPct val="90000"/>
              </a:lnSpc>
            </a:pPr>
            <a:endParaRPr lang="en-GB" sz="1300" dirty="0"/>
          </a:p>
          <a:p>
            <a:pPr>
              <a:lnSpc>
                <a:spcPct val="90000"/>
              </a:lnSpc>
            </a:pPr>
            <a:r>
              <a:rPr lang="en-US" sz="1300" dirty="0"/>
              <a:t>Of the ways we do things round here – our routines – for innovation:</a:t>
            </a:r>
          </a:p>
          <a:p>
            <a:pPr>
              <a:lnSpc>
                <a:spcPct val="90000"/>
              </a:lnSpc>
            </a:pPr>
            <a:endParaRPr lang="en-GB" sz="1300" b="1" dirty="0"/>
          </a:p>
          <a:p>
            <a:pPr lvl="1">
              <a:lnSpc>
                <a:spcPct val="90000"/>
              </a:lnSpc>
              <a:spcAft>
                <a:spcPts val="2400"/>
              </a:spcAft>
              <a:buFont typeface="Arial"/>
              <a:buChar char="•"/>
            </a:pPr>
            <a:r>
              <a:rPr lang="en-US" sz="1300" dirty="0"/>
              <a:t>Which should we do more of?</a:t>
            </a:r>
            <a:endParaRPr lang="en-GB" sz="1300" b="1" dirty="0"/>
          </a:p>
          <a:p>
            <a:pPr lvl="1">
              <a:lnSpc>
                <a:spcPct val="90000"/>
              </a:lnSpc>
              <a:spcAft>
                <a:spcPts val="2400"/>
              </a:spcAft>
              <a:buFont typeface="Arial"/>
              <a:buChar char="•"/>
            </a:pPr>
            <a:r>
              <a:rPr lang="en-US" sz="1300" dirty="0"/>
              <a:t>Which should we do less of, or even stop?</a:t>
            </a:r>
            <a:endParaRPr lang="en-GB" sz="1300" b="1" dirty="0"/>
          </a:p>
          <a:p>
            <a:pPr lvl="1">
              <a:lnSpc>
                <a:spcPct val="90000"/>
              </a:lnSpc>
              <a:spcAft>
                <a:spcPts val="2400"/>
              </a:spcAft>
              <a:buFont typeface="Arial"/>
              <a:buChar char="•"/>
            </a:pPr>
            <a:r>
              <a:rPr lang="en-US" sz="1300" dirty="0"/>
              <a:t>Which new things do we need to learn to do to add to our repertoire?</a:t>
            </a:r>
            <a:endParaRPr lang="en-GB" sz="1300" b="1" dirty="0"/>
          </a:p>
          <a:p>
            <a:pPr>
              <a:lnSpc>
                <a:spcPct val="90000"/>
              </a:lnSpc>
            </a:pPr>
            <a:endParaRPr lang="en-US" sz="1300" dirty="0"/>
          </a:p>
        </p:txBody>
      </p:sp>
    </p:spTree>
    <p:extLst>
      <p:ext uri="{BB962C8B-B14F-4D97-AF65-F5344CB8AC3E}">
        <p14:creationId xmlns:p14="http://schemas.microsoft.com/office/powerpoint/2010/main" val="1154467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77E839-3E63-0049-A91C-B47291A8B15C}"/>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EDD6958C-C9E6-0A47-B320-44F7BF56568C}"/>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Innovation doesn’t happen simply because we hope it will – it’s a complex process which carries risks and needs careful and systematic </a:t>
            </a:r>
            <a:r>
              <a:rPr lang="en-US" sz="2700" i="1" dirty="0"/>
              <a:t>management</a:t>
            </a:r>
          </a:p>
          <a:p>
            <a:pPr>
              <a:lnSpc>
                <a:spcPct val="90000"/>
              </a:lnSpc>
            </a:pPr>
            <a:r>
              <a:rPr lang="en-US" sz="2700" dirty="0"/>
              <a:t>It’s an extended process of picking up on ideas for change and turning them through into effective reality.  At its heart it involves stages of searching, selecting, implementing and capturing value.</a:t>
            </a:r>
          </a:p>
        </p:txBody>
      </p:sp>
    </p:spTree>
    <p:extLst>
      <p:ext uri="{BB962C8B-B14F-4D97-AF65-F5344CB8AC3E}">
        <p14:creationId xmlns:p14="http://schemas.microsoft.com/office/powerpoint/2010/main" val="403656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4A0278-F706-FC4C-BC2B-5B4719775755}"/>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CB9A541-121B-5A42-820E-D17AB9E10A78}"/>
              </a:ext>
            </a:extLst>
          </p:cNvPr>
          <p:cNvSpPr>
            <a:spLocks noGrp="1"/>
          </p:cNvSpPr>
          <p:nvPr>
            <p:ph idx="1"/>
          </p:nvPr>
        </p:nvSpPr>
        <p:spPr>
          <a:xfrm>
            <a:off x="3125454" y="319088"/>
            <a:ext cx="5389895" cy="5857875"/>
          </a:xfrm>
        </p:spPr>
        <p:txBody>
          <a:bodyPr anchor="ctr">
            <a:normAutofit fontScale="92500" lnSpcReduction="10000"/>
          </a:bodyPr>
          <a:lstStyle/>
          <a:p>
            <a:pPr marL="0" lvl="0" indent="0">
              <a:lnSpc>
                <a:spcPct val="90000"/>
              </a:lnSpc>
              <a:spcAft>
                <a:spcPts val="1200"/>
              </a:spcAft>
              <a:buNone/>
            </a:pPr>
            <a:r>
              <a:rPr lang="en-GB" sz="2400" dirty="0"/>
              <a:t>This core process doesn’t take place in a vacuum – we know it is strongly influenced by many factors.  In particular innovation needs:</a:t>
            </a:r>
          </a:p>
          <a:p>
            <a:pPr lvl="1">
              <a:lnSpc>
                <a:spcPct val="90000"/>
              </a:lnSpc>
              <a:spcAft>
                <a:spcPts val="1200"/>
              </a:spcAft>
              <a:buFont typeface="Arial"/>
              <a:buChar char="•"/>
            </a:pPr>
            <a:r>
              <a:rPr lang="en-GB" sz="2400" dirty="0"/>
              <a:t> Clear strategic leadership and direction, plus the commitment of resources to make this happen.  </a:t>
            </a:r>
          </a:p>
          <a:p>
            <a:pPr lvl="1">
              <a:lnSpc>
                <a:spcPct val="90000"/>
              </a:lnSpc>
              <a:spcAft>
                <a:spcPts val="1200"/>
              </a:spcAft>
              <a:buFont typeface="Arial"/>
              <a:buChar char="•"/>
            </a:pPr>
            <a:r>
              <a:rPr lang="en-GB" sz="2400" dirty="0"/>
              <a:t> An innovative organisation in which the structure and climate enables people to deploy their creativity and share their knowledge to bring about change.  </a:t>
            </a:r>
          </a:p>
          <a:p>
            <a:pPr lvl="1">
              <a:lnSpc>
                <a:spcPct val="90000"/>
              </a:lnSpc>
              <a:spcAft>
                <a:spcPts val="1200"/>
              </a:spcAft>
              <a:buFont typeface="Arial"/>
              <a:buChar char="•"/>
            </a:pPr>
            <a:r>
              <a:rPr lang="en-GB" sz="2400" dirty="0"/>
              <a:t> Pro-active links across boundaries inside the organisation and to the many external agencies who can play a part in the innovation process – suppliers, customers, sources of finance, skilled resources and of knowledge, etc.  </a:t>
            </a:r>
          </a:p>
          <a:p>
            <a:pPr>
              <a:lnSpc>
                <a:spcPct val="90000"/>
              </a:lnSpc>
            </a:pPr>
            <a:endParaRPr lang="en-US" sz="1100" dirty="0"/>
          </a:p>
        </p:txBody>
      </p:sp>
    </p:spTree>
    <p:extLst>
      <p:ext uri="{BB962C8B-B14F-4D97-AF65-F5344CB8AC3E}">
        <p14:creationId xmlns:p14="http://schemas.microsoft.com/office/powerpoint/2010/main" val="1250974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C5390F-B376-AB40-9B75-FA7BB42FB02D}"/>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F65C9EA-97E9-E44E-8384-A6D44A5C0270}"/>
              </a:ext>
            </a:extLst>
          </p:cNvPr>
          <p:cNvSpPr>
            <a:spLocks noGrp="1"/>
          </p:cNvSpPr>
          <p:nvPr>
            <p:ph idx="1"/>
          </p:nvPr>
        </p:nvSpPr>
        <p:spPr>
          <a:xfrm>
            <a:off x="3100567" y="591343"/>
            <a:ext cx="5179868" cy="5585619"/>
          </a:xfrm>
        </p:spPr>
        <p:txBody>
          <a:bodyPr anchor="ctr">
            <a:normAutofit/>
          </a:bodyPr>
          <a:lstStyle/>
          <a:p>
            <a:pPr lvl="1">
              <a:lnSpc>
                <a:spcPct val="90000"/>
              </a:lnSpc>
              <a:spcAft>
                <a:spcPts val="1800"/>
              </a:spcAft>
              <a:buFont typeface="Arial"/>
              <a:buChar char="•"/>
            </a:pPr>
            <a:r>
              <a:rPr lang="en-GB" sz="2400" dirty="0"/>
              <a:t>Do we have effective enabling mechanisms for the core process?</a:t>
            </a:r>
          </a:p>
          <a:p>
            <a:pPr lvl="1">
              <a:lnSpc>
                <a:spcPct val="90000"/>
              </a:lnSpc>
              <a:spcAft>
                <a:spcPts val="1800"/>
              </a:spcAft>
              <a:buFont typeface="Arial"/>
              <a:buChar char="•"/>
            </a:pPr>
            <a:r>
              <a:rPr lang="en-GB" sz="2400" dirty="0"/>
              <a:t> Do we have strategic direction and commitment for innovation?</a:t>
            </a:r>
          </a:p>
          <a:p>
            <a:pPr lvl="1">
              <a:lnSpc>
                <a:spcPct val="90000"/>
              </a:lnSpc>
              <a:spcAft>
                <a:spcPts val="1800"/>
              </a:spcAft>
              <a:buFont typeface="Arial"/>
              <a:buChar char="•"/>
            </a:pPr>
            <a:r>
              <a:rPr lang="en-GB" sz="2400" dirty="0"/>
              <a:t> Do we have an innovative organisation?</a:t>
            </a:r>
          </a:p>
          <a:p>
            <a:pPr lvl="1">
              <a:lnSpc>
                <a:spcPct val="90000"/>
              </a:lnSpc>
              <a:spcAft>
                <a:spcPts val="1800"/>
              </a:spcAft>
              <a:buFont typeface="Arial"/>
              <a:buChar char="•"/>
            </a:pPr>
            <a:r>
              <a:rPr lang="en-GB" sz="2400" dirty="0"/>
              <a:t> Do we build rich pro-active links? </a:t>
            </a:r>
          </a:p>
          <a:p>
            <a:pPr lvl="1">
              <a:lnSpc>
                <a:spcPct val="90000"/>
              </a:lnSpc>
              <a:spcAft>
                <a:spcPts val="1800"/>
              </a:spcAft>
              <a:buFont typeface="Arial"/>
              <a:buChar char="•"/>
            </a:pPr>
            <a:r>
              <a:rPr lang="en-GB" sz="2400" dirty="0"/>
              <a:t> Do we learn and develop our innovation capability?</a:t>
            </a:r>
          </a:p>
          <a:p>
            <a:pPr>
              <a:lnSpc>
                <a:spcPct val="90000"/>
              </a:lnSpc>
            </a:pPr>
            <a:endParaRPr lang="en-US" sz="1500" dirty="0"/>
          </a:p>
        </p:txBody>
      </p:sp>
    </p:spTree>
    <p:extLst>
      <p:ext uri="{BB962C8B-B14F-4D97-AF65-F5344CB8AC3E}">
        <p14:creationId xmlns:p14="http://schemas.microsoft.com/office/powerpoint/2010/main" val="3446869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6F31DA-B42F-5749-BBDB-8868E7186BAA}"/>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C64A359-2EC7-754A-A1E1-9D563612B70B}"/>
              </a:ext>
            </a:extLst>
          </p:cNvPr>
          <p:cNvSpPr>
            <a:spLocks noGrp="1"/>
          </p:cNvSpPr>
          <p:nvPr>
            <p:ph idx="1"/>
          </p:nvPr>
        </p:nvSpPr>
        <p:spPr>
          <a:xfrm>
            <a:off x="3335481" y="591344"/>
            <a:ext cx="5179868" cy="5585619"/>
          </a:xfrm>
        </p:spPr>
        <p:txBody>
          <a:bodyPr anchor="ctr">
            <a:normAutofit fontScale="77500" lnSpcReduction="20000"/>
          </a:bodyPr>
          <a:lstStyle/>
          <a:p>
            <a:pPr>
              <a:lnSpc>
                <a:spcPct val="90000"/>
              </a:lnSpc>
            </a:pPr>
            <a:r>
              <a:rPr lang="en-US" sz="3100" dirty="0"/>
              <a:t>Learning to do this – building innovation management capability – involves finding behaviour patterns which work and then reinforcing and practicing them until they become ‘routines’ – ‘the way we do things around here’</a:t>
            </a:r>
          </a:p>
          <a:p>
            <a:pPr>
              <a:lnSpc>
                <a:spcPct val="90000"/>
              </a:lnSpc>
            </a:pPr>
            <a:endParaRPr lang="en-US" sz="3100" dirty="0"/>
          </a:p>
          <a:p>
            <a:pPr>
              <a:lnSpc>
                <a:spcPct val="90000"/>
              </a:lnSpc>
            </a:pPr>
            <a:r>
              <a:rPr lang="en-US" sz="3100" dirty="0"/>
              <a:t>They become the structures and procedures through which we make innovation happen</a:t>
            </a:r>
          </a:p>
          <a:p>
            <a:pPr>
              <a:lnSpc>
                <a:spcPct val="90000"/>
              </a:lnSpc>
            </a:pPr>
            <a:endParaRPr lang="en-US" sz="3100" dirty="0"/>
          </a:p>
          <a:p>
            <a:pPr>
              <a:lnSpc>
                <a:spcPct val="90000"/>
              </a:lnSpc>
            </a:pPr>
            <a:r>
              <a:rPr lang="en-GB" sz="3100" dirty="0"/>
              <a:t>In a constantly changing environment it’s also important to check and adapt our ‘routines’, updating, adding and even letting some of them go. This process of regular review and reconfiguration is at the heart of innovation management as a ‘dynamic capability’.</a:t>
            </a:r>
          </a:p>
          <a:p>
            <a:pPr>
              <a:lnSpc>
                <a:spcPct val="90000"/>
              </a:lnSpc>
            </a:pPr>
            <a:endParaRPr lang="en-GB" sz="3000" dirty="0"/>
          </a:p>
          <a:p>
            <a:pPr>
              <a:lnSpc>
                <a:spcPct val="90000"/>
              </a:lnSpc>
            </a:pPr>
            <a:endParaRPr lang="en-US" sz="3000" dirty="0"/>
          </a:p>
        </p:txBody>
      </p:sp>
    </p:spTree>
    <p:extLst>
      <p:ext uri="{BB962C8B-B14F-4D97-AF65-F5344CB8AC3E}">
        <p14:creationId xmlns:p14="http://schemas.microsoft.com/office/powerpoint/2010/main" val="2458311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2"/>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10">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5148" y="407987"/>
            <a:ext cx="2240924"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92500" lnSpcReduction="10000"/>
          </a:bodyPr>
          <a:lstStyle/>
          <a:p>
            <a:pPr>
              <a:lnSpc>
                <a:spcPct val="90000"/>
              </a:lnSpc>
            </a:pPr>
            <a:r>
              <a:rPr lang="en-US" sz="2700" dirty="0"/>
              <a:t>There are several videos which can help explore and present the key themes of the chapter:</a:t>
            </a:r>
          </a:p>
          <a:p>
            <a:pPr>
              <a:lnSpc>
                <a:spcPct val="90000"/>
              </a:lnSpc>
            </a:pPr>
            <a:r>
              <a:rPr lang="en-US" sz="2700" dirty="0">
                <a:hlinkClick r:id="rId3"/>
              </a:rPr>
              <a:t>The innovation journey</a:t>
            </a:r>
            <a:endParaRPr lang="en-US" sz="2700" dirty="0"/>
          </a:p>
          <a:p>
            <a:pPr>
              <a:lnSpc>
                <a:spcPct val="90000"/>
              </a:lnSpc>
            </a:pPr>
            <a:r>
              <a:rPr lang="en-US" sz="2700" dirty="0">
                <a:hlinkClick r:id="rId4"/>
              </a:rPr>
              <a:t>Preparing for the journey</a:t>
            </a:r>
            <a:endParaRPr lang="en-US" sz="2700" dirty="0"/>
          </a:p>
          <a:p>
            <a:pPr>
              <a:lnSpc>
                <a:spcPct val="90000"/>
              </a:lnSpc>
            </a:pPr>
            <a:r>
              <a:rPr lang="en-US" sz="2700" dirty="0">
                <a:hlinkClick r:id="rId5"/>
              </a:rPr>
              <a:t>Making the journey</a:t>
            </a:r>
            <a:endParaRPr lang="en-US" sz="2700" dirty="0"/>
          </a:p>
          <a:p>
            <a:pPr>
              <a:lnSpc>
                <a:spcPct val="90000"/>
              </a:lnSpc>
            </a:pPr>
            <a:r>
              <a:rPr lang="en-US" sz="2700" dirty="0">
                <a:hlinkClick r:id="rId6"/>
              </a:rPr>
              <a:t>Contexts and contingencies</a:t>
            </a:r>
            <a:endParaRPr lang="en-US" sz="2700" dirty="0"/>
          </a:p>
          <a:p>
            <a:pPr>
              <a:lnSpc>
                <a:spcPct val="90000"/>
              </a:lnSpc>
            </a:pPr>
            <a:endParaRPr lang="en-US" sz="2700" dirty="0"/>
          </a:p>
          <a:p>
            <a:pPr>
              <a:lnSpc>
                <a:spcPct val="90000"/>
              </a:lnSpc>
            </a:pPr>
            <a:r>
              <a:rPr lang="en-US" sz="2700" dirty="0">
                <a:hlinkClick r:id="rId7"/>
              </a:rPr>
              <a:t>A longer film looking at the question of managing innovation as a process</a:t>
            </a:r>
            <a:endParaRPr lang="en-US" sz="2700" dirty="0"/>
          </a:p>
        </p:txBody>
      </p:sp>
    </p:spTree>
    <p:extLst>
      <p:ext uri="{BB962C8B-B14F-4D97-AF65-F5344CB8AC3E}">
        <p14:creationId xmlns:p14="http://schemas.microsoft.com/office/powerpoint/2010/main" val="2299315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493520-95B8-3F42-B9F7-6B21E44DC48A}"/>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716428C-F731-B747-9F6F-8FC49FE3CAC7}"/>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These interviews present people talking about the challenges of managing innovation in different contexts:</a:t>
            </a:r>
          </a:p>
          <a:p>
            <a:pPr>
              <a:lnSpc>
                <a:spcPct val="90000"/>
              </a:lnSpc>
            </a:pPr>
            <a:r>
              <a:rPr lang="en-GB" sz="2200" dirty="0">
                <a:hlinkClick r:id="rId2"/>
              </a:rPr>
              <a:t>Michael Bartl of Hyve</a:t>
            </a:r>
            <a:r>
              <a:rPr lang="en-GB" sz="2200" dirty="0"/>
              <a:t>, a German consultancy which specialises in innovation management. It explores the use of new approaches to ‘crowdsource’ ideas and identify user needs.</a:t>
            </a:r>
          </a:p>
          <a:p>
            <a:pPr>
              <a:lnSpc>
                <a:spcPct val="90000"/>
              </a:lnSpc>
            </a:pPr>
            <a:r>
              <a:rPr lang="en-GB" sz="2200" dirty="0">
                <a:hlinkClick r:id="rId2"/>
              </a:rPr>
              <a:t>Catherina van Delden, </a:t>
            </a:r>
            <a:r>
              <a:rPr lang="en-GB" sz="2200" dirty="0"/>
              <a:t>founder and CEO of </a:t>
            </a:r>
            <a:r>
              <a:rPr lang="en-GB" sz="2200" dirty="0" err="1"/>
              <a:t>Innosabi</a:t>
            </a:r>
            <a:r>
              <a:rPr lang="en-GB" sz="2200" dirty="0"/>
              <a:t>, discussing user involvement in innovation.</a:t>
            </a:r>
          </a:p>
          <a:p>
            <a:pPr>
              <a:lnSpc>
                <a:spcPct val="90000"/>
              </a:lnSpc>
            </a:pPr>
            <a:r>
              <a:rPr lang="en-GB" sz="2200" dirty="0">
                <a:hlinkClick r:id="rId3"/>
              </a:rPr>
              <a:t>David Simoes-Brown </a:t>
            </a:r>
            <a:r>
              <a:rPr lang="en-GB" sz="2200" dirty="0"/>
              <a:t>of 100% Open discussing some of the innovation management challenges involved in working with the new ‘open innovation’ environment.  </a:t>
            </a:r>
            <a:r>
              <a:rPr lang="en-GB" sz="2200" dirty="0">
                <a:hlinkClick r:id="rId4"/>
              </a:rPr>
              <a:t>Here is another interview with him</a:t>
            </a:r>
            <a:endParaRPr lang="en-GB" sz="2200" dirty="0"/>
          </a:p>
          <a:p>
            <a:pPr>
              <a:lnSpc>
                <a:spcPct val="90000"/>
              </a:lnSpc>
            </a:pPr>
            <a:endParaRPr lang="en-GB" sz="2200" dirty="0"/>
          </a:p>
          <a:p>
            <a:pPr>
              <a:lnSpc>
                <a:spcPct val="90000"/>
              </a:lnSpc>
            </a:pPr>
            <a:endParaRPr lang="en-US" sz="2200" dirty="0"/>
          </a:p>
          <a:p>
            <a:pPr>
              <a:lnSpc>
                <a:spcPct val="90000"/>
              </a:lnSpc>
            </a:pPr>
            <a:endParaRPr lang="en-US" sz="2200" dirty="0"/>
          </a:p>
        </p:txBody>
      </p:sp>
    </p:spTree>
    <p:extLst>
      <p:ext uri="{BB962C8B-B14F-4D97-AF65-F5344CB8AC3E}">
        <p14:creationId xmlns:p14="http://schemas.microsoft.com/office/powerpoint/2010/main" val="2000419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537D7-35CF-B64E-9AB7-3FCF046F1E41}"/>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1F16194-E0FC-FC4C-AA2E-B0DA2A33AE04}"/>
              </a:ext>
            </a:extLst>
          </p:cNvPr>
          <p:cNvSpPr>
            <a:spLocks noGrp="1"/>
          </p:cNvSpPr>
          <p:nvPr>
            <p:ph idx="1"/>
          </p:nvPr>
        </p:nvSpPr>
        <p:spPr>
          <a:xfrm>
            <a:off x="3335481" y="591344"/>
            <a:ext cx="5179868" cy="5585619"/>
          </a:xfrm>
        </p:spPr>
        <p:txBody>
          <a:bodyPr anchor="ctr">
            <a:normAutofit/>
          </a:bodyPr>
          <a:lstStyle/>
          <a:p>
            <a:pPr>
              <a:lnSpc>
                <a:spcPct val="90000"/>
              </a:lnSpc>
            </a:pPr>
            <a:r>
              <a:rPr lang="en-GB" sz="2500" dirty="0">
                <a:hlinkClick r:id="rId2"/>
              </a:rPr>
              <a:t>Helle-Vibeke Carstensen </a:t>
            </a:r>
            <a:r>
              <a:rPr lang="en-GB" sz="2500" dirty="0"/>
              <a:t>discussing some of the challenges of enabling innovation in the public sector. </a:t>
            </a:r>
          </a:p>
          <a:p>
            <a:pPr>
              <a:lnSpc>
                <a:spcPct val="90000"/>
              </a:lnSpc>
            </a:pPr>
            <a:r>
              <a:rPr lang="en-GB" sz="2500" dirty="0">
                <a:hlinkClick r:id="rId3"/>
              </a:rPr>
              <a:t>Divya and Gaurav Garg </a:t>
            </a:r>
            <a:r>
              <a:rPr lang="en-GB" sz="2500" dirty="0"/>
              <a:t>talking about platform innovation for community development</a:t>
            </a:r>
          </a:p>
          <a:p>
            <a:pPr>
              <a:lnSpc>
                <a:spcPct val="90000"/>
              </a:lnSpc>
            </a:pPr>
            <a:r>
              <a:rPr lang="en-GB" sz="2500" dirty="0">
                <a:hlinkClick r:id="rId2"/>
              </a:rPr>
              <a:t>Suzana Moreira </a:t>
            </a:r>
            <a:r>
              <a:rPr lang="en-GB" sz="2500" dirty="0"/>
              <a:t>of </a:t>
            </a:r>
            <a:r>
              <a:rPr lang="en-GB" sz="2500" dirty="0">
                <a:hlinkClick r:id="rId4"/>
              </a:rPr>
              <a:t>Mowoza.com</a:t>
            </a:r>
            <a:r>
              <a:rPr lang="en-GB" sz="2500" dirty="0"/>
              <a:t> taking about innovation in a development aid context</a:t>
            </a:r>
          </a:p>
          <a:p>
            <a:pPr>
              <a:lnSpc>
                <a:spcPct val="90000"/>
              </a:lnSpc>
            </a:pPr>
            <a:r>
              <a:rPr lang="en-GB" sz="2500" dirty="0">
                <a:hlinkClick r:id="rId5"/>
              </a:rPr>
              <a:t>Simon Tucker </a:t>
            </a:r>
            <a:r>
              <a:rPr lang="en-GB" sz="2500" dirty="0"/>
              <a:t>discussing social innovation</a:t>
            </a:r>
          </a:p>
          <a:p>
            <a:pPr>
              <a:lnSpc>
                <a:spcPct val="90000"/>
              </a:lnSpc>
            </a:pPr>
            <a:r>
              <a:rPr lang="en-GB" sz="2500" dirty="0">
                <a:hlinkClick r:id="rId2"/>
              </a:rPr>
              <a:t>Lynne Maher </a:t>
            </a:r>
            <a:r>
              <a:rPr lang="en-GB" sz="2500" dirty="0"/>
              <a:t>talking about innovation in a health care context</a:t>
            </a:r>
            <a:endParaRPr lang="en-US" sz="2500" dirty="0"/>
          </a:p>
        </p:txBody>
      </p:sp>
    </p:spTree>
    <p:extLst>
      <p:ext uri="{BB962C8B-B14F-4D97-AF65-F5344CB8AC3E}">
        <p14:creationId xmlns:p14="http://schemas.microsoft.com/office/powerpoint/2010/main" val="2810449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9A868-62D9-AF4F-B0AF-0832C07B5492}"/>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069FDB3-2057-C846-81D6-29F78966920E}"/>
              </a:ext>
            </a:extLst>
          </p:cNvPr>
          <p:cNvSpPr>
            <a:spLocks noGrp="1"/>
          </p:cNvSpPr>
          <p:nvPr>
            <p:ph idx="1"/>
          </p:nvPr>
        </p:nvSpPr>
        <p:spPr>
          <a:xfrm>
            <a:off x="3335481" y="591344"/>
            <a:ext cx="5179868" cy="5585619"/>
          </a:xfrm>
        </p:spPr>
        <p:txBody>
          <a:bodyPr anchor="ctr">
            <a:normAutofit/>
          </a:bodyPr>
          <a:lstStyle/>
          <a:p>
            <a:pPr>
              <a:lnSpc>
                <a:spcPct val="90000"/>
              </a:lnSpc>
            </a:pPr>
            <a:r>
              <a:rPr lang="en-GB" sz="2700" dirty="0">
                <a:hlinkClick r:id="rId2"/>
              </a:rPr>
              <a:t>Kyle Stewart of Torbay Hospital in the UK talks about how innovation is supported </a:t>
            </a:r>
            <a:r>
              <a:rPr lang="en-GB" sz="2700" dirty="0"/>
              <a:t>and stimulated</a:t>
            </a:r>
          </a:p>
          <a:p>
            <a:pPr>
              <a:lnSpc>
                <a:spcPct val="90000"/>
              </a:lnSpc>
            </a:pPr>
            <a:r>
              <a:rPr lang="en-GB" sz="2700" dirty="0"/>
              <a:t>Two doctors </a:t>
            </a:r>
            <a:r>
              <a:rPr lang="en-GB" sz="2700" dirty="0">
                <a:hlinkClick r:id="rId3"/>
              </a:rPr>
              <a:t>describe an innovation project they conducted as junior doctors looking to improve </a:t>
            </a:r>
            <a:r>
              <a:rPr lang="en-GB" sz="2700" dirty="0"/>
              <a:t>the service offered at Torbay Hospital.</a:t>
            </a:r>
          </a:p>
          <a:p>
            <a:pPr>
              <a:lnSpc>
                <a:spcPct val="90000"/>
              </a:lnSpc>
            </a:pPr>
            <a:r>
              <a:rPr lang="en-GB" sz="2700" dirty="0">
                <a:hlinkClick r:id="rId4"/>
              </a:rPr>
              <a:t>Kate , another junior doctor at Torbay Hospital, </a:t>
            </a:r>
            <a:r>
              <a:rPr lang="en-GB" sz="2700" dirty="0"/>
              <a:t>describes an innovation project she carried out to improve the process for dealing with </a:t>
            </a:r>
            <a:r>
              <a:rPr lang="en-GB" sz="2700" dirty="0" err="1"/>
              <a:t>anaphylatic</a:t>
            </a:r>
            <a:r>
              <a:rPr lang="en-GB" sz="2700" dirty="0"/>
              <a:t> shock.</a:t>
            </a:r>
            <a:endParaRPr lang="en-US" sz="2700" dirty="0"/>
          </a:p>
        </p:txBody>
      </p:sp>
    </p:spTree>
    <p:extLst>
      <p:ext uri="{BB962C8B-B14F-4D97-AF65-F5344CB8AC3E}">
        <p14:creationId xmlns:p14="http://schemas.microsoft.com/office/powerpoint/2010/main" val="1163180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750925-9005-F54C-AC83-06A6E782831A}"/>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0A17BA9-D4BA-904D-B1FE-EC57E717E1D6}"/>
              </a:ext>
            </a:extLst>
          </p:cNvPr>
          <p:cNvSpPr>
            <a:spLocks noGrp="1"/>
          </p:cNvSpPr>
          <p:nvPr>
            <p:ph idx="1"/>
          </p:nvPr>
        </p:nvSpPr>
        <p:spPr>
          <a:xfrm>
            <a:off x="3335481" y="591344"/>
            <a:ext cx="5179868" cy="5585619"/>
          </a:xfrm>
        </p:spPr>
        <p:txBody>
          <a:bodyPr anchor="ctr">
            <a:normAutofit/>
          </a:bodyPr>
          <a:lstStyle/>
          <a:p>
            <a:r>
              <a:rPr lang="en-US" dirty="0">
                <a:hlinkClick r:id="rId2"/>
              </a:rPr>
              <a:t>Joe Tidd </a:t>
            </a:r>
            <a:r>
              <a:rPr lang="en-US" dirty="0"/>
              <a:t>explores the challenges in developing an innovation process</a:t>
            </a:r>
          </a:p>
          <a:p>
            <a:r>
              <a:rPr lang="en-GB" dirty="0">
                <a:hlinkClick r:id="rId3"/>
              </a:rPr>
              <a:t>John Bessant </a:t>
            </a:r>
            <a:r>
              <a:rPr lang="en-GB" dirty="0"/>
              <a:t>explores the need for dynamic capability</a:t>
            </a:r>
          </a:p>
          <a:p>
            <a:r>
              <a:rPr lang="en-GB" dirty="0"/>
              <a:t>A number of </a:t>
            </a:r>
            <a:r>
              <a:rPr lang="en-GB" dirty="0">
                <a:hlinkClick r:id="rId4"/>
              </a:rPr>
              <a:t>practising innovation managers talk about their experiences here</a:t>
            </a:r>
            <a:endParaRPr lang="en-US" dirty="0"/>
          </a:p>
        </p:txBody>
      </p:sp>
    </p:spTree>
    <p:extLst>
      <p:ext uri="{BB962C8B-B14F-4D97-AF65-F5344CB8AC3E}">
        <p14:creationId xmlns:p14="http://schemas.microsoft.com/office/powerpoint/2010/main" val="3225704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There are </a:t>
            </a:r>
            <a:r>
              <a:rPr lang="en-US" sz="3000" dirty="0">
                <a:hlinkClick r:id="rId2"/>
              </a:rPr>
              <a:t>several podcasts </a:t>
            </a:r>
            <a:r>
              <a:rPr lang="en-US" sz="3000" dirty="0"/>
              <a:t>picking up key themes around managing innovation as a process and some of the key variables:</a:t>
            </a:r>
          </a:p>
          <a:p>
            <a:pPr>
              <a:lnSpc>
                <a:spcPct val="90000"/>
              </a:lnSpc>
            </a:pPr>
            <a:r>
              <a:rPr lang="en-US" sz="3000" dirty="0">
                <a:hlinkClick r:id="rId3"/>
              </a:rPr>
              <a:t>Innovation models</a:t>
            </a:r>
            <a:endParaRPr lang="en-US" sz="3000" dirty="0"/>
          </a:p>
          <a:p>
            <a:pPr>
              <a:lnSpc>
                <a:spcPct val="90000"/>
              </a:lnSpc>
            </a:pPr>
            <a:r>
              <a:rPr lang="en-US" sz="3000" dirty="0">
                <a:hlinkClick r:id="rId4"/>
              </a:rPr>
              <a:t>The innovation journey</a:t>
            </a:r>
            <a:endParaRPr lang="en-US" sz="3000" dirty="0"/>
          </a:p>
          <a:p>
            <a:pPr>
              <a:lnSpc>
                <a:spcPct val="90000"/>
              </a:lnSpc>
            </a:pPr>
            <a:r>
              <a:rPr lang="en-US" sz="3000" dirty="0">
                <a:hlinkClick r:id="rId5"/>
              </a:rPr>
              <a:t>Preparing for the journey</a:t>
            </a:r>
            <a:endParaRPr lang="en-US" sz="3000" dirty="0"/>
          </a:p>
          <a:p>
            <a:pPr>
              <a:lnSpc>
                <a:spcPct val="90000"/>
              </a:lnSpc>
            </a:pPr>
            <a:r>
              <a:rPr lang="en-US" sz="3000" dirty="0">
                <a:hlinkClick r:id="rId6"/>
              </a:rPr>
              <a:t>Making the innovation journey</a:t>
            </a:r>
            <a:endParaRPr lang="en-US" sz="3000" dirty="0"/>
          </a:p>
          <a:p>
            <a:pPr>
              <a:lnSpc>
                <a:spcPct val="90000"/>
              </a:lnSpc>
            </a:pPr>
            <a:r>
              <a:rPr lang="en-US" sz="3000" dirty="0">
                <a:hlinkClick r:id="rId7"/>
              </a:rPr>
              <a:t>Success and failure in innovation</a:t>
            </a:r>
            <a:endParaRPr lang="en-US" sz="3000" dirty="0"/>
          </a:p>
          <a:p>
            <a:pPr>
              <a:lnSpc>
                <a:spcPct val="90000"/>
              </a:lnSpc>
            </a:pPr>
            <a:endParaRPr lang="en-US" sz="3000" dirty="0"/>
          </a:p>
        </p:txBody>
      </p:sp>
    </p:spTree>
    <p:extLst>
      <p:ext uri="{BB962C8B-B14F-4D97-AF65-F5344CB8AC3E}">
        <p14:creationId xmlns:p14="http://schemas.microsoft.com/office/powerpoint/2010/main" val="368700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EC6D37-8E69-EF42-BC34-3606D7EA6963}"/>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D4FE04C-C800-934C-BB71-ED1D4E50A13D}"/>
              </a:ext>
            </a:extLst>
          </p:cNvPr>
          <p:cNvSpPr>
            <a:spLocks noGrp="1"/>
          </p:cNvSpPr>
          <p:nvPr>
            <p:ph idx="1"/>
          </p:nvPr>
        </p:nvSpPr>
        <p:spPr>
          <a:xfrm>
            <a:off x="3335481" y="591344"/>
            <a:ext cx="5179868" cy="5585619"/>
          </a:xfrm>
        </p:spPr>
        <p:txBody>
          <a:bodyPr anchor="ctr">
            <a:normAutofit/>
          </a:bodyPr>
          <a:lstStyle/>
          <a:p>
            <a:r>
              <a:rPr lang="en-US" dirty="0">
                <a:hlinkClick r:id="rId2"/>
              </a:rPr>
              <a:t>Experience innovation</a:t>
            </a:r>
            <a:endParaRPr lang="en-US" dirty="0"/>
          </a:p>
          <a:p>
            <a:r>
              <a:rPr lang="en-US" dirty="0">
                <a:hlinkClick r:id="rId3"/>
              </a:rPr>
              <a:t>Crisis-driven innovation</a:t>
            </a:r>
            <a:endParaRPr lang="en-US" dirty="0"/>
          </a:p>
        </p:txBody>
      </p:sp>
    </p:spTree>
    <p:extLst>
      <p:ext uri="{BB962C8B-B14F-4D97-AF65-F5344CB8AC3E}">
        <p14:creationId xmlns:p14="http://schemas.microsoft.com/office/powerpoint/2010/main" val="4113981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523797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457951"/>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7A98AB3-BDE8-4449-9141-1C7F6BB6960C}"/>
              </a:ext>
            </a:extLst>
          </p:cNvPr>
          <p:cNvSpPr>
            <a:spLocks noGrp="1"/>
          </p:cNvSpPr>
          <p:nvPr>
            <p:ph type="title"/>
          </p:nvPr>
        </p:nvSpPr>
        <p:spPr>
          <a:xfrm>
            <a:off x="628650" y="365125"/>
            <a:ext cx="7886700" cy="1325563"/>
          </a:xfrm>
        </p:spPr>
        <p:txBody>
          <a:bodyPr>
            <a:normAutofit/>
          </a:bodyPr>
          <a:lstStyle/>
          <a:p>
            <a:r>
              <a:rPr lang="en-US" dirty="0"/>
              <a:t>Mapping the innovation process</a:t>
            </a:r>
          </a:p>
        </p:txBody>
      </p:sp>
      <p:cxnSp>
        <p:nvCxnSpPr>
          <p:cNvPr id="7" name="Straight Connector 6"/>
          <p:cNvCxnSpPr/>
          <p:nvPr/>
        </p:nvCxnSpPr>
        <p:spPr>
          <a:xfrm>
            <a:off x="458167" y="138541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64023" y="4627255"/>
            <a:ext cx="8009093" cy="1031051"/>
          </a:xfrm>
          <a:prstGeom prst="rect">
            <a:avLst/>
          </a:prstGeom>
        </p:spPr>
        <p:txBody>
          <a:bodyPr wrap="square">
            <a:spAutoFit/>
          </a:bodyPr>
          <a:lstStyle/>
          <a:p>
            <a:pPr>
              <a:spcAft>
                <a:spcPts val="600"/>
              </a:spcAft>
            </a:pPr>
            <a:r>
              <a:rPr lang="en-US" sz="2800" dirty="0"/>
              <a:t> </a:t>
            </a:r>
            <a:endParaRPr lang="en-GB" sz="2800"/>
          </a:p>
          <a:p>
            <a:pPr>
              <a:spcAft>
                <a:spcPts val="600"/>
              </a:spcAft>
            </a:pPr>
            <a:endParaRPr lang="en-GB" sz="2800"/>
          </a:p>
        </p:txBody>
      </p:sp>
      <p:graphicFrame>
        <p:nvGraphicFramePr>
          <p:cNvPr id="12" name="Content Placeholder 2">
            <a:extLst>
              <a:ext uri="{FF2B5EF4-FFF2-40B4-BE49-F238E27FC236}">
                <a16:creationId xmlns:a16="http://schemas.microsoft.com/office/drawing/2014/main" id="{9B7798D1-7B9C-4B05-93F3-E1DAF4CB1BD5}"/>
              </a:ext>
            </a:extLst>
          </p:cNvPr>
          <p:cNvGraphicFramePr>
            <a:graphicFrameLocks noGrp="1"/>
          </p:cNvGraphicFramePr>
          <p:nvPr>
            <p:ph idx="1"/>
            <p:extLst>
              <p:ext uri="{D42A27DB-BD31-4B8C-83A1-F6EECF244321}">
                <p14:modId xmlns:p14="http://schemas.microsoft.com/office/powerpoint/2010/main" val="115002648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6931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p:cNvSpPr txBox="1">
            <a:spLocks/>
          </p:cNvSpPr>
          <p:nvPr/>
        </p:nvSpPr>
        <p:spPr>
          <a:xfrm>
            <a:off x="836676" y="509521"/>
            <a:ext cx="7674102" cy="1014984"/>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3500" b="1" kern="1200">
                <a:solidFill>
                  <a:schemeClr val="tx1"/>
                </a:solidFill>
                <a:latin typeface="+mj-lt"/>
                <a:ea typeface="+mj-ea"/>
                <a:cs typeface="+mj-cs"/>
              </a:rPr>
              <a:t>Activity: Mapping the process</a:t>
            </a:r>
          </a:p>
          <a:p>
            <a:pPr>
              <a:lnSpc>
                <a:spcPct val="90000"/>
              </a:lnSpc>
              <a:spcBef>
                <a:spcPct val="0"/>
              </a:spcBef>
              <a:spcAft>
                <a:spcPts val="600"/>
              </a:spcAft>
              <a:defRPr/>
            </a:pPr>
            <a:endParaRPr lang="en-US" sz="3500" b="1" kern="1200">
              <a:solidFill>
                <a:schemeClr val="tx1"/>
              </a:solidFill>
              <a:latin typeface="+mj-lt"/>
              <a:ea typeface="+mj-ea"/>
              <a:cs typeface="+mj-cs"/>
            </a:endParaRPr>
          </a:p>
        </p:txBody>
      </p:sp>
      <p:sp>
        <p:nvSpPr>
          <p:cNvPr id="24" name="Rectangle 23">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658327"/>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cxnSp>
        <p:nvCxnSpPr>
          <p:cNvPr id="7" name="Straight Connector 6"/>
          <p:cNvCxnSpPr/>
          <p:nvPr/>
        </p:nvCxnSpPr>
        <p:spPr>
          <a:xfrm>
            <a:off x="458167" y="17408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9" name="Content Placeholder 2">
            <a:extLst>
              <a:ext uri="{FF2B5EF4-FFF2-40B4-BE49-F238E27FC236}">
                <a16:creationId xmlns:a16="http://schemas.microsoft.com/office/drawing/2014/main" id="{813E5974-D9E9-4A15-A323-F3E00B69BF86}"/>
              </a:ext>
            </a:extLst>
          </p:cNvPr>
          <p:cNvGraphicFramePr>
            <a:graphicFrameLocks noGrp="1"/>
          </p:cNvGraphicFramePr>
          <p:nvPr>
            <p:ph idx="1"/>
            <p:extLst>
              <p:ext uri="{D42A27DB-BD31-4B8C-83A1-F6EECF244321}">
                <p14:modId xmlns:p14="http://schemas.microsoft.com/office/powerpoint/2010/main" val="3426290549"/>
              </p:ext>
            </p:extLst>
          </p:nvPr>
        </p:nvGraphicFramePr>
        <p:xfrm>
          <a:off x="836676" y="1673352"/>
          <a:ext cx="7674102"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7159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a:solidFill>
                  <a:srgbClr val="FFFFFF"/>
                </a:solidFill>
                <a:latin typeface="+mj-lt"/>
                <a:ea typeface="+mj-ea"/>
                <a:cs typeface="+mj-cs"/>
              </a:rPr>
              <a:t>Activity: Mapping the process</a:t>
            </a:r>
          </a:p>
          <a:p>
            <a:pPr>
              <a:lnSpc>
                <a:spcPct val="90000"/>
              </a:lnSpc>
              <a:spcBef>
                <a:spcPct val="0"/>
              </a:spcBef>
              <a:spcAft>
                <a:spcPts val="600"/>
              </a:spcAft>
              <a:defRPr/>
            </a:pPr>
            <a:endParaRPr lang="en-US" sz="4400" b="1"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marL="0" indent="0">
              <a:lnSpc>
                <a:spcPct val="90000"/>
              </a:lnSpc>
              <a:buNone/>
            </a:pPr>
            <a:r>
              <a:rPr lang="en-US" sz="2700" dirty="0"/>
              <a:t>Watch the videos of </a:t>
            </a:r>
            <a:r>
              <a:rPr lang="en-US" sz="2700" dirty="0">
                <a:hlinkClick r:id="rId2"/>
              </a:rPr>
              <a:t>Tidewave</a:t>
            </a:r>
            <a:r>
              <a:rPr lang="en-US" sz="2700" dirty="0"/>
              <a:t>, </a:t>
            </a:r>
            <a:r>
              <a:rPr lang="en-US" sz="2700" dirty="0">
                <a:hlinkClick r:id="rId3"/>
              </a:rPr>
              <a:t>Victor Cui</a:t>
            </a:r>
            <a:r>
              <a:rPr lang="en-US" sz="2700" dirty="0"/>
              <a:t>, </a:t>
            </a:r>
            <a:r>
              <a:rPr lang="en-US" sz="2700" dirty="0">
                <a:hlinkClick r:id="rId4"/>
              </a:rPr>
              <a:t>Melissa Clark-Reynolds, </a:t>
            </a:r>
            <a:r>
              <a:rPr lang="en-US" sz="2700" dirty="0">
                <a:hlinkClick r:id="rId5"/>
              </a:rPr>
              <a:t>Grow-up fast </a:t>
            </a:r>
            <a:r>
              <a:rPr lang="en-US" sz="2700" dirty="0"/>
              <a:t>or find other examples of start-ups.  Try and map the innovation process involved in this.</a:t>
            </a:r>
          </a:p>
          <a:p>
            <a:pPr marL="0" indent="-228600">
              <a:lnSpc>
                <a:spcPct val="90000"/>
              </a:lnSpc>
            </a:pPr>
            <a:endParaRPr lang="en-US" sz="2700" dirty="0"/>
          </a:p>
        </p:txBody>
      </p:sp>
      <p:cxnSp>
        <p:nvCxnSpPr>
          <p:cNvPr id="7" name="Straight Connector 6"/>
          <p:cNvCxnSpPr/>
          <p:nvPr/>
        </p:nvCxnSpPr>
        <p:spPr>
          <a:xfrm>
            <a:off x="458167" y="174083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7311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6E7DE9-3A14-D649-A74C-5C891BD32E83}"/>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Sector patterns of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5846F53-6046-984D-8963-CB7DB91F9D76}"/>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dirty="0"/>
              <a:t>Ask students to look at a sector they are familiar with </a:t>
            </a:r>
            <a:r>
              <a:rPr lang="en-GB" sz="2500" dirty="0"/>
              <a:t>in terms of what contributes to competitiveness. </a:t>
            </a:r>
          </a:p>
          <a:p>
            <a:pPr>
              <a:lnSpc>
                <a:spcPct val="90000"/>
              </a:lnSpc>
            </a:pPr>
            <a:r>
              <a:rPr lang="en-GB" sz="2500" dirty="0"/>
              <a:t>Try and summarise the research in the form of short 'bullet points' which highlight the strategic role which technology plays.  </a:t>
            </a:r>
          </a:p>
          <a:p>
            <a:pPr>
              <a:lnSpc>
                <a:spcPct val="90000"/>
              </a:lnSpc>
            </a:pPr>
            <a:r>
              <a:rPr lang="en-GB" sz="2500" dirty="0">
                <a:hlinkClick r:id="rId2"/>
              </a:rPr>
              <a:t>There is a framework in the link provided with the example from children's toy manufacturing sector</a:t>
            </a:r>
            <a:r>
              <a:rPr lang="en-GB" sz="2500" dirty="0"/>
              <a:t>.  </a:t>
            </a:r>
          </a:p>
          <a:p>
            <a:pPr>
              <a:lnSpc>
                <a:spcPct val="90000"/>
              </a:lnSpc>
            </a:pPr>
            <a:endParaRPr lang="en-GB" sz="2500" dirty="0"/>
          </a:p>
          <a:p>
            <a:pPr>
              <a:lnSpc>
                <a:spcPct val="90000"/>
              </a:lnSpc>
            </a:pPr>
            <a:endParaRPr lang="en-US" sz="2500" dirty="0"/>
          </a:p>
        </p:txBody>
      </p:sp>
    </p:spTree>
    <p:extLst>
      <p:ext uri="{BB962C8B-B14F-4D97-AF65-F5344CB8AC3E}">
        <p14:creationId xmlns:p14="http://schemas.microsoft.com/office/powerpoint/2010/main" val="800363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3407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876AF6B6-F3E1-D346-881E-333A51F308E4}"/>
              </a:ext>
            </a:extLst>
          </p:cNvPr>
          <p:cNvSpPr>
            <a:spLocks noGrp="1"/>
          </p:cNvSpPr>
          <p:nvPr>
            <p:ph type="title"/>
          </p:nvPr>
        </p:nvSpPr>
        <p:spPr>
          <a:xfrm>
            <a:off x="323528" y="217361"/>
            <a:ext cx="8229600" cy="1143000"/>
          </a:xfrm>
        </p:spPr>
        <p:txBody>
          <a:bodyPr>
            <a:normAutofit fontScale="90000"/>
          </a:bodyPr>
          <a:lstStyle/>
          <a:p>
            <a:r>
              <a:rPr lang="en-US" dirty="0"/>
              <a:t>Activity: The way we do things round here…</a:t>
            </a:r>
          </a:p>
        </p:txBody>
      </p:sp>
      <p:graphicFrame>
        <p:nvGraphicFramePr>
          <p:cNvPr id="9" name="Content Placeholder 3">
            <a:extLst>
              <a:ext uri="{FF2B5EF4-FFF2-40B4-BE49-F238E27FC236}">
                <a16:creationId xmlns:a16="http://schemas.microsoft.com/office/drawing/2014/main" id="{0873A521-7EA2-473F-A697-D289C132F488}"/>
              </a:ext>
            </a:extLst>
          </p:cNvPr>
          <p:cNvGraphicFramePr>
            <a:graphicFrameLocks noGrp="1"/>
          </p:cNvGraphicFramePr>
          <p:nvPr>
            <p:ph idx="1"/>
            <p:extLst>
              <p:ext uri="{D42A27DB-BD31-4B8C-83A1-F6EECF244321}">
                <p14:modId xmlns:p14="http://schemas.microsoft.com/office/powerpoint/2010/main" val="404099210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011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E11B82A-D40C-404F-B952-F56B1462A1C8}"/>
              </a:ext>
            </a:extLst>
          </p:cNvPr>
          <p:cNvSpPr>
            <a:spLocks noGrp="1"/>
          </p:cNvSpPr>
          <p:nvPr>
            <p:ph type="title"/>
          </p:nvPr>
        </p:nvSpPr>
        <p:spPr>
          <a:xfrm>
            <a:off x="515125" y="1153572"/>
            <a:ext cx="2400300" cy="4461163"/>
          </a:xfrm>
        </p:spPr>
        <p:txBody>
          <a:bodyPr>
            <a:normAutofit/>
          </a:bodyPr>
          <a:lstStyle/>
          <a:p>
            <a:r>
              <a:rPr lang="en-US">
                <a:solidFill>
                  <a:srgbClr val="FFFFFF"/>
                </a:solidFill>
              </a:rPr>
              <a:t>Team activities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1C0C1668-A983-F049-B1A3-F0CBC98B2804}"/>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dirty="0"/>
              <a:t>Using the </a:t>
            </a:r>
            <a:r>
              <a:rPr lang="en-GB" sz="2700" dirty="0">
                <a:hlinkClick r:id="rId2"/>
              </a:rPr>
              <a:t>Innovation Fitness Test </a:t>
            </a:r>
            <a:r>
              <a:rPr lang="en-GB" sz="2700" dirty="0"/>
              <a:t>on the website review a case of an organisation and develop a perspective on how well you think they manage innovation?  Why? And where do they need to concentrate their development efforts to enhance their capability for the future?</a:t>
            </a:r>
          </a:p>
          <a:p>
            <a:pPr marL="0" indent="0">
              <a:lnSpc>
                <a:spcPct val="90000"/>
              </a:lnSpc>
              <a:buNone/>
            </a:pPr>
            <a:r>
              <a:rPr lang="en-GB" sz="2700" dirty="0"/>
              <a:t> </a:t>
            </a:r>
          </a:p>
          <a:p>
            <a:pPr marL="0" indent="0">
              <a:lnSpc>
                <a:spcPct val="90000"/>
              </a:lnSpc>
              <a:buNone/>
            </a:pPr>
            <a:r>
              <a:rPr lang="en-GB" sz="2700" dirty="0">
                <a:hlinkClick r:id="rId3"/>
              </a:rPr>
              <a:t>(If you need a case to focus on there are several on the website here)</a:t>
            </a:r>
            <a:endParaRPr lang="en-GB" sz="2700" dirty="0"/>
          </a:p>
          <a:p>
            <a:pPr>
              <a:lnSpc>
                <a:spcPct val="90000"/>
              </a:lnSpc>
            </a:pPr>
            <a:endParaRPr lang="en-US" sz="2700" dirty="0"/>
          </a:p>
        </p:txBody>
      </p:sp>
    </p:spTree>
    <p:extLst>
      <p:ext uri="{BB962C8B-B14F-4D97-AF65-F5344CB8AC3E}">
        <p14:creationId xmlns:p14="http://schemas.microsoft.com/office/powerpoint/2010/main" val="1775586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B7F4145-22C5-8542-B6FA-799FB053A34F}"/>
              </a:ext>
            </a:extLst>
          </p:cNvPr>
          <p:cNvSpPr>
            <a:spLocks noGrp="1"/>
          </p:cNvSpPr>
          <p:nvPr>
            <p:ph type="title"/>
          </p:nvPr>
        </p:nvSpPr>
        <p:spPr>
          <a:xfrm>
            <a:off x="515125" y="1153572"/>
            <a:ext cx="2400300" cy="4461163"/>
          </a:xfrm>
        </p:spPr>
        <p:txBody>
          <a:bodyPr>
            <a:normAutofit/>
          </a:bodyPr>
          <a:lstStyle/>
          <a:p>
            <a:r>
              <a:rPr lang="en-US">
                <a:solidFill>
                  <a:srgbClr val="FFFFFF"/>
                </a:solidFill>
              </a:rPr>
              <a:t>Team activities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3E035190-FD9E-A24C-84E7-96E9F3B1780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dirty="0"/>
              <a:t>Carry out a critical review of the ways in which the 3M organization manages innovation.  Some frameworks for this have been developed throughout the book, and the </a:t>
            </a:r>
            <a:r>
              <a:rPr lang="en-GB" sz="2700" dirty="0">
                <a:hlinkClick r:id="rId2"/>
              </a:rPr>
              <a:t>innovation fitness test </a:t>
            </a:r>
            <a:r>
              <a:rPr lang="en-GB" sz="2700" dirty="0"/>
              <a:t>frameworks on the website provide a structured aid.  Use this review to argue whether or not you think 3M will still be around for another hundred years?</a:t>
            </a:r>
          </a:p>
          <a:p>
            <a:pPr marL="0" indent="0">
              <a:lnSpc>
                <a:spcPct val="90000"/>
              </a:lnSpc>
              <a:buNone/>
            </a:pPr>
            <a:r>
              <a:rPr lang="en-GB" sz="2700" dirty="0"/>
              <a:t> </a:t>
            </a:r>
          </a:p>
          <a:p>
            <a:pPr marL="0" indent="0">
              <a:lnSpc>
                <a:spcPct val="90000"/>
              </a:lnSpc>
              <a:buNone/>
            </a:pPr>
            <a:r>
              <a:rPr lang="en-GB" sz="2700" dirty="0"/>
              <a:t>This can be an individual reflection or a group review and presentation </a:t>
            </a:r>
          </a:p>
          <a:p>
            <a:pPr>
              <a:lnSpc>
                <a:spcPct val="90000"/>
              </a:lnSpc>
            </a:pPr>
            <a:endParaRPr lang="en-US" sz="2700" dirty="0"/>
          </a:p>
        </p:txBody>
      </p:sp>
    </p:spTree>
    <p:extLst>
      <p:ext uri="{BB962C8B-B14F-4D97-AF65-F5344CB8AC3E}">
        <p14:creationId xmlns:p14="http://schemas.microsoft.com/office/powerpoint/2010/main" val="3750250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F6A3C-6192-1440-912E-FD2CA0DD0989}"/>
              </a:ext>
            </a:extLst>
          </p:cNvPr>
          <p:cNvSpPr>
            <a:spLocks noGrp="1"/>
          </p:cNvSpPr>
          <p:nvPr>
            <p:ph type="title"/>
          </p:nvPr>
        </p:nvSpPr>
        <p:spPr>
          <a:xfrm>
            <a:off x="515125" y="1153572"/>
            <a:ext cx="2400300" cy="4461163"/>
          </a:xfrm>
        </p:spPr>
        <p:txBody>
          <a:bodyPr>
            <a:normAutofit/>
          </a:bodyPr>
          <a:lstStyle/>
          <a:p>
            <a:r>
              <a:rPr lang="en-US">
                <a:solidFill>
                  <a:srgbClr val="FFFFFF"/>
                </a:solidFill>
              </a:rPr>
              <a:t>Team 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D91437B-DD2E-2D48-8A14-8440E2DA250A}"/>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dirty="0"/>
              <a:t>Using the model of innovation process, select a company of your interest, interview the manager(s), and provide a report on how innovation process is organized in a selected company. </a:t>
            </a:r>
          </a:p>
          <a:p>
            <a:pPr>
              <a:lnSpc>
                <a:spcPct val="90000"/>
              </a:lnSpc>
            </a:pPr>
            <a:endParaRPr lang="en-US" sz="2500" dirty="0"/>
          </a:p>
          <a:p>
            <a:pPr>
              <a:lnSpc>
                <a:spcPct val="90000"/>
              </a:lnSpc>
            </a:pPr>
            <a:r>
              <a:rPr lang="en-US" sz="2500" dirty="0"/>
              <a:t>Inside the report provide quotes from the interview supporting your conclusions. </a:t>
            </a:r>
          </a:p>
          <a:p>
            <a:pPr>
              <a:lnSpc>
                <a:spcPct val="90000"/>
              </a:lnSpc>
            </a:pPr>
            <a:endParaRPr lang="en-US" sz="2500" dirty="0"/>
          </a:p>
          <a:p>
            <a:pPr>
              <a:lnSpc>
                <a:spcPct val="90000"/>
              </a:lnSpc>
            </a:pPr>
            <a:r>
              <a:rPr lang="en-US" sz="2500" dirty="0"/>
              <a:t>List areas where you think the innovation process can be revised or improved inside the company studied. </a:t>
            </a:r>
          </a:p>
          <a:p>
            <a:pPr>
              <a:lnSpc>
                <a:spcPct val="90000"/>
              </a:lnSpc>
            </a:pPr>
            <a:endParaRPr lang="en-US" sz="2500" dirty="0"/>
          </a:p>
        </p:txBody>
      </p:sp>
    </p:spTree>
    <p:extLst>
      <p:ext uri="{BB962C8B-B14F-4D97-AF65-F5344CB8AC3E}">
        <p14:creationId xmlns:p14="http://schemas.microsoft.com/office/powerpoint/2010/main" val="38226271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7500" lnSpcReduction="20000"/>
          </a:bodyPr>
          <a:lstStyle/>
          <a:p>
            <a:r>
              <a:rPr lang="en-US" dirty="0"/>
              <a:t>There are several </a:t>
            </a:r>
            <a:r>
              <a:rPr lang="en-US" dirty="0">
                <a:hlinkClick r:id="rId2"/>
              </a:rPr>
              <a:t>case studies</a:t>
            </a:r>
            <a:r>
              <a:rPr lang="en-US" dirty="0">
                <a:hlinkClick r:id="rId3"/>
              </a:rPr>
              <a:t> </a:t>
            </a:r>
            <a:r>
              <a:rPr lang="en-US" dirty="0"/>
              <a:t>which highlight key themes in the chapter, including:</a:t>
            </a:r>
          </a:p>
          <a:p>
            <a:r>
              <a:rPr lang="en-GB" dirty="0"/>
              <a:t>A case study of Tesco and their (failed) innovation based on market entry to the United States, which gives an insight into how large retailers approach innovation</a:t>
            </a:r>
          </a:p>
          <a:p>
            <a:r>
              <a:rPr lang="en-GB" dirty="0"/>
              <a:t>Case studies from the public sector – RED and Open Door – and from the humanitarian sector, which give some insight into how innovation is approached in not-for-profit contexts</a:t>
            </a:r>
          </a:p>
          <a:p>
            <a:r>
              <a:rPr lang="en-GB" dirty="0"/>
              <a:t>A case study of Zara showing how IT and networks support fast fashion as an innovation model</a:t>
            </a:r>
          </a:p>
          <a:p>
            <a:endParaRPr lang="en-GB" dirty="0"/>
          </a:p>
          <a:p>
            <a:endParaRPr lang="en-GB" dirty="0"/>
          </a:p>
          <a:p>
            <a:endParaRPr lang="en-GB" dirty="0"/>
          </a:p>
          <a:p>
            <a:endParaRPr lang="en-US" dirty="0"/>
          </a:p>
        </p:txBody>
      </p:sp>
    </p:spTree>
    <p:extLst>
      <p:ext uri="{BB962C8B-B14F-4D97-AF65-F5344CB8AC3E}">
        <p14:creationId xmlns:p14="http://schemas.microsoft.com/office/powerpoint/2010/main" val="1793215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47864" y="2204864"/>
            <a:ext cx="5179868" cy="5585619"/>
          </a:xfrm>
        </p:spPr>
        <p:txBody>
          <a:bodyPr anchor="ctr">
            <a:normAutofit fontScale="85000" lnSpcReduction="20000"/>
          </a:bodyPr>
          <a:lstStyle/>
          <a:p>
            <a:r>
              <a:rPr lang="en-GB" sz="2400" dirty="0"/>
              <a:t>Several cases – AMP, Law Firms, MPESA, and NPI – which illustrate innovation in financial and legal sectors</a:t>
            </a:r>
          </a:p>
          <a:p>
            <a:r>
              <a:rPr lang="en-GB" sz="2400" dirty="0"/>
              <a:t>Case examples – Threadless, Adidas, Joseph’s, Lego – where companies are exploring user-led approaches</a:t>
            </a:r>
          </a:p>
          <a:p>
            <a:r>
              <a:rPr lang="en-GB" sz="2400" dirty="0"/>
              <a:t>Case study of Liberty Global, which describes their efforts to create and sustain a culture of continuous incremental innovation</a:t>
            </a:r>
          </a:p>
          <a:p>
            <a:r>
              <a:rPr lang="en-GB" sz="2400" dirty="0"/>
              <a:t>Case studies of Aravind, NHL Hospitals, </a:t>
            </a:r>
            <a:r>
              <a:rPr lang="en-GB" sz="2400" dirty="0" err="1"/>
              <a:t>Lifespring</a:t>
            </a:r>
            <a:r>
              <a:rPr lang="en-GB" sz="2400" dirty="0"/>
              <a:t> Hospitals, and Eastville Community Shop as examples of social innovation</a:t>
            </a:r>
          </a:p>
          <a:p>
            <a:r>
              <a:rPr lang="en-GB" sz="2400" dirty="0"/>
              <a:t>Case studies of Cerulean, Coloplast, and Philips, which explore the issues in creating and executing radically new projects within a large organization</a:t>
            </a:r>
          </a:p>
          <a:p>
            <a:r>
              <a:rPr lang="en-GB" sz="2400" dirty="0"/>
              <a:t>Case histories of Marshalls and Hella, which show how innovation develops over an extended period of time</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pPr>
              <a:lnSpc>
                <a:spcPct val="90000"/>
              </a:lnSpc>
            </a:pPr>
            <a:endParaRPr lang="en-GB" sz="2200" dirty="0"/>
          </a:p>
          <a:p>
            <a:pPr>
              <a:lnSpc>
                <a:spcPct val="90000"/>
              </a:lnSpc>
            </a:pPr>
            <a:endParaRPr lang="en-GB" sz="2200" dirty="0"/>
          </a:p>
          <a:p>
            <a:pPr>
              <a:lnSpc>
                <a:spcPct val="90000"/>
              </a:lnSpc>
            </a:pPr>
            <a:endParaRPr lang="en-GB" sz="2200" dirty="0"/>
          </a:p>
          <a:p>
            <a:pPr>
              <a:lnSpc>
                <a:spcPct val="90000"/>
              </a:lnSpc>
            </a:pPr>
            <a:endParaRPr lang="en-US" sz="2200" dirty="0"/>
          </a:p>
        </p:txBody>
      </p:sp>
    </p:spTree>
    <p:extLst>
      <p:ext uri="{BB962C8B-B14F-4D97-AF65-F5344CB8AC3E}">
        <p14:creationId xmlns:p14="http://schemas.microsoft.com/office/powerpoint/2010/main" val="3118998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147802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514350" indent="-514350">
              <a:lnSpc>
                <a:spcPct val="90000"/>
              </a:lnSpc>
              <a:buAutoNum type="arabicPeriod"/>
            </a:pPr>
            <a:r>
              <a:rPr lang="en-GB" altLang="ja-JP" sz="2700" dirty="0"/>
              <a:t>Describe </a:t>
            </a:r>
            <a:r>
              <a:rPr lang="en-GB" sz="2700" dirty="0"/>
              <a:t>innovation from the process view point. </a:t>
            </a:r>
            <a:r>
              <a:rPr lang="en-US" sz="2700" dirty="0"/>
              <a:t>Explain how the innovation process might differ for different </a:t>
            </a:r>
            <a:r>
              <a:rPr lang="en-US" altLang="ja-JP" sz="2700" dirty="0"/>
              <a:t>actors (a start-up entrepreneur, a new product development team, a public service team or the social entrepreneur)</a:t>
            </a:r>
            <a:r>
              <a:rPr lang="en-GB" altLang="ja-JP" sz="2700" dirty="0"/>
              <a:t>. </a:t>
            </a:r>
          </a:p>
          <a:p>
            <a:pPr marL="514350" indent="-514350">
              <a:lnSpc>
                <a:spcPct val="90000"/>
              </a:lnSpc>
            </a:pPr>
            <a:endParaRPr lang="en-GB" sz="2700" dirty="0"/>
          </a:p>
          <a:p>
            <a:pPr marL="0" lvl="0" indent="0">
              <a:lnSpc>
                <a:spcPct val="90000"/>
              </a:lnSpc>
              <a:buNone/>
            </a:pPr>
            <a:r>
              <a:rPr lang="en-US" sz="2700" dirty="0"/>
              <a:t>2.	Draw the model of the innovation process. List key questions in each area linked to how we manage innovation. </a:t>
            </a:r>
            <a:endParaRPr lang="en-GB" sz="2700" dirty="0"/>
          </a:p>
          <a:p>
            <a:pPr marL="514350" indent="-514350">
              <a:lnSpc>
                <a:spcPct val="90000"/>
              </a:lnSpc>
              <a:buFontTx/>
              <a:buAutoNum type="arabicPeriod"/>
            </a:pPr>
            <a:endParaRPr lang="en-GB" sz="2700" dirty="0"/>
          </a:p>
          <a:p>
            <a:pPr>
              <a:lnSpc>
                <a:spcPct val="90000"/>
              </a:lnSpc>
            </a:pPr>
            <a:endParaRPr lang="en-US" sz="2700" dirty="0"/>
          </a:p>
        </p:txBody>
      </p:sp>
    </p:spTree>
    <p:extLst>
      <p:ext uri="{BB962C8B-B14F-4D97-AF65-F5344CB8AC3E}">
        <p14:creationId xmlns:p14="http://schemas.microsoft.com/office/powerpoint/2010/main" val="5218550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514350" indent="-514350">
              <a:lnSpc>
                <a:spcPct val="90000"/>
              </a:lnSpc>
              <a:buAutoNum type="arabicPeriod" startAt="3"/>
            </a:pPr>
            <a:r>
              <a:rPr lang="en-US" sz="2500" dirty="0"/>
              <a:t>Explain how context affects innovation management</a:t>
            </a:r>
            <a:r>
              <a:rPr lang="en-GB" sz="2500" dirty="0"/>
              <a:t>. Choose a company or a sector to illustrate on an example. </a:t>
            </a:r>
          </a:p>
          <a:p>
            <a:pPr marL="514350" indent="-514350">
              <a:lnSpc>
                <a:spcPct val="90000"/>
              </a:lnSpc>
            </a:pPr>
            <a:endParaRPr lang="en-GB" sz="2500" dirty="0"/>
          </a:p>
          <a:p>
            <a:pPr marL="0" indent="0">
              <a:lnSpc>
                <a:spcPct val="90000"/>
              </a:lnSpc>
              <a:buNone/>
            </a:pPr>
            <a:r>
              <a:rPr lang="en-GB" sz="2500" dirty="0"/>
              <a:t>4.	Imagine Nick Smith is a manager of a big company working in the same industry for more than twenty years. How might he approach reviewing and improving the way the innovation process works?</a:t>
            </a:r>
            <a:r>
              <a:rPr lang="en-US" sz="2500" dirty="0"/>
              <a:t> How could his organization avoid potential problems associated with working with partial models?</a:t>
            </a:r>
            <a:endParaRPr lang="en-GB" sz="2500" dirty="0"/>
          </a:p>
          <a:p>
            <a:pPr marL="514350" indent="-514350">
              <a:lnSpc>
                <a:spcPct val="90000"/>
              </a:lnSpc>
              <a:buFontTx/>
              <a:buAutoNum type="arabicPeriod"/>
            </a:pPr>
            <a:endParaRPr lang="en-GB" sz="2500" dirty="0"/>
          </a:p>
          <a:p>
            <a:pPr>
              <a:lnSpc>
                <a:spcPct val="90000"/>
              </a:lnSpc>
            </a:pPr>
            <a:endParaRPr lang="en-US" sz="2500" dirty="0"/>
          </a:p>
        </p:txBody>
      </p:sp>
    </p:spTree>
    <p:extLst>
      <p:ext uri="{BB962C8B-B14F-4D97-AF65-F5344CB8AC3E}">
        <p14:creationId xmlns:p14="http://schemas.microsoft.com/office/powerpoint/2010/main" val="27970693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dirty="0"/>
              <a:t>5.	Fred Bloggs was a bright young PhD scientist with a patent on a new algorithm for monitoring brainwave activity and predicting the early onset of a stroke.  He was convinced of the value of his idea and took it to market having sold his car, borrowed money from family and friends and taken out a large loan.  He went bankrupt despite having a demonstration version which doctors he showed it to were impressed by.  Why might his failure be linked to having a partial model of how innovation works – and how could he avoid making the same mistake in the future?</a:t>
            </a:r>
          </a:p>
          <a:p>
            <a:pPr marL="514350" indent="-514350">
              <a:lnSpc>
                <a:spcPct val="90000"/>
              </a:lnSpc>
              <a:buFontTx/>
              <a:buAutoNum type="arabicPeriod"/>
            </a:pPr>
            <a:endParaRPr lang="en-GB" sz="2200" dirty="0"/>
          </a:p>
          <a:p>
            <a:pPr>
              <a:lnSpc>
                <a:spcPct val="90000"/>
              </a:lnSpc>
            </a:pPr>
            <a:endParaRPr lang="en-US" sz="2200" dirty="0"/>
          </a:p>
        </p:txBody>
      </p:sp>
    </p:spTree>
    <p:extLst>
      <p:ext uri="{BB962C8B-B14F-4D97-AF65-F5344CB8AC3E}">
        <p14:creationId xmlns:p14="http://schemas.microsoft.com/office/powerpoint/2010/main" val="33250345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000" dirty="0"/>
              <a:t>6. All organizations have their own particular approach to managing innovation – even those who don’t formally try and manage it at all!  It’s a bit like having a particular personality – even firms in the same sector often approach innovation in very different ways.  These represent the results of their own learning processes and the way they manage things accumulates by trial and error.</a:t>
            </a:r>
          </a:p>
          <a:p>
            <a:pPr marL="0" indent="0">
              <a:lnSpc>
                <a:spcPct val="90000"/>
              </a:lnSpc>
              <a:buNone/>
            </a:pPr>
            <a:r>
              <a:rPr lang="en-GB" sz="2000" dirty="0"/>
              <a:t> </a:t>
            </a:r>
          </a:p>
          <a:p>
            <a:pPr marL="0" indent="0">
              <a:lnSpc>
                <a:spcPct val="90000"/>
              </a:lnSpc>
              <a:buNone/>
            </a:pPr>
            <a:r>
              <a:rPr lang="en-GB" sz="2000" dirty="0"/>
              <a:t>7. Think about an organization with which you are familiar and try and map its ‘innovation personality’ – its particular approach – on to our generic framework model.  How do they search, select, implement, etc?</a:t>
            </a:r>
          </a:p>
          <a:p>
            <a:pPr>
              <a:lnSpc>
                <a:spcPct val="90000"/>
              </a:lnSpc>
            </a:pPr>
            <a:endParaRPr lang="en-US" sz="2000" dirty="0"/>
          </a:p>
        </p:txBody>
      </p:sp>
    </p:spTree>
    <p:extLst>
      <p:ext uri="{BB962C8B-B14F-4D97-AF65-F5344CB8AC3E}">
        <p14:creationId xmlns:p14="http://schemas.microsoft.com/office/powerpoint/2010/main" val="1591016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500" dirty="0"/>
              <a:t>7.	Is innovation manageable or just a random gambling activity where you sometimes get lucky?  If it is manageable, how can firms organise and manage it – what general principles might they use?</a:t>
            </a:r>
          </a:p>
          <a:p>
            <a:pPr>
              <a:lnSpc>
                <a:spcPct val="90000"/>
              </a:lnSpc>
            </a:pPr>
            <a:endParaRPr lang="en-GB" sz="2500" dirty="0"/>
          </a:p>
          <a:p>
            <a:pPr marL="0" indent="0">
              <a:lnSpc>
                <a:spcPct val="90000"/>
              </a:lnSpc>
              <a:buNone/>
            </a:pPr>
            <a:r>
              <a:rPr lang="en-GB" sz="2500" dirty="0"/>
              <a:t>8.	‘Build a better mousetrap and the world will beat a path to your door!’  Will it?  What are the limitations of seeing innovation simply as coming up with bright ideas?  Illustrate your answer with examples drawn from manufacturing and services.</a:t>
            </a:r>
          </a:p>
          <a:p>
            <a:pPr marL="514350" indent="-514350">
              <a:lnSpc>
                <a:spcPct val="90000"/>
              </a:lnSpc>
              <a:buFontTx/>
              <a:buAutoNum type="arabicPeriod"/>
            </a:pPr>
            <a:endParaRPr lang="en-GB" sz="2500" dirty="0"/>
          </a:p>
          <a:p>
            <a:pPr>
              <a:lnSpc>
                <a:spcPct val="90000"/>
              </a:lnSpc>
            </a:pPr>
            <a:endParaRPr lang="en-US" sz="2500" dirty="0"/>
          </a:p>
        </p:txBody>
      </p:sp>
    </p:spTree>
    <p:extLst>
      <p:ext uri="{BB962C8B-B14F-4D97-AF65-F5344CB8AC3E}">
        <p14:creationId xmlns:p14="http://schemas.microsoft.com/office/powerpoint/2010/main" val="1753727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500" dirty="0"/>
              <a:t>9.	Is innovation manageable – or just a random, gambling process?  If it is manageable, what factors are important?</a:t>
            </a:r>
          </a:p>
          <a:p>
            <a:pPr marL="0" indent="0">
              <a:lnSpc>
                <a:spcPct val="90000"/>
              </a:lnSpc>
              <a:buNone/>
            </a:pPr>
            <a:endParaRPr lang="en-GB" sz="2500" dirty="0"/>
          </a:p>
          <a:p>
            <a:pPr marL="0" indent="0">
              <a:lnSpc>
                <a:spcPct val="90000"/>
              </a:lnSpc>
              <a:buNone/>
            </a:pPr>
            <a:r>
              <a:rPr lang="en-GB" sz="2500" dirty="0"/>
              <a:t>10.	What lessons can we derive from studies of innovation success and failure about key principles on which to focus management attention?</a:t>
            </a:r>
          </a:p>
          <a:p>
            <a:pPr marL="0" indent="0">
              <a:lnSpc>
                <a:spcPct val="90000"/>
              </a:lnSpc>
              <a:buNone/>
            </a:pPr>
            <a:endParaRPr lang="en-GB" sz="2500" dirty="0"/>
          </a:p>
          <a:p>
            <a:pPr marL="0" indent="0">
              <a:lnSpc>
                <a:spcPct val="90000"/>
              </a:lnSpc>
              <a:buNone/>
            </a:pPr>
            <a:r>
              <a:rPr lang="en-GB" sz="2500" dirty="0"/>
              <a:t>11.	If you were trying to ensure an innovation project had no hope of succeeding, what would you recommend?</a:t>
            </a:r>
          </a:p>
          <a:p>
            <a:pPr>
              <a:lnSpc>
                <a:spcPct val="90000"/>
              </a:lnSpc>
            </a:pPr>
            <a:endParaRPr lang="en-US" sz="2500" dirty="0"/>
          </a:p>
        </p:txBody>
      </p:sp>
    </p:spTree>
    <p:extLst>
      <p:ext uri="{BB962C8B-B14F-4D97-AF65-F5344CB8AC3E}">
        <p14:creationId xmlns:p14="http://schemas.microsoft.com/office/powerpoint/2010/main" val="40559637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buNone/>
            </a:pPr>
            <a:r>
              <a:rPr lang="en-GB" sz="3000" dirty="0"/>
              <a:t>12.	How can innovation be measured?</a:t>
            </a:r>
          </a:p>
          <a:p>
            <a:pPr marL="0" indent="0">
              <a:buNone/>
            </a:pPr>
            <a:endParaRPr lang="en-GB" sz="3000" dirty="0"/>
          </a:p>
          <a:p>
            <a:pPr marL="0" indent="0">
              <a:buNone/>
            </a:pPr>
            <a:r>
              <a:rPr lang="en-GB" sz="3000" dirty="0"/>
              <a:t>13.	The Managing Director of your company has asked you to give her some clear guidance on what they should measure to ensure their investment in innovation is worthwhile.  What would you suggest as possible measurement targets, and why?</a:t>
            </a:r>
          </a:p>
          <a:p>
            <a:endParaRPr lang="en-US" sz="3000" dirty="0"/>
          </a:p>
        </p:txBody>
      </p:sp>
    </p:spTree>
    <p:extLst>
      <p:ext uri="{BB962C8B-B14F-4D97-AF65-F5344CB8AC3E}">
        <p14:creationId xmlns:p14="http://schemas.microsoft.com/office/powerpoint/2010/main" val="24453247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BBC767-57F5-D44D-A40B-A5E221F09B7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EBA451F1-CD8A-B84D-9958-5C592BD4BAAF}"/>
              </a:ext>
            </a:extLst>
          </p:cNvPr>
          <p:cNvSpPr>
            <a:spLocks noGrp="1"/>
          </p:cNvSpPr>
          <p:nvPr>
            <p:ph idx="1"/>
          </p:nvPr>
        </p:nvSpPr>
        <p:spPr>
          <a:xfrm>
            <a:off x="3335481" y="591344"/>
            <a:ext cx="5179868" cy="5585619"/>
          </a:xfrm>
        </p:spPr>
        <p:txBody>
          <a:bodyPr anchor="ctr">
            <a:normAutofit/>
          </a:bodyPr>
          <a:lstStyle/>
          <a:p>
            <a:pPr marL="0" indent="0">
              <a:buNone/>
            </a:pPr>
            <a:r>
              <a:rPr lang="en-US" dirty="0"/>
              <a:t>14. ‘If we don’t learn from history, we are condemned to repeat it.’ This famous quotation underlines the challenge of learning. What stops organizations learning from their past efforts at innovation – and what can they do to improve their learning capability in the future? </a:t>
            </a:r>
          </a:p>
          <a:p>
            <a:endParaRPr lang="en-US" dirty="0"/>
          </a:p>
        </p:txBody>
      </p:sp>
    </p:spTree>
    <p:extLst>
      <p:ext uri="{BB962C8B-B14F-4D97-AF65-F5344CB8AC3E}">
        <p14:creationId xmlns:p14="http://schemas.microsoft.com/office/powerpoint/2010/main" val="3515240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1881</TotalTime>
  <Words>2928</Words>
  <Application>Microsoft Macintosh PowerPoint</Application>
  <PresentationFormat>On-screen Show (4:3)</PresentationFormat>
  <Paragraphs>236</Paragraphs>
  <Slides>60</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Links</vt:lpstr>
      </vt:variant>
      <vt:variant>
        <vt:i4>4</vt:i4>
      </vt:variant>
      <vt:variant>
        <vt:lpstr>Slide Titles</vt:lpstr>
      </vt:variant>
      <vt:variant>
        <vt:i4>60</vt:i4>
      </vt:variant>
    </vt:vector>
  </HeadingPairs>
  <TitlesOfParts>
    <vt:vector size="67" baseType="lpstr">
      <vt:lpstr>Arial</vt:lpstr>
      <vt:lpstr>Calibri</vt:lpstr>
      <vt:lpstr>Office Theme</vt:lpstr>
      <vt:lpstr>!OLE_LINK13</vt:lpstr>
      <vt:lpstr>!OLE_LINK2</vt:lpstr>
      <vt:lpstr>!OLE_LINK18</vt:lpstr>
      <vt:lpstr>Macintosh%20HD:Users:annatrifilova:Documents:Teaching:wiley%20strategic%20innovation%20management:Wiley_Teaching_Guide:Lecturer_Guide:SIM%20Lecturer%20guide%20ch%205%20Process%20model%20.docx!OLE_LINK20</vt:lpstr>
      <vt:lpstr>Teaching Resources and Instructors’ Guidelines</vt:lpstr>
      <vt:lpstr>Chapter 3: Managing innovation as a core business process</vt:lpstr>
      <vt:lpstr>Learning Objectives</vt:lpstr>
      <vt:lpstr>PowerPoint Presentation</vt:lpstr>
      <vt:lpstr>Core themes and material from the book</vt:lpstr>
      <vt:lpstr>Innovation as a journey</vt:lpstr>
      <vt:lpstr>Key stages in the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sectors, different approaches</vt:lpstr>
      <vt:lpstr>Innovation in the humanitarian world</vt:lpstr>
      <vt:lpstr>Size as an influence</vt:lpstr>
      <vt:lpstr>Different models for ‘steady state’ and discontinuous innovation</vt:lpstr>
      <vt:lpstr>PowerPoint Presentation</vt:lpstr>
      <vt:lpstr>Changing models of innovation over time</vt:lpstr>
      <vt:lpstr>PowerPoint Presentation</vt:lpstr>
      <vt:lpstr>PowerPoint Presentation</vt:lpstr>
      <vt:lpstr>PowerPoint Presentation</vt:lpstr>
      <vt:lpstr>PowerPoint Presentation</vt:lpstr>
      <vt:lpstr>Innovation as a journey</vt:lpstr>
      <vt:lpstr>Key questions in the selection phase</vt:lpstr>
      <vt:lpstr>Key questions in the implementation phase</vt:lpstr>
      <vt:lpstr>Dynamic capability</vt:lpstr>
      <vt:lpstr>Summary</vt:lpstr>
      <vt:lpstr>Summary</vt:lpstr>
      <vt:lpstr>Summary</vt:lpstr>
      <vt:lpstr>Summary</vt:lpstr>
      <vt:lpstr>Videos</vt:lpstr>
      <vt:lpstr>Videos</vt:lpstr>
      <vt:lpstr>Videos</vt:lpstr>
      <vt:lpstr>Videos</vt:lpstr>
      <vt:lpstr>Videos</vt:lpstr>
      <vt:lpstr>Blogs and podcasts</vt:lpstr>
      <vt:lpstr>Blogs and podcasts</vt:lpstr>
      <vt:lpstr>Activities</vt:lpstr>
      <vt:lpstr>Mapping the innovation process</vt:lpstr>
      <vt:lpstr>PowerPoint Presentation</vt:lpstr>
      <vt:lpstr>PowerPoint Presentation</vt:lpstr>
      <vt:lpstr>Sector patterns of innovation</vt:lpstr>
      <vt:lpstr>Activity: The way we do things round here…</vt:lpstr>
      <vt:lpstr>Team activities</vt:lpstr>
      <vt:lpstr>Team activities</vt:lpstr>
      <vt:lpstr>Team activities</vt:lpstr>
      <vt:lpstr>Cases </vt:lpstr>
      <vt:lpstr>Cases </vt:lpstr>
      <vt:lpstr>Assessments</vt:lpstr>
      <vt:lpstr>Assessments</vt:lpstr>
      <vt:lpstr>Assessments</vt:lpstr>
      <vt:lpstr>Assessments</vt:lpstr>
      <vt:lpstr>Assessments</vt:lpstr>
      <vt:lpstr>Assessments</vt:lpstr>
      <vt:lpstr>Assessments</vt:lpstr>
      <vt:lpstr>Assessments</vt:lpstr>
      <vt:lpstr>Assessments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9</cp:revision>
  <dcterms:created xsi:type="dcterms:W3CDTF">2020-11-14T12:27:09Z</dcterms:created>
  <dcterms:modified xsi:type="dcterms:W3CDTF">2024-11-02T07:44:20Z</dcterms:modified>
</cp:coreProperties>
</file>