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258" r:id="rId3"/>
    <p:sldId id="259" r:id="rId4"/>
    <p:sldId id="318" r:id="rId5"/>
    <p:sldId id="260" r:id="rId6"/>
    <p:sldId id="261" r:id="rId7"/>
    <p:sldId id="262" r:id="rId8"/>
    <p:sldId id="263" r:id="rId9"/>
    <p:sldId id="264" r:id="rId10"/>
    <p:sldId id="265" r:id="rId11"/>
    <p:sldId id="266" r:id="rId12"/>
    <p:sldId id="267" r:id="rId13"/>
    <p:sldId id="269" r:id="rId14"/>
    <p:sldId id="270" r:id="rId15"/>
    <p:sldId id="271" r:id="rId16"/>
    <p:sldId id="272" r:id="rId17"/>
    <p:sldId id="319" r:id="rId18"/>
    <p:sldId id="273" r:id="rId19"/>
    <p:sldId id="276" r:id="rId20"/>
    <p:sldId id="277" r:id="rId21"/>
    <p:sldId id="278" r:id="rId22"/>
    <p:sldId id="326" r:id="rId23"/>
    <p:sldId id="339" r:id="rId24"/>
    <p:sldId id="353" r:id="rId25"/>
    <p:sldId id="354" r:id="rId26"/>
    <p:sldId id="328" r:id="rId27"/>
    <p:sldId id="344" r:id="rId28"/>
    <p:sldId id="330" r:id="rId29"/>
    <p:sldId id="355" r:id="rId30"/>
    <p:sldId id="357" r:id="rId31"/>
    <p:sldId id="331" r:id="rId32"/>
    <p:sldId id="356"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6"/>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FB671E-6884-4C97-A916-8CB059C3D7B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33A376C-A49C-4D80-BEA2-DA968116D9A5}">
      <dgm:prSet/>
      <dgm:spPr/>
      <dgm:t>
        <a:bodyPr/>
        <a:lstStyle/>
        <a:p>
          <a:pPr>
            <a:lnSpc>
              <a:spcPct val="100000"/>
            </a:lnSpc>
          </a:pPr>
          <a:r>
            <a:rPr lang="en-GB"/>
            <a:t>By the end of this chapter you will have an understanding of:</a:t>
          </a:r>
          <a:endParaRPr lang="en-US"/>
        </a:p>
      </dgm:t>
    </dgm:pt>
    <dgm:pt modelId="{E78E762C-07A4-498C-AE06-05910490D1AF}" type="parTrans" cxnId="{E5CD5350-24C6-4B48-AC3B-2602E95836B2}">
      <dgm:prSet/>
      <dgm:spPr/>
      <dgm:t>
        <a:bodyPr/>
        <a:lstStyle/>
        <a:p>
          <a:endParaRPr lang="en-US"/>
        </a:p>
      </dgm:t>
    </dgm:pt>
    <dgm:pt modelId="{3626F55E-75CE-4CB5-BADE-13529D1A6815}" type="sibTrans" cxnId="{E5CD5350-24C6-4B48-AC3B-2602E95836B2}">
      <dgm:prSet/>
      <dgm:spPr/>
      <dgm:t>
        <a:bodyPr/>
        <a:lstStyle/>
        <a:p>
          <a:pPr>
            <a:lnSpc>
              <a:spcPct val="100000"/>
            </a:lnSpc>
          </a:pPr>
          <a:endParaRPr lang="en-US"/>
        </a:p>
      </dgm:t>
    </dgm:pt>
    <dgm:pt modelId="{45D75D21-A558-4AD0-99F6-01215B44E1D2}">
      <dgm:prSet/>
      <dgm:spPr/>
      <dgm:t>
        <a:bodyPr/>
        <a:lstStyle/>
        <a:p>
          <a:pPr>
            <a:lnSpc>
              <a:spcPct val="100000"/>
            </a:lnSpc>
          </a:pPr>
          <a:r>
            <a:rPr lang="en-GB" dirty="0"/>
            <a:t>The nature and origins of digital innovation</a:t>
          </a:r>
          <a:endParaRPr lang="en-US" dirty="0"/>
        </a:p>
      </dgm:t>
    </dgm:pt>
    <dgm:pt modelId="{1CF0DF27-8489-4E62-A768-A7DDEE74A314}" type="parTrans" cxnId="{6C3690A5-EA81-4A4F-B56F-25E89CB15A4B}">
      <dgm:prSet/>
      <dgm:spPr/>
      <dgm:t>
        <a:bodyPr/>
        <a:lstStyle/>
        <a:p>
          <a:endParaRPr lang="en-US"/>
        </a:p>
      </dgm:t>
    </dgm:pt>
    <dgm:pt modelId="{4F0471D6-F28C-4A42-9715-6F970199C73F}" type="sibTrans" cxnId="{6C3690A5-EA81-4A4F-B56F-25E89CB15A4B}">
      <dgm:prSet/>
      <dgm:spPr/>
      <dgm:t>
        <a:bodyPr/>
        <a:lstStyle/>
        <a:p>
          <a:pPr>
            <a:lnSpc>
              <a:spcPct val="100000"/>
            </a:lnSpc>
          </a:pPr>
          <a:endParaRPr lang="en-US"/>
        </a:p>
      </dgm:t>
    </dgm:pt>
    <dgm:pt modelId="{DC585ACD-97E3-41CD-B8EF-9F80BD9A55CF}">
      <dgm:prSet/>
      <dgm:spPr/>
      <dgm:t>
        <a:bodyPr/>
        <a:lstStyle/>
        <a:p>
          <a:pPr>
            <a:lnSpc>
              <a:spcPct val="100000"/>
            </a:lnSpc>
          </a:pPr>
          <a:r>
            <a:rPr lang="en-GB"/>
            <a:t>The case for seeing it as a transformative technology with pervasive impacts across all sectors</a:t>
          </a:r>
          <a:endParaRPr lang="en-US"/>
        </a:p>
      </dgm:t>
    </dgm:pt>
    <dgm:pt modelId="{64879BC8-4CBC-4467-B356-F7678493FE6F}" type="parTrans" cxnId="{7DA145F9-C022-41FC-8EAB-45C82CF17002}">
      <dgm:prSet/>
      <dgm:spPr/>
      <dgm:t>
        <a:bodyPr/>
        <a:lstStyle/>
        <a:p>
          <a:endParaRPr lang="en-US"/>
        </a:p>
      </dgm:t>
    </dgm:pt>
    <dgm:pt modelId="{0BA71B15-606A-4F0C-8298-C350EEA30B5E}" type="sibTrans" cxnId="{7DA145F9-C022-41FC-8EAB-45C82CF17002}">
      <dgm:prSet/>
      <dgm:spPr/>
      <dgm:t>
        <a:bodyPr/>
        <a:lstStyle/>
        <a:p>
          <a:pPr>
            <a:lnSpc>
              <a:spcPct val="100000"/>
            </a:lnSpc>
          </a:pPr>
          <a:endParaRPr lang="en-US"/>
        </a:p>
      </dgm:t>
    </dgm:pt>
    <dgm:pt modelId="{644BACE0-E2A2-4695-8FCC-123375ED4506}">
      <dgm:prSet/>
      <dgm:spPr/>
      <dgm:t>
        <a:bodyPr/>
        <a:lstStyle/>
        <a:p>
          <a:pPr>
            <a:lnSpc>
              <a:spcPct val="100000"/>
            </a:lnSpc>
          </a:pPr>
          <a:r>
            <a:rPr lang="en-GB"/>
            <a:t>The role it can play in innovation management by providing powerful new tools to support the process</a:t>
          </a:r>
          <a:endParaRPr lang="en-US"/>
        </a:p>
      </dgm:t>
    </dgm:pt>
    <dgm:pt modelId="{F23189BB-EC78-491E-9585-895CC786F0A4}" type="parTrans" cxnId="{B608FEAC-026A-4268-9B1C-2144DFEED37A}">
      <dgm:prSet/>
      <dgm:spPr/>
      <dgm:t>
        <a:bodyPr/>
        <a:lstStyle/>
        <a:p>
          <a:endParaRPr lang="en-US"/>
        </a:p>
      </dgm:t>
    </dgm:pt>
    <dgm:pt modelId="{D4B86D74-574A-4603-BD48-6B193AD64517}" type="sibTrans" cxnId="{B608FEAC-026A-4268-9B1C-2144DFEED37A}">
      <dgm:prSet/>
      <dgm:spPr/>
      <dgm:t>
        <a:bodyPr/>
        <a:lstStyle/>
        <a:p>
          <a:pPr>
            <a:lnSpc>
              <a:spcPct val="100000"/>
            </a:lnSpc>
          </a:pPr>
          <a:endParaRPr lang="en-US"/>
        </a:p>
      </dgm:t>
    </dgm:pt>
    <dgm:pt modelId="{2B2466CF-635C-400A-8C9B-6221D8D941CC}">
      <dgm:prSet/>
      <dgm:spPr/>
      <dgm:t>
        <a:bodyPr/>
        <a:lstStyle/>
        <a:p>
          <a:pPr>
            <a:lnSpc>
              <a:spcPct val="100000"/>
            </a:lnSpc>
          </a:pPr>
          <a:r>
            <a:rPr lang="en-GB"/>
            <a:t>The wider management implications, especially in learning to operate at a system level</a:t>
          </a:r>
          <a:endParaRPr lang="en-US"/>
        </a:p>
      </dgm:t>
    </dgm:pt>
    <dgm:pt modelId="{161FADB7-51FD-4D08-BD83-4AA78EC0175C}" type="parTrans" cxnId="{7FE6076B-C9A0-479F-8442-0156162C2D73}">
      <dgm:prSet/>
      <dgm:spPr/>
      <dgm:t>
        <a:bodyPr/>
        <a:lstStyle/>
        <a:p>
          <a:endParaRPr lang="en-US"/>
        </a:p>
      </dgm:t>
    </dgm:pt>
    <dgm:pt modelId="{69F16060-AE6C-4AC4-B306-8AC050D9D153}" type="sibTrans" cxnId="{7FE6076B-C9A0-479F-8442-0156162C2D73}">
      <dgm:prSet/>
      <dgm:spPr/>
      <dgm:t>
        <a:bodyPr/>
        <a:lstStyle/>
        <a:p>
          <a:endParaRPr lang="en-US"/>
        </a:p>
      </dgm:t>
    </dgm:pt>
    <dgm:pt modelId="{D6BA3116-F86D-4870-97F1-0D333C23E43A}" type="pres">
      <dgm:prSet presAssocID="{98FB671E-6884-4C97-A916-8CB059C3D7BC}" presName="root" presStyleCnt="0">
        <dgm:presLayoutVars>
          <dgm:dir/>
          <dgm:resizeHandles val="exact"/>
        </dgm:presLayoutVars>
      </dgm:prSet>
      <dgm:spPr/>
    </dgm:pt>
    <dgm:pt modelId="{3D807065-32D2-4A59-84C2-690FB082E67D}" type="pres">
      <dgm:prSet presAssocID="{98FB671E-6884-4C97-A916-8CB059C3D7BC}" presName="container" presStyleCnt="0">
        <dgm:presLayoutVars>
          <dgm:dir/>
          <dgm:resizeHandles val="exact"/>
        </dgm:presLayoutVars>
      </dgm:prSet>
      <dgm:spPr/>
    </dgm:pt>
    <dgm:pt modelId="{CF98AA3B-E17A-47EA-B9A7-26B8D9585050}" type="pres">
      <dgm:prSet presAssocID="{333A376C-A49C-4D80-BEA2-DA968116D9A5}" presName="compNode" presStyleCnt="0"/>
      <dgm:spPr/>
    </dgm:pt>
    <dgm:pt modelId="{97EEF250-A26A-414F-B924-B33DC0CFEE55}" type="pres">
      <dgm:prSet presAssocID="{333A376C-A49C-4D80-BEA2-DA968116D9A5}" presName="iconBgRect" presStyleLbl="bgShp" presStyleIdx="0" presStyleCnt="5"/>
      <dgm:spPr/>
    </dgm:pt>
    <dgm:pt modelId="{42D9BA1E-B36F-49FC-8ABE-83AE1DCD1DB5}" type="pres">
      <dgm:prSet presAssocID="{333A376C-A49C-4D80-BEA2-DA968116D9A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Book"/>
        </a:ext>
      </dgm:extLst>
    </dgm:pt>
    <dgm:pt modelId="{49829A29-6B80-4A7A-9FF1-E7927C52290B}" type="pres">
      <dgm:prSet presAssocID="{333A376C-A49C-4D80-BEA2-DA968116D9A5}" presName="spaceRect" presStyleCnt="0"/>
      <dgm:spPr/>
    </dgm:pt>
    <dgm:pt modelId="{78C64D63-97F4-4F88-AA5A-1641297B3850}" type="pres">
      <dgm:prSet presAssocID="{333A376C-A49C-4D80-BEA2-DA968116D9A5}" presName="textRect" presStyleLbl="revTx" presStyleIdx="0" presStyleCnt="5">
        <dgm:presLayoutVars>
          <dgm:chMax val="1"/>
          <dgm:chPref val="1"/>
        </dgm:presLayoutVars>
      </dgm:prSet>
      <dgm:spPr/>
    </dgm:pt>
    <dgm:pt modelId="{077924D6-8061-4D30-A331-3608C15C922F}" type="pres">
      <dgm:prSet presAssocID="{3626F55E-75CE-4CB5-BADE-13529D1A6815}" presName="sibTrans" presStyleLbl="sibTrans2D1" presStyleIdx="0" presStyleCnt="0"/>
      <dgm:spPr/>
    </dgm:pt>
    <dgm:pt modelId="{0B8765C2-D305-456B-A472-8400D098B3ED}" type="pres">
      <dgm:prSet presAssocID="{45D75D21-A558-4AD0-99F6-01215B44E1D2}" presName="compNode" presStyleCnt="0"/>
      <dgm:spPr/>
    </dgm:pt>
    <dgm:pt modelId="{0F8A0724-4FC6-4C2B-8907-7387CA403D7B}" type="pres">
      <dgm:prSet presAssocID="{45D75D21-A558-4AD0-99F6-01215B44E1D2}" presName="iconBgRect" presStyleLbl="bgShp" presStyleIdx="1" presStyleCnt="5"/>
      <dgm:spPr/>
    </dgm:pt>
    <dgm:pt modelId="{B5AB166A-5112-41BC-95BA-270DB1870368}" type="pres">
      <dgm:prSet presAssocID="{45D75D21-A558-4AD0-99F6-01215B44E1D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ciduous tree"/>
        </a:ext>
      </dgm:extLst>
    </dgm:pt>
    <dgm:pt modelId="{0C89FF66-A1A5-42CD-90C6-8AE61CAEC36B}" type="pres">
      <dgm:prSet presAssocID="{45D75D21-A558-4AD0-99F6-01215B44E1D2}" presName="spaceRect" presStyleCnt="0"/>
      <dgm:spPr/>
    </dgm:pt>
    <dgm:pt modelId="{EC87B9DF-75C1-4E75-BA59-6731FCB4594E}" type="pres">
      <dgm:prSet presAssocID="{45D75D21-A558-4AD0-99F6-01215B44E1D2}" presName="textRect" presStyleLbl="revTx" presStyleIdx="1" presStyleCnt="5">
        <dgm:presLayoutVars>
          <dgm:chMax val="1"/>
          <dgm:chPref val="1"/>
        </dgm:presLayoutVars>
      </dgm:prSet>
      <dgm:spPr/>
    </dgm:pt>
    <dgm:pt modelId="{A516774B-0EFF-4CDB-80A7-0C9365D4DA9E}" type="pres">
      <dgm:prSet presAssocID="{4F0471D6-F28C-4A42-9715-6F970199C73F}" presName="sibTrans" presStyleLbl="sibTrans2D1" presStyleIdx="0" presStyleCnt="0"/>
      <dgm:spPr/>
    </dgm:pt>
    <dgm:pt modelId="{7BF776A4-6575-4410-9BDC-EA4E2199DBD9}" type="pres">
      <dgm:prSet presAssocID="{DC585ACD-97E3-41CD-B8EF-9F80BD9A55CF}" presName="compNode" presStyleCnt="0"/>
      <dgm:spPr/>
    </dgm:pt>
    <dgm:pt modelId="{15175EB9-C41C-4D0B-8979-F449ECD33464}" type="pres">
      <dgm:prSet presAssocID="{DC585ACD-97E3-41CD-B8EF-9F80BD9A55CF}" presName="iconBgRect" presStyleLbl="bgShp" presStyleIdx="2" presStyleCnt="5"/>
      <dgm:spPr/>
    </dgm:pt>
    <dgm:pt modelId="{E0467A5B-87A5-4081-B46B-477EC4FF1466}" type="pres">
      <dgm:prSet presAssocID="{DC585ACD-97E3-41CD-B8EF-9F80BD9A55C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7FEDA599-99F5-4791-BFBA-B1E434BE851C}" type="pres">
      <dgm:prSet presAssocID="{DC585ACD-97E3-41CD-B8EF-9F80BD9A55CF}" presName="spaceRect" presStyleCnt="0"/>
      <dgm:spPr/>
    </dgm:pt>
    <dgm:pt modelId="{BC2C5B03-C6E2-4222-9BEA-1D78B3BFDF3B}" type="pres">
      <dgm:prSet presAssocID="{DC585ACD-97E3-41CD-B8EF-9F80BD9A55CF}" presName="textRect" presStyleLbl="revTx" presStyleIdx="2" presStyleCnt="5">
        <dgm:presLayoutVars>
          <dgm:chMax val="1"/>
          <dgm:chPref val="1"/>
        </dgm:presLayoutVars>
      </dgm:prSet>
      <dgm:spPr/>
    </dgm:pt>
    <dgm:pt modelId="{3B29177B-E94E-426E-B9B4-616CC64942CC}" type="pres">
      <dgm:prSet presAssocID="{0BA71B15-606A-4F0C-8298-C350EEA30B5E}" presName="sibTrans" presStyleLbl="sibTrans2D1" presStyleIdx="0" presStyleCnt="0"/>
      <dgm:spPr/>
    </dgm:pt>
    <dgm:pt modelId="{C3AE742F-8FD8-4AAB-A786-83B6183C3317}" type="pres">
      <dgm:prSet presAssocID="{644BACE0-E2A2-4695-8FCC-123375ED4506}" presName="compNode" presStyleCnt="0"/>
      <dgm:spPr/>
    </dgm:pt>
    <dgm:pt modelId="{2F6A7465-5B06-4B3A-B6BB-E2619D1AAF98}" type="pres">
      <dgm:prSet presAssocID="{644BACE0-E2A2-4695-8FCC-123375ED4506}" presName="iconBgRect" presStyleLbl="bgShp" presStyleIdx="3" presStyleCnt="5"/>
      <dgm:spPr/>
    </dgm:pt>
    <dgm:pt modelId="{65110C13-6AA3-452D-8BE8-AA44BC451E64}" type="pres">
      <dgm:prSet presAssocID="{644BACE0-E2A2-4695-8FCC-123375ED450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AD2CC71E-C1DF-425B-97FD-F8F7CE2277BF}" type="pres">
      <dgm:prSet presAssocID="{644BACE0-E2A2-4695-8FCC-123375ED4506}" presName="spaceRect" presStyleCnt="0"/>
      <dgm:spPr/>
    </dgm:pt>
    <dgm:pt modelId="{80510EFD-DF2E-4D11-978B-899930CBD03A}" type="pres">
      <dgm:prSet presAssocID="{644BACE0-E2A2-4695-8FCC-123375ED4506}" presName="textRect" presStyleLbl="revTx" presStyleIdx="3" presStyleCnt="5">
        <dgm:presLayoutVars>
          <dgm:chMax val="1"/>
          <dgm:chPref val="1"/>
        </dgm:presLayoutVars>
      </dgm:prSet>
      <dgm:spPr/>
    </dgm:pt>
    <dgm:pt modelId="{BF4C5EEF-5A2F-4FA6-97E1-C9EDEE36B982}" type="pres">
      <dgm:prSet presAssocID="{D4B86D74-574A-4603-BD48-6B193AD64517}" presName="sibTrans" presStyleLbl="sibTrans2D1" presStyleIdx="0" presStyleCnt="0"/>
      <dgm:spPr/>
    </dgm:pt>
    <dgm:pt modelId="{40E2C5A5-15FA-4A9B-B302-E2F0BDEFA063}" type="pres">
      <dgm:prSet presAssocID="{2B2466CF-635C-400A-8C9B-6221D8D941CC}" presName="compNode" presStyleCnt="0"/>
      <dgm:spPr/>
    </dgm:pt>
    <dgm:pt modelId="{6E35A99F-A27F-43F0-B599-959D654ED943}" type="pres">
      <dgm:prSet presAssocID="{2B2466CF-635C-400A-8C9B-6221D8D941CC}" presName="iconBgRect" presStyleLbl="bgShp" presStyleIdx="4" presStyleCnt="5"/>
      <dgm:spPr/>
    </dgm:pt>
    <dgm:pt modelId="{93F8F648-97E1-4225-9A93-376F3C82E6BD}" type="pres">
      <dgm:prSet presAssocID="{2B2466CF-635C-400A-8C9B-6221D8D941C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lassroom"/>
        </a:ext>
      </dgm:extLst>
    </dgm:pt>
    <dgm:pt modelId="{8657AD33-44D8-4526-97D8-C1D39FD607B3}" type="pres">
      <dgm:prSet presAssocID="{2B2466CF-635C-400A-8C9B-6221D8D941CC}" presName="spaceRect" presStyleCnt="0"/>
      <dgm:spPr/>
    </dgm:pt>
    <dgm:pt modelId="{0092F641-4C2B-48B9-A00E-AD9F6DB859BD}" type="pres">
      <dgm:prSet presAssocID="{2B2466CF-635C-400A-8C9B-6221D8D941CC}" presName="textRect" presStyleLbl="revTx" presStyleIdx="4" presStyleCnt="5">
        <dgm:presLayoutVars>
          <dgm:chMax val="1"/>
          <dgm:chPref val="1"/>
        </dgm:presLayoutVars>
      </dgm:prSet>
      <dgm:spPr/>
    </dgm:pt>
  </dgm:ptLst>
  <dgm:cxnLst>
    <dgm:cxn modelId="{45B51A06-DFFA-49B8-8A68-14ED1A1884F0}" type="presOf" srcId="{644BACE0-E2A2-4695-8FCC-123375ED4506}" destId="{80510EFD-DF2E-4D11-978B-899930CBD03A}" srcOrd="0" destOrd="0" presId="urn:microsoft.com/office/officeart/2018/2/layout/IconCircleList"/>
    <dgm:cxn modelId="{1CA03B26-57D4-406A-9379-6178BD746405}" type="presOf" srcId="{D4B86D74-574A-4603-BD48-6B193AD64517}" destId="{BF4C5EEF-5A2F-4FA6-97E1-C9EDEE36B982}" srcOrd="0" destOrd="0" presId="urn:microsoft.com/office/officeart/2018/2/layout/IconCircleList"/>
    <dgm:cxn modelId="{C8A27B2C-875C-4025-8ADC-B362930FA64C}" type="presOf" srcId="{DC585ACD-97E3-41CD-B8EF-9F80BD9A55CF}" destId="{BC2C5B03-C6E2-4222-9BEA-1D78B3BFDF3B}" srcOrd="0" destOrd="0" presId="urn:microsoft.com/office/officeart/2018/2/layout/IconCircleList"/>
    <dgm:cxn modelId="{E5CD5350-24C6-4B48-AC3B-2602E95836B2}" srcId="{98FB671E-6884-4C97-A916-8CB059C3D7BC}" destId="{333A376C-A49C-4D80-BEA2-DA968116D9A5}" srcOrd="0" destOrd="0" parTransId="{E78E762C-07A4-498C-AE06-05910490D1AF}" sibTransId="{3626F55E-75CE-4CB5-BADE-13529D1A6815}"/>
    <dgm:cxn modelId="{7FE6076B-C9A0-479F-8442-0156162C2D73}" srcId="{98FB671E-6884-4C97-A916-8CB059C3D7BC}" destId="{2B2466CF-635C-400A-8C9B-6221D8D941CC}" srcOrd="4" destOrd="0" parTransId="{161FADB7-51FD-4D08-BD83-4AA78EC0175C}" sibTransId="{69F16060-AE6C-4AC4-B306-8AC050D9D153}"/>
    <dgm:cxn modelId="{FCA9F887-E3CB-4C9B-B173-4E89AF7C020D}" type="presOf" srcId="{98FB671E-6884-4C97-A916-8CB059C3D7BC}" destId="{D6BA3116-F86D-4870-97F1-0D333C23E43A}" srcOrd="0" destOrd="0" presId="urn:microsoft.com/office/officeart/2018/2/layout/IconCircleList"/>
    <dgm:cxn modelId="{EED46791-374C-49F0-9589-17BFF604839D}" type="presOf" srcId="{3626F55E-75CE-4CB5-BADE-13529D1A6815}" destId="{077924D6-8061-4D30-A331-3608C15C922F}" srcOrd="0" destOrd="0" presId="urn:microsoft.com/office/officeart/2018/2/layout/IconCircleList"/>
    <dgm:cxn modelId="{6C3690A5-EA81-4A4F-B56F-25E89CB15A4B}" srcId="{98FB671E-6884-4C97-A916-8CB059C3D7BC}" destId="{45D75D21-A558-4AD0-99F6-01215B44E1D2}" srcOrd="1" destOrd="0" parTransId="{1CF0DF27-8489-4E62-A768-A7DDEE74A314}" sibTransId="{4F0471D6-F28C-4A42-9715-6F970199C73F}"/>
    <dgm:cxn modelId="{5499C0A8-ED25-43D5-8BAF-DDA92CB25EC8}" type="presOf" srcId="{45D75D21-A558-4AD0-99F6-01215B44E1D2}" destId="{EC87B9DF-75C1-4E75-BA59-6731FCB4594E}" srcOrd="0" destOrd="0" presId="urn:microsoft.com/office/officeart/2018/2/layout/IconCircleList"/>
    <dgm:cxn modelId="{B608FEAC-026A-4268-9B1C-2144DFEED37A}" srcId="{98FB671E-6884-4C97-A916-8CB059C3D7BC}" destId="{644BACE0-E2A2-4695-8FCC-123375ED4506}" srcOrd="3" destOrd="0" parTransId="{F23189BB-EC78-491E-9585-895CC786F0A4}" sibTransId="{D4B86D74-574A-4603-BD48-6B193AD64517}"/>
    <dgm:cxn modelId="{7A06ADB4-CAF1-461B-B9A5-9D488F50F350}" type="presOf" srcId="{4F0471D6-F28C-4A42-9715-6F970199C73F}" destId="{A516774B-0EFF-4CDB-80A7-0C9365D4DA9E}" srcOrd="0" destOrd="0" presId="urn:microsoft.com/office/officeart/2018/2/layout/IconCircleList"/>
    <dgm:cxn modelId="{CCA610BE-FB93-441F-903D-661F6F170AD2}" type="presOf" srcId="{0BA71B15-606A-4F0C-8298-C350EEA30B5E}" destId="{3B29177B-E94E-426E-B9B4-616CC64942CC}" srcOrd="0" destOrd="0" presId="urn:microsoft.com/office/officeart/2018/2/layout/IconCircleList"/>
    <dgm:cxn modelId="{4A5E84F3-90DE-4A02-92CB-4A6C0E6DA325}" type="presOf" srcId="{2B2466CF-635C-400A-8C9B-6221D8D941CC}" destId="{0092F641-4C2B-48B9-A00E-AD9F6DB859BD}" srcOrd="0" destOrd="0" presId="urn:microsoft.com/office/officeart/2018/2/layout/IconCircleList"/>
    <dgm:cxn modelId="{7DA145F9-C022-41FC-8EAB-45C82CF17002}" srcId="{98FB671E-6884-4C97-A916-8CB059C3D7BC}" destId="{DC585ACD-97E3-41CD-B8EF-9F80BD9A55CF}" srcOrd="2" destOrd="0" parTransId="{64879BC8-4CBC-4467-B356-F7678493FE6F}" sibTransId="{0BA71B15-606A-4F0C-8298-C350EEA30B5E}"/>
    <dgm:cxn modelId="{17BFEFF9-99C4-4C89-B53C-2E4EDDBCF12E}" type="presOf" srcId="{333A376C-A49C-4D80-BEA2-DA968116D9A5}" destId="{78C64D63-97F4-4F88-AA5A-1641297B3850}" srcOrd="0" destOrd="0" presId="urn:microsoft.com/office/officeart/2018/2/layout/IconCircleList"/>
    <dgm:cxn modelId="{ECCBCA82-C517-424C-BF3B-81432000D07E}" type="presParOf" srcId="{D6BA3116-F86D-4870-97F1-0D333C23E43A}" destId="{3D807065-32D2-4A59-84C2-690FB082E67D}" srcOrd="0" destOrd="0" presId="urn:microsoft.com/office/officeart/2018/2/layout/IconCircleList"/>
    <dgm:cxn modelId="{A724C9FF-A0F0-4602-9464-9769C9FFD75A}" type="presParOf" srcId="{3D807065-32D2-4A59-84C2-690FB082E67D}" destId="{CF98AA3B-E17A-47EA-B9A7-26B8D9585050}" srcOrd="0" destOrd="0" presId="urn:microsoft.com/office/officeart/2018/2/layout/IconCircleList"/>
    <dgm:cxn modelId="{1AA845ED-85EB-4002-8969-53B6B0869137}" type="presParOf" srcId="{CF98AA3B-E17A-47EA-B9A7-26B8D9585050}" destId="{97EEF250-A26A-414F-B924-B33DC0CFEE55}" srcOrd="0" destOrd="0" presId="urn:microsoft.com/office/officeart/2018/2/layout/IconCircleList"/>
    <dgm:cxn modelId="{E7251CCF-BC7F-4FB0-B512-FD4F3B3DE1BE}" type="presParOf" srcId="{CF98AA3B-E17A-47EA-B9A7-26B8D9585050}" destId="{42D9BA1E-B36F-49FC-8ABE-83AE1DCD1DB5}" srcOrd="1" destOrd="0" presId="urn:microsoft.com/office/officeart/2018/2/layout/IconCircleList"/>
    <dgm:cxn modelId="{1E4AFE93-C2C5-4448-9971-16B41DEA2E0D}" type="presParOf" srcId="{CF98AA3B-E17A-47EA-B9A7-26B8D9585050}" destId="{49829A29-6B80-4A7A-9FF1-E7927C52290B}" srcOrd="2" destOrd="0" presId="urn:microsoft.com/office/officeart/2018/2/layout/IconCircleList"/>
    <dgm:cxn modelId="{CDF38194-FB73-4C66-AB94-BDA146F95BA5}" type="presParOf" srcId="{CF98AA3B-E17A-47EA-B9A7-26B8D9585050}" destId="{78C64D63-97F4-4F88-AA5A-1641297B3850}" srcOrd="3" destOrd="0" presId="urn:microsoft.com/office/officeart/2018/2/layout/IconCircleList"/>
    <dgm:cxn modelId="{27044370-1F7B-44B1-A376-17EEA03686C2}" type="presParOf" srcId="{3D807065-32D2-4A59-84C2-690FB082E67D}" destId="{077924D6-8061-4D30-A331-3608C15C922F}" srcOrd="1" destOrd="0" presId="urn:microsoft.com/office/officeart/2018/2/layout/IconCircleList"/>
    <dgm:cxn modelId="{401332E6-D45A-4D4D-8137-C596B70A81C9}" type="presParOf" srcId="{3D807065-32D2-4A59-84C2-690FB082E67D}" destId="{0B8765C2-D305-456B-A472-8400D098B3ED}" srcOrd="2" destOrd="0" presId="urn:microsoft.com/office/officeart/2018/2/layout/IconCircleList"/>
    <dgm:cxn modelId="{8C467FEC-17EB-4418-8999-32B32C3D4188}" type="presParOf" srcId="{0B8765C2-D305-456B-A472-8400D098B3ED}" destId="{0F8A0724-4FC6-4C2B-8907-7387CA403D7B}" srcOrd="0" destOrd="0" presId="urn:microsoft.com/office/officeart/2018/2/layout/IconCircleList"/>
    <dgm:cxn modelId="{47740174-8335-4E77-8229-69E88A01AF3D}" type="presParOf" srcId="{0B8765C2-D305-456B-A472-8400D098B3ED}" destId="{B5AB166A-5112-41BC-95BA-270DB1870368}" srcOrd="1" destOrd="0" presId="urn:microsoft.com/office/officeart/2018/2/layout/IconCircleList"/>
    <dgm:cxn modelId="{E0C78ED9-D330-468B-BD88-35D233F119C4}" type="presParOf" srcId="{0B8765C2-D305-456B-A472-8400D098B3ED}" destId="{0C89FF66-A1A5-42CD-90C6-8AE61CAEC36B}" srcOrd="2" destOrd="0" presId="urn:microsoft.com/office/officeart/2018/2/layout/IconCircleList"/>
    <dgm:cxn modelId="{E3288923-0A84-423A-907B-037A99F6BC6C}" type="presParOf" srcId="{0B8765C2-D305-456B-A472-8400D098B3ED}" destId="{EC87B9DF-75C1-4E75-BA59-6731FCB4594E}" srcOrd="3" destOrd="0" presId="urn:microsoft.com/office/officeart/2018/2/layout/IconCircleList"/>
    <dgm:cxn modelId="{4B2E2C4C-C4F7-4AF0-838F-047C3FB35941}" type="presParOf" srcId="{3D807065-32D2-4A59-84C2-690FB082E67D}" destId="{A516774B-0EFF-4CDB-80A7-0C9365D4DA9E}" srcOrd="3" destOrd="0" presId="urn:microsoft.com/office/officeart/2018/2/layout/IconCircleList"/>
    <dgm:cxn modelId="{599A8F4C-FB6C-4C74-B07D-581EE27473E0}" type="presParOf" srcId="{3D807065-32D2-4A59-84C2-690FB082E67D}" destId="{7BF776A4-6575-4410-9BDC-EA4E2199DBD9}" srcOrd="4" destOrd="0" presId="urn:microsoft.com/office/officeart/2018/2/layout/IconCircleList"/>
    <dgm:cxn modelId="{B0568297-46D0-4380-B9FD-90F90BD363B3}" type="presParOf" srcId="{7BF776A4-6575-4410-9BDC-EA4E2199DBD9}" destId="{15175EB9-C41C-4D0B-8979-F449ECD33464}" srcOrd="0" destOrd="0" presId="urn:microsoft.com/office/officeart/2018/2/layout/IconCircleList"/>
    <dgm:cxn modelId="{B02082B9-43F9-4C1B-BA99-CF8304FAA0DA}" type="presParOf" srcId="{7BF776A4-6575-4410-9BDC-EA4E2199DBD9}" destId="{E0467A5B-87A5-4081-B46B-477EC4FF1466}" srcOrd="1" destOrd="0" presId="urn:microsoft.com/office/officeart/2018/2/layout/IconCircleList"/>
    <dgm:cxn modelId="{6AD532BB-6A7A-4F53-BA15-0966140C71A7}" type="presParOf" srcId="{7BF776A4-6575-4410-9BDC-EA4E2199DBD9}" destId="{7FEDA599-99F5-4791-BFBA-B1E434BE851C}" srcOrd="2" destOrd="0" presId="urn:microsoft.com/office/officeart/2018/2/layout/IconCircleList"/>
    <dgm:cxn modelId="{6A1D0D84-7270-4A0C-9C88-323F55B11772}" type="presParOf" srcId="{7BF776A4-6575-4410-9BDC-EA4E2199DBD9}" destId="{BC2C5B03-C6E2-4222-9BEA-1D78B3BFDF3B}" srcOrd="3" destOrd="0" presId="urn:microsoft.com/office/officeart/2018/2/layout/IconCircleList"/>
    <dgm:cxn modelId="{9C248937-D717-43EF-9B66-15D5973EADDE}" type="presParOf" srcId="{3D807065-32D2-4A59-84C2-690FB082E67D}" destId="{3B29177B-E94E-426E-B9B4-616CC64942CC}" srcOrd="5" destOrd="0" presId="urn:microsoft.com/office/officeart/2018/2/layout/IconCircleList"/>
    <dgm:cxn modelId="{20877E33-9284-486F-9380-C92D33BA6160}" type="presParOf" srcId="{3D807065-32D2-4A59-84C2-690FB082E67D}" destId="{C3AE742F-8FD8-4AAB-A786-83B6183C3317}" srcOrd="6" destOrd="0" presId="urn:microsoft.com/office/officeart/2018/2/layout/IconCircleList"/>
    <dgm:cxn modelId="{65E78AE1-4EF3-4B1B-9FF4-CEC52BBF70FB}" type="presParOf" srcId="{C3AE742F-8FD8-4AAB-A786-83B6183C3317}" destId="{2F6A7465-5B06-4B3A-B6BB-E2619D1AAF98}" srcOrd="0" destOrd="0" presId="urn:microsoft.com/office/officeart/2018/2/layout/IconCircleList"/>
    <dgm:cxn modelId="{E8EA5C95-9EC7-4F30-B31F-B10F4547F4A5}" type="presParOf" srcId="{C3AE742F-8FD8-4AAB-A786-83B6183C3317}" destId="{65110C13-6AA3-452D-8BE8-AA44BC451E64}" srcOrd="1" destOrd="0" presId="urn:microsoft.com/office/officeart/2018/2/layout/IconCircleList"/>
    <dgm:cxn modelId="{5CEB73FD-D01F-44BD-8613-9721B13D3D35}" type="presParOf" srcId="{C3AE742F-8FD8-4AAB-A786-83B6183C3317}" destId="{AD2CC71E-C1DF-425B-97FD-F8F7CE2277BF}" srcOrd="2" destOrd="0" presId="urn:microsoft.com/office/officeart/2018/2/layout/IconCircleList"/>
    <dgm:cxn modelId="{448CC6B6-56E6-44BC-BC3D-4FCE3383B539}" type="presParOf" srcId="{C3AE742F-8FD8-4AAB-A786-83B6183C3317}" destId="{80510EFD-DF2E-4D11-978B-899930CBD03A}" srcOrd="3" destOrd="0" presId="urn:microsoft.com/office/officeart/2018/2/layout/IconCircleList"/>
    <dgm:cxn modelId="{60E04A95-D481-4F9B-A3DB-867EE25C5241}" type="presParOf" srcId="{3D807065-32D2-4A59-84C2-690FB082E67D}" destId="{BF4C5EEF-5A2F-4FA6-97E1-C9EDEE36B982}" srcOrd="7" destOrd="0" presId="urn:microsoft.com/office/officeart/2018/2/layout/IconCircleList"/>
    <dgm:cxn modelId="{B6F99183-AC87-493A-810D-0D9F2233BBAC}" type="presParOf" srcId="{3D807065-32D2-4A59-84C2-690FB082E67D}" destId="{40E2C5A5-15FA-4A9B-B302-E2F0BDEFA063}" srcOrd="8" destOrd="0" presId="urn:microsoft.com/office/officeart/2018/2/layout/IconCircleList"/>
    <dgm:cxn modelId="{106C2815-FC89-41A2-9D7D-CB961DF8D4E3}" type="presParOf" srcId="{40E2C5A5-15FA-4A9B-B302-E2F0BDEFA063}" destId="{6E35A99F-A27F-43F0-B599-959D654ED943}" srcOrd="0" destOrd="0" presId="urn:microsoft.com/office/officeart/2018/2/layout/IconCircleList"/>
    <dgm:cxn modelId="{872EA12D-D6AD-466C-8720-EE527B411967}" type="presParOf" srcId="{40E2C5A5-15FA-4A9B-B302-E2F0BDEFA063}" destId="{93F8F648-97E1-4225-9A93-376F3C82E6BD}" srcOrd="1" destOrd="0" presId="urn:microsoft.com/office/officeart/2018/2/layout/IconCircleList"/>
    <dgm:cxn modelId="{BFBF4D58-330B-485E-A0FB-1ABB17535B1B}" type="presParOf" srcId="{40E2C5A5-15FA-4A9B-B302-E2F0BDEFA063}" destId="{8657AD33-44D8-4526-97D8-C1D39FD607B3}" srcOrd="2" destOrd="0" presId="urn:microsoft.com/office/officeart/2018/2/layout/IconCircleList"/>
    <dgm:cxn modelId="{5133EAEB-D657-47E7-98BC-7B13CF2A9876}" type="presParOf" srcId="{40E2C5A5-15FA-4A9B-B302-E2F0BDEFA063}" destId="{0092F641-4C2B-48B9-A00E-AD9F6DB859B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ABB352-E4E7-446A-8301-09668E75831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A9C98D8-B5AF-4F1A-BF92-6AE98D4176A0}">
      <dgm:prSet/>
      <dgm:spPr/>
      <dgm:t>
        <a:bodyPr/>
        <a:lstStyle/>
        <a:p>
          <a:r>
            <a:rPr lang="en-GB"/>
            <a:t>In this chapter we have explored the potential of digital innovation, defined as the suite of technologies around the creation or capture, storage/retrieval, processing and communication of information and their combination into high level systems with emergent properties.</a:t>
          </a:r>
          <a:endParaRPr lang="en-US"/>
        </a:p>
      </dgm:t>
    </dgm:pt>
    <dgm:pt modelId="{D1F83FAF-AC70-4BE0-BCAC-666A729CF27B}" type="parTrans" cxnId="{58E27DA7-B35B-47C5-A7D3-7F6E296C0B49}">
      <dgm:prSet/>
      <dgm:spPr/>
      <dgm:t>
        <a:bodyPr/>
        <a:lstStyle/>
        <a:p>
          <a:endParaRPr lang="en-US"/>
        </a:p>
      </dgm:t>
    </dgm:pt>
    <dgm:pt modelId="{92C2FEAB-D34F-4733-8136-A4E75CDF875D}" type="sibTrans" cxnId="{58E27DA7-B35B-47C5-A7D3-7F6E296C0B49}">
      <dgm:prSet/>
      <dgm:spPr/>
      <dgm:t>
        <a:bodyPr/>
        <a:lstStyle/>
        <a:p>
          <a:endParaRPr lang="en-US"/>
        </a:p>
      </dgm:t>
    </dgm:pt>
    <dgm:pt modelId="{089CD366-AA9C-4712-AC6A-8021F377EAB0}">
      <dgm:prSet/>
      <dgm:spPr/>
      <dgm:t>
        <a:bodyPr/>
        <a:lstStyle/>
        <a:p>
          <a:r>
            <a:rPr lang="en-GB"/>
            <a:t>We have seen that although not new the momentum behind this technological wave has been building and has reached a maturity in development of key components and infrastructure that now enables system level solutions to be widely available across all spheres of social and economic activity</a:t>
          </a:r>
          <a:endParaRPr lang="en-US"/>
        </a:p>
      </dgm:t>
    </dgm:pt>
    <dgm:pt modelId="{43D5651E-51D5-44A1-B48C-1146F0818D5E}" type="parTrans" cxnId="{58736C58-5AE8-4E5B-AD19-9F692E34BFF5}">
      <dgm:prSet/>
      <dgm:spPr/>
      <dgm:t>
        <a:bodyPr/>
        <a:lstStyle/>
        <a:p>
          <a:endParaRPr lang="en-US"/>
        </a:p>
      </dgm:t>
    </dgm:pt>
    <dgm:pt modelId="{8E21E5AC-F36C-4C13-811C-B1841BB48A60}" type="sibTrans" cxnId="{58736C58-5AE8-4E5B-AD19-9F692E34BFF5}">
      <dgm:prSet/>
      <dgm:spPr/>
      <dgm:t>
        <a:bodyPr/>
        <a:lstStyle/>
        <a:p>
          <a:endParaRPr lang="en-US"/>
        </a:p>
      </dgm:t>
    </dgm:pt>
    <dgm:pt modelId="{6A3C679A-1A48-4FEB-A1F0-CE02EAD072E2}">
      <dgm:prSet/>
      <dgm:spPr/>
      <dgm:t>
        <a:bodyPr/>
        <a:lstStyle/>
        <a:p>
          <a:r>
            <a:rPr lang="en-GB"/>
            <a:t>Such a trend and the accompanying emergent properties of such systems qualify digital innovation for being considered as transformative, having many characteristics associated with long waves of economic and social change</a:t>
          </a:r>
          <a:endParaRPr lang="en-US"/>
        </a:p>
      </dgm:t>
    </dgm:pt>
    <dgm:pt modelId="{2197AAC6-D214-428E-9222-4E822BE0E774}" type="parTrans" cxnId="{E1397A37-BC9A-4A9E-96BC-0F97AE7541DF}">
      <dgm:prSet/>
      <dgm:spPr/>
      <dgm:t>
        <a:bodyPr/>
        <a:lstStyle/>
        <a:p>
          <a:endParaRPr lang="en-US"/>
        </a:p>
      </dgm:t>
    </dgm:pt>
    <dgm:pt modelId="{81B8E680-CE2A-499F-8B76-17BA97F66237}" type="sibTrans" cxnId="{E1397A37-BC9A-4A9E-96BC-0F97AE7541DF}">
      <dgm:prSet/>
      <dgm:spPr/>
      <dgm:t>
        <a:bodyPr/>
        <a:lstStyle/>
        <a:p>
          <a:endParaRPr lang="en-US"/>
        </a:p>
      </dgm:t>
    </dgm:pt>
    <dgm:pt modelId="{483A4B2C-EA92-9343-811C-0230E91C7F5D}" type="pres">
      <dgm:prSet presAssocID="{D2ABB352-E4E7-446A-8301-09668E758318}" presName="linear" presStyleCnt="0">
        <dgm:presLayoutVars>
          <dgm:animLvl val="lvl"/>
          <dgm:resizeHandles val="exact"/>
        </dgm:presLayoutVars>
      </dgm:prSet>
      <dgm:spPr/>
    </dgm:pt>
    <dgm:pt modelId="{C6E1E366-3B43-DF40-81B5-BBA1364FF1DA}" type="pres">
      <dgm:prSet presAssocID="{3A9C98D8-B5AF-4F1A-BF92-6AE98D4176A0}" presName="parentText" presStyleLbl="node1" presStyleIdx="0" presStyleCnt="3">
        <dgm:presLayoutVars>
          <dgm:chMax val="0"/>
          <dgm:bulletEnabled val="1"/>
        </dgm:presLayoutVars>
      </dgm:prSet>
      <dgm:spPr/>
    </dgm:pt>
    <dgm:pt modelId="{A2ED198C-E94D-E246-895D-D6174BBE3950}" type="pres">
      <dgm:prSet presAssocID="{92C2FEAB-D34F-4733-8136-A4E75CDF875D}" presName="spacer" presStyleCnt="0"/>
      <dgm:spPr/>
    </dgm:pt>
    <dgm:pt modelId="{3382F37D-2F42-E34E-8E20-481408AF8D7C}" type="pres">
      <dgm:prSet presAssocID="{089CD366-AA9C-4712-AC6A-8021F377EAB0}" presName="parentText" presStyleLbl="node1" presStyleIdx="1" presStyleCnt="3">
        <dgm:presLayoutVars>
          <dgm:chMax val="0"/>
          <dgm:bulletEnabled val="1"/>
        </dgm:presLayoutVars>
      </dgm:prSet>
      <dgm:spPr/>
    </dgm:pt>
    <dgm:pt modelId="{9190367B-0BE8-AF47-9F15-E8B8B7163FA0}" type="pres">
      <dgm:prSet presAssocID="{8E21E5AC-F36C-4C13-811C-B1841BB48A60}" presName="spacer" presStyleCnt="0"/>
      <dgm:spPr/>
    </dgm:pt>
    <dgm:pt modelId="{39AE16EB-8DE9-6548-BAD2-84DC359595FD}" type="pres">
      <dgm:prSet presAssocID="{6A3C679A-1A48-4FEB-A1F0-CE02EAD072E2}" presName="parentText" presStyleLbl="node1" presStyleIdx="2" presStyleCnt="3">
        <dgm:presLayoutVars>
          <dgm:chMax val="0"/>
          <dgm:bulletEnabled val="1"/>
        </dgm:presLayoutVars>
      </dgm:prSet>
      <dgm:spPr/>
    </dgm:pt>
  </dgm:ptLst>
  <dgm:cxnLst>
    <dgm:cxn modelId="{FD0C8109-5927-114E-A959-E4AE4E265735}" type="presOf" srcId="{D2ABB352-E4E7-446A-8301-09668E758318}" destId="{483A4B2C-EA92-9343-811C-0230E91C7F5D}" srcOrd="0" destOrd="0" presId="urn:microsoft.com/office/officeart/2005/8/layout/vList2"/>
    <dgm:cxn modelId="{E1397A37-BC9A-4A9E-96BC-0F97AE7541DF}" srcId="{D2ABB352-E4E7-446A-8301-09668E758318}" destId="{6A3C679A-1A48-4FEB-A1F0-CE02EAD072E2}" srcOrd="2" destOrd="0" parTransId="{2197AAC6-D214-428E-9222-4E822BE0E774}" sibTransId="{81B8E680-CE2A-499F-8B76-17BA97F66237}"/>
    <dgm:cxn modelId="{75005E3B-EC97-C64F-9C1F-01C64907C3F8}" type="presOf" srcId="{089CD366-AA9C-4712-AC6A-8021F377EAB0}" destId="{3382F37D-2F42-E34E-8E20-481408AF8D7C}" srcOrd="0" destOrd="0" presId="urn:microsoft.com/office/officeart/2005/8/layout/vList2"/>
    <dgm:cxn modelId="{65E6AC56-8262-9C44-97DC-710E5038AAC6}" type="presOf" srcId="{3A9C98D8-B5AF-4F1A-BF92-6AE98D4176A0}" destId="{C6E1E366-3B43-DF40-81B5-BBA1364FF1DA}" srcOrd="0" destOrd="0" presId="urn:microsoft.com/office/officeart/2005/8/layout/vList2"/>
    <dgm:cxn modelId="{58736C58-5AE8-4E5B-AD19-9F692E34BFF5}" srcId="{D2ABB352-E4E7-446A-8301-09668E758318}" destId="{089CD366-AA9C-4712-AC6A-8021F377EAB0}" srcOrd="1" destOrd="0" parTransId="{43D5651E-51D5-44A1-B48C-1146F0818D5E}" sibTransId="{8E21E5AC-F36C-4C13-811C-B1841BB48A60}"/>
    <dgm:cxn modelId="{EB58BE60-84CC-F942-8FDD-81BD164D35F3}" type="presOf" srcId="{6A3C679A-1A48-4FEB-A1F0-CE02EAD072E2}" destId="{39AE16EB-8DE9-6548-BAD2-84DC359595FD}" srcOrd="0" destOrd="0" presId="urn:microsoft.com/office/officeart/2005/8/layout/vList2"/>
    <dgm:cxn modelId="{58E27DA7-B35B-47C5-A7D3-7F6E296C0B49}" srcId="{D2ABB352-E4E7-446A-8301-09668E758318}" destId="{3A9C98D8-B5AF-4F1A-BF92-6AE98D4176A0}" srcOrd="0" destOrd="0" parTransId="{D1F83FAF-AC70-4BE0-BCAC-666A729CF27B}" sibTransId="{92C2FEAB-D34F-4733-8136-A4E75CDF875D}"/>
    <dgm:cxn modelId="{85787408-300B-774B-9E6D-72925606DA15}" type="presParOf" srcId="{483A4B2C-EA92-9343-811C-0230E91C7F5D}" destId="{C6E1E366-3B43-DF40-81B5-BBA1364FF1DA}" srcOrd="0" destOrd="0" presId="urn:microsoft.com/office/officeart/2005/8/layout/vList2"/>
    <dgm:cxn modelId="{3B4979D0-2533-C742-9508-F3F7913F32BC}" type="presParOf" srcId="{483A4B2C-EA92-9343-811C-0230E91C7F5D}" destId="{A2ED198C-E94D-E246-895D-D6174BBE3950}" srcOrd="1" destOrd="0" presId="urn:microsoft.com/office/officeart/2005/8/layout/vList2"/>
    <dgm:cxn modelId="{62ED77C9-9423-BC43-B383-1B3D1A697173}" type="presParOf" srcId="{483A4B2C-EA92-9343-811C-0230E91C7F5D}" destId="{3382F37D-2F42-E34E-8E20-481408AF8D7C}" srcOrd="2" destOrd="0" presId="urn:microsoft.com/office/officeart/2005/8/layout/vList2"/>
    <dgm:cxn modelId="{F145877C-66BE-C944-BDA2-0566E4A0E2AF}" type="presParOf" srcId="{483A4B2C-EA92-9343-811C-0230E91C7F5D}" destId="{9190367B-0BE8-AF47-9F15-E8B8B7163FA0}" srcOrd="3" destOrd="0" presId="urn:microsoft.com/office/officeart/2005/8/layout/vList2"/>
    <dgm:cxn modelId="{4EFEB9B6-416C-C049-99D1-CB0638EE5C67}" type="presParOf" srcId="{483A4B2C-EA92-9343-811C-0230E91C7F5D}" destId="{39AE16EB-8DE9-6548-BAD2-84DC359595F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880E9F-7427-4F06-A30F-6FF9DFE5536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5D7C24E-5294-437F-9BBC-29452A705050}">
      <dgm:prSet/>
      <dgm:spPr/>
      <dgm:t>
        <a:bodyPr/>
        <a:lstStyle/>
        <a:p>
          <a:r>
            <a:rPr lang="en-GB"/>
            <a:t>Digital innovation has two key implications for innovation management.  First in the outputs of the innovation system; there is enormous scope for applying the technology and the challenge is to explore innovation space as effectively as possible to find and exploit these opportunities.  At the same time the take-up of the technologies is limited by the availability of skills, structures and business models to enable them and so building these into digital innovation strategies will be important.</a:t>
          </a:r>
          <a:endParaRPr lang="en-US"/>
        </a:p>
      </dgm:t>
    </dgm:pt>
    <dgm:pt modelId="{0811A7B9-D474-4F00-926B-0E51BE24A75E}" type="parTrans" cxnId="{ABCE7B63-0E90-4DF2-B0BE-C4F323B99646}">
      <dgm:prSet/>
      <dgm:spPr/>
      <dgm:t>
        <a:bodyPr/>
        <a:lstStyle/>
        <a:p>
          <a:endParaRPr lang="en-US"/>
        </a:p>
      </dgm:t>
    </dgm:pt>
    <dgm:pt modelId="{6D95CCE5-98D2-45C6-A5F8-6CF2D688FDF0}" type="sibTrans" cxnId="{ABCE7B63-0E90-4DF2-B0BE-C4F323B99646}">
      <dgm:prSet/>
      <dgm:spPr/>
      <dgm:t>
        <a:bodyPr/>
        <a:lstStyle/>
        <a:p>
          <a:endParaRPr lang="en-US"/>
        </a:p>
      </dgm:t>
    </dgm:pt>
    <dgm:pt modelId="{48F28013-55C0-4E61-BA48-A17FE7069613}">
      <dgm:prSet/>
      <dgm:spPr/>
      <dgm:t>
        <a:bodyPr/>
        <a:lstStyle/>
        <a:p>
          <a:r>
            <a:rPr lang="en-GB"/>
            <a:t>In terms of its implications for the process of innovation itself digital innovation offers a wide range of new and improved tools with which to work right across the process.  Once again this has skills and capability building implications</a:t>
          </a:r>
          <a:endParaRPr lang="en-US"/>
        </a:p>
      </dgm:t>
    </dgm:pt>
    <dgm:pt modelId="{DABE354C-10B1-4827-A3FA-36B8D4B9FB14}" type="parTrans" cxnId="{3672E50A-7A96-44AE-84DD-B5396262EF51}">
      <dgm:prSet/>
      <dgm:spPr/>
      <dgm:t>
        <a:bodyPr/>
        <a:lstStyle/>
        <a:p>
          <a:endParaRPr lang="en-US"/>
        </a:p>
      </dgm:t>
    </dgm:pt>
    <dgm:pt modelId="{D91AC4AD-3703-42A0-BE0C-8865B16C630A}" type="sibTrans" cxnId="{3672E50A-7A96-44AE-84DD-B5396262EF51}">
      <dgm:prSet/>
      <dgm:spPr/>
      <dgm:t>
        <a:bodyPr/>
        <a:lstStyle/>
        <a:p>
          <a:endParaRPr lang="en-US"/>
        </a:p>
      </dgm:t>
    </dgm:pt>
    <dgm:pt modelId="{E2A55CC5-D383-5441-958E-6B8715AE5C67}" type="pres">
      <dgm:prSet presAssocID="{9C880E9F-7427-4F06-A30F-6FF9DFE5536F}" presName="linear" presStyleCnt="0">
        <dgm:presLayoutVars>
          <dgm:animLvl val="lvl"/>
          <dgm:resizeHandles val="exact"/>
        </dgm:presLayoutVars>
      </dgm:prSet>
      <dgm:spPr/>
    </dgm:pt>
    <dgm:pt modelId="{F5611291-F03D-9E4A-9D36-F5529D7D5A9A}" type="pres">
      <dgm:prSet presAssocID="{F5D7C24E-5294-437F-9BBC-29452A705050}" presName="parentText" presStyleLbl="node1" presStyleIdx="0" presStyleCnt="2">
        <dgm:presLayoutVars>
          <dgm:chMax val="0"/>
          <dgm:bulletEnabled val="1"/>
        </dgm:presLayoutVars>
      </dgm:prSet>
      <dgm:spPr/>
    </dgm:pt>
    <dgm:pt modelId="{A5376395-CF0A-0540-B61F-7424E99C30D9}" type="pres">
      <dgm:prSet presAssocID="{6D95CCE5-98D2-45C6-A5F8-6CF2D688FDF0}" presName="spacer" presStyleCnt="0"/>
      <dgm:spPr/>
    </dgm:pt>
    <dgm:pt modelId="{889B725B-EFDA-8C47-A63B-E0D59AFFCF2D}" type="pres">
      <dgm:prSet presAssocID="{48F28013-55C0-4E61-BA48-A17FE7069613}" presName="parentText" presStyleLbl="node1" presStyleIdx="1" presStyleCnt="2">
        <dgm:presLayoutVars>
          <dgm:chMax val="0"/>
          <dgm:bulletEnabled val="1"/>
        </dgm:presLayoutVars>
      </dgm:prSet>
      <dgm:spPr/>
    </dgm:pt>
  </dgm:ptLst>
  <dgm:cxnLst>
    <dgm:cxn modelId="{3672E50A-7A96-44AE-84DD-B5396262EF51}" srcId="{9C880E9F-7427-4F06-A30F-6FF9DFE5536F}" destId="{48F28013-55C0-4E61-BA48-A17FE7069613}" srcOrd="1" destOrd="0" parTransId="{DABE354C-10B1-4827-A3FA-36B8D4B9FB14}" sibTransId="{D91AC4AD-3703-42A0-BE0C-8865B16C630A}"/>
    <dgm:cxn modelId="{DD2BB85D-A0FD-7442-AA0A-61011FA147AD}" type="presOf" srcId="{48F28013-55C0-4E61-BA48-A17FE7069613}" destId="{889B725B-EFDA-8C47-A63B-E0D59AFFCF2D}" srcOrd="0" destOrd="0" presId="urn:microsoft.com/office/officeart/2005/8/layout/vList2"/>
    <dgm:cxn modelId="{ABCE7B63-0E90-4DF2-B0BE-C4F323B99646}" srcId="{9C880E9F-7427-4F06-A30F-6FF9DFE5536F}" destId="{F5D7C24E-5294-437F-9BBC-29452A705050}" srcOrd="0" destOrd="0" parTransId="{0811A7B9-D474-4F00-926B-0E51BE24A75E}" sibTransId="{6D95CCE5-98D2-45C6-A5F8-6CF2D688FDF0}"/>
    <dgm:cxn modelId="{B1097081-C658-794C-9B28-62D347AEE497}" type="presOf" srcId="{F5D7C24E-5294-437F-9BBC-29452A705050}" destId="{F5611291-F03D-9E4A-9D36-F5529D7D5A9A}" srcOrd="0" destOrd="0" presId="urn:microsoft.com/office/officeart/2005/8/layout/vList2"/>
    <dgm:cxn modelId="{DD40AB83-625C-1D44-977A-2035BFA19F4F}" type="presOf" srcId="{9C880E9F-7427-4F06-A30F-6FF9DFE5536F}" destId="{E2A55CC5-D383-5441-958E-6B8715AE5C67}" srcOrd="0" destOrd="0" presId="urn:microsoft.com/office/officeart/2005/8/layout/vList2"/>
    <dgm:cxn modelId="{D257E4A5-4DF9-EF41-B1C4-26907E5E55FE}" type="presParOf" srcId="{E2A55CC5-D383-5441-958E-6B8715AE5C67}" destId="{F5611291-F03D-9E4A-9D36-F5529D7D5A9A}" srcOrd="0" destOrd="0" presId="urn:microsoft.com/office/officeart/2005/8/layout/vList2"/>
    <dgm:cxn modelId="{010304D9-4FD8-EC41-97ED-CD2AFE447DF0}" type="presParOf" srcId="{E2A55CC5-D383-5441-958E-6B8715AE5C67}" destId="{A5376395-CF0A-0540-B61F-7424E99C30D9}" srcOrd="1" destOrd="0" presId="urn:microsoft.com/office/officeart/2005/8/layout/vList2"/>
    <dgm:cxn modelId="{31D18E5D-245A-1F4A-93B1-18DE779755A2}" type="presParOf" srcId="{E2A55CC5-D383-5441-958E-6B8715AE5C67}" destId="{889B725B-EFDA-8C47-A63B-E0D59AFFCF2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79E3E0-5E40-4AE0-BB22-5ED6FDA971C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2409161-A8B7-4CA9-A149-7DB27232C800}">
      <dgm:prSet/>
      <dgm:spPr/>
      <dgm:t>
        <a:bodyPr/>
        <a:lstStyle/>
        <a:p>
          <a:r>
            <a:rPr lang="en-GB"/>
            <a:t>There are also new challenges for innovation management emerging from the need to learn to operate at system level, co-ordinating and orchestrating the efforts of multiple actors and stakeholders in wider innovation ecosystems</a:t>
          </a:r>
          <a:endParaRPr lang="en-US"/>
        </a:p>
      </dgm:t>
    </dgm:pt>
    <dgm:pt modelId="{2EDC9500-4DC6-4733-953A-4F5EF437A1FF}" type="parTrans" cxnId="{A6C0640B-3523-4B61-8E4F-BCC0BA79E8D6}">
      <dgm:prSet/>
      <dgm:spPr/>
      <dgm:t>
        <a:bodyPr/>
        <a:lstStyle/>
        <a:p>
          <a:endParaRPr lang="en-US"/>
        </a:p>
      </dgm:t>
    </dgm:pt>
    <dgm:pt modelId="{973D48CC-049F-4BBA-9DE9-AF2959EF934A}" type="sibTrans" cxnId="{A6C0640B-3523-4B61-8E4F-BCC0BA79E8D6}">
      <dgm:prSet/>
      <dgm:spPr/>
      <dgm:t>
        <a:bodyPr/>
        <a:lstStyle/>
        <a:p>
          <a:endParaRPr lang="en-US"/>
        </a:p>
      </dgm:t>
    </dgm:pt>
    <dgm:pt modelId="{FC16E473-5E3B-4AB1-A48B-08B09C2FD78C}">
      <dgm:prSet/>
      <dgm:spPr/>
      <dgm:t>
        <a:bodyPr/>
        <a:lstStyle/>
        <a:p>
          <a:r>
            <a:rPr lang="en-GB"/>
            <a:t>The transformative potential of digital innovation raises questions about the purposes and consequences of such a trajectory and this underlines the need for a ‘responsible innovation’ approach</a:t>
          </a:r>
          <a:endParaRPr lang="en-US"/>
        </a:p>
      </dgm:t>
    </dgm:pt>
    <dgm:pt modelId="{2AA993F2-D108-4BBD-BEF7-DB41D613ACF6}" type="parTrans" cxnId="{1CF1EF3D-D1F3-4F60-ACB5-79A9596324F0}">
      <dgm:prSet/>
      <dgm:spPr/>
      <dgm:t>
        <a:bodyPr/>
        <a:lstStyle/>
        <a:p>
          <a:endParaRPr lang="en-US"/>
        </a:p>
      </dgm:t>
    </dgm:pt>
    <dgm:pt modelId="{E7453CE4-26F3-466E-8376-BD495D4AE62A}" type="sibTrans" cxnId="{1CF1EF3D-D1F3-4F60-ACB5-79A9596324F0}">
      <dgm:prSet/>
      <dgm:spPr/>
      <dgm:t>
        <a:bodyPr/>
        <a:lstStyle/>
        <a:p>
          <a:endParaRPr lang="en-US"/>
        </a:p>
      </dgm:t>
    </dgm:pt>
    <dgm:pt modelId="{2D3213E5-EC80-684B-ACA8-549D7828A4ED}" type="pres">
      <dgm:prSet presAssocID="{A879E3E0-5E40-4AE0-BB22-5ED6FDA971CC}" presName="linear" presStyleCnt="0">
        <dgm:presLayoutVars>
          <dgm:animLvl val="lvl"/>
          <dgm:resizeHandles val="exact"/>
        </dgm:presLayoutVars>
      </dgm:prSet>
      <dgm:spPr/>
    </dgm:pt>
    <dgm:pt modelId="{69A476B2-9B9B-184C-A25C-8924FF27D51F}" type="pres">
      <dgm:prSet presAssocID="{72409161-A8B7-4CA9-A149-7DB27232C800}" presName="parentText" presStyleLbl="node1" presStyleIdx="0" presStyleCnt="2">
        <dgm:presLayoutVars>
          <dgm:chMax val="0"/>
          <dgm:bulletEnabled val="1"/>
        </dgm:presLayoutVars>
      </dgm:prSet>
      <dgm:spPr/>
    </dgm:pt>
    <dgm:pt modelId="{A1B5E269-48F9-C440-B8EC-4A0ECD478137}" type="pres">
      <dgm:prSet presAssocID="{973D48CC-049F-4BBA-9DE9-AF2959EF934A}" presName="spacer" presStyleCnt="0"/>
      <dgm:spPr/>
    </dgm:pt>
    <dgm:pt modelId="{3F6DB6AE-D27F-F048-BC62-2EB97A023FAE}" type="pres">
      <dgm:prSet presAssocID="{FC16E473-5E3B-4AB1-A48B-08B09C2FD78C}" presName="parentText" presStyleLbl="node1" presStyleIdx="1" presStyleCnt="2">
        <dgm:presLayoutVars>
          <dgm:chMax val="0"/>
          <dgm:bulletEnabled val="1"/>
        </dgm:presLayoutVars>
      </dgm:prSet>
      <dgm:spPr/>
    </dgm:pt>
  </dgm:ptLst>
  <dgm:cxnLst>
    <dgm:cxn modelId="{A6C0640B-3523-4B61-8E4F-BCC0BA79E8D6}" srcId="{A879E3E0-5E40-4AE0-BB22-5ED6FDA971CC}" destId="{72409161-A8B7-4CA9-A149-7DB27232C800}" srcOrd="0" destOrd="0" parTransId="{2EDC9500-4DC6-4733-953A-4F5EF437A1FF}" sibTransId="{973D48CC-049F-4BBA-9DE9-AF2959EF934A}"/>
    <dgm:cxn modelId="{1CF1EF3D-D1F3-4F60-ACB5-79A9596324F0}" srcId="{A879E3E0-5E40-4AE0-BB22-5ED6FDA971CC}" destId="{FC16E473-5E3B-4AB1-A48B-08B09C2FD78C}" srcOrd="1" destOrd="0" parTransId="{2AA993F2-D108-4BBD-BEF7-DB41D613ACF6}" sibTransId="{E7453CE4-26F3-466E-8376-BD495D4AE62A}"/>
    <dgm:cxn modelId="{2D460456-A1CD-E74A-9E8F-1A982A92DA9F}" type="presOf" srcId="{72409161-A8B7-4CA9-A149-7DB27232C800}" destId="{69A476B2-9B9B-184C-A25C-8924FF27D51F}" srcOrd="0" destOrd="0" presId="urn:microsoft.com/office/officeart/2005/8/layout/vList2"/>
    <dgm:cxn modelId="{5640CF66-8B6A-DD4A-AF75-8B0B82758EEF}" type="presOf" srcId="{A879E3E0-5E40-4AE0-BB22-5ED6FDA971CC}" destId="{2D3213E5-EC80-684B-ACA8-549D7828A4ED}" srcOrd="0" destOrd="0" presId="urn:microsoft.com/office/officeart/2005/8/layout/vList2"/>
    <dgm:cxn modelId="{DF52C46C-1FD7-124C-8BE9-8CC5FC4145FC}" type="presOf" srcId="{FC16E473-5E3B-4AB1-A48B-08B09C2FD78C}" destId="{3F6DB6AE-D27F-F048-BC62-2EB97A023FAE}" srcOrd="0" destOrd="0" presId="urn:microsoft.com/office/officeart/2005/8/layout/vList2"/>
    <dgm:cxn modelId="{CF914860-98FF-EB4A-8B7A-154758A3EB51}" type="presParOf" srcId="{2D3213E5-EC80-684B-ACA8-549D7828A4ED}" destId="{69A476B2-9B9B-184C-A25C-8924FF27D51F}" srcOrd="0" destOrd="0" presId="urn:microsoft.com/office/officeart/2005/8/layout/vList2"/>
    <dgm:cxn modelId="{6D67DA1F-FE6B-7541-89E6-E1DEFF497AD4}" type="presParOf" srcId="{2D3213E5-EC80-684B-ACA8-549D7828A4ED}" destId="{A1B5E269-48F9-C440-B8EC-4A0ECD478137}" srcOrd="1" destOrd="0" presId="urn:microsoft.com/office/officeart/2005/8/layout/vList2"/>
    <dgm:cxn modelId="{BFC81D44-1887-1E46-8A91-4CA94B478713}" type="presParOf" srcId="{2D3213E5-EC80-684B-ACA8-549D7828A4ED}" destId="{3F6DB6AE-D27F-F048-BC62-2EB97A023FA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EF250-A26A-414F-B924-B33DC0CFEE55}">
      <dsp:nvSpPr>
        <dsp:cNvPr id="0" name=""/>
        <dsp:cNvSpPr/>
      </dsp:nvSpPr>
      <dsp:spPr>
        <a:xfrm>
          <a:off x="426530"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D9BA1E-B36F-49FC-8ABE-83AE1DCD1DB5}">
      <dsp:nvSpPr>
        <dsp:cNvPr id="0" name=""/>
        <dsp:cNvSpPr/>
      </dsp:nvSpPr>
      <dsp:spPr>
        <a:xfrm>
          <a:off x="631609" y="233801"/>
          <a:ext cx="566406" cy="5664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C64D63-97F4-4F88-AA5A-1641297B3850}">
      <dsp:nvSpPr>
        <dsp:cNvPr id="0" name=""/>
        <dsp:cNvSpPr/>
      </dsp:nvSpPr>
      <dsp:spPr>
        <a:xfrm>
          <a:off x="1612357"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kern="1200"/>
            <a:t>By the end of this chapter you will have an understanding of:</a:t>
          </a:r>
          <a:endParaRPr lang="en-US" sz="1500" kern="1200"/>
        </a:p>
      </dsp:txBody>
      <dsp:txXfrm>
        <a:off x="1612357" y="28723"/>
        <a:ext cx="2301898" cy="976563"/>
      </dsp:txXfrm>
    </dsp:sp>
    <dsp:sp modelId="{0F8A0724-4FC6-4C2B-8907-7387CA403D7B}">
      <dsp:nvSpPr>
        <dsp:cNvPr id="0" name=""/>
        <dsp:cNvSpPr/>
      </dsp:nvSpPr>
      <dsp:spPr>
        <a:xfrm>
          <a:off x="4315344"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AB166A-5112-41BC-95BA-270DB1870368}">
      <dsp:nvSpPr>
        <dsp:cNvPr id="0" name=""/>
        <dsp:cNvSpPr/>
      </dsp:nvSpPr>
      <dsp:spPr>
        <a:xfrm>
          <a:off x="4520422" y="233801"/>
          <a:ext cx="566406" cy="5664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87B9DF-75C1-4E75-BA59-6731FCB4594E}">
      <dsp:nvSpPr>
        <dsp:cNvPr id="0" name=""/>
        <dsp:cNvSpPr/>
      </dsp:nvSpPr>
      <dsp:spPr>
        <a:xfrm>
          <a:off x="5501170"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kern="1200" dirty="0"/>
            <a:t>The nature and origins of digital innovation</a:t>
          </a:r>
          <a:endParaRPr lang="en-US" sz="1500" kern="1200" dirty="0"/>
        </a:p>
      </dsp:txBody>
      <dsp:txXfrm>
        <a:off x="5501170" y="28723"/>
        <a:ext cx="2301898" cy="976563"/>
      </dsp:txXfrm>
    </dsp:sp>
    <dsp:sp modelId="{15175EB9-C41C-4D0B-8979-F449ECD33464}">
      <dsp:nvSpPr>
        <dsp:cNvPr id="0" name=""/>
        <dsp:cNvSpPr/>
      </dsp:nvSpPr>
      <dsp:spPr>
        <a:xfrm>
          <a:off x="426530"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467A5B-87A5-4081-B46B-477EC4FF1466}">
      <dsp:nvSpPr>
        <dsp:cNvPr id="0" name=""/>
        <dsp:cNvSpPr/>
      </dsp:nvSpPr>
      <dsp:spPr>
        <a:xfrm>
          <a:off x="631609" y="1979778"/>
          <a:ext cx="566406" cy="5664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2C5B03-C6E2-4222-9BEA-1D78B3BFDF3B}">
      <dsp:nvSpPr>
        <dsp:cNvPr id="0" name=""/>
        <dsp:cNvSpPr/>
      </dsp:nvSpPr>
      <dsp:spPr>
        <a:xfrm>
          <a:off x="1612357"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kern="1200"/>
            <a:t>The case for seeing it as a transformative technology with pervasive impacts across all sectors</a:t>
          </a:r>
          <a:endParaRPr lang="en-US" sz="1500" kern="1200"/>
        </a:p>
      </dsp:txBody>
      <dsp:txXfrm>
        <a:off x="1612357" y="1774700"/>
        <a:ext cx="2301898" cy="976563"/>
      </dsp:txXfrm>
    </dsp:sp>
    <dsp:sp modelId="{2F6A7465-5B06-4B3A-B6BB-E2619D1AAF98}">
      <dsp:nvSpPr>
        <dsp:cNvPr id="0" name=""/>
        <dsp:cNvSpPr/>
      </dsp:nvSpPr>
      <dsp:spPr>
        <a:xfrm>
          <a:off x="4315344"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110C13-6AA3-452D-8BE8-AA44BC451E64}">
      <dsp:nvSpPr>
        <dsp:cNvPr id="0" name=""/>
        <dsp:cNvSpPr/>
      </dsp:nvSpPr>
      <dsp:spPr>
        <a:xfrm>
          <a:off x="4520422" y="1979778"/>
          <a:ext cx="566406" cy="5664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510EFD-DF2E-4D11-978B-899930CBD03A}">
      <dsp:nvSpPr>
        <dsp:cNvPr id="0" name=""/>
        <dsp:cNvSpPr/>
      </dsp:nvSpPr>
      <dsp:spPr>
        <a:xfrm>
          <a:off x="5501170"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kern="1200"/>
            <a:t>The role it can play in innovation management by providing powerful new tools to support the process</a:t>
          </a:r>
          <a:endParaRPr lang="en-US" sz="1500" kern="1200"/>
        </a:p>
      </dsp:txBody>
      <dsp:txXfrm>
        <a:off x="5501170" y="1774700"/>
        <a:ext cx="2301898" cy="976563"/>
      </dsp:txXfrm>
    </dsp:sp>
    <dsp:sp modelId="{6E35A99F-A27F-43F0-B599-959D654ED943}">
      <dsp:nvSpPr>
        <dsp:cNvPr id="0" name=""/>
        <dsp:cNvSpPr/>
      </dsp:nvSpPr>
      <dsp:spPr>
        <a:xfrm>
          <a:off x="426530" y="3520676"/>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F8F648-97E1-4225-9A93-376F3C82E6BD}">
      <dsp:nvSpPr>
        <dsp:cNvPr id="0" name=""/>
        <dsp:cNvSpPr/>
      </dsp:nvSpPr>
      <dsp:spPr>
        <a:xfrm>
          <a:off x="631609" y="3725754"/>
          <a:ext cx="566406" cy="56640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92F641-4C2B-48B9-A00E-AD9F6DB859BD}">
      <dsp:nvSpPr>
        <dsp:cNvPr id="0" name=""/>
        <dsp:cNvSpPr/>
      </dsp:nvSpPr>
      <dsp:spPr>
        <a:xfrm>
          <a:off x="1612357" y="3520676"/>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kern="1200"/>
            <a:t>The wider management implications, especially in learning to operate at a system level</a:t>
          </a:r>
          <a:endParaRPr lang="en-US" sz="1500" kern="1200"/>
        </a:p>
      </dsp:txBody>
      <dsp:txXfrm>
        <a:off x="1612357" y="3520676"/>
        <a:ext cx="2301898" cy="976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1E366-3B43-DF40-81B5-BBA1364FF1DA}">
      <dsp:nvSpPr>
        <dsp:cNvPr id="0" name=""/>
        <dsp:cNvSpPr/>
      </dsp:nvSpPr>
      <dsp:spPr>
        <a:xfrm>
          <a:off x="0" y="76643"/>
          <a:ext cx="3943350" cy="17550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In this chapter we have explored the potential of digital innovation, defined as the suite of technologies around the creation or capture, storage/retrieval, processing and communication of information and their combination into high level systems with emergent properties.</a:t>
          </a:r>
          <a:endParaRPr lang="en-US" sz="1500" kern="1200"/>
        </a:p>
      </dsp:txBody>
      <dsp:txXfrm>
        <a:off x="85672" y="162315"/>
        <a:ext cx="3772006" cy="1583656"/>
      </dsp:txXfrm>
    </dsp:sp>
    <dsp:sp modelId="{3382F37D-2F42-E34E-8E20-481408AF8D7C}">
      <dsp:nvSpPr>
        <dsp:cNvPr id="0" name=""/>
        <dsp:cNvSpPr/>
      </dsp:nvSpPr>
      <dsp:spPr>
        <a:xfrm>
          <a:off x="0" y="1874843"/>
          <a:ext cx="3943350" cy="175500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We have seen that although not new the momentum behind this technological wave has been building and has reached a maturity in development of key components and infrastructure that now enables system level solutions to be widely available across all spheres of social and economic activity</a:t>
          </a:r>
          <a:endParaRPr lang="en-US" sz="1500" kern="1200"/>
        </a:p>
      </dsp:txBody>
      <dsp:txXfrm>
        <a:off x="85672" y="1960515"/>
        <a:ext cx="3772006" cy="1583656"/>
      </dsp:txXfrm>
    </dsp:sp>
    <dsp:sp modelId="{39AE16EB-8DE9-6548-BAD2-84DC359595FD}">
      <dsp:nvSpPr>
        <dsp:cNvPr id="0" name=""/>
        <dsp:cNvSpPr/>
      </dsp:nvSpPr>
      <dsp:spPr>
        <a:xfrm>
          <a:off x="0" y="3673044"/>
          <a:ext cx="3943350" cy="175500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Such a trend and the accompanying emergent properties of such systems qualify digital innovation for being considered as transformative, having many characteristics associated with long waves of economic and social change</a:t>
          </a:r>
          <a:endParaRPr lang="en-US" sz="1500" kern="1200"/>
        </a:p>
      </dsp:txBody>
      <dsp:txXfrm>
        <a:off x="85672" y="3758716"/>
        <a:ext cx="3772006" cy="15836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11291-F03D-9E4A-9D36-F5529D7D5A9A}">
      <dsp:nvSpPr>
        <dsp:cNvPr id="0" name=""/>
        <dsp:cNvSpPr/>
      </dsp:nvSpPr>
      <dsp:spPr>
        <a:xfrm>
          <a:off x="0" y="176904"/>
          <a:ext cx="3943350" cy="255527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Digital innovation has two key implications for innovation management.  First in the outputs of the innovation system; there is enormous scope for applying the technology and the challenge is to explore innovation space as effectively as possible to find and exploit these opportunities.  At the same time the take-up of the technologies is limited by the availability of skills, structures and business models to enable them and so building these into digital innovation strategies will be important.</a:t>
          </a:r>
          <a:endParaRPr lang="en-US" sz="1400" kern="1200"/>
        </a:p>
      </dsp:txBody>
      <dsp:txXfrm>
        <a:off x="124738" y="301642"/>
        <a:ext cx="3693874" cy="2305803"/>
      </dsp:txXfrm>
    </dsp:sp>
    <dsp:sp modelId="{889B725B-EFDA-8C47-A63B-E0D59AFFCF2D}">
      <dsp:nvSpPr>
        <dsp:cNvPr id="0" name=""/>
        <dsp:cNvSpPr/>
      </dsp:nvSpPr>
      <dsp:spPr>
        <a:xfrm>
          <a:off x="0" y="2772504"/>
          <a:ext cx="3943350" cy="255527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In terms of its implications for the process of innovation itself digital innovation offers a wide range of new and improved tools with which to work right across the process.  Once again this has skills and capability building implications</a:t>
          </a:r>
          <a:endParaRPr lang="en-US" sz="1400" kern="1200"/>
        </a:p>
      </dsp:txBody>
      <dsp:txXfrm>
        <a:off x="124738" y="2897242"/>
        <a:ext cx="3693874" cy="23058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476B2-9B9B-184C-A25C-8924FF27D51F}">
      <dsp:nvSpPr>
        <dsp:cNvPr id="0" name=""/>
        <dsp:cNvSpPr/>
      </dsp:nvSpPr>
      <dsp:spPr>
        <a:xfrm>
          <a:off x="0" y="55943"/>
          <a:ext cx="3943350" cy="26676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There are also new challenges for innovation management emerging from the need to learn to operate at system level, co-ordinating and orchestrating the efforts of multiple actors and stakeholders in wider innovation ecosystems</a:t>
          </a:r>
          <a:endParaRPr lang="en-US" sz="2000" kern="1200"/>
        </a:p>
      </dsp:txBody>
      <dsp:txXfrm>
        <a:off x="130221" y="186164"/>
        <a:ext cx="3682908" cy="2407158"/>
      </dsp:txXfrm>
    </dsp:sp>
    <dsp:sp modelId="{3F6DB6AE-D27F-F048-BC62-2EB97A023FAE}">
      <dsp:nvSpPr>
        <dsp:cNvPr id="0" name=""/>
        <dsp:cNvSpPr/>
      </dsp:nvSpPr>
      <dsp:spPr>
        <a:xfrm>
          <a:off x="0" y="2781143"/>
          <a:ext cx="3943350" cy="26676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The transformative potential of digital innovation raises questions about the purposes and consequences of such a trajectory and this underlines the need for a ‘responsible innovation’ approach</a:t>
          </a:r>
          <a:endParaRPr lang="en-US" sz="2000" kern="1200"/>
        </a:p>
      </dsp:txBody>
      <dsp:txXfrm>
        <a:off x="130221" y="2911364"/>
        <a:ext cx="3682908" cy="240715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B2435B-43FA-6742-AE18-CD5728272783}" type="datetimeFigureOut">
              <a:rPr lang="en-US" smtClean="0"/>
              <a:t>11/2/24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A50D87-CEDD-504B-B073-E5B15115795C}" type="slidenum">
              <a:rPr lang="en-US" smtClean="0"/>
              <a:t>‹#›</a:t>
            </a:fld>
            <a:endParaRPr lang="en-US"/>
          </a:p>
        </p:txBody>
      </p:sp>
    </p:spTree>
    <p:extLst>
      <p:ext uri="{BB962C8B-B14F-4D97-AF65-F5344CB8AC3E}">
        <p14:creationId xmlns:p14="http://schemas.microsoft.com/office/powerpoint/2010/main" val="1790765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A50D87-CEDD-504B-B073-E5B15115795C}" type="slidenum">
              <a:rPr lang="en-US" smtClean="0"/>
              <a:t>1</a:t>
            </a:fld>
            <a:endParaRPr lang="en-US"/>
          </a:p>
        </p:txBody>
      </p:sp>
    </p:spTree>
    <p:extLst>
      <p:ext uri="{BB962C8B-B14F-4D97-AF65-F5344CB8AC3E}">
        <p14:creationId xmlns:p14="http://schemas.microsoft.com/office/powerpoint/2010/main" val="156463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A50D87-CEDD-504B-B073-E5B15115795C}" type="slidenum">
              <a:rPr lang="en-US" smtClean="0"/>
              <a:t>17</a:t>
            </a:fld>
            <a:endParaRPr lang="en-US"/>
          </a:p>
        </p:txBody>
      </p:sp>
    </p:spTree>
    <p:extLst>
      <p:ext uri="{BB962C8B-B14F-4D97-AF65-F5344CB8AC3E}">
        <p14:creationId xmlns:p14="http://schemas.microsoft.com/office/powerpoint/2010/main" val="2225879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22</a:t>
            </a:fld>
            <a:endParaRPr lang="en-GB"/>
          </a:p>
        </p:txBody>
      </p:sp>
    </p:spTree>
    <p:extLst>
      <p:ext uri="{BB962C8B-B14F-4D97-AF65-F5344CB8AC3E}">
        <p14:creationId xmlns:p14="http://schemas.microsoft.com/office/powerpoint/2010/main" val="357794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626934F-3F8A-4C7A-8631-3AC270FDD452}" type="datetimeFigureOut">
              <a:rPr lang="en-GB" smtClean="0"/>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626934F-3F8A-4C7A-8631-3AC270FDD452}" type="datetimeFigureOut">
              <a:rPr lang="en-GB" smtClean="0"/>
              <a:t>02/11/2024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626934F-3F8A-4C7A-8631-3AC270FDD452}" type="datetimeFigureOut">
              <a:rPr lang="en-GB" smtClean="0"/>
              <a:t>02/11/2024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6934F-3F8A-4C7A-8631-3AC270FDD452}" type="datetimeFigureOut">
              <a:rPr lang="en-GB" smtClean="0"/>
              <a:t>02/11/2024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26934F-3F8A-4C7A-8631-3AC270FDD452}" type="datetimeFigureOut">
              <a:rPr lang="en-GB" smtClean="0"/>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26934F-3F8A-4C7A-8631-3AC270FDD452}" type="datetimeFigureOut">
              <a:rPr lang="en-GB" smtClean="0"/>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6934F-3F8A-4C7A-8631-3AC270FDD452}" type="datetimeFigureOut">
              <a:rPr lang="en-GB" smtClean="0"/>
              <a:t>02/11/2024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67315D-7D47-4B4E-BCAB-81F33AE2418E}"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en.wikipedia.org/wiki/Abacu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peoplematters.in/article/technology/how-is-social-intelligence-important-for-digital-revolution-17774" TargetMode="External"/><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8" Type="http://schemas.openxmlformats.org/officeDocument/2006/relationships/hyperlink" Target="https://youtu.be/Bd0S7bFZjTk" TargetMode="External"/><Relationship Id="rId3" Type="http://schemas.openxmlformats.org/officeDocument/2006/relationships/image" Target="../media/image20.jpeg"/><Relationship Id="rId7" Type="http://schemas.openxmlformats.org/officeDocument/2006/relationships/hyperlink" Target="https://www.youtube.com/watch?v=h9p4RmAHKbI&amp;feature=youtu.b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youtube.com/watch?v=bHbwflRnM6A&amp;feature=youtu.be" TargetMode="External"/><Relationship Id="rId5" Type="http://schemas.openxmlformats.org/officeDocument/2006/relationships/hyperlink" Target="https://www.youtube.com/watch?v=wuiXe-F4tJc&amp;feature=youtu.be" TargetMode="External"/><Relationship Id="rId4" Type="http://schemas.openxmlformats.org/officeDocument/2006/relationships/hyperlink" Target="https://www.youtube.com/watch?v=foL9Zxel-Js&amp;feature=youtu.be"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johnbessant.org/category/blog/" TargetMode="External"/><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 Id="rId4" Type="http://schemas.openxmlformats.org/officeDocument/2006/relationships/hyperlink" Target="https://alanwbrown.com/dispatches/dispatch-005/"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books.hypeinnovation.com/high-involvement-innovation/welcome-to-the-hii-ebook/"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2: Digital is different?</a:t>
            </a:r>
          </a:p>
        </p:txBody>
      </p:sp>
      <p:pic>
        <p:nvPicPr>
          <p:cNvPr id="3" name="Picture 2">
            <a:extLst>
              <a:ext uri="{FF2B5EF4-FFF2-40B4-BE49-F238E27FC236}">
                <a16:creationId xmlns:a16="http://schemas.microsoft.com/office/drawing/2014/main" id="{6A4DFD1F-C682-948B-0FE5-42823F097946}"/>
              </a:ext>
            </a:extLst>
          </p:cNvPr>
          <p:cNvPicPr>
            <a:picLocks noChangeAspect="1"/>
          </p:cNvPicPr>
          <p:nvPr/>
        </p:nvPicPr>
        <p:blipFill>
          <a:blip r:embed="rId3">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82600" y="1698171"/>
            <a:ext cx="2971546" cy="4516360"/>
          </a:xfrm>
        </p:spPr>
        <p:txBody>
          <a:bodyPr vert="horz" lIns="91440" tIns="45720" rIns="91440" bIns="45720" rtlCol="0" anchor="t">
            <a:normAutofit/>
          </a:bodyPr>
          <a:lstStyle/>
          <a:p>
            <a:pPr algn="l">
              <a:lnSpc>
                <a:spcPct val="90000"/>
              </a:lnSpc>
            </a:pPr>
            <a:r>
              <a:rPr lang="en-US" sz="3100" b="1" kern="1200">
                <a:solidFill>
                  <a:schemeClr val="tx1"/>
                </a:solidFill>
                <a:latin typeface="+mj-lt"/>
                <a:ea typeface="+mj-ea"/>
                <a:cs typeface="+mj-cs"/>
              </a:rPr>
              <a:t>Chapter 2: Digital is different?</a:t>
            </a:r>
            <a:endParaRPr lang="en-US" sz="3100" kern="1200">
              <a:solidFill>
                <a:schemeClr val="tx1"/>
              </a:solidFill>
              <a:latin typeface="+mj-lt"/>
              <a:ea typeface="+mj-ea"/>
              <a:cs typeface="+mj-cs"/>
            </a:endParaRPr>
          </a:p>
        </p:txBody>
      </p:sp>
      <p:sp>
        <p:nvSpPr>
          <p:cNvPr id="14" name="Rectangle 13">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25642" y="741074"/>
            <a:ext cx="687472"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12651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826041" y="-81546"/>
            <a:ext cx="1827638" cy="1032742"/>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909679" y="502817"/>
            <a:ext cx="645368"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p:cNvSpPr txBox="1">
            <a:spLocks/>
          </p:cNvSpPr>
          <p:nvPr/>
        </p:nvSpPr>
        <p:spPr>
          <a:xfrm>
            <a:off x="3802515" y="1698170"/>
            <a:ext cx="4858884" cy="4516361"/>
          </a:xfrm>
          <a:prstGeom prst="rect">
            <a:avLst/>
          </a:prstGeom>
        </p:spPr>
        <p:txBody>
          <a:bodyPr vert="horz" lIns="91440" tIns="45720" rIns="91440" bIns="45720" rtlCol="0">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sz="1700"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sz="1700" i="1"/>
              <a:t> In the following PowerPoint slides you will find the key headings from </a:t>
            </a:r>
            <a:r>
              <a:rPr lang="en-US" sz="1700" b="1"/>
              <a:t>CHAPTER 2</a:t>
            </a:r>
            <a:r>
              <a:rPr lang="en-US" sz="1700" i="1"/>
              <a:t> together with the main illustrations, tables, etc.  </a:t>
            </a:r>
          </a:p>
          <a:p>
            <a:pPr indent="-228600">
              <a:lnSpc>
                <a:spcPct val="90000"/>
              </a:lnSpc>
              <a:spcAft>
                <a:spcPts val="600"/>
              </a:spcAft>
              <a:buFont typeface="Arial" panose="020B0604020202020204" pitchFamily="34" charset="0"/>
              <a:buChar char="•"/>
            </a:pPr>
            <a:endParaRPr lang="en-US" sz="1700" i="1"/>
          </a:p>
          <a:p>
            <a:pPr indent="-228600">
              <a:lnSpc>
                <a:spcPct val="90000"/>
              </a:lnSpc>
              <a:spcAft>
                <a:spcPts val="600"/>
              </a:spcAft>
              <a:buFont typeface="Arial" panose="020B0604020202020204" pitchFamily="34" charset="0"/>
              <a:buChar char="•"/>
            </a:pPr>
            <a:r>
              <a:rPr lang="en-US" sz="1700"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sz="1700" i="1"/>
          </a:p>
          <a:p>
            <a:pPr indent="-228600">
              <a:lnSpc>
                <a:spcPct val="90000"/>
              </a:lnSpc>
              <a:spcAft>
                <a:spcPts val="600"/>
              </a:spcAft>
              <a:buFont typeface="Arial" panose="020B0604020202020204" pitchFamily="34" charset="0"/>
              <a:buChar char="•"/>
            </a:pPr>
            <a:r>
              <a:rPr lang="en-US" sz="1700"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sz="1700" i="1"/>
          </a:p>
        </p:txBody>
      </p:sp>
      <p:sp>
        <p:nvSpPr>
          <p:cNvPr id="22" name="Isosceles Triangle 21">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6567" y="6115501"/>
            <a:ext cx="1120885"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Isosceles Triangle 23">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5472" y="6453143"/>
            <a:ext cx="611178"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defRPr/>
            </a:pPr>
            <a:r>
              <a:rPr lang="en-GB" sz="3600" b="1" dirty="0">
                <a:solidFill>
                  <a:srgbClr val="008000"/>
                </a:solidFill>
              </a:rPr>
              <a:t>Learning Objectives</a:t>
            </a:r>
          </a:p>
        </p:txBody>
      </p:sp>
      <p:graphicFrame>
        <p:nvGraphicFramePr>
          <p:cNvPr id="15" name="Content Placeholder 12">
            <a:extLst>
              <a:ext uri="{FF2B5EF4-FFF2-40B4-BE49-F238E27FC236}">
                <a16:creationId xmlns:a16="http://schemas.microsoft.com/office/drawing/2014/main" id="{F958C449-DB0B-4D6D-B419-FBAA8E43DD25}"/>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Connector 7"/>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0189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868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22064" y="366810"/>
            <a:ext cx="4593286"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628650"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13848"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98694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8"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508838"/>
            <a:ext cx="3913467"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907F756-BA9D-654A-90BA-AA6AA459E99E}"/>
              </a:ext>
            </a:extLst>
          </p:cNvPr>
          <p:cNvSpPr>
            <a:spLocks noGrp="1"/>
          </p:cNvSpPr>
          <p:nvPr>
            <p:ph type="title"/>
          </p:nvPr>
        </p:nvSpPr>
        <p:spPr>
          <a:xfrm>
            <a:off x="480060" y="1243013"/>
            <a:ext cx="2891790" cy="4371974"/>
          </a:xfrm>
        </p:spPr>
        <p:txBody>
          <a:bodyPr>
            <a:normAutofit/>
          </a:bodyPr>
          <a:lstStyle/>
          <a:p>
            <a:r>
              <a:rPr lang="en-US" sz="3100">
                <a:solidFill>
                  <a:schemeClr val="tx2"/>
                </a:solidFill>
              </a:rPr>
              <a:t>Digital innovation…</a:t>
            </a:r>
          </a:p>
        </p:txBody>
      </p:sp>
      <p:sp>
        <p:nvSpPr>
          <p:cNvPr id="3" name="Content Placeholder 2">
            <a:extLst>
              <a:ext uri="{FF2B5EF4-FFF2-40B4-BE49-F238E27FC236}">
                <a16:creationId xmlns:a16="http://schemas.microsoft.com/office/drawing/2014/main" id="{1789B427-7418-874C-9CD3-D1E32EF17283}"/>
              </a:ext>
            </a:extLst>
          </p:cNvPr>
          <p:cNvSpPr>
            <a:spLocks noGrp="1"/>
          </p:cNvSpPr>
          <p:nvPr>
            <p:ph idx="1"/>
          </p:nvPr>
        </p:nvSpPr>
        <p:spPr>
          <a:xfrm>
            <a:off x="4629150" y="804672"/>
            <a:ext cx="3915918" cy="5230368"/>
          </a:xfrm>
        </p:spPr>
        <p:txBody>
          <a:bodyPr anchor="ctr">
            <a:normAutofit/>
          </a:bodyPr>
          <a:lstStyle/>
          <a:p>
            <a:r>
              <a:rPr lang="en-GB" sz="2400" dirty="0">
                <a:solidFill>
                  <a:schemeClr val="tx2"/>
                </a:solidFill>
              </a:rPr>
              <a:t>….the suite of technologies around the creation or capture, storage/retrieval, processing and communication of information and their combination into high level systems with emergent properties.</a:t>
            </a:r>
          </a:p>
          <a:p>
            <a:endParaRPr lang="en-US" sz="1600" dirty="0">
              <a:solidFill>
                <a:schemeClr val="tx2"/>
              </a:solidFill>
            </a:endParaRPr>
          </a:p>
        </p:txBody>
      </p:sp>
    </p:spTree>
    <p:extLst>
      <p:ext uri="{BB962C8B-B14F-4D97-AF65-F5344CB8AC3E}">
        <p14:creationId xmlns:p14="http://schemas.microsoft.com/office/powerpoint/2010/main" val="1018845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35D61A1-8484-4749-8AD0-A3455E075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C5C17A-5D76-1C4F-88EA-13C81EC91664}"/>
              </a:ext>
            </a:extLst>
          </p:cNvPr>
          <p:cNvSpPr>
            <a:spLocks noGrp="1"/>
          </p:cNvSpPr>
          <p:nvPr>
            <p:ph type="title"/>
          </p:nvPr>
        </p:nvSpPr>
        <p:spPr>
          <a:xfrm>
            <a:off x="628650" y="365125"/>
            <a:ext cx="7886700" cy="1325563"/>
          </a:xfrm>
        </p:spPr>
        <p:txBody>
          <a:bodyPr vert="horz" lIns="91440" tIns="45720" rIns="91440" bIns="45720" rtlCol="0" anchor="ctr">
            <a:normAutofit/>
          </a:bodyPr>
          <a:lstStyle/>
          <a:p>
            <a:pPr algn="l">
              <a:lnSpc>
                <a:spcPct val="90000"/>
              </a:lnSpc>
            </a:pPr>
            <a:r>
              <a:rPr lang="en-US"/>
              <a:t>Simplified model of digital innovation</a:t>
            </a:r>
          </a:p>
        </p:txBody>
      </p:sp>
      <p:sp>
        <p:nvSpPr>
          <p:cNvPr id="17" name="Rounded Rectangle 5">
            <a:extLst>
              <a:ext uri="{FF2B5EF4-FFF2-40B4-BE49-F238E27FC236}">
                <a16:creationId xmlns:a16="http://schemas.microsoft.com/office/drawing/2014/main" id="{1447903E-2B66-479D-959B-F2EBB2CC9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28801"/>
            <a:ext cx="78867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close up of text on a white background&#10;&#10;Description automatically generated">
            <a:extLst>
              <a:ext uri="{FF2B5EF4-FFF2-40B4-BE49-F238E27FC236}">
                <a16:creationId xmlns:a16="http://schemas.microsoft.com/office/drawing/2014/main" id="{E6AF6947-151F-EA4D-989A-DCCA0D22FE8A}"/>
              </a:ext>
            </a:extLst>
          </p:cNvPr>
          <p:cNvPicPr/>
          <p:nvPr/>
        </p:nvPicPr>
        <p:blipFill rotWithShape="1">
          <a:blip r:embed="rId2">
            <a:extLst>
              <a:ext uri="{28A0092B-C50C-407E-A947-70E740481C1C}">
                <a14:useLocalDpi xmlns:a14="http://schemas.microsoft.com/office/drawing/2010/main" val="0"/>
              </a:ext>
            </a:extLst>
          </a:blip>
          <a:srcRect r="3479" b="2"/>
          <a:stretch/>
        </p:blipFill>
        <p:spPr>
          <a:xfrm>
            <a:off x="868680" y="2149222"/>
            <a:ext cx="7406640" cy="3721608"/>
          </a:xfrm>
          <a:prstGeom prst="rect">
            <a:avLst/>
          </a:prstGeom>
          <a:effectLst/>
        </p:spPr>
      </p:pic>
    </p:spTree>
    <p:extLst>
      <p:ext uri="{BB962C8B-B14F-4D97-AF65-F5344CB8AC3E}">
        <p14:creationId xmlns:p14="http://schemas.microsoft.com/office/powerpoint/2010/main" val="4052295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C9EFE1-D8CB-4668-9980-DB108327A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4703676"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7CBAE1BD-B8E4-4029-8AA2-C77E4FED9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A1D39AE7-1BA3-EC40-AC53-C4528601D669}"/>
              </a:ext>
            </a:extLst>
          </p:cNvPr>
          <p:cNvSpPr>
            <a:spLocks noGrp="1"/>
          </p:cNvSpPr>
          <p:nvPr>
            <p:ph type="title"/>
          </p:nvPr>
        </p:nvSpPr>
        <p:spPr>
          <a:xfrm>
            <a:off x="4939411" y="4267832"/>
            <a:ext cx="3604497" cy="1401448"/>
          </a:xfrm>
        </p:spPr>
        <p:txBody>
          <a:bodyPr vert="horz" lIns="91440" tIns="45720" rIns="91440" bIns="45720" rtlCol="0" anchor="t">
            <a:normAutofit/>
          </a:bodyPr>
          <a:lstStyle/>
          <a:p>
            <a:pPr algn="l">
              <a:lnSpc>
                <a:spcPct val="90000"/>
              </a:lnSpc>
            </a:pPr>
            <a:r>
              <a:rPr lang="en-US" sz="3800">
                <a:solidFill>
                  <a:srgbClr val="000000"/>
                </a:solidFill>
              </a:rPr>
              <a:t>Is it new?</a:t>
            </a:r>
          </a:p>
        </p:txBody>
      </p:sp>
      <p:sp>
        <p:nvSpPr>
          <p:cNvPr id="15" name="Freeform 49">
            <a:extLst>
              <a:ext uri="{FF2B5EF4-FFF2-40B4-BE49-F238E27FC236}">
                <a16:creationId xmlns:a16="http://schemas.microsoft.com/office/drawing/2014/main" id="{77DA6D33-2D62-458C-BF5D-DBF612FD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0635"/>
            <a:ext cx="4108564"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picture containing abacus, object, table, indoor&#10;&#10;Description automatically generated">
            <a:extLst>
              <a:ext uri="{FF2B5EF4-FFF2-40B4-BE49-F238E27FC236}">
                <a16:creationId xmlns:a16="http://schemas.microsoft.com/office/drawing/2014/main" id="{B1A10018-197C-8040-9785-B19594ABE2BD}"/>
              </a:ext>
            </a:extLst>
          </p:cNvPr>
          <p:cNvPicPr>
            <a:picLocks noGrp="1" noChangeAspect="1"/>
          </p:cNvPicPr>
          <p:nvPr>
            <p:ph idx="1"/>
          </p:nvPr>
        </p:nvPicPr>
        <p:blipFill rotWithShape="1">
          <a:blip r:embed="rId3">
            <a:alphaModFix/>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7987" r="23132" b="1"/>
          <a:stretch/>
        </p:blipFill>
        <p:spPr>
          <a:xfrm>
            <a:off x="20" y="770037"/>
            <a:ext cx="3973993" cy="6097438"/>
          </a:xfrm>
          <a:custGeom>
            <a:avLst/>
            <a:gdLst/>
            <a:ahLst/>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effectLst>
            <a:softEdge rad="0"/>
          </a:effectLst>
        </p:spPr>
      </p:pic>
    </p:spTree>
    <p:extLst>
      <p:ext uri="{BB962C8B-B14F-4D97-AF65-F5344CB8AC3E}">
        <p14:creationId xmlns:p14="http://schemas.microsoft.com/office/powerpoint/2010/main" val="249462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3CF0B-156C-EA41-AA5F-F05FBB908948}"/>
              </a:ext>
            </a:extLst>
          </p:cNvPr>
          <p:cNvSpPr>
            <a:spLocks noGrp="1"/>
          </p:cNvSpPr>
          <p:nvPr>
            <p:ph type="title"/>
          </p:nvPr>
        </p:nvSpPr>
        <p:spPr>
          <a:xfrm>
            <a:off x="628650" y="562271"/>
            <a:ext cx="7886700" cy="1128417"/>
          </a:xfrm>
        </p:spPr>
        <p:txBody>
          <a:bodyPr vert="horz" lIns="91440" tIns="45720" rIns="91440" bIns="45720" rtlCol="0" anchor="ctr">
            <a:normAutofit/>
          </a:bodyPr>
          <a:lstStyle/>
          <a:p>
            <a:pPr algn="l">
              <a:lnSpc>
                <a:spcPct val="90000"/>
              </a:lnSpc>
            </a:pPr>
            <a:r>
              <a:rPr lang="en-US" sz="4500"/>
              <a:t>Is it revolutionary?</a:t>
            </a:r>
          </a:p>
        </p:txBody>
      </p:sp>
      <p:pic>
        <p:nvPicPr>
          <p:cNvPr id="5" name="Content Placeholder 4" descr="A close up of a sign&#10;&#10;Description automatically generated">
            <a:extLst>
              <a:ext uri="{FF2B5EF4-FFF2-40B4-BE49-F238E27FC236}">
                <a16:creationId xmlns:a16="http://schemas.microsoft.com/office/drawing/2014/main" id="{0710E362-102A-AB42-BFB5-DA92130C50F1}"/>
              </a:ext>
            </a:extLst>
          </p:cNvPr>
          <p:cNvPicPr>
            <a:picLocks noGrp="1" noChangeAspect="1"/>
          </p:cNvPicPr>
          <p:nvPr>
            <p:ph idx="1"/>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44" r="1" b="1"/>
          <a:stretch/>
        </p:blipFill>
        <p:spPr>
          <a:xfrm>
            <a:off x="628650" y="1845426"/>
            <a:ext cx="7884410" cy="4450303"/>
          </a:xfrm>
          <a:prstGeom prst="rect">
            <a:avLst/>
          </a:prstGeom>
        </p:spPr>
      </p:pic>
    </p:spTree>
    <p:extLst>
      <p:ext uri="{BB962C8B-B14F-4D97-AF65-F5344CB8AC3E}">
        <p14:creationId xmlns:p14="http://schemas.microsoft.com/office/powerpoint/2010/main" val="2242831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1A464A-01A0-E247-9C5B-D8A5B651EEBC}"/>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Key features of digital technologies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5CAE056-562C-BB40-B16F-670AAB4487FD}"/>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1800"/>
              <a:t> </a:t>
            </a:r>
          </a:p>
          <a:p>
            <a:pPr>
              <a:lnSpc>
                <a:spcPct val="90000"/>
              </a:lnSpc>
            </a:pPr>
            <a:r>
              <a:rPr lang="en-GB" sz="1800"/>
              <a:t>Low cost leading to widespread application potential</a:t>
            </a:r>
          </a:p>
          <a:p>
            <a:pPr>
              <a:lnSpc>
                <a:spcPct val="90000"/>
              </a:lnSpc>
            </a:pPr>
            <a:r>
              <a:rPr lang="en-GB" sz="1800"/>
              <a:t>Common language – digital code – enabling communication and interoperability of software</a:t>
            </a:r>
          </a:p>
          <a:p>
            <a:pPr>
              <a:lnSpc>
                <a:spcPct val="90000"/>
              </a:lnSpc>
            </a:pPr>
            <a:r>
              <a:rPr lang="en-GB" sz="1800"/>
              <a:t>Fast easy communication - connectivity was the barrier back in the 1980s, even with advanced protocols like ISDN (Integrated Services Digital Network) and similar.</a:t>
            </a:r>
          </a:p>
          <a:p>
            <a:pPr>
              <a:lnSpc>
                <a:spcPct val="90000"/>
              </a:lnSpc>
            </a:pPr>
            <a:r>
              <a:rPr lang="en-GB" sz="1800"/>
              <a:t>Increasing wireless connection potential</a:t>
            </a:r>
          </a:p>
          <a:p>
            <a:pPr>
              <a:lnSpc>
                <a:spcPct val="90000"/>
              </a:lnSpc>
            </a:pPr>
            <a:r>
              <a:rPr lang="en-GB" sz="1800"/>
              <a:t>Low cost enables intelligent functionality to be built into the simples of devices and then connected into systems – the ‘internet of things’</a:t>
            </a:r>
          </a:p>
          <a:p>
            <a:pPr>
              <a:lnSpc>
                <a:spcPct val="90000"/>
              </a:lnSpc>
            </a:pPr>
            <a:r>
              <a:rPr lang="en-GB" sz="1800"/>
              <a:t>Learning via machine (artificial intelligence)</a:t>
            </a:r>
          </a:p>
          <a:p>
            <a:pPr>
              <a:lnSpc>
                <a:spcPct val="90000"/>
              </a:lnSpc>
            </a:pPr>
            <a:r>
              <a:rPr lang="en-GB" sz="1800"/>
              <a:t>Potential to collect and work with Big Data – massive increases in the volume, variety and velocity of collection allows for pattern recognition and exploiting of network-level effects</a:t>
            </a:r>
          </a:p>
          <a:p>
            <a:pPr>
              <a:lnSpc>
                <a:spcPct val="90000"/>
              </a:lnSpc>
            </a:pPr>
            <a:endParaRPr lang="en-US" sz="1800"/>
          </a:p>
        </p:txBody>
      </p:sp>
    </p:spTree>
    <p:extLst>
      <p:ext uri="{BB962C8B-B14F-4D97-AF65-F5344CB8AC3E}">
        <p14:creationId xmlns:p14="http://schemas.microsoft.com/office/powerpoint/2010/main" val="36133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03E25-51E7-0945-97DF-20AAC95B47F4}"/>
              </a:ext>
            </a:extLst>
          </p:cNvPr>
          <p:cNvSpPr>
            <a:spLocks noGrp="1"/>
          </p:cNvSpPr>
          <p:nvPr>
            <p:ph type="title"/>
          </p:nvPr>
        </p:nvSpPr>
        <p:spPr>
          <a:xfrm>
            <a:off x="756138" y="174032"/>
            <a:ext cx="7631723" cy="1111843"/>
          </a:xfrm>
        </p:spPr>
        <p:txBody>
          <a:bodyPr anchor="ctr">
            <a:normAutofit/>
          </a:bodyPr>
          <a:lstStyle/>
          <a:p>
            <a:pPr>
              <a:lnSpc>
                <a:spcPct val="90000"/>
              </a:lnSpc>
            </a:pPr>
            <a:r>
              <a:rPr lang="en-US" sz="3500"/>
              <a:t>What does it mean for innovation management?</a:t>
            </a:r>
          </a:p>
        </p:txBody>
      </p:sp>
      <p:pic>
        <p:nvPicPr>
          <p:cNvPr id="5" name="Picture 4" descr="A picture containing diagram&#10;&#10;Description automatically generated">
            <a:extLst>
              <a:ext uri="{FF2B5EF4-FFF2-40B4-BE49-F238E27FC236}">
                <a16:creationId xmlns:a16="http://schemas.microsoft.com/office/drawing/2014/main" id="{6D3F0699-BE3B-2448-BAAA-ED872010F8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3976755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909F76-515C-954C-AD12-9DF42E9CBA74}"/>
              </a:ext>
            </a:extLst>
          </p:cNvPr>
          <p:cNvSpPr>
            <a:spLocks noGrp="1"/>
          </p:cNvSpPr>
          <p:nvPr>
            <p:ph type="title"/>
          </p:nvPr>
        </p:nvSpPr>
        <p:spPr>
          <a:xfrm>
            <a:off x="756138" y="174032"/>
            <a:ext cx="7631723" cy="1111843"/>
          </a:xfrm>
        </p:spPr>
        <p:txBody>
          <a:bodyPr anchor="ctr">
            <a:normAutofit/>
          </a:bodyPr>
          <a:lstStyle/>
          <a:p>
            <a:r>
              <a:rPr lang="en-US" sz="3500"/>
              <a:t>The new digital toolkit</a:t>
            </a:r>
          </a:p>
        </p:txBody>
      </p:sp>
      <p:graphicFrame>
        <p:nvGraphicFramePr>
          <p:cNvPr id="8" name="Content Placeholder 4">
            <a:extLst>
              <a:ext uri="{FF2B5EF4-FFF2-40B4-BE49-F238E27FC236}">
                <a16:creationId xmlns:a16="http://schemas.microsoft.com/office/drawing/2014/main" id="{BA2CF090-15D2-874B-89BE-C099FD3AE9AC}"/>
              </a:ext>
            </a:extLst>
          </p:cNvPr>
          <p:cNvGraphicFramePr>
            <a:graphicFrameLocks/>
          </p:cNvGraphicFramePr>
          <p:nvPr>
            <p:extLst>
              <p:ext uri="{D42A27DB-BD31-4B8C-83A1-F6EECF244321}">
                <p14:modId xmlns:p14="http://schemas.microsoft.com/office/powerpoint/2010/main" val="4266528417"/>
              </p:ext>
            </p:extLst>
          </p:nvPr>
        </p:nvGraphicFramePr>
        <p:xfrm>
          <a:off x="756821" y="1628800"/>
          <a:ext cx="7672417" cy="3899394"/>
        </p:xfrm>
        <a:graphic>
          <a:graphicData uri="http://schemas.openxmlformats.org/drawingml/2006/table">
            <a:tbl>
              <a:tblPr firstRow="1" firstCol="1" bandRow="1">
                <a:noFill/>
                <a:tableStyleId>{5C22544A-7EE6-4342-B048-85BDC9FD1C3A}</a:tableStyleId>
              </a:tblPr>
              <a:tblGrid>
                <a:gridCol w="1927046">
                  <a:extLst>
                    <a:ext uri="{9D8B030D-6E8A-4147-A177-3AD203B41FA5}">
                      <a16:colId xmlns:a16="http://schemas.microsoft.com/office/drawing/2014/main" val="417317308"/>
                    </a:ext>
                  </a:extLst>
                </a:gridCol>
                <a:gridCol w="5745371">
                  <a:extLst>
                    <a:ext uri="{9D8B030D-6E8A-4147-A177-3AD203B41FA5}">
                      <a16:colId xmlns:a16="http://schemas.microsoft.com/office/drawing/2014/main" val="1805054556"/>
                    </a:ext>
                  </a:extLst>
                </a:gridCol>
              </a:tblGrid>
              <a:tr h="1152651">
                <a:tc>
                  <a:txBody>
                    <a:bodyPr/>
                    <a:lstStyle/>
                    <a:p>
                      <a:r>
                        <a:rPr lang="en-GB" sz="2100" b="0" cap="none" spc="60">
                          <a:solidFill>
                            <a:schemeClr val="bg1"/>
                          </a:solidFill>
                          <a:effectLst/>
                        </a:rPr>
                        <a:t>Stage in innovation process</a:t>
                      </a:r>
                      <a:endParaRPr lang="en-GB" sz="2100" b="0" cap="none" spc="6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1967" marR="91967" marT="122622" marB="0" anchor="ctr">
                    <a:lnL w="12700" cmpd="sng">
                      <a:noFill/>
                    </a:lnL>
                    <a:lnR w="12700" cmpd="sng">
                      <a:noFill/>
                    </a:lnR>
                    <a:lnT w="19050" cap="flat" cmpd="sng" algn="ctr">
                      <a:noFill/>
                      <a:prstDash val="solid"/>
                    </a:lnT>
                    <a:lnB w="38100" cmpd="sng">
                      <a:noFill/>
                    </a:lnB>
                    <a:solidFill>
                      <a:schemeClr val="accent1"/>
                    </a:solidFill>
                  </a:tcPr>
                </a:tc>
                <a:tc>
                  <a:txBody>
                    <a:bodyPr/>
                    <a:lstStyle/>
                    <a:p>
                      <a:r>
                        <a:rPr lang="en-GB" sz="2100" b="0" cap="none" spc="60" dirty="0">
                          <a:solidFill>
                            <a:schemeClr val="bg1"/>
                          </a:solidFill>
                          <a:effectLst/>
                        </a:rPr>
                        <a:t>Digital tools</a:t>
                      </a:r>
                    </a:p>
                    <a:p>
                      <a:r>
                        <a:rPr lang="en-GB" sz="2100" b="0" cap="none" spc="60" dirty="0">
                          <a:solidFill>
                            <a:schemeClr val="bg1"/>
                          </a:solidFill>
                          <a:effectLst/>
                        </a:rPr>
                        <a:t> </a:t>
                      </a:r>
                      <a:endParaRPr lang="en-GB" sz="2100" b="0" cap="none" spc="6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1967" marR="91967" marT="122622"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05401424"/>
                  </a:ext>
                </a:extLst>
              </a:tr>
              <a:tr h="2746743">
                <a:tc>
                  <a:txBody>
                    <a:bodyPr/>
                    <a:lstStyle/>
                    <a:p>
                      <a:r>
                        <a:rPr lang="en-GB" sz="1900" b="1" cap="none" spc="0">
                          <a:solidFill>
                            <a:schemeClr val="tx1"/>
                          </a:solidFill>
                          <a:effectLst/>
                        </a:rPr>
                        <a:t>Search</a:t>
                      </a:r>
                      <a:endParaRPr lang="en-GB" sz="1900" b="1" cap="none" spc="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1967" marR="91967" marT="122622" marB="0">
                    <a:lnL w="12700" cmpd="sng">
                      <a:noFill/>
                      <a:prstDash val="solid"/>
                    </a:lnL>
                    <a:lnR w="12700" cmpd="sng">
                      <a:noFill/>
                      <a:prstDash val="solid"/>
                    </a:lnR>
                    <a:lnT w="38100" cmpd="sng">
                      <a:noFill/>
                    </a:lnT>
                    <a:lnB w="12700" cmpd="sng">
                      <a:noFill/>
                      <a:prstDash val="solid"/>
                    </a:lnB>
                    <a:noFill/>
                  </a:tcPr>
                </a:tc>
                <a:tc>
                  <a:txBody>
                    <a:bodyPr/>
                    <a:lstStyle/>
                    <a:p>
                      <a:r>
                        <a:rPr lang="en-GB" sz="1900" cap="none" spc="0" dirty="0">
                          <a:solidFill>
                            <a:schemeClr val="tx1"/>
                          </a:solidFill>
                          <a:effectLst/>
                        </a:rPr>
                        <a:t>Broadcast search / crowdsourcing</a:t>
                      </a:r>
                    </a:p>
                    <a:p>
                      <a:r>
                        <a:rPr lang="en-GB" sz="1900" cap="none" spc="0" dirty="0">
                          <a:solidFill>
                            <a:schemeClr val="tx1"/>
                          </a:solidFill>
                          <a:effectLst/>
                        </a:rPr>
                        <a:t>Cross-sector pattern matching</a:t>
                      </a:r>
                    </a:p>
                    <a:p>
                      <a:r>
                        <a:rPr lang="en-GB" sz="1900" cap="none" spc="0" dirty="0">
                          <a:solidFill>
                            <a:schemeClr val="tx1"/>
                          </a:solidFill>
                          <a:effectLst/>
                        </a:rPr>
                        <a:t>Patent mining </a:t>
                      </a:r>
                    </a:p>
                    <a:p>
                      <a:r>
                        <a:rPr lang="en-GB" sz="1900" cap="none" spc="0" dirty="0">
                          <a:solidFill>
                            <a:schemeClr val="tx1"/>
                          </a:solidFill>
                          <a:effectLst/>
                        </a:rPr>
                        <a:t>Innovation contests</a:t>
                      </a:r>
                    </a:p>
                    <a:p>
                      <a:r>
                        <a:rPr lang="en-GB" sz="1900" cap="none" spc="0" dirty="0">
                          <a:solidFill>
                            <a:schemeClr val="tx1"/>
                          </a:solidFill>
                          <a:effectLst/>
                        </a:rPr>
                        <a:t>Innovation markets</a:t>
                      </a:r>
                    </a:p>
                    <a:p>
                      <a:r>
                        <a:rPr lang="en-GB" sz="1900" cap="none" spc="0" dirty="0">
                          <a:solidFill>
                            <a:schemeClr val="tx1"/>
                          </a:solidFill>
                          <a:effectLst/>
                        </a:rPr>
                        <a:t>User communities</a:t>
                      </a:r>
                    </a:p>
                    <a:p>
                      <a:r>
                        <a:rPr lang="en-GB" sz="1900" cap="none" spc="0" dirty="0">
                          <a:solidFill>
                            <a:schemeClr val="tx1"/>
                          </a:solidFill>
                          <a:effectLst/>
                        </a:rPr>
                        <a:t>Netnography</a:t>
                      </a:r>
                    </a:p>
                    <a:p>
                      <a:r>
                        <a:rPr lang="en-GB" sz="1900" cap="none" spc="0" dirty="0">
                          <a:solidFill>
                            <a:schemeClr val="tx1"/>
                          </a:solidFill>
                          <a:effectLst/>
                        </a:rPr>
                        <a:t>Internal collaboration platforms</a:t>
                      </a:r>
                    </a:p>
                    <a:p>
                      <a:r>
                        <a:rPr lang="en-GB" sz="1900" cap="none" spc="0" dirty="0">
                          <a:solidFill>
                            <a:schemeClr val="tx1"/>
                          </a:solidFill>
                          <a:effectLst/>
                        </a:rPr>
                        <a:t> </a:t>
                      </a:r>
                      <a:endParaRPr lang="en-GB" sz="1900" cap="none" spc="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1967" marR="91967" marT="122622" marB="0">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2852767330"/>
                  </a:ext>
                </a:extLst>
              </a:tr>
            </a:tbl>
          </a:graphicData>
        </a:graphic>
      </p:graphicFrame>
    </p:spTree>
    <p:extLst>
      <p:ext uri="{BB962C8B-B14F-4D97-AF65-F5344CB8AC3E}">
        <p14:creationId xmlns:p14="http://schemas.microsoft.com/office/powerpoint/2010/main" val="2633097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2210C5-4CA3-6C4E-BD06-2CC1EA471CF2}"/>
              </a:ext>
            </a:extLst>
          </p:cNvPr>
          <p:cNvSpPr>
            <a:spLocks noGrp="1"/>
          </p:cNvSpPr>
          <p:nvPr>
            <p:ph type="title"/>
          </p:nvPr>
        </p:nvSpPr>
        <p:spPr>
          <a:xfrm>
            <a:off x="756138" y="174032"/>
            <a:ext cx="7631723" cy="1111843"/>
          </a:xfrm>
        </p:spPr>
        <p:txBody>
          <a:bodyPr anchor="ctr">
            <a:normAutofit/>
          </a:bodyPr>
          <a:lstStyle/>
          <a:p>
            <a:r>
              <a:rPr lang="en-US" sz="3500"/>
              <a:t>The new digital toolkit</a:t>
            </a:r>
          </a:p>
        </p:txBody>
      </p:sp>
      <p:graphicFrame>
        <p:nvGraphicFramePr>
          <p:cNvPr id="7" name="Content Placeholder 3">
            <a:extLst>
              <a:ext uri="{FF2B5EF4-FFF2-40B4-BE49-F238E27FC236}">
                <a16:creationId xmlns:a16="http://schemas.microsoft.com/office/drawing/2014/main" id="{4C4BE2D5-BB3C-D04C-A63B-B014D992512D}"/>
              </a:ext>
            </a:extLst>
          </p:cNvPr>
          <p:cNvGraphicFramePr>
            <a:graphicFrameLocks/>
          </p:cNvGraphicFramePr>
          <p:nvPr/>
        </p:nvGraphicFramePr>
        <p:xfrm>
          <a:off x="626365" y="2793113"/>
          <a:ext cx="7886697" cy="3123465"/>
        </p:xfrm>
        <a:graphic>
          <a:graphicData uri="http://schemas.openxmlformats.org/drawingml/2006/table">
            <a:tbl>
              <a:tblPr firstRow="1" firstCol="1" bandRow="1">
                <a:tableStyleId>{5C22544A-7EE6-4342-B048-85BDC9FD1C3A}</a:tableStyleId>
              </a:tblPr>
              <a:tblGrid>
                <a:gridCol w="1985893">
                  <a:extLst>
                    <a:ext uri="{9D8B030D-6E8A-4147-A177-3AD203B41FA5}">
                      <a16:colId xmlns:a16="http://schemas.microsoft.com/office/drawing/2014/main" val="214339689"/>
                    </a:ext>
                  </a:extLst>
                </a:gridCol>
                <a:gridCol w="5900804">
                  <a:extLst>
                    <a:ext uri="{9D8B030D-6E8A-4147-A177-3AD203B41FA5}">
                      <a16:colId xmlns:a16="http://schemas.microsoft.com/office/drawing/2014/main" val="1141421241"/>
                    </a:ext>
                  </a:extLst>
                </a:gridCol>
              </a:tblGrid>
              <a:tr h="3123465">
                <a:tc>
                  <a:txBody>
                    <a:bodyPr/>
                    <a:lstStyle/>
                    <a:p>
                      <a:r>
                        <a:rPr lang="en-GB" sz="2500">
                          <a:effectLst/>
                        </a:rPr>
                        <a:t>Implement</a:t>
                      </a:r>
                      <a:endParaRPr lang="en-GB"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841" marR="142841" marT="0" marB="0"/>
                </a:tc>
                <a:tc>
                  <a:txBody>
                    <a:bodyPr/>
                    <a:lstStyle/>
                    <a:p>
                      <a:r>
                        <a:rPr lang="en-GB" sz="2500">
                          <a:effectLst/>
                        </a:rPr>
                        <a:t>Simulation and prototyping tools – e.g. 3D printing</a:t>
                      </a:r>
                    </a:p>
                    <a:p>
                      <a:r>
                        <a:rPr lang="en-GB" sz="2500">
                          <a:effectLst/>
                        </a:rPr>
                        <a:t>Collaboration platforms</a:t>
                      </a:r>
                    </a:p>
                    <a:p>
                      <a:r>
                        <a:rPr lang="en-GB" sz="2500">
                          <a:effectLst/>
                        </a:rPr>
                        <a:t>Co-creation communities</a:t>
                      </a:r>
                    </a:p>
                    <a:p>
                      <a:r>
                        <a:rPr lang="en-GB" sz="2500">
                          <a:effectLst/>
                        </a:rPr>
                        <a:t>Virtual teams</a:t>
                      </a:r>
                    </a:p>
                    <a:p>
                      <a:r>
                        <a:rPr lang="en-GB" sz="2500">
                          <a:effectLst/>
                        </a:rPr>
                        <a:t>AI/machine learning </a:t>
                      </a:r>
                    </a:p>
                    <a:p>
                      <a:r>
                        <a:rPr lang="en-GB" sz="2500">
                          <a:effectLst/>
                        </a:rPr>
                        <a:t> </a:t>
                      </a:r>
                    </a:p>
                    <a:p>
                      <a:r>
                        <a:rPr lang="en-GB" sz="2500">
                          <a:effectLst/>
                        </a:rPr>
                        <a:t> </a:t>
                      </a:r>
                      <a:endParaRPr lang="en-GB"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841" marR="142841" marT="0" marB="0"/>
                </a:tc>
                <a:extLst>
                  <a:ext uri="{0D108BD9-81ED-4DB2-BD59-A6C34878D82A}">
                    <a16:rowId xmlns:a16="http://schemas.microsoft.com/office/drawing/2014/main" val="4151363905"/>
                  </a:ext>
                </a:extLst>
              </a:tr>
            </a:tbl>
          </a:graphicData>
        </a:graphic>
      </p:graphicFrame>
    </p:spTree>
    <p:extLst>
      <p:ext uri="{BB962C8B-B14F-4D97-AF65-F5344CB8AC3E}">
        <p14:creationId xmlns:p14="http://schemas.microsoft.com/office/powerpoint/2010/main" val="3359097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5F882-0D8F-5744-84B7-8C5E6AC2B8C0}"/>
              </a:ext>
            </a:extLst>
          </p:cNvPr>
          <p:cNvSpPr>
            <a:spLocks noGrp="1"/>
          </p:cNvSpPr>
          <p:nvPr>
            <p:ph type="title"/>
          </p:nvPr>
        </p:nvSpPr>
        <p:spPr>
          <a:xfrm>
            <a:off x="756138" y="174032"/>
            <a:ext cx="7631723" cy="1111843"/>
          </a:xfrm>
        </p:spPr>
        <p:txBody>
          <a:bodyPr anchor="ctr">
            <a:normAutofit/>
          </a:bodyPr>
          <a:lstStyle/>
          <a:p>
            <a:r>
              <a:rPr lang="en-US" sz="3500"/>
              <a:t>The new digital toolkit</a:t>
            </a:r>
          </a:p>
        </p:txBody>
      </p:sp>
      <p:graphicFrame>
        <p:nvGraphicFramePr>
          <p:cNvPr id="7" name="Content Placeholder 3">
            <a:extLst>
              <a:ext uri="{FF2B5EF4-FFF2-40B4-BE49-F238E27FC236}">
                <a16:creationId xmlns:a16="http://schemas.microsoft.com/office/drawing/2014/main" id="{FF2C322A-D87D-FA4C-BE40-2ABFABF438EA}"/>
              </a:ext>
            </a:extLst>
          </p:cNvPr>
          <p:cNvGraphicFramePr>
            <a:graphicFrameLocks/>
          </p:cNvGraphicFramePr>
          <p:nvPr/>
        </p:nvGraphicFramePr>
        <p:xfrm>
          <a:off x="626365" y="2622144"/>
          <a:ext cx="7886697" cy="3465404"/>
        </p:xfrm>
        <a:graphic>
          <a:graphicData uri="http://schemas.openxmlformats.org/drawingml/2006/table">
            <a:tbl>
              <a:tblPr firstRow="1" firstCol="1" bandRow="1">
                <a:tableStyleId>{5C22544A-7EE6-4342-B048-85BDC9FD1C3A}</a:tableStyleId>
              </a:tblPr>
              <a:tblGrid>
                <a:gridCol w="1237476">
                  <a:extLst>
                    <a:ext uri="{9D8B030D-6E8A-4147-A177-3AD203B41FA5}">
                      <a16:colId xmlns:a16="http://schemas.microsoft.com/office/drawing/2014/main" val="435470073"/>
                    </a:ext>
                  </a:extLst>
                </a:gridCol>
                <a:gridCol w="6649221">
                  <a:extLst>
                    <a:ext uri="{9D8B030D-6E8A-4147-A177-3AD203B41FA5}">
                      <a16:colId xmlns:a16="http://schemas.microsoft.com/office/drawing/2014/main" val="560913137"/>
                    </a:ext>
                  </a:extLst>
                </a:gridCol>
              </a:tblGrid>
              <a:tr h="3465404">
                <a:tc>
                  <a:txBody>
                    <a:bodyPr/>
                    <a:lstStyle/>
                    <a:p>
                      <a:r>
                        <a:rPr lang="en-GB" sz="2200">
                          <a:effectLst/>
                        </a:rPr>
                        <a:t>Select</a:t>
                      </a:r>
                      <a:endParaRPr lang="en-GB"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405" marR="127405" marT="0" marB="0"/>
                </a:tc>
                <a:tc>
                  <a:txBody>
                    <a:bodyPr/>
                    <a:lstStyle/>
                    <a:p>
                      <a:r>
                        <a:rPr lang="en-GB" sz="2200" dirty="0">
                          <a:effectLst/>
                        </a:rPr>
                        <a:t>Idea markets</a:t>
                      </a:r>
                    </a:p>
                    <a:p>
                      <a:r>
                        <a:rPr lang="en-GB" sz="2200" dirty="0">
                          <a:effectLst/>
                        </a:rPr>
                        <a:t>Voting via collaboration platforms</a:t>
                      </a:r>
                    </a:p>
                    <a:p>
                      <a:r>
                        <a:rPr lang="en-GB" sz="2200" dirty="0">
                          <a:effectLst/>
                        </a:rPr>
                        <a:t>Crowdfunding</a:t>
                      </a:r>
                    </a:p>
                    <a:p>
                      <a:r>
                        <a:rPr lang="en-GB" sz="2200" dirty="0">
                          <a:effectLst/>
                        </a:rPr>
                        <a:t>Decision support tools</a:t>
                      </a:r>
                    </a:p>
                    <a:p>
                      <a:r>
                        <a:rPr lang="en-GB" sz="2200" dirty="0">
                          <a:effectLst/>
                        </a:rPr>
                        <a:t>Machine learning/artificial intelligence (AI) applied as decision tool</a:t>
                      </a:r>
                    </a:p>
                    <a:p>
                      <a:r>
                        <a:rPr lang="en-GB" sz="2200" dirty="0">
                          <a:effectLst/>
                        </a:rPr>
                        <a:t>Simulation and prototyping to extend the exploration phase at low cost</a:t>
                      </a:r>
                    </a:p>
                    <a:p>
                      <a:r>
                        <a:rPr lang="en-GB" sz="2200" dirty="0">
                          <a:effectLst/>
                        </a:rPr>
                        <a:t> </a:t>
                      </a:r>
                    </a:p>
                    <a:p>
                      <a:r>
                        <a:rPr lang="en-GB" sz="2200" dirty="0">
                          <a:effectLst/>
                        </a:rPr>
                        <a:t> </a:t>
                      </a:r>
                      <a:endParaRPr lang="en-GB"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405" marR="127405" marT="0" marB="0"/>
                </a:tc>
                <a:extLst>
                  <a:ext uri="{0D108BD9-81ED-4DB2-BD59-A6C34878D82A}">
                    <a16:rowId xmlns:a16="http://schemas.microsoft.com/office/drawing/2014/main" val="2172322750"/>
                  </a:ext>
                </a:extLst>
              </a:tr>
            </a:tbl>
          </a:graphicData>
        </a:graphic>
      </p:graphicFrame>
    </p:spTree>
    <p:extLst>
      <p:ext uri="{BB962C8B-B14F-4D97-AF65-F5344CB8AC3E}">
        <p14:creationId xmlns:p14="http://schemas.microsoft.com/office/powerpoint/2010/main" val="3342962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0A546-F294-BD40-9F28-4C996A8BFC13}"/>
              </a:ext>
            </a:extLst>
          </p:cNvPr>
          <p:cNvSpPr>
            <a:spLocks noGrp="1"/>
          </p:cNvSpPr>
          <p:nvPr>
            <p:ph type="title"/>
          </p:nvPr>
        </p:nvSpPr>
        <p:spPr>
          <a:xfrm>
            <a:off x="756138" y="174032"/>
            <a:ext cx="7631723" cy="1111843"/>
          </a:xfrm>
        </p:spPr>
        <p:txBody>
          <a:bodyPr anchor="ctr">
            <a:normAutofit/>
          </a:bodyPr>
          <a:lstStyle/>
          <a:p>
            <a:r>
              <a:rPr lang="en-US" sz="3500"/>
              <a:t>The new digital toolkit</a:t>
            </a:r>
          </a:p>
        </p:txBody>
      </p:sp>
      <p:graphicFrame>
        <p:nvGraphicFramePr>
          <p:cNvPr id="7" name="Content Placeholder 3">
            <a:extLst>
              <a:ext uri="{FF2B5EF4-FFF2-40B4-BE49-F238E27FC236}">
                <a16:creationId xmlns:a16="http://schemas.microsoft.com/office/drawing/2014/main" id="{7D350741-7661-3E49-9A4D-158A6BD82F50}"/>
              </a:ext>
            </a:extLst>
          </p:cNvPr>
          <p:cNvGraphicFramePr>
            <a:graphicFrameLocks/>
          </p:cNvGraphicFramePr>
          <p:nvPr/>
        </p:nvGraphicFramePr>
        <p:xfrm>
          <a:off x="626365" y="2844237"/>
          <a:ext cx="7886697" cy="3021218"/>
        </p:xfrm>
        <a:graphic>
          <a:graphicData uri="http://schemas.openxmlformats.org/drawingml/2006/table">
            <a:tbl>
              <a:tblPr firstRow="1" firstCol="1" bandRow="1">
                <a:tableStyleId>{5C22544A-7EE6-4342-B048-85BDC9FD1C3A}</a:tableStyleId>
              </a:tblPr>
              <a:tblGrid>
                <a:gridCol w="1808856">
                  <a:extLst>
                    <a:ext uri="{9D8B030D-6E8A-4147-A177-3AD203B41FA5}">
                      <a16:colId xmlns:a16="http://schemas.microsoft.com/office/drawing/2014/main" val="2146523006"/>
                    </a:ext>
                  </a:extLst>
                </a:gridCol>
                <a:gridCol w="6077841">
                  <a:extLst>
                    <a:ext uri="{9D8B030D-6E8A-4147-A177-3AD203B41FA5}">
                      <a16:colId xmlns:a16="http://schemas.microsoft.com/office/drawing/2014/main" val="3186717357"/>
                    </a:ext>
                  </a:extLst>
                </a:gridCol>
              </a:tblGrid>
              <a:tr h="3021218">
                <a:tc>
                  <a:txBody>
                    <a:bodyPr/>
                    <a:lstStyle/>
                    <a:p>
                      <a:r>
                        <a:rPr lang="en-GB" sz="2800">
                          <a:effectLst/>
                        </a:rPr>
                        <a:t>Capture value</a:t>
                      </a:r>
                      <a:endParaRPr lang="en-GB"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57355" marR="157355" marT="0" marB="0"/>
                </a:tc>
                <a:tc>
                  <a:txBody>
                    <a:bodyPr/>
                    <a:lstStyle/>
                    <a:p>
                      <a:r>
                        <a:rPr lang="en-GB" sz="2800">
                          <a:effectLst/>
                        </a:rPr>
                        <a:t>Networking and viral marketing to accelerate diffusion</a:t>
                      </a:r>
                    </a:p>
                    <a:p>
                      <a:r>
                        <a:rPr lang="en-GB" sz="2800">
                          <a:effectLst/>
                        </a:rPr>
                        <a:t>Platform models to concentrate and deploy knowledge</a:t>
                      </a:r>
                    </a:p>
                    <a:p>
                      <a:r>
                        <a:rPr lang="en-GB" sz="2800">
                          <a:effectLst/>
                        </a:rPr>
                        <a:t>Ecosystem construction </a:t>
                      </a:r>
                    </a:p>
                    <a:p>
                      <a:r>
                        <a:rPr lang="en-GB" sz="2800">
                          <a:effectLst/>
                        </a:rPr>
                        <a:t>AI/machine learning </a:t>
                      </a:r>
                    </a:p>
                    <a:p>
                      <a:r>
                        <a:rPr lang="en-GB" sz="2800">
                          <a:effectLst/>
                        </a:rPr>
                        <a:t> </a:t>
                      </a:r>
                      <a:endParaRPr lang="en-GB"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57355" marR="157355" marT="0" marB="0"/>
                </a:tc>
                <a:extLst>
                  <a:ext uri="{0D108BD9-81ED-4DB2-BD59-A6C34878D82A}">
                    <a16:rowId xmlns:a16="http://schemas.microsoft.com/office/drawing/2014/main" val="652089018"/>
                  </a:ext>
                </a:extLst>
              </a:tr>
            </a:tbl>
          </a:graphicData>
        </a:graphic>
      </p:graphicFrame>
    </p:spTree>
    <p:extLst>
      <p:ext uri="{BB962C8B-B14F-4D97-AF65-F5344CB8AC3E}">
        <p14:creationId xmlns:p14="http://schemas.microsoft.com/office/powerpoint/2010/main" val="23470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8BA00-5819-8941-98BA-407BB873E4D2}"/>
              </a:ext>
            </a:extLst>
          </p:cNvPr>
          <p:cNvSpPr>
            <a:spLocks noGrp="1"/>
          </p:cNvSpPr>
          <p:nvPr>
            <p:ph type="title"/>
          </p:nvPr>
        </p:nvSpPr>
        <p:spPr/>
        <p:txBody>
          <a:bodyPr/>
          <a:lstStyle/>
          <a:p>
            <a:r>
              <a:rPr lang="en-US" dirty="0"/>
              <a:t>Front-end innovation tools</a:t>
            </a:r>
          </a:p>
        </p:txBody>
      </p:sp>
      <p:sp>
        <p:nvSpPr>
          <p:cNvPr id="3" name="Content Placeholder 2">
            <a:extLst>
              <a:ext uri="{FF2B5EF4-FFF2-40B4-BE49-F238E27FC236}">
                <a16:creationId xmlns:a16="http://schemas.microsoft.com/office/drawing/2014/main" id="{6538F50E-F1F6-0A4E-81BD-ECCFD661F508}"/>
              </a:ext>
            </a:extLst>
          </p:cNvPr>
          <p:cNvSpPr>
            <a:spLocks noGrp="1"/>
          </p:cNvSpPr>
          <p:nvPr>
            <p:ph idx="1"/>
          </p:nvPr>
        </p:nvSpPr>
        <p:spPr/>
        <p:txBody>
          <a:bodyPr/>
          <a:lstStyle/>
          <a:p>
            <a:r>
              <a:rPr lang="en-US" dirty="0"/>
              <a:t>Innovation contests and crowdsourcing solutions</a:t>
            </a:r>
          </a:p>
          <a:p>
            <a:r>
              <a:rPr lang="en-US" dirty="0"/>
              <a:t>Innovation markets</a:t>
            </a:r>
          </a:p>
          <a:p>
            <a:r>
              <a:rPr lang="en-US" dirty="0"/>
              <a:t>Innovation communities</a:t>
            </a:r>
          </a:p>
          <a:p>
            <a:r>
              <a:rPr lang="en-US" dirty="0"/>
              <a:t>Innovation toolkits</a:t>
            </a:r>
          </a:p>
          <a:p>
            <a:r>
              <a:rPr lang="en-US" dirty="0"/>
              <a:t>Innovation laboratories, makerspaces, collective co-creation</a:t>
            </a:r>
          </a:p>
        </p:txBody>
      </p:sp>
    </p:spTree>
    <p:extLst>
      <p:ext uri="{BB962C8B-B14F-4D97-AF65-F5344CB8AC3E}">
        <p14:creationId xmlns:p14="http://schemas.microsoft.com/office/powerpoint/2010/main" val="1239799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FEC7E9-C53E-364E-AF82-9152A55D160A}"/>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Collaborative innovation platforms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9D658B4-CD9F-D14B-ABCF-767374FF1903}"/>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a:t>Finding ideas – crowdsourcing, broadcast search</a:t>
            </a:r>
          </a:p>
          <a:p>
            <a:pPr>
              <a:lnSpc>
                <a:spcPct val="90000"/>
              </a:lnSpc>
            </a:pPr>
            <a:r>
              <a:rPr lang="en-US" sz="2700"/>
              <a:t>Selecting ideas – idea markets, comments and collaboration</a:t>
            </a:r>
          </a:p>
          <a:p>
            <a:pPr>
              <a:lnSpc>
                <a:spcPct val="90000"/>
              </a:lnSpc>
            </a:pPr>
            <a:r>
              <a:rPr lang="en-US" sz="2700"/>
              <a:t>Implementing ideas – on and offline support for development and collaboration</a:t>
            </a:r>
          </a:p>
          <a:p>
            <a:pPr>
              <a:lnSpc>
                <a:spcPct val="90000"/>
              </a:lnSpc>
            </a:pPr>
            <a:r>
              <a:rPr lang="en-US" sz="2700"/>
              <a:t>Targeting innovation – via campaigns and missions</a:t>
            </a:r>
          </a:p>
          <a:p>
            <a:pPr>
              <a:lnSpc>
                <a:spcPct val="90000"/>
              </a:lnSpc>
            </a:pPr>
            <a:r>
              <a:rPr lang="en-US" sz="2700"/>
              <a:t>Knowledge management – capture, sharing, recombination</a:t>
            </a:r>
          </a:p>
        </p:txBody>
      </p:sp>
    </p:spTree>
    <p:extLst>
      <p:ext uri="{BB962C8B-B14F-4D97-AF65-F5344CB8AC3E}">
        <p14:creationId xmlns:p14="http://schemas.microsoft.com/office/powerpoint/2010/main" val="1354832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BD48C-7E26-3946-B8BB-3F56FD2B63B8}"/>
              </a:ext>
            </a:extLst>
          </p:cNvPr>
          <p:cNvSpPr>
            <a:spLocks noGrp="1"/>
          </p:cNvSpPr>
          <p:nvPr>
            <p:ph type="title"/>
          </p:nvPr>
        </p:nvSpPr>
        <p:spPr/>
        <p:txBody>
          <a:bodyPr>
            <a:normAutofit fontScale="90000"/>
          </a:bodyPr>
          <a:lstStyle/>
          <a:p>
            <a:r>
              <a:rPr lang="en-US" dirty="0"/>
              <a:t>Digital tools across the innovation process</a:t>
            </a:r>
          </a:p>
        </p:txBody>
      </p:sp>
      <p:pic>
        <p:nvPicPr>
          <p:cNvPr id="5" name="Picture 4" descr="Graphical user interface, text, application&#10;&#10;Description automatically generated">
            <a:extLst>
              <a:ext uri="{FF2B5EF4-FFF2-40B4-BE49-F238E27FC236}">
                <a16:creationId xmlns:a16="http://schemas.microsoft.com/office/drawing/2014/main" id="{CF6B0C4B-4077-5C49-8F65-2505A911E7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491" y="1471113"/>
            <a:ext cx="8128309" cy="5537280"/>
          </a:xfrm>
          <a:prstGeom prst="rect">
            <a:avLst/>
          </a:prstGeom>
        </p:spPr>
      </p:pic>
    </p:spTree>
    <p:extLst>
      <p:ext uri="{BB962C8B-B14F-4D97-AF65-F5344CB8AC3E}">
        <p14:creationId xmlns:p14="http://schemas.microsoft.com/office/powerpoint/2010/main" val="1353760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DDCFDA-1C8A-1F46-B25A-B8FF44851FA9}"/>
              </a:ext>
            </a:extLst>
          </p:cNvPr>
          <p:cNvSpPr>
            <a:spLocks noGrp="1"/>
          </p:cNvSpPr>
          <p:nvPr>
            <p:ph type="title"/>
          </p:nvPr>
        </p:nvSpPr>
        <p:spPr>
          <a:xfrm>
            <a:off x="515125" y="1153572"/>
            <a:ext cx="2400300" cy="4461163"/>
          </a:xfrm>
        </p:spPr>
        <p:txBody>
          <a:bodyPr>
            <a:normAutofit/>
          </a:bodyPr>
          <a:lstStyle/>
          <a:p>
            <a:pPr>
              <a:lnSpc>
                <a:spcPct val="90000"/>
              </a:lnSpc>
            </a:pPr>
            <a:r>
              <a:rPr lang="en-US" sz="3100">
                <a:solidFill>
                  <a:srgbClr val="FFFFFF"/>
                </a:solidFill>
              </a:rPr>
              <a:t>Driving new approaches to innovation management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0F17FD1-D3A9-E24C-8784-1A78B327C28F}"/>
              </a:ext>
            </a:extLst>
          </p:cNvPr>
          <p:cNvSpPr>
            <a:spLocks noGrp="1"/>
          </p:cNvSpPr>
          <p:nvPr>
            <p:ph idx="1"/>
          </p:nvPr>
        </p:nvSpPr>
        <p:spPr>
          <a:xfrm>
            <a:off x="3335481" y="591344"/>
            <a:ext cx="5179868" cy="5585619"/>
          </a:xfrm>
        </p:spPr>
        <p:txBody>
          <a:bodyPr anchor="ctr">
            <a:normAutofit/>
          </a:bodyPr>
          <a:lstStyle/>
          <a:p>
            <a:r>
              <a:rPr lang="en-US" dirty="0"/>
              <a:t>Systems level thinking</a:t>
            </a:r>
          </a:p>
          <a:p>
            <a:r>
              <a:rPr lang="en-US" dirty="0"/>
              <a:t>Platform thinking</a:t>
            </a:r>
          </a:p>
          <a:p>
            <a:r>
              <a:rPr lang="en-US" dirty="0"/>
              <a:t>Changing role of knowledge</a:t>
            </a:r>
          </a:p>
          <a:p>
            <a:r>
              <a:rPr lang="en-US" dirty="0"/>
              <a:t>Skills and capabilities</a:t>
            </a:r>
          </a:p>
          <a:p>
            <a:r>
              <a:rPr lang="en-US" dirty="0"/>
              <a:t>Responsible innovation</a:t>
            </a:r>
          </a:p>
        </p:txBody>
      </p:sp>
    </p:spTree>
    <p:extLst>
      <p:ext uri="{BB962C8B-B14F-4D97-AF65-F5344CB8AC3E}">
        <p14:creationId xmlns:p14="http://schemas.microsoft.com/office/powerpoint/2010/main" val="1277163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C69AC-EB34-5C40-AE1A-EB673D6B52A1}"/>
              </a:ext>
            </a:extLst>
          </p:cNvPr>
          <p:cNvSpPr>
            <a:spLocks noGrp="1"/>
          </p:cNvSpPr>
          <p:nvPr>
            <p:ph type="title"/>
          </p:nvPr>
        </p:nvSpPr>
        <p:spPr>
          <a:xfrm>
            <a:off x="389658" y="621792"/>
            <a:ext cx="3886128" cy="5504688"/>
          </a:xfrm>
        </p:spPr>
        <p:txBody>
          <a:bodyPr>
            <a:normAutofit/>
          </a:bodyPr>
          <a:lstStyle/>
          <a:p>
            <a:r>
              <a:rPr lang="en-US" sz="4200"/>
              <a:t>Summary</a:t>
            </a:r>
          </a:p>
        </p:txBody>
      </p:sp>
      <p:graphicFrame>
        <p:nvGraphicFramePr>
          <p:cNvPr id="5" name="Content Placeholder 2">
            <a:extLst>
              <a:ext uri="{FF2B5EF4-FFF2-40B4-BE49-F238E27FC236}">
                <a16:creationId xmlns:a16="http://schemas.microsoft.com/office/drawing/2014/main" id="{0B2B134B-35A9-471C-931C-22324F6AD134}"/>
              </a:ext>
            </a:extLst>
          </p:cNvPr>
          <p:cNvGraphicFramePr>
            <a:graphicFrameLocks noGrp="1"/>
          </p:cNvGraphicFramePr>
          <p:nvPr>
            <p:ph idx="1"/>
            <p:extLst>
              <p:ext uri="{D42A27DB-BD31-4B8C-83A1-F6EECF244321}">
                <p14:modId xmlns:p14="http://schemas.microsoft.com/office/powerpoint/2010/main" val="141770438"/>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4004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5FB6-5E79-2B47-85E2-8A8F26CC3514}"/>
              </a:ext>
            </a:extLst>
          </p:cNvPr>
          <p:cNvSpPr>
            <a:spLocks noGrp="1"/>
          </p:cNvSpPr>
          <p:nvPr>
            <p:ph type="title"/>
          </p:nvPr>
        </p:nvSpPr>
        <p:spPr>
          <a:xfrm>
            <a:off x="389658" y="621792"/>
            <a:ext cx="3886128" cy="5504688"/>
          </a:xfrm>
        </p:spPr>
        <p:txBody>
          <a:bodyPr>
            <a:normAutofit/>
          </a:bodyPr>
          <a:lstStyle/>
          <a:p>
            <a:r>
              <a:rPr lang="en-US" sz="4200"/>
              <a:t>Summary</a:t>
            </a:r>
          </a:p>
        </p:txBody>
      </p:sp>
      <p:graphicFrame>
        <p:nvGraphicFramePr>
          <p:cNvPr id="5" name="Content Placeholder 2">
            <a:extLst>
              <a:ext uri="{FF2B5EF4-FFF2-40B4-BE49-F238E27FC236}">
                <a16:creationId xmlns:a16="http://schemas.microsoft.com/office/drawing/2014/main" id="{990DD8C2-E621-4F1C-93ED-36E3F09BF2EA}"/>
              </a:ext>
            </a:extLst>
          </p:cNvPr>
          <p:cNvGraphicFramePr>
            <a:graphicFrameLocks noGrp="1"/>
          </p:cNvGraphicFramePr>
          <p:nvPr>
            <p:ph idx="1"/>
            <p:extLst>
              <p:ext uri="{D42A27DB-BD31-4B8C-83A1-F6EECF244321}">
                <p14:modId xmlns:p14="http://schemas.microsoft.com/office/powerpoint/2010/main" val="1355344660"/>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4857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36ED8-A465-154E-B428-B8C2353F718F}"/>
              </a:ext>
            </a:extLst>
          </p:cNvPr>
          <p:cNvSpPr>
            <a:spLocks noGrp="1"/>
          </p:cNvSpPr>
          <p:nvPr>
            <p:ph type="title"/>
          </p:nvPr>
        </p:nvSpPr>
        <p:spPr>
          <a:xfrm>
            <a:off x="389658" y="621792"/>
            <a:ext cx="3886128" cy="5504688"/>
          </a:xfrm>
        </p:spPr>
        <p:txBody>
          <a:bodyPr>
            <a:normAutofit/>
          </a:bodyPr>
          <a:lstStyle/>
          <a:p>
            <a:r>
              <a:rPr lang="en-US" sz="4200"/>
              <a:t>Summary</a:t>
            </a:r>
          </a:p>
        </p:txBody>
      </p:sp>
      <p:sp>
        <p:nvSpPr>
          <p:cNvPr id="9" name="Rectangle 8">
            <a:extLst>
              <a:ext uri="{FF2B5EF4-FFF2-40B4-BE49-F238E27FC236}">
                <a16:creationId xmlns:a16="http://schemas.microsoft.com/office/drawing/2014/main" id="{2F56F8EA-3356-4455-9899-320874F6E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4593"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6CC52BAE-428D-422D-A095-543DD8E91A0F}"/>
              </a:ext>
            </a:extLst>
          </p:cNvPr>
          <p:cNvGraphicFramePr>
            <a:graphicFrameLocks noGrp="1"/>
          </p:cNvGraphicFramePr>
          <p:nvPr>
            <p:ph idx="1"/>
            <p:extLst>
              <p:ext uri="{D42A27DB-BD31-4B8C-83A1-F6EECF244321}">
                <p14:modId xmlns:p14="http://schemas.microsoft.com/office/powerpoint/2010/main" val="4146537970"/>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7262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fontScale="55000" lnSpcReduction="20000"/>
          </a:bodyPr>
          <a:lstStyle/>
          <a:p>
            <a:pPr marL="0" indent="0">
              <a:lnSpc>
                <a:spcPct val="90000"/>
              </a:lnSpc>
              <a:buNone/>
            </a:pPr>
            <a:r>
              <a:rPr lang="en-US" sz="2700" dirty="0"/>
              <a:t>There are several videos which can help explore and present the key themes of the chapter:</a:t>
            </a:r>
          </a:p>
          <a:p>
            <a:r>
              <a:rPr lang="en-GB" sz="2800" dirty="0">
                <a:hlinkClick r:id="rId4"/>
              </a:rPr>
              <a:t>David </a:t>
            </a:r>
            <a:r>
              <a:rPr lang="en-GB" sz="2800" dirty="0" err="1">
                <a:hlinkClick r:id="rId4"/>
              </a:rPr>
              <a:t>Simoes</a:t>
            </a:r>
            <a:r>
              <a:rPr lang="en-GB" sz="2800" dirty="0">
                <a:hlinkClick r:id="rId4"/>
              </a:rPr>
              <a:t> Brown of 100% Open </a:t>
            </a:r>
            <a:r>
              <a:rPr lang="en-GB" sz="2800" dirty="0"/>
              <a:t>talking about the challenges of working in open innovation with especial emphasis on digital channels</a:t>
            </a:r>
          </a:p>
          <a:p>
            <a:r>
              <a:rPr lang="en-GB" sz="2800" dirty="0">
                <a:hlinkClick r:id="rId5"/>
              </a:rPr>
              <a:t>Catharina van </a:t>
            </a:r>
            <a:r>
              <a:rPr lang="en-GB" sz="2800" dirty="0" err="1">
                <a:hlinkClick r:id="rId5"/>
              </a:rPr>
              <a:t>Delden</a:t>
            </a:r>
            <a:r>
              <a:rPr lang="en-GB" sz="2800" dirty="0">
                <a:hlinkClick r:id="rId5"/>
              </a:rPr>
              <a:t> talking about her company </a:t>
            </a:r>
            <a:r>
              <a:rPr lang="en-GB" sz="2800" dirty="0" err="1">
                <a:hlinkClick r:id="rId5"/>
              </a:rPr>
              <a:t>Innosabi</a:t>
            </a:r>
            <a:r>
              <a:rPr lang="en-GB" sz="2800" dirty="0">
                <a:hlinkClick r:id="rId5"/>
              </a:rPr>
              <a:t> </a:t>
            </a:r>
            <a:r>
              <a:rPr lang="en-GB" sz="2800" dirty="0"/>
              <a:t>which has grown to be a successful business in the field of online community development to support agile innovation</a:t>
            </a:r>
          </a:p>
          <a:p>
            <a:r>
              <a:rPr lang="en-GB" sz="2800" dirty="0">
                <a:hlinkClick r:id="rId6"/>
              </a:rPr>
              <a:t>Michael </a:t>
            </a:r>
            <a:r>
              <a:rPr lang="en-GB" sz="2800" dirty="0" err="1">
                <a:hlinkClick r:id="rId6"/>
              </a:rPr>
              <a:t>Bartl</a:t>
            </a:r>
            <a:r>
              <a:rPr lang="en-GB" sz="2800" dirty="0">
                <a:hlinkClick r:id="rId6"/>
              </a:rPr>
              <a:t> talking about using digital tools for market research</a:t>
            </a:r>
            <a:endParaRPr lang="en-GB" sz="2800" dirty="0"/>
          </a:p>
          <a:p>
            <a:r>
              <a:rPr lang="en-GB" sz="2800" dirty="0">
                <a:hlinkClick r:id="rId7"/>
              </a:rPr>
              <a:t>Pedro Oliveira talking about Patient Innovation</a:t>
            </a:r>
            <a:r>
              <a:rPr lang="en-GB" sz="2800" dirty="0"/>
              <a:t>, a healthcare innovation platform</a:t>
            </a:r>
          </a:p>
          <a:p>
            <a:r>
              <a:rPr lang="en-GB" sz="2800" dirty="0">
                <a:hlinkClick r:id="rId8"/>
              </a:rPr>
              <a:t>Francisco Pinheiro, Strategic Innovation Manager with Atos </a:t>
            </a:r>
            <a:r>
              <a:rPr lang="en-GB" sz="2800" dirty="0"/>
              <a:t>talking about the challenges of getting innovative ideas from employees via internal online platforms in the company</a:t>
            </a:r>
          </a:p>
          <a:p>
            <a:endParaRPr lang="en-GB" sz="2800" dirty="0"/>
          </a:p>
          <a:p>
            <a:pPr>
              <a:lnSpc>
                <a:spcPct val="90000"/>
              </a:lnSpc>
            </a:pPr>
            <a:endParaRPr lang="en-US" sz="2700" dirty="0"/>
          </a:p>
          <a:p>
            <a:pPr>
              <a:lnSpc>
                <a:spcPct val="90000"/>
              </a:lnSpc>
            </a:pPr>
            <a:endParaRPr lang="en-US" sz="2700" dirty="0"/>
          </a:p>
        </p:txBody>
      </p:sp>
    </p:spTree>
    <p:extLst>
      <p:ext uri="{BB962C8B-B14F-4D97-AF65-F5344CB8AC3E}">
        <p14:creationId xmlns:p14="http://schemas.microsoft.com/office/powerpoint/2010/main" val="2317679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fontScale="92500"/>
          </a:bodyPr>
          <a:lstStyle/>
          <a:p>
            <a:r>
              <a:rPr lang="en-US" dirty="0"/>
              <a:t>There are </a:t>
            </a:r>
            <a:r>
              <a:rPr lang="en-US" dirty="0">
                <a:hlinkClick r:id="rId2"/>
              </a:rPr>
              <a:t>several podcasts </a:t>
            </a:r>
            <a:r>
              <a:rPr lang="en-US" dirty="0"/>
              <a:t>and </a:t>
            </a:r>
            <a:r>
              <a:rPr lang="en-US" dirty="0">
                <a:hlinkClick r:id="rId3"/>
              </a:rPr>
              <a:t>blogs</a:t>
            </a:r>
            <a:r>
              <a:rPr lang="en-US" dirty="0"/>
              <a:t> picking up key themes around managing innovation as a process and some of the key variables:</a:t>
            </a:r>
          </a:p>
          <a:p>
            <a:r>
              <a:rPr lang="en-US" dirty="0"/>
              <a:t>Birth of the internet</a:t>
            </a:r>
          </a:p>
          <a:p>
            <a:r>
              <a:rPr lang="en-US" dirty="0"/>
              <a:t>An innovation birthday party</a:t>
            </a:r>
          </a:p>
          <a:p>
            <a:endParaRPr lang="en-US" dirty="0"/>
          </a:p>
          <a:p>
            <a:r>
              <a:rPr lang="en-US" dirty="0"/>
              <a:t>Alan Brown also has an </a:t>
            </a:r>
            <a:r>
              <a:rPr lang="en-US" dirty="0">
                <a:hlinkClick r:id="rId4"/>
              </a:rPr>
              <a:t>excellent blog on digital innovation here</a:t>
            </a:r>
            <a:endParaRPr lang="en-US" dirty="0"/>
          </a:p>
        </p:txBody>
      </p:sp>
    </p:spTree>
    <p:extLst>
      <p:ext uri="{BB962C8B-B14F-4D97-AF65-F5344CB8AC3E}">
        <p14:creationId xmlns:p14="http://schemas.microsoft.com/office/powerpoint/2010/main" val="1338640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92500" lnSpcReduction="10000"/>
          </a:bodyPr>
          <a:lstStyle/>
          <a:p>
            <a:pPr marL="0" indent="0">
              <a:lnSpc>
                <a:spcPct val="90000"/>
              </a:lnSpc>
              <a:buNone/>
            </a:pPr>
            <a:r>
              <a:rPr lang="en-US" sz="2000" dirty="0">
                <a:hlinkClick r:id="rId2"/>
              </a:rPr>
              <a:t>There are several case studies </a:t>
            </a:r>
            <a:r>
              <a:rPr lang="en-US" sz="2000" dirty="0"/>
              <a:t>on the website which highlight key themes in the chapter, including:</a:t>
            </a:r>
          </a:p>
          <a:p>
            <a:pPr marL="0" indent="0">
              <a:lnSpc>
                <a:spcPct val="90000"/>
              </a:lnSpc>
              <a:buNone/>
            </a:pPr>
            <a:endParaRPr lang="en-GB" sz="2000" dirty="0"/>
          </a:p>
          <a:p>
            <a:pPr>
              <a:lnSpc>
                <a:spcPct val="90000"/>
              </a:lnSpc>
            </a:pPr>
            <a:r>
              <a:rPr lang="en-GB" sz="2000" dirty="0"/>
              <a:t>Lufthansa Systems and Liberty Global showing how they use collaboration platforms to search for ideas across the organization</a:t>
            </a:r>
          </a:p>
          <a:p>
            <a:pPr>
              <a:lnSpc>
                <a:spcPct val="90000"/>
              </a:lnSpc>
            </a:pPr>
            <a:r>
              <a:rPr lang="en-GB" sz="2000" dirty="0"/>
              <a:t>Procter &amp; Gamble’s ‘connect and develop’ search approach</a:t>
            </a:r>
          </a:p>
          <a:p>
            <a:pPr>
              <a:lnSpc>
                <a:spcPct val="90000"/>
              </a:lnSpc>
            </a:pPr>
            <a:r>
              <a:rPr lang="en-GB" sz="2000" dirty="0"/>
              <a:t>Cash programming in humanitarian innovation showing the massive potential for digital approaches</a:t>
            </a:r>
          </a:p>
          <a:p>
            <a:pPr>
              <a:lnSpc>
                <a:spcPct val="90000"/>
              </a:lnSpc>
            </a:pPr>
            <a:r>
              <a:rPr lang="en-GB" sz="2000" dirty="0"/>
              <a:t>Hella, showing how the move into digital technologies in the 1980s transformed the fortunes of the business</a:t>
            </a:r>
          </a:p>
          <a:p>
            <a:pPr>
              <a:lnSpc>
                <a:spcPct val="90000"/>
              </a:lnSpc>
            </a:pPr>
            <a:r>
              <a:rPr lang="en-GB" sz="2000" dirty="0"/>
              <a:t>Lego, Threadless, Zara showing how digital techniques enabled major new innovation directions</a:t>
            </a:r>
          </a:p>
          <a:p>
            <a:pPr>
              <a:lnSpc>
                <a:spcPct val="90000"/>
              </a:lnSpc>
            </a:pPr>
            <a:r>
              <a:rPr lang="en-GB" sz="2000" dirty="0"/>
              <a:t>Report on ‘open collective innovation’</a:t>
            </a:r>
          </a:p>
          <a:p>
            <a:pPr>
              <a:lnSpc>
                <a:spcPct val="90000"/>
              </a:lnSpc>
            </a:pPr>
            <a:r>
              <a:rPr lang="en-GB" sz="2000" dirty="0"/>
              <a:t>Report on opening up healthcare innovation</a:t>
            </a:r>
          </a:p>
          <a:p>
            <a:pPr>
              <a:lnSpc>
                <a:spcPct val="90000"/>
              </a:lnSpc>
            </a:pPr>
            <a:r>
              <a:rPr lang="en-GB" sz="2000" dirty="0"/>
              <a:t>Cybercrime report </a:t>
            </a:r>
          </a:p>
          <a:p>
            <a:pPr marL="0" indent="0">
              <a:lnSpc>
                <a:spcPct val="90000"/>
              </a:lnSpc>
              <a:buNone/>
            </a:pPr>
            <a:endParaRPr lang="en-GB" sz="2000" dirty="0"/>
          </a:p>
          <a:p>
            <a:pPr marL="0" indent="0">
              <a:lnSpc>
                <a:spcPct val="90000"/>
              </a:lnSpc>
              <a:buNone/>
            </a:pPr>
            <a:endParaRPr lang="en-US" sz="2000" dirty="0"/>
          </a:p>
          <a:p>
            <a:pPr>
              <a:lnSpc>
                <a:spcPct val="90000"/>
              </a:lnSpc>
            </a:pPr>
            <a:endParaRPr lang="en-US" sz="2000" dirty="0"/>
          </a:p>
        </p:txBody>
      </p:sp>
    </p:spTree>
    <p:extLst>
      <p:ext uri="{BB962C8B-B14F-4D97-AF65-F5344CB8AC3E}">
        <p14:creationId xmlns:p14="http://schemas.microsoft.com/office/powerpoint/2010/main" val="2307348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0C5149-6727-EC41-B559-990C947441D8}"/>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511DA1-4502-DE40-9733-E5DEE76C0F3A}"/>
              </a:ext>
            </a:extLst>
          </p:cNvPr>
          <p:cNvSpPr>
            <a:spLocks noGrp="1"/>
          </p:cNvSpPr>
          <p:nvPr>
            <p:ph idx="1"/>
          </p:nvPr>
        </p:nvSpPr>
        <p:spPr>
          <a:xfrm>
            <a:off x="3335481" y="591344"/>
            <a:ext cx="5179868" cy="5585619"/>
          </a:xfrm>
        </p:spPr>
        <p:txBody>
          <a:bodyPr anchor="ctr">
            <a:normAutofit/>
          </a:bodyPr>
          <a:lstStyle/>
          <a:p>
            <a:r>
              <a:rPr lang="en-US" dirty="0"/>
              <a:t>There is a rich variety of tools to help with innovation and many of these have been significantly upgraded through the use of digital approaches.  You can </a:t>
            </a:r>
            <a:r>
              <a:rPr lang="en-US" dirty="0">
                <a:hlinkClick r:id="rId2"/>
              </a:rPr>
              <a:t>find a full list here.</a:t>
            </a:r>
            <a:endParaRPr lang="en-US" dirty="0"/>
          </a:p>
          <a:p>
            <a:endParaRPr lang="en-US" dirty="0"/>
          </a:p>
          <a:p>
            <a:endParaRPr lang="en-US" dirty="0"/>
          </a:p>
        </p:txBody>
      </p:sp>
    </p:spTree>
    <p:extLst>
      <p:ext uri="{BB962C8B-B14F-4D97-AF65-F5344CB8AC3E}">
        <p14:creationId xmlns:p14="http://schemas.microsoft.com/office/powerpoint/2010/main" val="3295031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4E49E5-74B4-AF43-B5F0-41B309D4ED3D}"/>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733529E-22BC-3545-BF86-C18DEBA42EE4}"/>
              </a:ext>
            </a:extLst>
          </p:cNvPr>
          <p:cNvSpPr>
            <a:spLocks noGrp="1"/>
          </p:cNvSpPr>
          <p:nvPr>
            <p:ph idx="1"/>
          </p:nvPr>
        </p:nvSpPr>
        <p:spPr>
          <a:xfrm>
            <a:off x="3335481" y="591344"/>
            <a:ext cx="5179868" cy="5585619"/>
          </a:xfrm>
        </p:spPr>
        <p:txBody>
          <a:bodyPr anchor="ctr">
            <a:normAutofit/>
          </a:bodyPr>
          <a:lstStyle/>
          <a:p>
            <a:r>
              <a:rPr lang="en-GB" dirty="0">
                <a:hlinkClick r:id="rId2"/>
              </a:rPr>
              <a:t>You can find an interactive e-book and tool  here </a:t>
            </a:r>
            <a:r>
              <a:rPr lang="en-GB" dirty="0"/>
              <a:t>which explores the use of online collaboration platforms to enhance innovation within and between organizations</a:t>
            </a:r>
          </a:p>
          <a:p>
            <a:endParaRPr lang="en-US" dirty="0"/>
          </a:p>
        </p:txBody>
      </p:sp>
    </p:spTree>
    <p:extLst>
      <p:ext uri="{BB962C8B-B14F-4D97-AF65-F5344CB8AC3E}">
        <p14:creationId xmlns:p14="http://schemas.microsoft.com/office/powerpoint/2010/main" val="1846459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1830941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DC70A-D112-204F-8896-F71F7E77A933}"/>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378BEBD-4BBC-A843-B82E-96E9184BE9B2}"/>
              </a:ext>
            </a:extLst>
          </p:cNvPr>
          <p:cNvSpPr>
            <a:spLocks noGrp="1"/>
          </p:cNvSpPr>
          <p:nvPr>
            <p:ph idx="1"/>
          </p:nvPr>
        </p:nvSpPr>
        <p:spPr>
          <a:xfrm>
            <a:off x="3335481" y="591344"/>
            <a:ext cx="5179868" cy="5585619"/>
          </a:xfrm>
        </p:spPr>
        <p:txBody>
          <a:bodyPr anchor="ctr">
            <a:normAutofit/>
          </a:bodyPr>
          <a:lstStyle/>
          <a:p>
            <a:r>
              <a:rPr lang="en-US" dirty="0"/>
              <a:t>Look at an organization with which you are familiar or pick one of the cases on the website.  How far has (or might) digital technology change the business and how might this affect the way innovation is managed?</a:t>
            </a:r>
          </a:p>
        </p:txBody>
      </p:sp>
    </p:spTree>
    <p:extLst>
      <p:ext uri="{BB962C8B-B14F-4D97-AF65-F5344CB8AC3E}">
        <p14:creationId xmlns:p14="http://schemas.microsoft.com/office/powerpoint/2010/main" val="2177874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2C7FA7-C68A-A44D-BC28-9FF0BD79D7E1}"/>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E1614FB-445D-244A-917A-6044300758B6}"/>
              </a:ext>
            </a:extLst>
          </p:cNvPr>
          <p:cNvSpPr>
            <a:spLocks noGrp="1"/>
          </p:cNvSpPr>
          <p:nvPr>
            <p:ph idx="1"/>
          </p:nvPr>
        </p:nvSpPr>
        <p:spPr>
          <a:xfrm>
            <a:off x="3335481" y="591344"/>
            <a:ext cx="5179868" cy="5585619"/>
          </a:xfrm>
        </p:spPr>
        <p:txBody>
          <a:bodyPr anchor="ctr">
            <a:normAutofit/>
          </a:bodyPr>
          <a:lstStyle/>
          <a:p>
            <a:r>
              <a:rPr lang="en-US" dirty="0"/>
              <a:t>Look at the high involvement maturity model here and then take an organization with which you are familiar and try to position it on the model. Where do you see some of the major challenges in adopting this kind of approach based on digital platforms?</a:t>
            </a:r>
          </a:p>
        </p:txBody>
      </p:sp>
    </p:spTree>
    <p:extLst>
      <p:ext uri="{BB962C8B-B14F-4D97-AF65-F5344CB8AC3E}">
        <p14:creationId xmlns:p14="http://schemas.microsoft.com/office/powerpoint/2010/main" val="3889433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C477E-8CCE-6B4E-8027-76F2E7B21D69}"/>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C8270A2-A534-6F4F-9118-9C18E1D4DD6E}"/>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a:t>Look at one of the major innovation platforms now operating – Apple, Amazon, Facebook, Netflix, Alibaba, Yandex, Google, etc.</a:t>
            </a:r>
          </a:p>
          <a:p>
            <a:pPr>
              <a:lnSpc>
                <a:spcPct val="90000"/>
              </a:lnSpc>
            </a:pPr>
            <a:r>
              <a:rPr lang="en-US" sz="2700"/>
              <a:t>How has digital innovation played a role in enabling the rapid growth of such organizations?</a:t>
            </a:r>
          </a:p>
          <a:p>
            <a:pPr>
              <a:lnSpc>
                <a:spcPct val="90000"/>
              </a:lnSpc>
            </a:pPr>
            <a:r>
              <a:rPr lang="en-US" sz="2700"/>
              <a:t>How far do they depend on owning the assets on their platforms and how far is it a case of managing an ‘ecosystem’?</a:t>
            </a:r>
          </a:p>
        </p:txBody>
      </p:sp>
    </p:spTree>
    <p:extLst>
      <p:ext uri="{BB962C8B-B14F-4D97-AF65-F5344CB8AC3E}">
        <p14:creationId xmlns:p14="http://schemas.microsoft.com/office/powerpoint/2010/main" val="3705187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E20DB1-EF77-DF43-8177-1FF0BB2E10F9}"/>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EB1BA9-5C0F-2A47-882E-22E4F4924A4A}"/>
              </a:ext>
            </a:extLst>
          </p:cNvPr>
          <p:cNvSpPr>
            <a:spLocks noGrp="1"/>
          </p:cNvSpPr>
          <p:nvPr>
            <p:ph idx="1"/>
          </p:nvPr>
        </p:nvSpPr>
        <p:spPr>
          <a:xfrm>
            <a:off x="3335481" y="591344"/>
            <a:ext cx="5179868" cy="5585619"/>
          </a:xfrm>
        </p:spPr>
        <p:txBody>
          <a:bodyPr anchor="ctr">
            <a:normAutofit/>
          </a:bodyPr>
          <a:lstStyle/>
          <a:p>
            <a:r>
              <a:rPr lang="en-US" dirty="0"/>
              <a:t>‘Digital innovation is just a case of putting old wine in new bottles – the impact on the way we manage the innovation process is minimal’.  Discuss the arguments for and against this point of view.</a:t>
            </a:r>
          </a:p>
        </p:txBody>
      </p:sp>
    </p:spTree>
    <p:extLst>
      <p:ext uri="{BB962C8B-B14F-4D97-AF65-F5344CB8AC3E}">
        <p14:creationId xmlns:p14="http://schemas.microsoft.com/office/powerpoint/2010/main" val="3511848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E67B85-9084-364A-8708-24070F1C69A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36E4AA3-E406-7E43-9A33-90420AF4F5C9}"/>
              </a:ext>
            </a:extLst>
          </p:cNvPr>
          <p:cNvSpPr>
            <a:spLocks noGrp="1"/>
          </p:cNvSpPr>
          <p:nvPr>
            <p:ph idx="1"/>
          </p:nvPr>
        </p:nvSpPr>
        <p:spPr>
          <a:xfrm>
            <a:off x="3335481" y="591344"/>
            <a:ext cx="5179868" cy="5585619"/>
          </a:xfrm>
        </p:spPr>
        <p:txBody>
          <a:bodyPr anchor="ctr">
            <a:normAutofit lnSpcReduction="10000"/>
          </a:bodyPr>
          <a:lstStyle/>
          <a:p>
            <a:r>
              <a:rPr lang="en-US" dirty="0"/>
              <a:t>What do you see as the main challenges in developing a strategy for digital innovation?</a:t>
            </a:r>
          </a:p>
          <a:p>
            <a:r>
              <a:rPr lang="en-US" dirty="0"/>
              <a:t> Is there a risk of a ‘digital divide’ with winners and losers in digital innovation – for example, in the field of healthcare.  Research the question and try to illustrate your answer with examples</a:t>
            </a:r>
          </a:p>
        </p:txBody>
      </p:sp>
    </p:spTree>
    <p:extLst>
      <p:ext uri="{BB962C8B-B14F-4D97-AF65-F5344CB8AC3E}">
        <p14:creationId xmlns:p14="http://schemas.microsoft.com/office/powerpoint/2010/main" val="1580933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1836</TotalTime>
  <Words>1483</Words>
  <Application>Microsoft Macintosh PowerPoint</Application>
  <PresentationFormat>On-screen Show (4:3)</PresentationFormat>
  <Paragraphs>149</Paragraphs>
  <Slides>32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Teaching Resources and Instructors’ Guidelines</vt:lpstr>
      <vt:lpstr>Chapter 2: Digital is different?</vt:lpstr>
      <vt:lpstr>Learning Objectives</vt:lpstr>
      <vt:lpstr>Core themes and material from the book</vt:lpstr>
      <vt:lpstr>Digital innovation…</vt:lpstr>
      <vt:lpstr>Simplified model of digital innovation</vt:lpstr>
      <vt:lpstr>Is it new?</vt:lpstr>
      <vt:lpstr>Is it revolutionary?</vt:lpstr>
      <vt:lpstr>Key features of digital technologies</vt:lpstr>
      <vt:lpstr>What does it mean for innovation management?</vt:lpstr>
      <vt:lpstr>The new digital toolkit</vt:lpstr>
      <vt:lpstr>The new digital toolkit</vt:lpstr>
      <vt:lpstr>The new digital toolkit</vt:lpstr>
      <vt:lpstr>The new digital toolkit</vt:lpstr>
      <vt:lpstr>Front-end innovation tools</vt:lpstr>
      <vt:lpstr>Collaborative innovation platforms</vt:lpstr>
      <vt:lpstr>Digital tools across the innovation process</vt:lpstr>
      <vt:lpstr>Driving new approaches to innovation management</vt:lpstr>
      <vt:lpstr>Summary</vt:lpstr>
      <vt:lpstr>Summary</vt:lpstr>
      <vt:lpstr>Summary</vt:lpstr>
      <vt:lpstr>Videos</vt:lpstr>
      <vt:lpstr>Blogs and podcasts</vt:lpstr>
      <vt:lpstr>Cases </vt:lpstr>
      <vt:lpstr>Tools</vt:lpstr>
      <vt:lpstr>Tools</vt:lpstr>
      <vt:lpstr>Activities</vt:lpstr>
      <vt:lpstr>Activities</vt:lpstr>
      <vt:lpstr>Activities</vt:lpstr>
      <vt:lpstr>Activities</vt:lpstr>
      <vt:lpstr>Assessments</vt:lpstr>
      <vt:lpstr>Assessments and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7</cp:revision>
  <dcterms:created xsi:type="dcterms:W3CDTF">2020-11-15T12:14:52Z</dcterms:created>
  <dcterms:modified xsi:type="dcterms:W3CDTF">2024-11-02T07:42:49Z</dcterms:modified>
</cp:coreProperties>
</file>