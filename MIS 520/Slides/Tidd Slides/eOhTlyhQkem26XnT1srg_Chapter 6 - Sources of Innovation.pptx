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5"/>
  </p:notesMasterIdLst>
  <p:sldIdLst>
    <p:sldId id="256" r:id="rId2"/>
    <p:sldId id="257" r:id="rId3"/>
    <p:sldId id="258" r:id="rId4"/>
    <p:sldId id="313" r:id="rId5"/>
    <p:sldId id="318" r:id="rId6"/>
    <p:sldId id="260" r:id="rId7"/>
    <p:sldId id="319" r:id="rId8"/>
    <p:sldId id="320" r:id="rId9"/>
    <p:sldId id="263" r:id="rId10"/>
    <p:sldId id="321" r:id="rId11"/>
    <p:sldId id="272" r:id="rId12"/>
    <p:sldId id="273" r:id="rId13"/>
    <p:sldId id="274" r:id="rId14"/>
    <p:sldId id="275" r:id="rId15"/>
    <p:sldId id="289" r:id="rId16"/>
    <p:sldId id="322" r:id="rId17"/>
    <p:sldId id="323" r:id="rId18"/>
    <p:sldId id="325" r:id="rId19"/>
    <p:sldId id="326" r:id="rId20"/>
    <p:sldId id="343" r:id="rId21"/>
    <p:sldId id="379" r:id="rId22"/>
    <p:sldId id="352" r:id="rId23"/>
    <p:sldId id="381" r:id="rId24"/>
    <p:sldId id="328" r:id="rId25"/>
    <p:sldId id="344" r:id="rId26"/>
    <p:sldId id="346" r:id="rId27"/>
    <p:sldId id="371" r:id="rId28"/>
    <p:sldId id="372" r:id="rId29"/>
    <p:sldId id="373" r:id="rId30"/>
    <p:sldId id="347" r:id="rId31"/>
    <p:sldId id="348" r:id="rId32"/>
    <p:sldId id="349" r:id="rId33"/>
    <p:sldId id="350" r:id="rId34"/>
    <p:sldId id="351" r:id="rId35"/>
    <p:sldId id="374" r:id="rId36"/>
    <p:sldId id="375" r:id="rId37"/>
    <p:sldId id="345" r:id="rId38"/>
    <p:sldId id="355" r:id="rId39"/>
    <p:sldId id="356" r:id="rId40"/>
    <p:sldId id="357" r:id="rId41"/>
    <p:sldId id="358" r:id="rId42"/>
    <p:sldId id="359" r:id="rId43"/>
    <p:sldId id="360" r:id="rId44"/>
    <p:sldId id="361" r:id="rId45"/>
    <p:sldId id="353" r:id="rId46"/>
    <p:sldId id="382" r:id="rId47"/>
    <p:sldId id="377" r:id="rId48"/>
    <p:sldId id="354" r:id="rId49"/>
    <p:sldId id="365" r:id="rId50"/>
    <p:sldId id="366" r:id="rId51"/>
    <p:sldId id="368" r:id="rId52"/>
    <p:sldId id="369" r:id="rId53"/>
    <p:sldId id="370" r:id="rId5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7" autoAdjust="0"/>
    <p:restoredTop sz="94570" autoAdjust="0"/>
  </p:normalViewPr>
  <p:slideViewPr>
    <p:cSldViewPr>
      <p:cViewPr varScale="1">
        <p:scale>
          <a:sx n="116" d="100"/>
          <a:sy n="116" d="100"/>
        </p:scale>
        <p:origin x="1760" y="192"/>
      </p:cViewPr>
      <p:guideLst>
        <p:guide orient="horz" pos="2160"/>
        <p:guide pos="2880"/>
      </p:guideLst>
    </p:cSldViewPr>
  </p:slideViewPr>
  <p:outlineViewPr>
    <p:cViewPr>
      <p:scale>
        <a:sx n="33" d="100"/>
        <a:sy n="33" d="100"/>
      </p:scale>
      <p:origin x="0" y="882"/>
    </p:cViewPr>
  </p:outlineViewPr>
  <p:notesTextViewPr>
    <p:cViewPr>
      <p:scale>
        <a:sx n="100" d="100"/>
        <a:sy n="100" d="100"/>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charts/_rels/chart1.xml.rels><?xml version="1.0" encoding="UTF-8" standalone="yes"?>
<Relationships xmlns="http://schemas.openxmlformats.org/package/2006/relationships"><Relationship Id="rId1" Type="http://schemas.openxmlformats.org/officeDocument/2006/relationships/oleObject" Target="Book1"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view3D>
      <c:rotX val="30"/>
      <c:rotY val="0"/>
      <c:rAngAx val="0"/>
    </c:view3D>
    <c:floor>
      <c:thickness val="0"/>
    </c:floor>
    <c:sideWall>
      <c:thickness val="0"/>
    </c:sideWall>
    <c:backWall>
      <c:thickness val="0"/>
    </c:backWall>
    <c:plotArea>
      <c:layout/>
      <c:pie3DChart>
        <c:varyColors val="1"/>
        <c:ser>
          <c:idx val="0"/>
          <c:order val="0"/>
          <c:cat>
            <c:strRef>
              <c:f>Sheet1!$A$1:$A$6</c:f>
              <c:strCache>
                <c:ptCount val="6"/>
                <c:pt idx="0">
                  <c:v>New to the world products</c:v>
                </c:pt>
                <c:pt idx="1">
                  <c:v>New product lines</c:v>
                </c:pt>
                <c:pt idx="2">
                  <c:v>Line extensions</c:v>
                </c:pt>
                <c:pt idx="3">
                  <c:v>Repositionings</c:v>
                </c:pt>
                <c:pt idx="4">
                  <c:v>Cost reductions</c:v>
                </c:pt>
                <c:pt idx="5">
                  <c:v>Incremental product improvements</c:v>
                </c:pt>
              </c:strCache>
            </c:strRef>
          </c:cat>
          <c:val>
            <c:numRef>
              <c:f>Sheet1!$B$1:$B$6</c:f>
              <c:numCache>
                <c:formatCode>General</c:formatCode>
                <c:ptCount val="6"/>
                <c:pt idx="0">
                  <c:v>10</c:v>
                </c:pt>
                <c:pt idx="1">
                  <c:v>20</c:v>
                </c:pt>
                <c:pt idx="2">
                  <c:v>23</c:v>
                </c:pt>
                <c:pt idx="3">
                  <c:v>4</c:v>
                </c:pt>
                <c:pt idx="4">
                  <c:v>9</c:v>
                </c:pt>
                <c:pt idx="5">
                  <c:v>34</c:v>
                </c:pt>
              </c:numCache>
            </c:numRef>
          </c:val>
          <c:extLst>
            <c:ext xmlns:c16="http://schemas.microsoft.com/office/drawing/2014/chart" uri="{C3380CC4-5D6E-409C-BE32-E72D297353CC}">
              <c16:uniqueId val="{00000000-4CBE-EE40-99F4-610D1ABACFFD}"/>
            </c:ext>
          </c:extLst>
        </c:ser>
        <c:dLbls>
          <c:showLegendKey val="0"/>
          <c:showVal val="0"/>
          <c:showCatName val="0"/>
          <c:showSerName val="0"/>
          <c:showPercent val="0"/>
          <c:showBubbleSize val="0"/>
          <c:showLeaderLines val="1"/>
        </c:dLbls>
      </c:pie3DChart>
    </c:plotArea>
    <c:legend>
      <c:legendPos val="r"/>
      <c:layout>
        <c:manualLayout>
          <c:xMode val="edge"/>
          <c:yMode val="edge"/>
          <c:x val="0.66347845089525403"/>
          <c:y val="0.248701123160605"/>
          <c:w val="0.33652154910474702"/>
          <c:h val="0.58611645630745302"/>
        </c:manualLayout>
      </c:layout>
      <c:overlay val="0"/>
      <c:txPr>
        <a:bodyPr/>
        <a:lstStyle/>
        <a:p>
          <a:pPr>
            <a:defRPr lang="en-GB" sz="1400"/>
          </a:pPr>
          <a:endParaRPr lang="en-US"/>
        </a:p>
      </c:txPr>
    </c:legend>
    <c:plotVisOnly val="1"/>
    <c:dispBlanksAs val="zero"/>
    <c:showDLblsOverMax val="0"/>
  </c:chart>
  <c:externalData r:id="rId1">
    <c:autoUpdate val="0"/>
  </c:externalData>
</c:chartSpace>
</file>

<file path=ppt/diagrams/_rels/data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_rels/drawing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B83696C0-910B-42CC-B3C7-9A70080F4534}"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A0C86B17-6549-4353-B252-A2B1FCE21DC0}">
      <dgm:prSet/>
      <dgm:spPr/>
      <dgm:t>
        <a:bodyPr/>
        <a:lstStyle/>
        <a:p>
          <a:r>
            <a:rPr lang="en-US" b="1"/>
            <a:t>By the end of this chapter you will develop an understanding of: </a:t>
          </a:r>
          <a:endParaRPr lang="en-US"/>
        </a:p>
      </dgm:t>
    </dgm:pt>
    <dgm:pt modelId="{69867BC3-BF70-47FB-B937-4F499817BB76}" type="parTrans" cxnId="{31E79AE9-E416-4529-B84D-D70E2297CC8E}">
      <dgm:prSet/>
      <dgm:spPr/>
      <dgm:t>
        <a:bodyPr/>
        <a:lstStyle/>
        <a:p>
          <a:endParaRPr lang="en-US"/>
        </a:p>
      </dgm:t>
    </dgm:pt>
    <dgm:pt modelId="{AD85DD3C-9C8A-4562-BE8E-73A9C4438C99}" type="sibTrans" cxnId="{31E79AE9-E416-4529-B84D-D70E2297CC8E}">
      <dgm:prSet/>
      <dgm:spPr/>
      <dgm:t>
        <a:bodyPr/>
        <a:lstStyle/>
        <a:p>
          <a:endParaRPr lang="en-US"/>
        </a:p>
      </dgm:t>
    </dgm:pt>
    <dgm:pt modelId="{282DC485-84FD-41FE-A054-1E0BA9858F8E}">
      <dgm:prSet/>
      <dgm:spPr/>
      <dgm:t>
        <a:bodyPr/>
        <a:lstStyle/>
        <a:p>
          <a:r>
            <a:rPr lang="en-US" b="1"/>
            <a:t>where innovations come from – the wide range of different sources which offer opportunities to entrepreneurs </a:t>
          </a:r>
          <a:endParaRPr lang="en-US"/>
        </a:p>
      </dgm:t>
    </dgm:pt>
    <dgm:pt modelId="{8726BF1E-05FF-4B13-95F2-128D41E9DA56}" type="parTrans" cxnId="{7CFAD505-7C9C-45C6-A09D-B2F900F149C6}">
      <dgm:prSet/>
      <dgm:spPr/>
      <dgm:t>
        <a:bodyPr/>
        <a:lstStyle/>
        <a:p>
          <a:endParaRPr lang="en-US"/>
        </a:p>
      </dgm:t>
    </dgm:pt>
    <dgm:pt modelId="{C7061A46-CFD4-49DB-A615-3233E1F414C5}" type="sibTrans" cxnId="{7CFAD505-7C9C-45C6-A09D-B2F900F149C6}">
      <dgm:prSet/>
      <dgm:spPr/>
      <dgm:t>
        <a:bodyPr/>
        <a:lstStyle/>
        <a:p>
          <a:endParaRPr lang="en-US"/>
        </a:p>
      </dgm:t>
    </dgm:pt>
    <dgm:pt modelId="{97B03B8E-D967-46B9-9812-77E5FBFECD9B}">
      <dgm:prSet/>
      <dgm:spPr/>
      <dgm:t>
        <a:bodyPr/>
        <a:lstStyle/>
        <a:p>
          <a:r>
            <a:rPr lang="en-US" b="1"/>
            <a:t>the idea of ‘push’ and ‘pull’ forces and their interaction </a:t>
          </a:r>
          <a:endParaRPr lang="en-US"/>
        </a:p>
      </dgm:t>
    </dgm:pt>
    <dgm:pt modelId="{85778765-CC45-4DAC-9E27-E91DE1BA3A9C}" type="parTrans" cxnId="{753F57B5-00C7-40F1-8176-EAD5DD051680}">
      <dgm:prSet/>
      <dgm:spPr/>
      <dgm:t>
        <a:bodyPr/>
        <a:lstStyle/>
        <a:p>
          <a:endParaRPr lang="en-US"/>
        </a:p>
      </dgm:t>
    </dgm:pt>
    <dgm:pt modelId="{B11DB35E-DD87-4F10-ACD0-A236E06490DD}" type="sibTrans" cxnId="{753F57B5-00C7-40F1-8176-EAD5DD051680}">
      <dgm:prSet/>
      <dgm:spPr/>
      <dgm:t>
        <a:bodyPr/>
        <a:lstStyle/>
        <a:p>
          <a:endParaRPr lang="en-US"/>
        </a:p>
      </dgm:t>
    </dgm:pt>
    <dgm:pt modelId="{020A3FC2-1D41-4EA7-BF4A-2D94334547F3}">
      <dgm:prSet/>
      <dgm:spPr/>
      <dgm:t>
        <a:bodyPr/>
        <a:lstStyle/>
        <a:p>
          <a:r>
            <a:rPr lang="en-US" b="1"/>
            <a:t>Innovation as a pattern of occasional breakthrough and long periods of incremental improvement </a:t>
          </a:r>
          <a:endParaRPr lang="en-US"/>
        </a:p>
      </dgm:t>
    </dgm:pt>
    <dgm:pt modelId="{ABFDB76C-0CD1-4D08-B036-959928907370}" type="parTrans" cxnId="{2282CCB0-E3D7-4E9E-8DCF-21B14DA7A545}">
      <dgm:prSet/>
      <dgm:spPr/>
      <dgm:t>
        <a:bodyPr/>
        <a:lstStyle/>
        <a:p>
          <a:endParaRPr lang="en-US"/>
        </a:p>
      </dgm:t>
    </dgm:pt>
    <dgm:pt modelId="{256AE330-4F0C-468E-B573-1EE53764CFC7}" type="sibTrans" cxnId="{2282CCB0-E3D7-4E9E-8DCF-21B14DA7A545}">
      <dgm:prSet/>
      <dgm:spPr/>
      <dgm:t>
        <a:bodyPr/>
        <a:lstStyle/>
        <a:p>
          <a:endParaRPr lang="en-US"/>
        </a:p>
      </dgm:t>
    </dgm:pt>
    <dgm:pt modelId="{F35EFE99-E55A-4FFC-8453-C6769043F402}">
      <dgm:prSet/>
      <dgm:spPr/>
      <dgm:t>
        <a:bodyPr/>
        <a:lstStyle/>
        <a:p>
          <a:r>
            <a:rPr lang="en-US" b="1"/>
            <a:t>the importance of different sources over time </a:t>
          </a:r>
          <a:endParaRPr lang="en-US"/>
        </a:p>
      </dgm:t>
    </dgm:pt>
    <dgm:pt modelId="{47EAE9E0-B9FA-4355-87EE-1FC2BC7ED0CC}" type="parTrans" cxnId="{4D8860BC-086E-40DD-AF5E-5EBF8E0F8558}">
      <dgm:prSet/>
      <dgm:spPr/>
      <dgm:t>
        <a:bodyPr/>
        <a:lstStyle/>
        <a:p>
          <a:endParaRPr lang="en-US"/>
        </a:p>
      </dgm:t>
    </dgm:pt>
    <dgm:pt modelId="{67799FAA-AFCB-4683-BC13-C92868EB06CD}" type="sibTrans" cxnId="{4D8860BC-086E-40DD-AF5E-5EBF8E0F8558}">
      <dgm:prSet/>
      <dgm:spPr/>
      <dgm:t>
        <a:bodyPr/>
        <a:lstStyle/>
        <a:p>
          <a:endParaRPr lang="en-US"/>
        </a:p>
      </dgm:t>
    </dgm:pt>
    <dgm:pt modelId="{2AC53085-7923-4D55-B19B-92E5A3E6F600}">
      <dgm:prSet/>
      <dgm:spPr/>
      <dgm:t>
        <a:bodyPr/>
        <a:lstStyle/>
        <a:p>
          <a:r>
            <a:rPr lang="en-US" b="1"/>
            <a:t>where and when you could search for opportunities to innovate. </a:t>
          </a:r>
          <a:endParaRPr lang="en-US"/>
        </a:p>
      </dgm:t>
    </dgm:pt>
    <dgm:pt modelId="{C61CE7EA-A36A-4A63-8FE6-B23842871CE9}" type="parTrans" cxnId="{5146D047-779A-4124-863A-9261F248279F}">
      <dgm:prSet/>
      <dgm:spPr/>
      <dgm:t>
        <a:bodyPr/>
        <a:lstStyle/>
        <a:p>
          <a:endParaRPr lang="en-US"/>
        </a:p>
      </dgm:t>
    </dgm:pt>
    <dgm:pt modelId="{19370561-B289-4AE2-86DA-FB2307EEA588}" type="sibTrans" cxnId="{5146D047-779A-4124-863A-9261F248279F}">
      <dgm:prSet/>
      <dgm:spPr/>
      <dgm:t>
        <a:bodyPr/>
        <a:lstStyle/>
        <a:p>
          <a:endParaRPr lang="en-US"/>
        </a:p>
      </dgm:t>
    </dgm:pt>
    <dgm:pt modelId="{678E2FAB-5FA7-0F4A-9845-BC655961CE76}" type="pres">
      <dgm:prSet presAssocID="{B83696C0-910B-42CC-B3C7-9A70080F4534}" presName="linear" presStyleCnt="0">
        <dgm:presLayoutVars>
          <dgm:animLvl val="lvl"/>
          <dgm:resizeHandles val="exact"/>
        </dgm:presLayoutVars>
      </dgm:prSet>
      <dgm:spPr/>
    </dgm:pt>
    <dgm:pt modelId="{1FF3C6A2-A6AE-0743-A6BC-4000E936C91E}" type="pres">
      <dgm:prSet presAssocID="{A0C86B17-6549-4353-B252-A2B1FCE21DC0}" presName="parentText" presStyleLbl="node1" presStyleIdx="0" presStyleCnt="6">
        <dgm:presLayoutVars>
          <dgm:chMax val="0"/>
          <dgm:bulletEnabled val="1"/>
        </dgm:presLayoutVars>
      </dgm:prSet>
      <dgm:spPr/>
    </dgm:pt>
    <dgm:pt modelId="{4E39A01D-F2C5-2144-B13B-DF8664A1E1BA}" type="pres">
      <dgm:prSet presAssocID="{AD85DD3C-9C8A-4562-BE8E-73A9C4438C99}" presName="spacer" presStyleCnt="0"/>
      <dgm:spPr/>
    </dgm:pt>
    <dgm:pt modelId="{488265E4-E1CD-AB4D-B0B4-464A34D8401B}" type="pres">
      <dgm:prSet presAssocID="{282DC485-84FD-41FE-A054-1E0BA9858F8E}" presName="parentText" presStyleLbl="node1" presStyleIdx="1" presStyleCnt="6">
        <dgm:presLayoutVars>
          <dgm:chMax val="0"/>
          <dgm:bulletEnabled val="1"/>
        </dgm:presLayoutVars>
      </dgm:prSet>
      <dgm:spPr/>
    </dgm:pt>
    <dgm:pt modelId="{1CE1C3AF-C435-914F-9D61-16EF68237900}" type="pres">
      <dgm:prSet presAssocID="{C7061A46-CFD4-49DB-A615-3233E1F414C5}" presName="spacer" presStyleCnt="0"/>
      <dgm:spPr/>
    </dgm:pt>
    <dgm:pt modelId="{50E69750-E9BB-1C4A-8D04-52E13C1BD41C}" type="pres">
      <dgm:prSet presAssocID="{97B03B8E-D967-46B9-9812-77E5FBFECD9B}" presName="parentText" presStyleLbl="node1" presStyleIdx="2" presStyleCnt="6">
        <dgm:presLayoutVars>
          <dgm:chMax val="0"/>
          <dgm:bulletEnabled val="1"/>
        </dgm:presLayoutVars>
      </dgm:prSet>
      <dgm:spPr/>
    </dgm:pt>
    <dgm:pt modelId="{04DB183A-6FB5-5143-95FE-DE2E4D378D7D}" type="pres">
      <dgm:prSet presAssocID="{B11DB35E-DD87-4F10-ACD0-A236E06490DD}" presName="spacer" presStyleCnt="0"/>
      <dgm:spPr/>
    </dgm:pt>
    <dgm:pt modelId="{99643C3C-09DD-8A4F-B1C4-09AB9FF918D0}" type="pres">
      <dgm:prSet presAssocID="{020A3FC2-1D41-4EA7-BF4A-2D94334547F3}" presName="parentText" presStyleLbl="node1" presStyleIdx="3" presStyleCnt="6">
        <dgm:presLayoutVars>
          <dgm:chMax val="0"/>
          <dgm:bulletEnabled val="1"/>
        </dgm:presLayoutVars>
      </dgm:prSet>
      <dgm:spPr/>
    </dgm:pt>
    <dgm:pt modelId="{FCA762A6-E76E-2E4A-AC90-47D19EDCBA4F}" type="pres">
      <dgm:prSet presAssocID="{256AE330-4F0C-468E-B573-1EE53764CFC7}" presName="spacer" presStyleCnt="0"/>
      <dgm:spPr/>
    </dgm:pt>
    <dgm:pt modelId="{465EA06F-7C73-2D48-A648-A001CC7AF480}" type="pres">
      <dgm:prSet presAssocID="{F35EFE99-E55A-4FFC-8453-C6769043F402}" presName="parentText" presStyleLbl="node1" presStyleIdx="4" presStyleCnt="6">
        <dgm:presLayoutVars>
          <dgm:chMax val="0"/>
          <dgm:bulletEnabled val="1"/>
        </dgm:presLayoutVars>
      </dgm:prSet>
      <dgm:spPr/>
    </dgm:pt>
    <dgm:pt modelId="{40D819F0-6621-C84C-A2EC-103E58C19C3D}" type="pres">
      <dgm:prSet presAssocID="{67799FAA-AFCB-4683-BC13-C92868EB06CD}" presName="spacer" presStyleCnt="0"/>
      <dgm:spPr/>
    </dgm:pt>
    <dgm:pt modelId="{29C90CF2-38B8-2048-8C75-0A34DF1C9EAE}" type="pres">
      <dgm:prSet presAssocID="{2AC53085-7923-4D55-B19B-92E5A3E6F600}" presName="parentText" presStyleLbl="node1" presStyleIdx="5" presStyleCnt="6">
        <dgm:presLayoutVars>
          <dgm:chMax val="0"/>
          <dgm:bulletEnabled val="1"/>
        </dgm:presLayoutVars>
      </dgm:prSet>
      <dgm:spPr/>
    </dgm:pt>
  </dgm:ptLst>
  <dgm:cxnLst>
    <dgm:cxn modelId="{6D6A1901-3205-EF4E-885F-4B0ABE949ED8}" type="presOf" srcId="{97B03B8E-D967-46B9-9812-77E5FBFECD9B}" destId="{50E69750-E9BB-1C4A-8D04-52E13C1BD41C}" srcOrd="0" destOrd="0" presId="urn:microsoft.com/office/officeart/2005/8/layout/vList2"/>
    <dgm:cxn modelId="{7CFAD505-7C9C-45C6-A09D-B2F900F149C6}" srcId="{B83696C0-910B-42CC-B3C7-9A70080F4534}" destId="{282DC485-84FD-41FE-A054-1E0BA9858F8E}" srcOrd="1" destOrd="0" parTransId="{8726BF1E-05FF-4B13-95F2-128D41E9DA56}" sibTransId="{C7061A46-CFD4-49DB-A615-3233E1F414C5}"/>
    <dgm:cxn modelId="{D6E12F08-9ACC-B940-AC4C-3FCFCBB365A8}" type="presOf" srcId="{2AC53085-7923-4D55-B19B-92E5A3E6F600}" destId="{29C90CF2-38B8-2048-8C75-0A34DF1C9EAE}" srcOrd="0" destOrd="0" presId="urn:microsoft.com/office/officeart/2005/8/layout/vList2"/>
    <dgm:cxn modelId="{7DAA2E24-1AC9-F345-B54E-844676D4A3DF}" type="presOf" srcId="{020A3FC2-1D41-4EA7-BF4A-2D94334547F3}" destId="{99643C3C-09DD-8A4F-B1C4-09AB9FF918D0}" srcOrd="0" destOrd="0" presId="urn:microsoft.com/office/officeart/2005/8/layout/vList2"/>
    <dgm:cxn modelId="{5146D047-779A-4124-863A-9261F248279F}" srcId="{B83696C0-910B-42CC-B3C7-9A70080F4534}" destId="{2AC53085-7923-4D55-B19B-92E5A3E6F600}" srcOrd="5" destOrd="0" parTransId="{C61CE7EA-A36A-4A63-8FE6-B23842871CE9}" sibTransId="{19370561-B289-4AE2-86DA-FB2307EEA588}"/>
    <dgm:cxn modelId="{6490FE4B-AB12-6B47-8488-82288218E2C0}" type="presOf" srcId="{B83696C0-910B-42CC-B3C7-9A70080F4534}" destId="{678E2FAB-5FA7-0F4A-9845-BC655961CE76}" srcOrd="0" destOrd="0" presId="urn:microsoft.com/office/officeart/2005/8/layout/vList2"/>
    <dgm:cxn modelId="{2282CCB0-E3D7-4E9E-8DCF-21B14DA7A545}" srcId="{B83696C0-910B-42CC-B3C7-9A70080F4534}" destId="{020A3FC2-1D41-4EA7-BF4A-2D94334547F3}" srcOrd="3" destOrd="0" parTransId="{ABFDB76C-0CD1-4D08-B036-959928907370}" sibTransId="{256AE330-4F0C-468E-B573-1EE53764CFC7}"/>
    <dgm:cxn modelId="{753F57B5-00C7-40F1-8176-EAD5DD051680}" srcId="{B83696C0-910B-42CC-B3C7-9A70080F4534}" destId="{97B03B8E-D967-46B9-9812-77E5FBFECD9B}" srcOrd="2" destOrd="0" parTransId="{85778765-CC45-4DAC-9E27-E91DE1BA3A9C}" sibTransId="{B11DB35E-DD87-4F10-ACD0-A236E06490DD}"/>
    <dgm:cxn modelId="{6B5DC1B6-AC2A-334D-987C-5B495A1F7C02}" type="presOf" srcId="{F35EFE99-E55A-4FFC-8453-C6769043F402}" destId="{465EA06F-7C73-2D48-A648-A001CC7AF480}" srcOrd="0" destOrd="0" presId="urn:microsoft.com/office/officeart/2005/8/layout/vList2"/>
    <dgm:cxn modelId="{4D8860BC-086E-40DD-AF5E-5EBF8E0F8558}" srcId="{B83696C0-910B-42CC-B3C7-9A70080F4534}" destId="{F35EFE99-E55A-4FFC-8453-C6769043F402}" srcOrd="4" destOrd="0" parTransId="{47EAE9E0-B9FA-4355-87EE-1FC2BC7ED0CC}" sibTransId="{67799FAA-AFCB-4683-BC13-C92868EB06CD}"/>
    <dgm:cxn modelId="{B1935CC6-A227-B243-B543-7F5C5C4CDF53}" type="presOf" srcId="{282DC485-84FD-41FE-A054-1E0BA9858F8E}" destId="{488265E4-E1CD-AB4D-B0B4-464A34D8401B}" srcOrd="0" destOrd="0" presId="urn:microsoft.com/office/officeart/2005/8/layout/vList2"/>
    <dgm:cxn modelId="{501D2FE7-B51C-1A43-87DF-E38398CA0976}" type="presOf" srcId="{A0C86B17-6549-4353-B252-A2B1FCE21DC0}" destId="{1FF3C6A2-A6AE-0743-A6BC-4000E936C91E}" srcOrd="0" destOrd="0" presId="urn:microsoft.com/office/officeart/2005/8/layout/vList2"/>
    <dgm:cxn modelId="{31E79AE9-E416-4529-B84D-D70E2297CC8E}" srcId="{B83696C0-910B-42CC-B3C7-9A70080F4534}" destId="{A0C86B17-6549-4353-B252-A2B1FCE21DC0}" srcOrd="0" destOrd="0" parTransId="{69867BC3-BF70-47FB-B937-4F499817BB76}" sibTransId="{AD85DD3C-9C8A-4562-BE8E-73A9C4438C99}"/>
    <dgm:cxn modelId="{A71C33EA-CCDC-0D42-B02C-32C617359729}" type="presParOf" srcId="{678E2FAB-5FA7-0F4A-9845-BC655961CE76}" destId="{1FF3C6A2-A6AE-0743-A6BC-4000E936C91E}" srcOrd="0" destOrd="0" presId="urn:microsoft.com/office/officeart/2005/8/layout/vList2"/>
    <dgm:cxn modelId="{60A2521F-9E6D-0342-8D6D-C58D149FB6D1}" type="presParOf" srcId="{678E2FAB-5FA7-0F4A-9845-BC655961CE76}" destId="{4E39A01D-F2C5-2144-B13B-DF8664A1E1BA}" srcOrd="1" destOrd="0" presId="urn:microsoft.com/office/officeart/2005/8/layout/vList2"/>
    <dgm:cxn modelId="{B8839BAC-BE8E-7F4B-901A-32C36A9C8C88}" type="presParOf" srcId="{678E2FAB-5FA7-0F4A-9845-BC655961CE76}" destId="{488265E4-E1CD-AB4D-B0B4-464A34D8401B}" srcOrd="2" destOrd="0" presId="urn:microsoft.com/office/officeart/2005/8/layout/vList2"/>
    <dgm:cxn modelId="{EF3226F6-D380-764E-8FC0-83864BE4C72F}" type="presParOf" srcId="{678E2FAB-5FA7-0F4A-9845-BC655961CE76}" destId="{1CE1C3AF-C435-914F-9D61-16EF68237900}" srcOrd="3" destOrd="0" presId="urn:microsoft.com/office/officeart/2005/8/layout/vList2"/>
    <dgm:cxn modelId="{6E298180-02E0-BA41-B1B1-4B10BCE3742F}" type="presParOf" srcId="{678E2FAB-5FA7-0F4A-9845-BC655961CE76}" destId="{50E69750-E9BB-1C4A-8D04-52E13C1BD41C}" srcOrd="4" destOrd="0" presId="urn:microsoft.com/office/officeart/2005/8/layout/vList2"/>
    <dgm:cxn modelId="{176B60B0-BC72-F740-8286-6EA2CC69B0E1}" type="presParOf" srcId="{678E2FAB-5FA7-0F4A-9845-BC655961CE76}" destId="{04DB183A-6FB5-5143-95FE-DE2E4D378D7D}" srcOrd="5" destOrd="0" presId="urn:microsoft.com/office/officeart/2005/8/layout/vList2"/>
    <dgm:cxn modelId="{A515A706-F38B-674C-99EB-F43F8CAF8F00}" type="presParOf" srcId="{678E2FAB-5FA7-0F4A-9845-BC655961CE76}" destId="{99643C3C-09DD-8A4F-B1C4-09AB9FF918D0}" srcOrd="6" destOrd="0" presId="urn:microsoft.com/office/officeart/2005/8/layout/vList2"/>
    <dgm:cxn modelId="{C49E4B1D-D6C8-0842-B913-66BEB88BADD7}" type="presParOf" srcId="{678E2FAB-5FA7-0F4A-9845-BC655961CE76}" destId="{FCA762A6-E76E-2E4A-AC90-47D19EDCBA4F}" srcOrd="7" destOrd="0" presId="urn:microsoft.com/office/officeart/2005/8/layout/vList2"/>
    <dgm:cxn modelId="{E4DB2BEF-ABFB-024F-831C-ECD9D2666E9E}" type="presParOf" srcId="{678E2FAB-5FA7-0F4A-9845-BC655961CE76}" destId="{465EA06F-7C73-2D48-A648-A001CC7AF480}" srcOrd="8" destOrd="0" presId="urn:microsoft.com/office/officeart/2005/8/layout/vList2"/>
    <dgm:cxn modelId="{D8D36636-C374-BC41-8BC5-4B5247A18BBA}" type="presParOf" srcId="{678E2FAB-5FA7-0F4A-9845-BC655961CE76}" destId="{40D819F0-6621-C84C-A2EC-103E58C19C3D}" srcOrd="9" destOrd="0" presId="urn:microsoft.com/office/officeart/2005/8/layout/vList2"/>
    <dgm:cxn modelId="{EC1FF6BC-0DDE-2746-BECA-B82DA2E8D796}" type="presParOf" srcId="{678E2FAB-5FA7-0F4A-9845-BC655961CE76}" destId="{29C90CF2-38B8-2048-8C75-0A34DF1C9EAE}"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7AD5D27-2C57-48ED-B97D-097B1B38B5A2}"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89F042B0-D21D-4276-B3EA-4B9A25CF2ACD}">
      <dgm:prSet/>
      <dgm:spPr/>
      <dgm:t>
        <a:bodyPr/>
        <a:lstStyle/>
        <a:p>
          <a:r>
            <a:rPr lang="en-GB"/>
            <a:t>Innovations come from many different sources</a:t>
          </a:r>
          <a:endParaRPr lang="en-US"/>
        </a:p>
      </dgm:t>
    </dgm:pt>
    <dgm:pt modelId="{05195913-BEC5-4510-BD7D-485FD609839D}" type="parTrans" cxnId="{6219B07D-AD1E-4559-B3C8-36245EE2C779}">
      <dgm:prSet/>
      <dgm:spPr/>
      <dgm:t>
        <a:bodyPr/>
        <a:lstStyle/>
        <a:p>
          <a:endParaRPr lang="en-US"/>
        </a:p>
      </dgm:t>
    </dgm:pt>
    <dgm:pt modelId="{D59EB7CB-FA4B-4BF0-B6AE-DC4CC5B76DEC}" type="sibTrans" cxnId="{6219B07D-AD1E-4559-B3C8-36245EE2C779}">
      <dgm:prSet/>
      <dgm:spPr/>
      <dgm:t>
        <a:bodyPr/>
        <a:lstStyle/>
        <a:p>
          <a:endParaRPr lang="en-US"/>
        </a:p>
      </dgm:t>
    </dgm:pt>
    <dgm:pt modelId="{F59EB2C7-0392-4C16-AE9A-60503B565D2A}">
      <dgm:prSet/>
      <dgm:spPr/>
      <dgm:t>
        <a:bodyPr/>
        <a:lstStyle/>
        <a:p>
          <a:r>
            <a:rPr lang="en-GB"/>
            <a:t>Innovations don’t just appear perfectly formed – and the process is not simply a spark of imagination giving rise to changing the world. Instead innovations come from a number of sources and these interact over time.</a:t>
          </a:r>
          <a:endParaRPr lang="en-US"/>
        </a:p>
      </dgm:t>
    </dgm:pt>
    <dgm:pt modelId="{A8A3F829-BAF1-429B-904B-BC97E33EACC0}" type="parTrans" cxnId="{5D4E33E7-D4D3-4A16-A1E9-C4A0280F5693}">
      <dgm:prSet/>
      <dgm:spPr/>
      <dgm:t>
        <a:bodyPr/>
        <a:lstStyle/>
        <a:p>
          <a:endParaRPr lang="en-US"/>
        </a:p>
      </dgm:t>
    </dgm:pt>
    <dgm:pt modelId="{5A2E37A4-7C7C-4B51-8F29-ED26D9745C55}" type="sibTrans" cxnId="{5D4E33E7-D4D3-4A16-A1E9-C4A0280F5693}">
      <dgm:prSet/>
      <dgm:spPr/>
      <dgm:t>
        <a:bodyPr/>
        <a:lstStyle/>
        <a:p>
          <a:endParaRPr lang="en-US"/>
        </a:p>
      </dgm:t>
    </dgm:pt>
    <dgm:pt modelId="{B516DB09-F419-43E6-8B1B-F14517C10271}">
      <dgm:prSet/>
      <dgm:spPr/>
      <dgm:t>
        <a:bodyPr/>
        <a:lstStyle/>
        <a:p>
          <a:r>
            <a:rPr lang="en-GB"/>
            <a:t>Sources of innovation can be resolved into two broad classes – knowledge push and need pull – although they almost always act in tandem. Innovation arises from the interplay between them.</a:t>
          </a:r>
          <a:endParaRPr lang="en-US"/>
        </a:p>
      </dgm:t>
    </dgm:pt>
    <dgm:pt modelId="{473CB648-43DC-415E-B298-5BD9B2A2F594}" type="parTrans" cxnId="{487AAAD4-F749-4EAF-B4B6-5DB14B87950E}">
      <dgm:prSet/>
      <dgm:spPr/>
      <dgm:t>
        <a:bodyPr/>
        <a:lstStyle/>
        <a:p>
          <a:endParaRPr lang="en-US"/>
        </a:p>
      </dgm:t>
    </dgm:pt>
    <dgm:pt modelId="{6EE1F872-3214-4744-B072-3C371EB06761}" type="sibTrans" cxnId="{487AAAD4-F749-4EAF-B4B6-5DB14B87950E}">
      <dgm:prSet/>
      <dgm:spPr/>
      <dgm:t>
        <a:bodyPr/>
        <a:lstStyle/>
        <a:p>
          <a:endParaRPr lang="en-US"/>
        </a:p>
      </dgm:t>
    </dgm:pt>
    <dgm:pt modelId="{E065CBFA-2B26-1E45-B393-DA25EB8DE168}" type="pres">
      <dgm:prSet presAssocID="{17AD5D27-2C57-48ED-B97D-097B1B38B5A2}" presName="linear" presStyleCnt="0">
        <dgm:presLayoutVars>
          <dgm:animLvl val="lvl"/>
          <dgm:resizeHandles val="exact"/>
        </dgm:presLayoutVars>
      </dgm:prSet>
      <dgm:spPr/>
    </dgm:pt>
    <dgm:pt modelId="{8806324F-7741-0F47-BBAF-F91054E11788}" type="pres">
      <dgm:prSet presAssocID="{89F042B0-D21D-4276-B3EA-4B9A25CF2ACD}" presName="parentText" presStyleLbl="node1" presStyleIdx="0" presStyleCnt="3">
        <dgm:presLayoutVars>
          <dgm:chMax val="0"/>
          <dgm:bulletEnabled val="1"/>
        </dgm:presLayoutVars>
      </dgm:prSet>
      <dgm:spPr/>
    </dgm:pt>
    <dgm:pt modelId="{9B2CF414-E49B-564F-8486-FBB0C9105EC0}" type="pres">
      <dgm:prSet presAssocID="{D59EB7CB-FA4B-4BF0-B6AE-DC4CC5B76DEC}" presName="spacer" presStyleCnt="0"/>
      <dgm:spPr/>
    </dgm:pt>
    <dgm:pt modelId="{07BD5423-A619-B44A-9F49-2D3F3A91F275}" type="pres">
      <dgm:prSet presAssocID="{F59EB2C7-0392-4C16-AE9A-60503B565D2A}" presName="parentText" presStyleLbl="node1" presStyleIdx="1" presStyleCnt="3">
        <dgm:presLayoutVars>
          <dgm:chMax val="0"/>
          <dgm:bulletEnabled val="1"/>
        </dgm:presLayoutVars>
      </dgm:prSet>
      <dgm:spPr/>
    </dgm:pt>
    <dgm:pt modelId="{1CED3935-D9D1-3A4A-A5DD-3D1F9D5E04DC}" type="pres">
      <dgm:prSet presAssocID="{5A2E37A4-7C7C-4B51-8F29-ED26D9745C55}" presName="spacer" presStyleCnt="0"/>
      <dgm:spPr/>
    </dgm:pt>
    <dgm:pt modelId="{CFB8628D-B0A4-7E4C-B668-36092EB60D69}" type="pres">
      <dgm:prSet presAssocID="{B516DB09-F419-43E6-8B1B-F14517C10271}" presName="parentText" presStyleLbl="node1" presStyleIdx="2" presStyleCnt="3">
        <dgm:presLayoutVars>
          <dgm:chMax val="0"/>
          <dgm:bulletEnabled val="1"/>
        </dgm:presLayoutVars>
      </dgm:prSet>
      <dgm:spPr/>
    </dgm:pt>
  </dgm:ptLst>
  <dgm:cxnLst>
    <dgm:cxn modelId="{74972C62-F156-2645-8C56-50108331BF6A}" type="presOf" srcId="{B516DB09-F419-43E6-8B1B-F14517C10271}" destId="{CFB8628D-B0A4-7E4C-B668-36092EB60D69}" srcOrd="0" destOrd="0" presId="urn:microsoft.com/office/officeart/2005/8/layout/vList2"/>
    <dgm:cxn modelId="{280FB86D-F724-1E4E-9136-98D819C4DA80}" type="presOf" srcId="{17AD5D27-2C57-48ED-B97D-097B1B38B5A2}" destId="{E065CBFA-2B26-1E45-B393-DA25EB8DE168}" srcOrd="0" destOrd="0" presId="urn:microsoft.com/office/officeart/2005/8/layout/vList2"/>
    <dgm:cxn modelId="{6219B07D-AD1E-4559-B3C8-36245EE2C779}" srcId="{17AD5D27-2C57-48ED-B97D-097B1B38B5A2}" destId="{89F042B0-D21D-4276-B3EA-4B9A25CF2ACD}" srcOrd="0" destOrd="0" parTransId="{05195913-BEC5-4510-BD7D-485FD609839D}" sibTransId="{D59EB7CB-FA4B-4BF0-B6AE-DC4CC5B76DEC}"/>
    <dgm:cxn modelId="{330BD4AD-8A77-CF4A-8ECD-6437F30D06D1}" type="presOf" srcId="{F59EB2C7-0392-4C16-AE9A-60503B565D2A}" destId="{07BD5423-A619-B44A-9F49-2D3F3A91F275}" srcOrd="0" destOrd="0" presId="urn:microsoft.com/office/officeart/2005/8/layout/vList2"/>
    <dgm:cxn modelId="{E8C3B0C9-A2FA-CC43-A44A-2B1530AAA3C4}" type="presOf" srcId="{89F042B0-D21D-4276-B3EA-4B9A25CF2ACD}" destId="{8806324F-7741-0F47-BBAF-F91054E11788}" srcOrd="0" destOrd="0" presId="urn:microsoft.com/office/officeart/2005/8/layout/vList2"/>
    <dgm:cxn modelId="{487AAAD4-F749-4EAF-B4B6-5DB14B87950E}" srcId="{17AD5D27-2C57-48ED-B97D-097B1B38B5A2}" destId="{B516DB09-F419-43E6-8B1B-F14517C10271}" srcOrd="2" destOrd="0" parTransId="{473CB648-43DC-415E-B298-5BD9B2A2F594}" sibTransId="{6EE1F872-3214-4744-B072-3C371EB06761}"/>
    <dgm:cxn modelId="{5D4E33E7-D4D3-4A16-A1E9-C4A0280F5693}" srcId="{17AD5D27-2C57-48ED-B97D-097B1B38B5A2}" destId="{F59EB2C7-0392-4C16-AE9A-60503B565D2A}" srcOrd="1" destOrd="0" parTransId="{A8A3F829-BAF1-429B-904B-BC97E33EACC0}" sibTransId="{5A2E37A4-7C7C-4B51-8F29-ED26D9745C55}"/>
    <dgm:cxn modelId="{999D88AA-A895-4542-A72F-42003F802C5F}" type="presParOf" srcId="{E065CBFA-2B26-1E45-B393-DA25EB8DE168}" destId="{8806324F-7741-0F47-BBAF-F91054E11788}" srcOrd="0" destOrd="0" presId="urn:microsoft.com/office/officeart/2005/8/layout/vList2"/>
    <dgm:cxn modelId="{0A92896B-7584-9F47-88A1-BDA838905581}" type="presParOf" srcId="{E065CBFA-2B26-1E45-B393-DA25EB8DE168}" destId="{9B2CF414-E49B-564F-8486-FBB0C9105EC0}" srcOrd="1" destOrd="0" presId="urn:microsoft.com/office/officeart/2005/8/layout/vList2"/>
    <dgm:cxn modelId="{CE84D0B2-259B-C54F-BC17-B0B55A28C428}" type="presParOf" srcId="{E065CBFA-2B26-1E45-B393-DA25EB8DE168}" destId="{07BD5423-A619-B44A-9F49-2D3F3A91F275}" srcOrd="2" destOrd="0" presId="urn:microsoft.com/office/officeart/2005/8/layout/vList2"/>
    <dgm:cxn modelId="{130671FE-B845-D24E-80A2-4DFBA9AFD7A6}" type="presParOf" srcId="{E065CBFA-2B26-1E45-B393-DA25EB8DE168}" destId="{1CED3935-D9D1-3A4A-A5DD-3D1F9D5E04DC}" srcOrd="3" destOrd="0" presId="urn:microsoft.com/office/officeart/2005/8/layout/vList2"/>
    <dgm:cxn modelId="{9BFF20E9-D5FC-0A45-A3CA-C05EC1435CD2}" type="presParOf" srcId="{E065CBFA-2B26-1E45-B393-DA25EB8DE168}" destId="{CFB8628D-B0A4-7E4C-B668-36092EB60D69}"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0216749-2EE1-4BBB-847A-7FC4C2003F69}" type="doc">
      <dgm:prSet loTypeId="urn:microsoft.com/office/officeart/2005/8/layout/vList2" loCatId="list" qsTypeId="urn:microsoft.com/office/officeart/2005/8/quickstyle/simple1" qsCatId="simple" csTypeId="urn:microsoft.com/office/officeart/2005/8/colors/colorful1" csCatId="colorful"/>
      <dgm:spPr/>
      <dgm:t>
        <a:bodyPr/>
        <a:lstStyle/>
        <a:p>
          <a:endParaRPr lang="en-US"/>
        </a:p>
      </dgm:t>
    </dgm:pt>
    <dgm:pt modelId="{474CA27B-9270-40F6-A59A-705831E1C9FB}">
      <dgm:prSet/>
      <dgm:spPr/>
      <dgm:t>
        <a:bodyPr/>
        <a:lstStyle/>
        <a:p>
          <a:r>
            <a:rPr lang="en-GB"/>
            <a:t>There are many variations on this theme – for example, ‘need pull’ can include social needs, market needs, latent needs (squeaking wheels), crisis needs, etc.  </a:t>
          </a:r>
          <a:endParaRPr lang="en-US"/>
        </a:p>
      </dgm:t>
    </dgm:pt>
    <dgm:pt modelId="{B696DC75-3934-455B-B204-4A6A0848D204}" type="parTrans" cxnId="{AFA00CE8-6833-4540-B3C4-32912B2962B8}">
      <dgm:prSet/>
      <dgm:spPr/>
      <dgm:t>
        <a:bodyPr/>
        <a:lstStyle/>
        <a:p>
          <a:endParaRPr lang="en-US"/>
        </a:p>
      </dgm:t>
    </dgm:pt>
    <dgm:pt modelId="{D06A34EE-D0C7-461A-B5D6-101469480688}" type="sibTrans" cxnId="{AFA00CE8-6833-4540-B3C4-32912B2962B8}">
      <dgm:prSet/>
      <dgm:spPr/>
      <dgm:t>
        <a:bodyPr/>
        <a:lstStyle/>
        <a:p>
          <a:endParaRPr lang="en-US"/>
        </a:p>
      </dgm:t>
    </dgm:pt>
    <dgm:pt modelId="{2A349DCC-1852-4AC4-8B6A-821D4CFFE28C}">
      <dgm:prSet/>
      <dgm:spPr/>
      <dgm:t>
        <a:bodyPr/>
        <a:lstStyle/>
        <a:p>
          <a:r>
            <a:rPr lang="en-US"/>
            <a:t>Whilst the basic forces pushing and pulling have been a feature of the innovation landscape for a long time, it involves a moving frontier in which new sources of push and pull come into play. </a:t>
          </a:r>
        </a:p>
      </dgm:t>
    </dgm:pt>
    <dgm:pt modelId="{D0E30CCF-EB5F-41CD-9229-B511C631F807}" type="parTrans" cxnId="{6F3E6EB3-176E-45CA-AF87-16C9FCE76CE4}">
      <dgm:prSet/>
      <dgm:spPr/>
      <dgm:t>
        <a:bodyPr/>
        <a:lstStyle/>
        <a:p>
          <a:endParaRPr lang="en-US"/>
        </a:p>
      </dgm:t>
    </dgm:pt>
    <dgm:pt modelId="{71E46A33-CDA1-4908-811C-0B2D5E06F06F}" type="sibTrans" cxnId="{6F3E6EB3-176E-45CA-AF87-16C9FCE76CE4}">
      <dgm:prSet/>
      <dgm:spPr/>
      <dgm:t>
        <a:bodyPr/>
        <a:lstStyle/>
        <a:p>
          <a:endParaRPr lang="en-US"/>
        </a:p>
      </dgm:t>
    </dgm:pt>
    <dgm:pt modelId="{CC9A9EAB-58CB-417C-9E39-3DE8120371F5}">
      <dgm:prSet/>
      <dgm:spPr/>
      <dgm:t>
        <a:bodyPr/>
        <a:lstStyle/>
        <a:p>
          <a:r>
            <a:rPr lang="en-US"/>
            <a:t>Examples include the emerging demand pull from the ‘bottom of the pyramid’ and the opportunities opened up by an acceleration in knowledge production in R&amp;D systems around the world.</a:t>
          </a:r>
          <a:r>
            <a:rPr lang="en-GB"/>
            <a:t> </a:t>
          </a:r>
          <a:endParaRPr lang="en-US"/>
        </a:p>
      </dgm:t>
    </dgm:pt>
    <dgm:pt modelId="{0C0FEC11-AF9A-4138-B2D7-E9C2A7642B44}" type="parTrans" cxnId="{7E58DB6C-1758-478D-B274-A720A3D656B8}">
      <dgm:prSet/>
      <dgm:spPr/>
      <dgm:t>
        <a:bodyPr/>
        <a:lstStyle/>
        <a:p>
          <a:endParaRPr lang="en-US"/>
        </a:p>
      </dgm:t>
    </dgm:pt>
    <dgm:pt modelId="{6948F313-24B0-483B-8195-BE583D7150C6}" type="sibTrans" cxnId="{7E58DB6C-1758-478D-B274-A720A3D656B8}">
      <dgm:prSet/>
      <dgm:spPr/>
      <dgm:t>
        <a:bodyPr/>
        <a:lstStyle/>
        <a:p>
          <a:endParaRPr lang="en-US"/>
        </a:p>
      </dgm:t>
    </dgm:pt>
    <dgm:pt modelId="{E69524AB-A620-624B-9564-ED93A46330D4}" type="pres">
      <dgm:prSet presAssocID="{B0216749-2EE1-4BBB-847A-7FC4C2003F69}" presName="linear" presStyleCnt="0">
        <dgm:presLayoutVars>
          <dgm:animLvl val="lvl"/>
          <dgm:resizeHandles val="exact"/>
        </dgm:presLayoutVars>
      </dgm:prSet>
      <dgm:spPr/>
    </dgm:pt>
    <dgm:pt modelId="{2D0BDA61-21B8-8C46-84C1-EA32CAFA9FCE}" type="pres">
      <dgm:prSet presAssocID="{474CA27B-9270-40F6-A59A-705831E1C9FB}" presName="parentText" presStyleLbl="node1" presStyleIdx="0" presStyleCnt="3">
        <dgm:presLayoutVars>
          <dgm:chMax val="0"/>
          <dgm:bulletEnabled val="1"/>
        </dgm:presLayoutVars>
      </dgm:prSet>
      <dgm:spPr/>
    </dgm:pt>
    <dgm:pt modelId="{13FB2055-2ACF-944E-9962-6673C83704F9}" type="pres">
      <dgm:prSet presAssocID="{D06A34EE-D0C7-461A-B5D6-101469480688}" presName="spacer" presStyleCnt="0"/>
      <dgm:spPr/>
    </dgm:pt>
    <dgm:pt modelId="{E8A2AF6A-3207-184C-A2B7-0687E8A1D3C0}" type="pres">
      <dgm:prSet presAssocID="{2A349DCC-1852-4AC4-8B6A-821D4CFFE28C}" presName="parentText" presStyleLbl="node1" presStyleIdx="1" presStyleCnt="3">
        <dgm:presLayoutVars>
          <dgm:chMax val="0"/>
          <dgm:bulletEnabled val="1"/>
        </dgm:presLayoutVars>
      </dgm:prSet>
      <dgm:spPr/>
    </dgm:pt>
    <dgm:pt modelId="{1849032C-9D6D-6749-A574-6DF264294B13}" type="pres">
      <dgm:prSet presAssocID="{71E46A33-CDA1-4908-811C-0B2D5E06F06F}" presName="spacer" presStyleCnt="0"/>
      <dgm:spPr/>
    </dgm:pt>
    <dgm:pt modelId="{C6C044B4-8438-9644-9697-B2D3A3EB4C93}" type="pres">
      <dgm:prSet presAssocID="{CC9A9EAB-58CB-417C-9E39-3DE8120371F5}" presName="parentText" presStyleLbl="node1" presStyleIdx="2" presStyleCnt="3">
        <dgm:presLayoutVars>
          <dgm:chMax val="0"/>
          <dgm:bulletEnabled val="1"/>
        </dgm:presLayoutVars>
      </dgm:prSet>
      <dgm:spPr/>
    </dgm:pt>
  </dgm:ptLst>
  <dgm:cxnLst>
    <dgm:cxn modelId="{31CEDD01-40D8-E94F-9F90-DEDC62E73FB1}" type="presOf" srcId="{CC9A9EAB-58CB-417C-9E39-3DE8120371F5}" destId="{C6C044B4-8438-9644-9697-B2D3A3EB4C93}" srcOrd="0" destOrd="0" presId="urn:microsoft.com/office/officeart/2005/8/layout/vList2"/>
    <dgm:cxn modelId="{84C84D07-829A-4447-8812-564B1ADC6871}" type="presOf" srcId="{474CA27B-9270-40F6-A59A-705831E1C9FB}" destId="{2D0BDA61-21B8-8C46-84C1-EA32CAFA9FCE}" srcOrd="0" destOrd="0" presId="urn:microsoft.com/office/officeart/2005/8/layout/vList2"/>
    <dgm:cxn modelId="{C999DA39-30F5-4849-B74D-2FBDD9EC8B2B}" type="presOf" srcId="{B0216749-2EE1-4BBB-847A-7FC4C2003F69}" destId="{E69524AB-A620-624B-9564-ED93A46330D4}" srcOrd="0" destOrd="0" presId="urn:microsoft.com/office/officeart/2005/8/layout/vList2"/>
    <dgm:cxn modelId="{7E58DB6C-1758-478D-B274-A720A3D656B8}" srcId="{B0216749-2EE1-4BBB-847A-7FC4C2003F69}" destId="{CC9A9EAB-58CB-417C-9E39-3DE8120371F5}" srcOrd="2" destOrd="0" parTransId="{0C0FEC11-AF9A-4138-B2D7-E9C2A7642B44}" sibTransId="{6948F313-24B0-483B-8195-BE583D7150C6}"/>
    <dgm:cxn modelId="{6F3E6EB3-176E-45CA-AF87-16C9FCE76CE4}" srcId="{B0216749-2EE1-4BBB-847A-7FC4C2003F69}" destId="{2A349DCC-1852-4AC4-8B6A-821D4CFFE28C}" srcOrd="1" destOrd="0" parTransId="{D0E30CCF-EB5F-41CD-9229-B511C631F807}" sibTransId="{71E46A33-CDA1-4908-811C-0B2D5E06F06F}"/>
    <dgm:cxn modelId="{2EFC40C6-9760-534F-A275-92860291943F}" type="presOf" srcId="{2A349DCC-1852-4AC4-8B6A-821D4CFFE28C}" destId="{E8A2AF6A-3207-184C-A2B7-0687E8A1D3C0}" srcOrd="0" destOrd="0" presId="urn:microsoft.com/office/officeart/2005/8/layout/vList2"/>
    <dgm:cxn modelId="{AFA00CE8-6833-4540-B3C4-32912B2962B8}" srcId="{B0216749-2EE1-4BBB-847A-7FC4C2003F69}" destId="{474CA27B-9270-40F6-A59A-705831E1C9FB}" srcOrd="0" destOrd="0" parTransId="{B696DC75-3934-455B-B204-4A6A0848D204}" sibTransId="{D06A34EE-D0C7-461A-B5D6-101469480688}"/>
    <dgm:cxn modelId="{EA5C246E-2486-704D-8839-61772392E523}" type="presParOf" srcId="{E69524AB-A620-624B-9564-ED93A46330D4}" destId="{2D0BDA61-21B8-8C46-84C1-EA32CAFA9FCE}" srcOrd="0" destOrd="0" presId="urn:microsoft.com/office/officeart/2005/8/layout/vList2"/>
    <dgm:cxn modelId="{37BAEEE8-97CF-8E4F-96A0-6FC0F6E6FBD9}" type="presParOf" srcId="{E69524AB-A620-624B-9564-ED93A46330D4}" destId="{13FB2055-2ACF-944E-9962-6673C83704F9}" srcOrd="1" destOrd="0" presId="urn:microsoft.com/office/officeart/2005/8/layout/vList2"/>
    <dgm:cxn modelId="{F3B004A9-3453-6442-8E85-00DBC1FDB5CB}" type="presParOf" srcId="{E69524AB-A620-624B-9564-ED93A46330D4}" destId="{E8A2AF6A-3207-184C-A2B7-0687E8A1D3C0}" srcOrd="2" destOrd="0" presId="urn:microsoft.com/office/officeart/2005/8/layout/vList2"/>
    <dgm:cxn modelId="{473A407E-4B10-A447-A7BC-5936FF645E54}" type="presParOf" srcId="{E69524AB-A620-624B-9564-ED93A46330D4}" destId="{1849032C-9D6D-6749-A574-6DF264294B13}" srcOrd="3" destOrd="0" presId="urn:microsoft.com/office/officeart/2005/8/layout/vList2"/>
    <dgm:cxn modelId="{398E967F-0D18-6E4A-8090-0315FD7940FA}" type="presParOf" srcId="{E69524AB-A620-624B-9564-ED93A46330D4}" destId="{C6C044B4-8438-9644-9697-B2D3A3EB4C93}"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0216749-2EE1-4BBB-847A-7FC4C2003F69}" type="doc">
      <dgm:prSet loTypeId="urn:microsoft.com/office/officeart/2005/8/layout/vList2" loCatId="list" qsTypeId="urn:microsoft.com/office/officeart/2005/8/quickstyle/simple1" qsCatId="simple" csTypeId="urn:microsoft.com/office/officeart/2005/8/colors/colorful1" csCatId="colorful" phldr="1"/>
      <dgm:spPr/>
      <dgm:t>
        <a:bodyPr/>
        <a:lstStyle/>
        <a:p>
          <a:endParaRPr lang="en-US"/>
        </a:p>
      </dgm:t>
    </dgm:pt>
    <dgm:pt modelId="{474CA27B-9270-40F6-A59A-705831E1C9FB}">
      <dgm:prSet/>
      <dgm:spPr/>
      <dgm:t>
        <a:bodyPr/>
        <a:lstStyle/>
        <a:p>
          <a:r>
            <a:rPr lang="en-GB" dirty="0"/>
            <a:t>Users are a rich source of innovation ideas and can help accelerate diffusion</a:t>
          </a:r>
          <a:endParaRPr lang="en-US" dirty="0"/>
        </a:p>
      </dgm:t>
    </dgm:pt>
    <dgm:pt modelId="{B696DC75-3934-455B-B204-4A6A0848D204}" type="parTrans" cxnId="{AFA00CE8-6833-4540-B3C4-32912B2962B8}">
      <dgm:prSet/>
      <dgm:spPr/>
      <dgm:t>
        <a:bodyPr/>
        <a:lstStyle/>
        <a:p>
          <a:endParaRPr lang="en-US"/>
        </a:p>
      </dgm:t>
    </dgm:pt>
    <dgm:pt modelId="{D06A34EE-D0C7-461A-B5D6-101469480688}" type="sibTrans" cxnId="{AFA00CE8-6833-4540-B3C4-32912B2962B8}">
      <dgm:prSet/>
      <dgm:spPr/>
      <dgm:t>
        <a:bodyPr/>
        <a:lstStyle/>
        <a:p>
          <a:endParaRPr lang="en-US"/>
        </a:p>
      </dgm:t>
    </dgm:pt>
    <dgm:pt modelId="{2A349DCC-1852-4AC4-8B6A-821D4CFFE28C}">
      <dgm:prSet/>
      <dgm:spPr/>
      <dgm:t>
        <a:bodyPr/>
        <a:lstStyle/>
        <a:p>
          <a:r>
            <a:rPr lang="en-GB" dirty="0"/>
            <a:t>Regulation is an important element in shaping and directing innovative activity – by restricting what can and can’t be done for legal reasons, new trajectories for change are established which entrepreneurs can take advantage of</a:t>
          </a:r>
          <a:endParaRPr lang="en-US" dirty="0"/>
        </a:p>
      </dgm:t>
    </dgm:pt>
    <dgm:pt modelId="{D0E30CCF-EB5F-41CD-9229-B511C631F807}" type="parTrans" cxnId="{6F3E6EB3-176E-45CA-AF87-16C9FCE76CE4}">
      <dgm:prSet/>
      <dgm:spPr/>
      <dgm:t>
        <a:bodyPr/>
        <a:lstStyle/>
        <a:p>
          <a:endParaRPr lang="en-US"/>
        </a:p>
      </dgm:t>
    </dgm:pt>
    <dgm:pt modelId="{71E46A33-CDA1-4908-811C-0B2D5E06F06F}" type="sibTrans" cxnId="{6F3E6EB3-176E-45CA-AF87-16C9FCE76CE4}">
      <dgm:prSet/>
      <dgm:spPr/>
      <dgm:t>
        <a:bodyPr/>
        <a:lstStyle/>
        <a:p>
          <a:endParaRPr lang="en-US"/>
        </a:p>
      </dgm:t>
    </dgm:pt>
    <dgm:pt modelId="{CC9A9EAB-58CB-417C-9E39-3DE8120371F5}">
      <dgm:prSet/>
      <dgm:spPr/>
      <dgm:t>
        <a:bodyPr/>
        <a:lstStyle/>
        <a:p>
          <a:r>
            <a:rPr lang="en-GB" dirty="0"/>
            <a:t>Accidents, crises and extreme conditions can provide unexpected triggers for novel directions</a:t>
          </a:r>
          <a:endParaRPr lang="en-US" dirty="0"/>
        </a:p>
      </dgm:t>
    </dgm:pt>
    <dgm:pt modelId="{0C0FEC11-AF9A-4138-B2D7-E9C2A7642B44}" type="parTrans" cxnId="{7E58DB6C-1758-478D-B274-A720A3D656B8}">
      <dgm:prSet/>
      <dgm:spPr/>
      <dgm:t>
        <a:bodyPr/>
        <a:lstStyle/>
        <a:p>
          <a:endParaRPr lang="en-US"/>
        </a:p>
      </dgm:t>
    </dgm:pt>
    <dgm:pt modelId="{6948F313-24B0-483B-8195-BE583D7150C6}" type="sibTrans" cxnId="{7E58DB6C-1758-478D-B274-A720A3D656B8}">
      <dgm:prSet/>
      <dgm:spPr/>
      <dgm:t>
        <a:bodyPr/>
        <a:lstStyle/>
        <a:p>
          <a:endParaRPr lang="en-US"/>
        </a:p>
      </dgm:t>
    </dgm:pt>
    <dgm:pt modelId="{E69524AB-A620-624B-9564-ED93A46330D4}" type="pres">
      <dgm:prSet presAssocID="{B0216749-2EE1-4BBB-847A-7FC4C2003F69}" presName="linear" presStyleCnt="0">
        <dgm:presLayoutVars>
          <dgm:animLvl val="lvl"/>
          <dgm:resizeHandles val="exact"/>
        </dgm:presLayoutVars>
      </dgm:prSet>
      <dgm:spPr/>
    </dgm:pt>
    <dgm:pt modelId="{2D0BDA61-21B8-8C46-84C1-EA32CAFA9FCE}" type="pres">
      <dgm:prSet presAssocID="{474CA27B-9270-40F6-A59A-705831E1C9FB}" presName="parentText" presStyleLbl="node1" presStyleIdx="0" presStyleCnt="3">
        <dgm:presLayoutVars>
          <dgm:chMax val="0"/>
          <dgm:bulletEnabled val="1"/>
        </dgm:presLayoutVars>
      </dgm:prSet>
      <dgm:spPr/>
    </dgm:pt>
    <dgm:pt modelId="{13FB2055-2ACF-944E-9962-6673C83704F9}" type="pres">
      <dgm:prSet presAssocID="{D06A34EE-D0C7-461A-B5D6-101469480688}" presName="spacer" presStyleCnt="0"/>
      <dgm:spPr/>
    </dgm:pt>
    <dgm:pt modelId="{E8A2AF6A-3207-184C-A2B7-0687E8A1D3C0}" type="pres">
      <dgm:prSet presAssocID="{2A349DCC-1852-4AC4-8B6A-821D4CFFE28C}" presName="parentText" presStyleLbl="node1" presStyleIdx="1" presStyleCnt="3">
        <dgm:presLayoutVars>
          <dgm:chMax val="0"/>
          <dgm:bulletEnabled val="1"/>
        </dgm:presLayoutVars>
      </dgm:prSet>
      <dgm:spPr/>
    </dgm:pt>
    <dgm:pt modelId="{1849032C-9D6D-6749-A574-6DF264294B13}" type="pres">
      <dgm:prSet presAssocID="{71E46A33-CDA1-4908-811C-0B2D5E06F06F}" presName="spacer" presStyleCnt="0"/>
      <dgm:spPr/>
    </dgm:pt>
    <dgm:pt modelId="{C6C044B4-8438-9644-9697-B2D3A3EB4C93}" type="pres">
      <dgm:prSet presAssocID="{CC9A9EAB-58CB-417C-9E39-3DE8120371F5}" presName="parentText" presStyleLbl="node1" presStyleIdx="2" presStyleCnt="3">
        <dgm:presLayoutVars>
          <dgm:chMax val="0"/>
          <dgm:bulletEnabled val="1"/>
        </dgm:presLayoutVars>
      </dgm:prSet>
      <dgm:spPr/>
    </dgm:pt>
  </dgm:ptLst>
  <dgm:cxnLst>
    <dgm:cxn modelId="{31CEDD01-40D8-E94F-9F90-DEDC62E73FB1}" type="presOf" srcId="{CC9A9EAB-58CB-417C-9E39-3DE8120371F5}" destId="{C6C044B4-8438-9644-9697-B2D3A3EB4C93}" srcOrd="0" destOrd="0" presId="urn:microsoft.com/office/officeart/2005/8/layout/vList2"/>
    <dgm:cxn modelId="{84C84D07-829A-4447-8812-564B1ADC6871}" type="presOf" srcId="{474CA27B-9270-40F6-A59A-705831E1C9FB}" destId="{2D0BDA61-21B8-8C46-84C1-EA32CAFA9FCE}" srcOrd="0" destOrd="0" presId="urn:microsoft.com/office/officeart/2005/8/layout/vList2"/>
    <dgm:cxn modelId="{C999DA39-30F5-4849-B74D-2FBDD9EC8B2B}" type="presOf" srcId="{B0216749-2EE1-4BBB-847A-7FC4C2003F69}" destId="{E69524AB-A620-624B-9564-ED93A46330D4}" srcOrd="0" destOrd="0" presId="urn:microsoft.com/office/officeart/2005/8/layout/vList2"/>
    <dgm:cxn modelId="{7E58DB6C-1758-478D-B274-A720A3D656B8}" srcId="{B0216749-2EE1-4BBB-847A-7FC4C2003F69}" destId="{CC9A9EAB-58CB-417C-9E39-3DE8120371F5}" srcOrd="2" destOrd="0" parTransId="{0C0FEC11-AF9A-4138-B2D7-E9C2A7642B44}" sibTransId="{6948F313-24B0-483B-8195-BE583D7150C6}"/>
    <dgm:cxn modelId="{6F3E6EB3-176E-45CA-AF87-16C9FCE76CE4}" srcId="{B0216749-2EE1-4BBB-847A-7FC4C2003F69}" destId="{2A349DCC-1852-4AC4-8B6A-821D4CFFE28C}" srcOrd="1" destOrd="0" parTransId="{D0E30CCF-EB5F-41CD-9229-B511C631F807}" sibTransId="{71E46A33-CDA1-4908-811C-0B2D5E06F06F}"/>
    <dgm:cxn modelId="{2EFC40C6-9760-534F-A275-92860291943F}" type="presOf" srcId="{2A349DCC-1852-4AC4-8B6A-821D4CFFE28C}" destId="{E8A2AF6A-3207-184C-A2B7-0687E8A1D3C0}" srcOrd="0" destOrd="0" presId="urn:microsoft.com/office/officeart/2005/8/layout/vList2"/>
    <dgm:cxn modelId="{AFA00CE8-6833-4540-B3C4-32912B2962B8}" srcId="{B0216749-2EE1-4BBB-847A-7FC4C2003F69}" destId="{474CA27B-9270-40F6-A59A-705831E1C9FB}" srcOrd="0" destOrd="0" parTransId="{B696DC75-3934-455B-B204-4A6A0848D204}" sibTransId="{D06A34EE-D0C7-461A-B5D6-101469480688}"/>
    <dgm:cxn modelId="{EA5C246E-2486-704D-8839-61772392E523}" type="presParOf" srcId="{E69524AB-A620-624B-9564-ED93A46330D4}" destId="{2D0BDA61-21B8-8C46-84C1-EA32CAFA9FCE}" srcOrd="0" destOrd="0" presId="urn:microsoft.com/office/officeart/2005/8/layout/vList2"/>
    <dgm:cxn modelId="{37BAEEE8-97CF-8E4F-96A0-6FC0F6E6FBD9}" type="presParOf" srcId="{E69524AB-A620-624B-9564-ED93A46330D4}" destId="{13FB2055-2ACF-944E-9962-6673C83704F9}" srcOrd="1" destOrd="0" presId="urn:microsoft.com/office/officeart/2005/8/layout/vList2"/>
    <dgm:cxn modelId="{F3B004A9-3453-6442-8E85-00DBC1FDB5CB}" type="presParOf" srcId="{E69524AB-A620-624B-9564-ED93A46330D4}" destId="{E8A2AF6A-3207-184C-A2B7-0687E8A1D3C0}" srcOrd="2" destOrd="0" presId="urn:microsoft.com/office/officeart/2005/8/layout/vList2"/>
    <dgm:cxn modelId="{473A407E-4B10-A447-A7BC-5936FF645E54}" type="presParOf" srcId="{E69524AB-A620-624B-9564-ED93A46330D4}" destId="{1849032C-9D6D-6749-A574-6DF264294B13}" srcOrd="3" destOrd="0" presId="urn:microsoft.com/office/officeart/2005/8/layout/vList2"/>
    <dgm:cxn modelId="{398E967F-0D18-6E4A-8090-0315FD7940FA}" type="presParOf" srcId="{E69524AB-A620-624B-9564-ED93A46330D4}" destId="{C6C044B4-8438-9644-9697-B2D3A3EB4C93}"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5E1297A-999A-4894-B401-A004570DE6A7}"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C1A85ABB-8CBB-4C11-9B05-E4367882A760}">
      <dgm:prSet/>
      <dgm:spPr/>
      <dgm:t>
        <a:bodyPr/>
        <a:lstStyle/>
        <a:p>
          <a:r>
            <a:rPr lang="en-GB"/>
            <a:t>On the portal there is </a:t>
          </a:r>
          <a:r>
            <a:rPr lang="en-US"/>
            <a:t>an exercise ‘Innovation family trees’ which helps to explore the theme of sources of innovation</a:t>
          </a:r>
          <a:r>
            <a:rPr lang="en-GB"/>
            <a:t>:</a:t>
          </a:r>
          <a:endParaRPr lang="en-US"/>
        </a:p>
      </dgm:t>
    </dgm:pt>
    <dgm:pt modelId="{D1DFCB5B-D4CD-4F60-B50F-31BF97300000}" type="parTrans" cxnId="{28959B83-8072-47BE-A9E8-B3B5B9A0C631}">
      <dgm:prSet/>
      <dgm:spPr/>
      <dgm:t>
        <a:bodyPr/>
        <a:lstStyle/>
        <a:p>
          <a:endParaRPr lang="en-US"/>
        </a:p>
      </dgm:t>
    </dgm:pt>
    <dgm:pt modelId="{AB0D0A8F-8DF4-41D9-887F-6B539D69BA97}" type="sibTrans" cxnId="{28959B83-8072-47BE-A9E8-B3B5B9A0C631}">
      <dgm:prSet/>
      <dgm:spPr/>
      <dgm:t>
        <a:bodyPr/>
        <a:lstStyle/>
        <a:p>
          <a:endParaRPr lang="en-US"/>
        </a:p>
      </dgm:t>
    </dgm:pt>
    <dgm:pt modelId="{C9BF7235-CED7-4E84-A12E-1DFE262EF702}">
      <dgm:prSet/>
      <dgm:spPr/>
      <dgm:t>
        <a:bodyPr/>
        <a:lstStyle/>
        <a:p>
          <a:r>
            <a:rPr lang="en-US"/>
            <a:t>Ask students to pick a sector – e.g. food retailing, airlines, chemicals, public administration – and draw a map of their particular version of this process. How does it work out in practice? Where are they likely to need to place most emphasis? </a:t>
          </a:r>
        </a:p>
      </dgm:t>
    </dgm:pt>
    <dgm:pt modelId="{00B66728-5BBE-4870-A5E9-ECD55AFBB4E8}" type="parTrans" cxnId="{D410A58D-A2F9-4826-913E-1D3575E333D3}">
      <dgm:prSet/>
      <dgm:spPr/>
      <dgm:t>
        <a:bodyPr/>
        <a:lstStyle/>
        <a:p>
          <a:endParaRPr lang="en-US"/>
        </a:p>
      </dgm:t>
    </dgm:pt>
    <dgm:pt modelId="{C243AAC9-A2DE-40C0-B514-76093EEBAC8A}" type="sibTrans" cxnId="{D410A58D-A2F9-4826-913E-1D3575E333D3}">
      <dgm:prSet/>
      <dgm:spPr/>
      <dgm:t>
        <a:bodyPr/>
        <a:lstStyle/>
        <a:p>
          <a:endParaRPr lang="en-US"/>
        </a:p>
      </dgm:t>
    </dgm:pt>
    <dgm:pt modelId="{CDA6907B-07F5-4DB1-93A9-C329B10EAB9B}">
      <dgm:prSet/>
      <dgm:spPr/>
      <dgm:t>
        <a:bodyPr/>
        <a:lstStyle/>
        <a:p>
          <a:r>
            <a:rPr lang="en-US"/>
            <a:t>https://johnbessant.org/wp-content/uploads/2020/06/Innovation-family-trees.pdf </a:t>
          </a:r>
        </a:p>
      </dgm:t>
    </dgm:pt>
    <dgm:pt modelId="{7AE29306-4ECE-4013-B49F-0A94EB1EF8ED}" type="parTrans" cxnId="{ABCF52A6-7486-48D7-8E51-C24727B4E2E6}">
      <dgm:prSet/>
      <dgm:spPr/>
      <dgm:t>
        <a:bodyPr/>
        <a:lstStyle/>
        <a:p>
          <a:endParaRPr lang="en-US"/>
        </a:p>
      </dgm:t>
    </dgm:pt>
    <dgm:pt modelId="{0F7064CF-1C50-4D40-BBB2-FD726CCEFE1C}" type="sibTrans" cxnId="{ABCF52A6-7486-48D7-8E51-C24727B4E2E6}">
      <dgm:prSet/>
      <dgm:spPr/>
      <dgm:t>
        <a:bodyPr/>
        <a:lstStyle/>
        <a:p>
          <a:endParaRPr lang="en-US"/>
        </a:p>
      </dgm:t>
    </dgm:pt>
    <dgm:pt modelId="{4FAF2A21-62D2-40DE-B82E-9393BB587C4F}" type="pres">
      <dgm:prSet presAssocID="{E5E1297A-999A-4894-B401-A004570DE6A7}" presName="root" presStyleCnt="0">
        <dgm:presLayoutVars>
          <dgm:dir/>
          <dgm:resizeHandles val="exact"/>
        </dgm:presLayoutVars>
      </dgm:prSet>
      <dgm:spPr/>
    </dgm:pt>
    <dgm:pt modelId="{DC45217C-0374-421C-B0E2-98976D76CF26}" type="pres">
      <dgm:prSet presAssocID="{C1A85ABB-8CBB-4C11-9B05-E4367882A760}" presName="compNode" presStyleCnt="0"/>
      <dgm:spPr/>
    </dgm:pt>
    <dgm:pt modelId="{D5E0A6C5-43BE-4B4D-8B59-62685AE3E658}" type="pres">
      <dgm:prSet presAssocID="{C1A85ABB-8CBB-4C11-9B05-E4367882A760}" presName="bgRect" presStyleLbl="bgShp" presStyleIdx="0" presStyleCnt="3"/>
      <dgm:spPr/>
    </dgm:pt>
    <dgm:pt modelId="{B9347B98-49D7-4489-860E-83F5452AD29C}" type="pres">
      <dgm:prSet presAssocID="{C1A85ABB-8CBB-4C11-9B05-E4367882A760}"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eciduous tree"/>
        </a:ext>
      </dgm:extLst>
    </dgm:pt>
    <dgm:pt modelId="{9D4C53F2-F6B4-478A-A395-F358AB781ADD}" type="pres">
      <dgm:prSet presAssocID="{C1A85ABB-8CBB-4C11-9B05-E4367882A760}" presName="spaceRect" presStyleCnt="0"/>
      <dgm:spPr/>
    </dgm:pt>
    <dgm:pt modelId="{2BF030A8-D0FF-4C4F-A095-5B0A37DE4AC6}" type="pres">
      <dgm:prSet presAssocID="{C1A85ABB-8CBB-4C11-9B05-E4367882A760}" presName="parTx" presStyleLbl="revTx" presStyleIdx="0" presStyleCnt="3">
        <dgm:presLayoutVars>
          <dgm:chMax val="0"/>
          <dgm:chPref val="0"/>
        </dgm:presLayoutVars>
      </dgm:prSet>
      <dgm:spPr/>
    </dgm:pt>
    <dgm:pt modelId="{22D93499-63BB-431A-8647-2860B85D17DC}" type="pres">
      <dgm:prSet presAssocID="{AB0D0A8F-8DF4-41D9-887F-6B539D69BA97}" presName="sibTrans" presStyleCnt="0"/>
      <dgm:spPr/>
    </dgm:pt>
    <dgm:pt modelId="{0A8DE4D4-CF0D-47F7-B62F-4DB03E6E75DF}" type="pres">
      <dgm:prSet presAssocID="{C9BF7235-CED7-4E84-A12E-1DFE262EF702}" presName="compNode" presStyleCnt="0"/>
      <dgm:spPr/>
    </dgm:pt>
    <dgm:pt modelId="{C6165100-B5DD-4049-9A14-473DFF7D679E}" type="pres">
      <dgm:prSet presAssocID="{C9BF7235-CED7-4E84-A12E-1DFE262EF702}" presName="bgRect" presStyleLbl="bgShp" presStyleIdx="1" presStyleCnt="3"/>
      <dgm:spPr/>
    </dgm:pt>
    <dgm:pt modelId="{60C99399-FA1F-412E-B521-BAFFDC56C38C}" type="pres">
      <dgm:prSet presAssocID="{C9BF7235-CED7-4E84-A12E-1DFE262EF702}"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cientist"/>
        </a:ext>
      </dgm:extLst>
    </dgm:pt>
    <dgm:pt modelId="{B5A18EF5-3D21-4652-A4ED-374CC897D2EB}" type="pres">
      <dgm:prSet presAssocID="{C9BF7235-CED7-4E84-A12E-1DFE262EF702}" presName="spaceRect" presStyleCnt="0"/>
      <dgm:spPr/>
    </dgm:pt>
    <dgm:pt modelId="{0DF26FC2-D220-416A-A9AB-D37A5D6CCE92}" type="pres">
      <dgm:prSet presAssocID="{C9BF7235-CED7-4E84-A12E-1DFE262EF702}" presName="parTx" presStyleLbl="revTx" presStyleIdx="1" presStyleCnt="3">
        <dgm:presLayoutVars>
          <dgm:chMax val="0"/>
          <dgm:chPref val="0"/>
        </dgm:presLayoutVars>
      </dgm:prSet>
      <dgm:spPr/>
    </dgm:pt>
    <dgm:pt modelId="{7469C1B3-B6DE-40FC-83D3-D69A5DACE322}" type="pres">
      <dgm:prSet presAssocID="{C243AAC9-A2DE-40C0-B514-76093EEBAC8A}" presName="sibTrans" presStyleCnt="0"/>
      <dgm:spPr/>
    </dgm:pt>
    <dgm:pt modelId="{CD05CE6F-E84A-445C-AE23-C0E8C8DB8C04}" type="pres">
      <dgm:prSet presAssocID="{CDA6907B-07F5-4DB1-93A9-C329B10EAB9B}" presName="compNode" presStyleCnt="0"/>
      <dgm:spPr/>
    </dgm:pt>
    <dgm:pt modelId="{DB22E67B-930B-4DAA-93F5-79975E5D5B62}" type="pres">
      <dgm:prSet presAssocID="{CDA6907B-07F5-4DB1-93A9-C329B10EAB9B}" presName="bgRect" presStyleLbl="bgShp" presStyleIdx="2" presStyleCnt="3"/>
      <dgm:spPr/>
    </dgm:pt>
    <dgm:pt modelId="{C34A32EF-ECB9-4B32-9A06-D38D2070EC5D}" type="pres">
      <dgm:prSet presAssocID="{CDA6907B-07F5-4DB1-93A9-C329B10EAB9B}"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Earth Globe Americas"/>
        </a:ext>
      </dgm:extLst>
    </dgm:pt>
    <dgm:pt modelId="{D6D9DAA7-B66B-461D-9A0B-0E621CF0CE24}" type="pres">
      <dgm:prSet presAssocID="{CDA6907B-07F5-4DB1-93A9-C329B10EAB9B}" presName="spaceRect" presStyleCnt="0"/>
      <dgm:spPr/>
    </dgm:pt>
    <dgm:pt modelId="{7BCDFD7F-DBD1-4241-AC9D-29A31B11E7AA}" type="pres">
      <dgm:prSet presAssocID="{CDA6907B-07F5-4DB1-93A9-C329B10EAB9B}" presName="parTx" presStyleLbl="revTx" presStyleIdx="2" presStyleCnt="3">
        <dgm:presLayoutVars>
          <dgm:chMax val="0"/>
          <dgm:chPref val="0"/>
        </dgm:presLayoutVars>
      </dgm:prSet>
      <dgm:spPr/>
    </dgm:pt>
  </dgm:ptLst>
  <dgm:cxnLst>
    <dgm:cxn modelId="{6621A64D-BCF4-4FBE-98F0-AC00DFC9B75C}" type="presOf" srcId="{C9BF7235-CED7-4E84-A12E-1DFE262EF702}" destId="{0DF26FC2-D220-416A-A9AB-D37A5D6CCE92}" srcOrd="0" destOrd="0" presId="urn:microsoft.com/office/officeart/2018/2/layout/IconVerticalSolidList"/>
    <dgm:cxn modelId="{45A3FA78-4A7B-40EB-BB9A-42922F326C89}" type="presOf" srcId="{E5E1297A-999A-4894-B401-A004570DE6A7}" destId="{4FAF2A21-62D2-40DE-B82E-9393BB587C4F}" srcOrd="0" destOrd="0" presId="urn:microsoft.com/office/officeart/2018/2/layout/IconVerticalSolidList"/>
    <dgm:cxn modelId="{28959B83-8072-47BE-A9E8-B3B5B9A0C631}" srcId="{E5E1297A-999A-4894-B401-A004570DE6A7}" destId="{C1A85ABB-8CBB-4C11-9B05-E4367882A760}" srcOrd="0" destOrd="0" parTransId="{D1DFCB5B-D4CD-4F60-B50F-31BF97300000}" sibTransId="{AB0D0A8F-8DF4-41D9-887F-6B539D69BA97}"/>
    <dgm:cxn modelId="{D410A58D-A2F9-4826-913E-1D3575E333D3}" srcId="{E5E1297A-999A-4894-B401-A004570DE6A7}" destId="{C9BF7235-CED7-4E84-A12E-1DFE262EF702}" srcOrd="1" destOrd="0" parTransId="{00B66728-5BBE-4870-A5E9-ECD55AFBB4E8}" sibTransId="{C243AAC9-A2DE-40C0-B514-76093EEBAC8A}"/>
    <dgm:cxn modelId="{33B766A4-E8C5-4CB2-A935-83C533D3C7B7}" type="presOf" srcId="{CDA6907B-07F5-4DB1-93A9-C329B10EAB9B}" destId="{7BCDFD7F-DBD1-4241-AC9D-29A31B11E7AA}" srcOrd="0" destOrd="0" presId="urn:microsoft.com/office/officeart/2018/2/layout/IconVerticalSolidList"/>
    <dgm:cxn modelId="{ABCF52A6-7486-48D7-8E51-C24727B4E2E6}" srcId="{E5E1297A-999A-4894-B401-A004570DE6A7}" destId="{CDA6907B-07F5-4DB1-93A9-C329B10EAB9B}" srcOrd="2" destOrd="0" parTransId="{7AE29306-4ECE-4013-B49F-0A94EB1EF8ED}" sibTransId="{0F7064CF-1C50-4D40-BBB2-FD726CCEFE1C}"/>
    <dgm:cxn modelId="{CA8453AC-115E-4017-99A3-EB930D32E8ED}" type="presOf" srcId="{C1A85ABB-8CBB-4C11-9B05-E4367882A760}" destId="{2BF030A8-D0FF-4C4F-A095-5B0A37DE4AC6}" srcOrd="0" destOrd="0" presId="urn:microsoft.com/office/officeart/2018/2/layout/IconVerticalSolidList"/>
    <dgm:cxn modelId="{36D5B693-30CD-4F91-B184-E0A72231B320}" type="presParOf" srcId="{4FAF2A21-62D2-40DE-B82E-9393BB587C4F}" destId="{DC45217C-0374-421C-B0E2-98976D76CF26}" srcOrd="0" destOrd="0" presId="urn:microsoft.com/office/officeart/2018/2/layout/IconVerticalSolidList"/>
    <dgm:cxn modelId="{6F103BB0-8517-4EEA-A747-B1E45BB0F846}" type="presParOf" srcId="{DC45217C-0374-421C-B0E2-98976D76CF26}" destId="{D5E0A6C5-43BE-4B4D-8B59-62685AE3E658}" srcOrd="0" destOrd="0" presId="urn:microsoft.com/office/officeart/2018/2/layout/IconVerticalSolidList"/>
    <dgm:cxn modelId="{20667289-6192-4021-86E4-C58933156C2C}" type="presParOf" srcId="{DC45217C-0374-421C-B0E2-98976D76CF26}" destId="{B9347B98-49D7-4489-860E-83F5452AD29C}" srcOrd="1" destOrd="0" presId="urn:microsoft.com/office/officeart/2018/2/layout/IconVerticalSolidList"/>
    <dgm:cxn modelId="{FEF6B5C6-E3BD-445E-9D98-7C6AD2145FBE}" type="presParOf" srcId="{DC45217C-0374-421C-B0E2-98976D76CF26}" destId="{9D4C53F2-F6B4-478A-A395-F358AB781ADD}" srcOrd="2" destOrd="0" presId="urn:microsoft.com/office/officeart/2018/2/layout/IconVerticalSolidList"/>
    <dgm:cxn modelId="{37CF1030-970B-4E50-8677-9795DDB6FD42}" type="presParOf" srcId="{DC45217C-0374-421C-B0E2-98976D76CF26}" destId="{2BF030A8-D0FF-4C4F-A095-5B0A37DE4AC6}" srcOrd="3" destOrd="0" presId="urn:microsoft.com/office/officeart/2018/2/layout/IconVerticalSolidList"/>
    <dgm:cxn modelId="{2DA8F62A-EBF4-4DBE-94E9-A0458005210A}" type="presParOf" srcId="{4FAF2A21-62D2-40DE-B82E-9393BB587C4F}" destId="{22D93499-63BB-431A-8647-2860B85D17DC}" srcOrd="1" destOrd="0" presId="urn:microsoft.com/office/officeart/2018/2/layout/IconVerticalSolidList"/>
    <dgm:cxn modelId="{7E28371A-5C1A-4FA5-BDD0-B67D090342AF}" type="presParOf" srcId="{4FAF2A21-62D2-40DE-B82E-9393BB587C4F}" destId="{0A8DE4D4-CF0D-47F7-B62F-4DB03E6E75DF}" srcOrd="2" destOrd="0" presId="urn:microsoft.com/office/officeart/2018/2/layout/IconVerticalSolidList"/>
    <dgm:cxn modelId="{27737B27-58F9-4970-BE2E-8C4234715349}" type="presParOf" srcId="{0A8DE4D4-CF0D-47F7-B62F-4DB03E6E75DF}" destId="{C6165100-B5DD-4049-9A14-473DFF7D679E}" srcOrd="0" destOrd="0" presId="urn:microsoft.com/office/officeart/2018/2/layout/IconVerticalSolidList"/>
    <dgm:cxn modelId="{C6FD4116-D028-4D4B-A893-6C6FA7750944}" type="presParOf" srcId="{0A8DE4D4-CF0D-47F7-B62F-4DB03E6E75DF}" destId="{60C99399-FA1F-412E-B521-BAFFDC56C38C}" srcOrd="1" destOrd="0" presId="urn:microsoft.com/office/officeart/2018/2/layout/IconVerticalSolidList"/>
    <dgm:cxn modelId="{C6CADBE0-CBB8-49C7-8C11-3F942D037E36}" type="presParOf" srcId="{0A8DE4D4-CF0D-47F7-B62F-4DB03E6E75DF}" destId="{B5A18EF5-3D21-4652-A4ED-374CC897D2EB}" srcOrd="2" destOrd="0" presId="urn:microsoft.com/office/officeart/2018/2/layout/IconVerticalSolidList"/>
    <dgm:cxn modelId="{4045CE14-3837-43BB-894E-4ED64D7EA969}" type="presParOf" srcId="{0A8DE4D4-CF0D-47F7-B62F-4DB03E6E75DF}" destId="{0DF26FC2-D220-416A-A9AB-D37A5D6CCE92}" srcOrd="3" destOrd="0" presId="urn:microsoft.com/office/officeart/2018/2/layout/IconVerticalSolidList"/>
    <dgm:cxn modelId="{B07C5D3E-77FA-49EF-9FFC-D0256F9F749D}" type="presParOf" srcId="{4FAF2A21-62D2-40DE-B82E-9393BB587C4F}" destId="{7469C1B3-B6DE-40FC-83D3-D69A5DACE322}" srcOrd="3" destOrd="0" presId="urn:microsoft.com/office/officeart/2018/2/layout/IconVerticalSolidList"/>
    <dgm:cxn modelId="{9BA9BEA8-0DD6-45DB-8ED0-774C9278B47D}" type="presParOf" srcId="{4FAF2A21-62D2-40DE-B82E-9393BB587C4F}" destId="{CD05CE6F-E84A-445C-AE23-C0E8C8DB8C04}" srcOrd="4" destOrd="0" presId="urn:microsoft.com/office/officeart/2018/2/layout/IconVerticalSolidList"/>
    <dgm:cxn modelId="{252E5505-23E5-4480-9047-3271A53B74A1}" type="presParOf" srcId="{CD05CE6F-E84A-445C-AE23-C0E8C8DB8C04}" destId="{DB22E67B-930B-4DAA-93F5-79975E5D5B62}" srcOrd="0" destOrd="0" presId="urn:microsoft.com/office/officeart/2018/2/layout/IconVerticalSolidList"/>
    <dgm:cxn modelId="{DCB7CA0F-36C3-48FB-83A2-3770B5B21941}" type="presParOf" srcId="{CD05CE6F-E84A-445C-AE23-C0E8C8DB8C04}" destId="{C34A32EF-ECB9-4B32-9A06-D38D2070EC5D}" srcOrd="1" destOrd="0" presId="urn:microsoft.com/office/officeart/2018/2/layout/IconVerticalSolidList"/>
    <dgm:cxn modelId="{C6D8473C-F929-46D4-AF90-54AD73D100C9}" type="presParOf" srcId="{CD05CE6F-E84A-445C-AE23-C0E8C8DB8C04}" destId="{D6D9DAA7-B66B-461D-9A0B-0E621CF0CE24}" srcOrd="2" destOrd="0" presId="urn:microsoft.com/office/officeart/2018/2/layout/IconVerticalSolidList"/>
    <dgm:cxn modelId="{56C57002-6008-4F72-99A1-17BCB5BD53BA}" type="presParOf" srcId="{CD05CE6F-E84A-445C-AE23-C0E8C8DB8C04}" destId="{7BCDFD7F-DBD1-4241-AC9D-29A31B11E7A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F3C6A2-A6AE-0743-A6BC-4000E936C91E}">
      <dsp:nvSpPr>
        <dsp:cNvPr id="0" name=""/>
        <dsp:cNvSpPr/>
      </dsp:nvSpPr>
      <dsp:spPr>
        <a:xfrm>
          <a:off x="0" y="53863"/>
          <a:ext cx="4025646" cy="839109"/>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1" kern="1200"/>
            <a:t>By the end of this chapter you will develop an understanding of: </a:t>
          </a:r>
          <a:endParaRPr lang="en-US" sz="1500" kern="1200"/>
        </a:p>
      </dsp:txBody>
      <dsp:txXfrm>
        <a:off x="40962" y="94825"/>
        <a:ext cx="3943722" cy="757185"/>
      </dsp:txXfrm>
    </dsp:sp>
    <dsp:sp modelId="{488265E4-E1CD-AB4D-B0B4-464A34D8401B}">
      <dsp:nvSpPr>
        <dsp:cNvPr id="0" name=""/>
        <dsp:cNvSpPr/>
      </dsp:nvSpPr>
      <dsp:spPr>
        <a:xfrm>
          <a:off x="0" y="936173"/>
          <a:ext cx="4025646" cy="839109"/>
        </a:xfrm>
        <a:prstGeom prst="roundRect">
          <a:avLst/>
        </a:prstGeom>
        <a:solidFill>
          <a:schemeClr val="accent5">
            <a:hueOff val="-1986775"/>
            <a:satOff val="7962"/>
            <a:lumOff val="172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1" kern="1200"/>
            <a:t>where innovations come from – the wide range of different sources which offer opportunities to entrepreneurs </a:t>
          </a:r>
          <a:endParaRPr lang="en-US" sz="1500" kern="1200"/>
        </a:p>
      </dsp:txBody>
      <dsp:txXfrm>
        <a:off x="40962" y="977135"/>
        <a:ext cx="3943722" cy="757185"/>
      </dsp:txXfrm>
    </dsp:sp>
    <dsp:sp modelId="{50E69750-E9BB-1C4A-8D04-52E13C1BD41C}">
      <dsp:nvSpPr>
        <dsp:cNvPr id="0" name=""/>
        <dsp:cNvSpPr/>
      </dsp:nvSpPr>
      <dsp:spPr>
        <a:xfrm>
          <a:off x="0" y="1818482"/>
          <a:ext cx="4025646" cy="839109"/>
        </a:xfrm>
        <a:prstGeom prst="roundRect">
          <a:avLst/>
        </a:prstGeom>
        <a:solidFill>
          <a:schemeClr val="accent5">
            <a:hueOff val="-3973551"/>
            <a:satOff val="15924"/>
            <a:lumOff val="345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1" kern="1200"/>
            <a:t>the idea of ‘push’ and ‘pull’ forces and their interaction </a:t>
          </a:r>
          <a:endParaRPr lang="en-US" sz="1500" kern="1200"/>
        </a:p>
      </dsp:txBody>
      <dsp:txXfrm>
        <a:off x="40962" y="1859444"/>
        <a:ext cx="3943722" cy="757185"/>
      </dsp:txXfrm>
    </dsp:sp>
    <dsp:sp modelId="{99643C3C-09DD-8A4F-B1C4-09AB9FF918D0}">
      <dsp:nvSpPr>
        <dsp:cNvPr id="0" name=""/>
        <dsp:cNvSpPr/>
      </dsp:nvSpPr>
      <dsp:spPr>
        <a:xfrm>
          <a:off x="0" y="2700792"/>
          <a:ext cx="4025646" cy="839109"/>
        </a:xfrm>
        <a:prstGeom prst="roundRect">
          <a:avLst/>
        </a:prstGeom>
        <a:solidFill>
          <a:schemeClr val="accent5">
            <a:hueOff val="-5960326"/>
            <a:satOff val="23887"/>
            <a:lumOff val="517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1" kern="1200"/>
            <a:t>Innovation as a pattern of occasional breakthrough and long periods of incremental improvement </a:t>
          </a:r>
          <a:endParaRPr lang="en-US" sz="1500" kern="1200"/>
        </a:p>
      </dsp:txBody>
      <dsp:txXfrm>
        <a:off x="40962" y="2741754"/>
        <a:ext cx="3943722" cy="757185"/>
      </dsp:txXfrm>
    </dsp:sp>
    <dsp:sp modelId="{465EA06F-7C73-2D48-A648-A001CC7AF480}">
      <dsp:nvSpPr>
        <dsp:cNvPr id="0" name=""/>
        <dsp:cNvSpPr/>
      </dsp:nvSpPr>
      <dsp:spPr>
        <a:xfrm>
          <a:off x="0" y="3583101"/>
          <a:ext cx="4025646" cy="839109"/>
        </a:xfrm>
        <a:prstGeom prst="roundRect">
          <a:avLst/>
        </a:prstGeom>
        <a:solidFill>
          <a:schemeClr val="accent5">
            <a:hueOff val="-7947101"/>
            <a:satOff val="31849"/>
            <a:lumOff val="690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1" kern="1200"/>
            <a:t>the importance of different sources over time </a:t>
          </a:r>
          <a:endParaRPr lang="en-US" sz="1500" kern="1200"/>
        </a:p>
      </dsp:txBody>
      <dsp:txXfrm>
        <a:off x="40962" y="3624063"/>
        <a:ext cx="3943722" cy="757185"/>
      </dsp:txXfrm>
    </dsp:sp>
    <dsp:sp modelId="{29C90CF2-38B8-2048-8C75-0A34DF1C9EAE}">
      <dsp:nvSpPr>
        <dsp:cNvPr id="0" name=""/>
        <dsp:cNvSpPr/>
      </dsp:nvSpPr>
      <dsp:spPr>
        <a:xfrm>
          <a:off x="0" y="4465410"/>
          <a:ext cx="4025646" cy="839109"/>
        </a:xfrm>
        <a:prstGeom prst="roundRect">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1" kern="1200"/>
            <a:t>where and when you could search for opportunities to innovate. </a:t>
          </a:r>
          <a:endParaRPr lang="en-US" sz="1500" kern="1200"/>
        </a:p>
      </dsp:txBody>
      <dsp:txXfrm>
        <a:off x="40962" y="4506372"/>
        <a:ext cx="3943722" cy="75718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06324F-7741-0F47-BBAF-F91054E11788}">
      <dsp:nvSpPr>
        <dsp:cNvPr id="0" name=""/>
        <dsp:cNvSpPr/>
      </dsp:nvSpPr>
      <dsp:spPr>
        <a:xfrm>
          <a:off x="0" y="352972"/>
          <a:ext cx="4697730" cy="1565021"/>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GB" sz="1800" kern="1200"/>
            <a:t>Innovations come from many different sources</a:t>
          </a:r>
          <a:endParaRPr lang="en-US" sz="1800" kern="1200"/>
        </a:p>
      </dsp:txBody>
      <dsp:txXfrm>
        <a:off x="76398" y="429370"/>
        <a:ext cx="4544934" cy="1412225"/>
      </dsp:txXfrm>
    </dsp:sp>
    <dsp:sp modelId="{07BD5423-A619-B44A-9F49-2D3F3A91F275}">
      <dsp:nvSpPr>
        <dsp:cNvPr id="0" name=""/>
        <dsp:cNvSpPr/>
      </dsp:nvSpPr>
      <dsp:spPr>
        <a:xfrm>
          <a:off x="0" y="1969833"/>
          <a:ext cx="4697730" cy="1565021"/>
        </a:xfrm>
        <a:prstGeom prst="roundRect">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GB" sz="1800" kern="1200"/>
            <a:t>Innovations don’t just appear perfectly formed – and the process is not simply a spark of imagination giving rise to changing the world. Instead innovations come from a number of sources and these interact over time.</a:t>
          </a:r>
          <a:endParaRPr lang="en-US" sz="1800" kern="1200"/>
        </a:p>
      </dsp:txBody>
      <dsp:txXfrm>
        <a:off x="76398" y="2046231"/>
        <a:ext cx="4544934" cy="1412225"/>
      </dsp:txXfrm>
    </dsp:sp>
    <dsp:sp modelId="{CFB8628D-B0A4-7E4C-B668-36092EB60D69}">
      <dsp:nvSpPr>
        <dsp:cNvPr id="0" name=""/>
        <dsp:cNvSpPr/>
      </dsp:nvSpPr>
      <dsp:spPr>
        <a:xfrm>
          <a:off x="0" y="3586694"/>
          <a:ext cx="4697730" cy="1565021"/>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GB" sz="1800" kern="1200"/>
            <a:t>Sources of innovation can be resolved into two broad classes – knowledge push and need pull – although they almost always act in tandem. Innovation arises from the interplay between them.</a:t>
          </a:r>
          <a:endParaRPr lang="en-US" sz="1800" kern="1200"/>
        </a:p>
      </dsp:txBody>
      <dsp:txXfrm>
        <a:off x="76398" y="3663092"/>
        <a:ext cx="4544934" cy="141222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0BDA61-21B8-8C46-84C1-EA32CAFA9FCE}">
      <dsp:nvSpPr>
        <dsp:cNvPr id="0" name=""/>
        <dsp:cNvSpPr/>
      </dsp:nvSpPr>
      <dsp:spPr>
        <a:xfrm>
          <a:off x="0" y="85278"/>
          <a:ext cx="4697730" cy="1739643"/>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kern="1200"/>
            <a:t>There are many variations on this theme – for example, ‘need pull’ can include social needs, market needs, latent needs (squeaking wheels), crisis needs, etc.  </a:t>
          </a:r>
          <a:endParaRPr lang="en-US" sz="2000" kern="1200"/>
        </a:p>
      </dsp:txBody>
      <dsp:txXfrm>
        <a:off x="84922" y="170200"/>
        <a:ext cx="4527886" cy="1569799"/>
      </dsp:txXfrm>
    </dsp:sp>
    <dsp:sp modelId="{E8A2AF6A-3207-184C-A2B7-0687E8A1D3C0}">
      <dsp:nvSpPr>
        <dsp:cNvPr id="0" name=""/>
        <dsp:cNvSpPr/>
      </dsp:nvSpPr>
      <dsp:spPr>
        <a:xfrm>
          <a:off x="0" y="1882522"/>
          <a:ext cx="4697730" cy="1739643"/>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Whilst the basic forces pushing and pulling have been a feature of the innovation landscape for a long time, it involves a moving frontier in which new sources of push and pull come into play. </a:t>
          </a:r>
        </a:p>
      </dsp:txBody>
      <dsp:txXfrm>
        <a:off x="84922" y="1967444"/>
        <a:ext cx="4527886" cy="1569799"/>
      </dsp:txXfrm>
    </dsp:sp>
    <dsp:sp modelId="{C6C044B4-8438-9644-9697-B2D3A3EB4C93}">
      <dsp:nvSpPr>
        <dsp:cNvPr id="0" name=""/>
        <dsp:cNvSpPr/>
      </dsp:nvSpPr>
      <dsp:spPr>
        <a:xfrm>
          <a:off x="0" y="3679765"/>
          <a:ext cx="4697730" cy="1739643"/>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Examples include the emerging demand pull from the ‘bottom of the pyramid’ and the opportunities opened up by an acceleration in knowledge production in R&amp;D systems around the world.</a:t>
          </a:r>
          <a:r>
            <a:rPr lang="en-GB" sz="2000" kern="1200"/>
            <a:t> </a:t>
          </a:r>
          <a:endParaRPr lang="en-US" sz="2000" kern="1200"/>
        </a:p>
      </dsp:txBody>
      <dsp:txXfrm>
        <a:off x="84922" y="3764687"/>
        <a:ext cx="4527886" cy="156979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0BDA61-21B8-8C46-84C1-EA32CAFA9FCE}">
      <dsp:nvSpPr>
        <dsp:cNvPr id="0" name=""/>
        <dsp:cNvSpPr/>
      </dsp:nvSpPr>
      <dsp:spPr>
        <a:xfrm>
          <a:off x="0" y="350997"/>
          <a:ext cx="4697730" cy="1566337"/>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GB" sz="1800" kern="1200" dirty="0"/>
            <a:t>Users are a rich source of innovation ideas and can help accelerate diffusion</a:t>
          </a:r>
          <a:endParaRPr lang="en-US" sz="1800" kern="1200" dirty="0"/>
        </a:p>
      </dsp:txBody>
      <dsp:txXfrm>
        <a:off x="76462" y="427459"/>
        <a:ext cx="4544806" cy="1413413"/>
      </dsp:txXfrm>
    </dsp:sp>
    <dsp:sp modelId="{E8A2AF6A-3207-184C-A2B7-0687E8A1D3C0}">
      <dsp:nvSpPr>
        <dsp:cNvPr id="0" name=""/>
        <dsp:cNvSpPr/>
      </dsp:nvSpPr>
      <dsp:spPr>
        <a:xfrm>
          <a:off x="0" y="1969175"/>
          <a:ext cx="4697730" cy="1566337"/>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GB" sz="1800" kern="1200" dirty="0"/>
            <a:t>Regulation is an important element in shaping and directing innovative activity – by restricting what can and can’t be done for legal reasons, new trajectories for change are established which entrepreneurs can take advantage of</a:t>
          </a:r>
          <a:endParaRPr lang="en-US" sz="1800" kern="1200" dirty="0"/>
        </a:p>
      </dsp:txBody>
      <dsp:txXfrm>
        <a:off x="76462" y="2045637"/>
        <a:ext cx="4544806" cy="1413413"/>
      </dsp:txXfrm>
    </dsp:sp>
    <dsp:sp modelId="{C6C044B4-8438-9644-9697-B2D3A3EB4C93}">
      <dsp:nvSpPr>
        <dsp:cNvPr id="0" name=""/>
        <dsp:cNvSpPr/>
      </dsp:nvSpPr>
      <dsp:spPr>
        <a:xfrm>
          <a:off x="0" y="3587352"/>
          <a:ext cx="4697730" cy="1566337"/>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GB" sz="1800" kern="1200" dirty="0"/>
            <a:t>Accidents, crises and extreme conditions can provide unexpected triggers for novel directions</a:t>
          </a:r>
          <a:endParaRPr lang="en-US" sz="1800" kern="1200" dirty="0"/>
        </a:p>
      </dsp:txBody>
      <dsp:txXfrm>
        <a:off x="76462" y="3663814"/>
        <a:ext cx="4544806" cy="141341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E0A6C5-43BE-4B4D-8B59-62685AE3E658}">
      <dsp:nvSpPr>
        <dsp:cNvPr id="0" name=""/>
        <dsp:cNvSpPr/>
      </dsp:nvSpPr>
      <dsp:spPr>
        <a:xfrm>
          <a:off x="0" y="531"/>
          <a:ext cx="7886700" cy="1242935"/>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9347B98-49D7-4489-860E-83F5452AD29C}">
      <dsp:nvSpPr>
        <dsp:cNvPr id="0" name=""/>
        <dsp:cNvSpPr/>
      </dsp:nvSpPr>
      <dsp:spPr>
        <a:xfrm>
          <a:off x="375988" y="280191"/>
          <a:ext cx="683614" cy="6836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BF030A8-D0FF-4C4F-A095-5B0A37DE4AC6}">
      <dsp:nvSpPr>
        <dsp:cNvPr id="0" name=""/>
        <dsp:cNvSpPr/>
      </dsp:nvSpPr>
      <dsp:spPr>
        <a:xfrm>
          <a:off x="1435590" y="531"/>
          <a:ext cx="64511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755650">
            <a:lnSpc>
              <a:spcPct val="90000"/>
            </a:lnSpc>
            <a:spcBef>
              <a:spcPct val="0"/>
            </a:spcBef>
            <a:spcAft>
              <a:spcPct val="35000"/>
            </a:spcAft>
            <a:buNone/>
          </a:pPr>
          <a:r>
            <a:rPr lang="en-GB" sz="1700" kern="1200"/>
            <a:t>On the portal there is </a:t>
          </a:r>
          <a:r>
            <a:rPr lang="en-US" sz="1700" kern="1200"/>
            <a:t>an exercise ‘Innovation family trees’ which helps to explore the theme of sources of innovation</a:t>
          </a:r>
          <a:r>
            <a:rPr lang="en-GB" sz="1700" kern="1200"/>
            <a:t>:</a:t>
          </a:r>
          <a:endParaRPr lang="en-US" sz="1700" kern="1200"/>
        </a:p>
      </dsp:txBody>
      <dsp:txXfrm>
        <a:off x="1435590" y="531"/>
        <a:ext cx="6451109" cy="1242935"/>
      </dsp:txXfrm>
    </dsp:sp>
    <dsp:sp modelId="{C6165100-B5DD-4049-9A14-473DFF7D679E}">
      <dsp:nvSpPr>
        <dsp:cNvPr id="0" name=""/>
        <dsp:cNvSpPr/>
      </dsp:nvSpPr>
      <dsp:spPr>
        <a:xfrm>
          <a:off x="0" y="1554201"/>
          <a:ext cx="7886700" cy="1242935"/>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0C99399-FA1F-412E-B521-BAFFDC56C38C}">
      <dsp:nvSpPr>
        <dsp:cNvPr id="0" name=""/>
        <dsp:cNvSpPr/>
      </dsp:nvSpPr>
      <dsp:spPr>
        <a:xfrm>
          <a:off x="375988" y="1833861"/>
          <a:ext cx="683614" cy="6836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DF26FC2-D220-416A-A9AB-D37A5D6CCE92}">
      <dsp:nvSpPr>
        <dsp:cNvPr id="0" name=""/>
        <dsp:cNvSpPr/>
      </dsp:nvSpPr>
      <dsp:spPr>
        <a:xfrm>
          <a:off x="1435590" y="1554201"/>
          <a:ext cx="64511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755650">
            <a:lnSpc>
              <a:spcPct val="90000"/>
            </a:lnSpc>
            <a:spcBef>
              <a:spcPct val="0"/>
            </a:spcBef>
            <a:spcAft>
              <a:spcPct val="35000"/>
            </a:spcAft>
            <a:buNone/>
          </a:pPr>
          <a:r>
            <a:rPr lang="en-US" sz="1700" kern="1200"/>
            <a:t>Ask students to pick a sector – e.g. food retailing, airlines, chemicals, public administration – and draw a map of their particular version of this process. How does it work out in practice? Where are they likely to need to place most emphasis? </a:t>
          </a:r>
        </a:p>
      </dsp:txBody>
      <dsp:txXfrm>
        <a:off x="1435590" y="1554201"/>
        <a:ext cx="6451109" cy="1242935"/>
      </dsp:txXfrm>
    </dsp:sp>
    <dsp:sp modelId="{DB22E67B-930B-4DAA-93F5-79975E5D5B62}">
      <dsp:nvSpPr>
        <dsp:cNvPr id="0" name=""/>
        <dsp:cNvSpPr/>
      </dsp:nvSpPr>
      <dsp:spPr>
        <a:xfrm>
          <a:off x="0" y="3107870"/>
          <a:ext cx="7886700" cy="1242935"/>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34A32EF-ECB9-4B32-9A06-D38D2070EC5D}">
      <dsp:nvSpPr>
        <dsp:cNvPr id="0" name=""/>
        <dsp:cNvSpPr/>
      </dsp:nvSpPr>
      <dsp:spPr>
        <a:xfrm>
          <a:off x="375988" y="3387531"/>
          <a:ext cx="683614" cy="6836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BCDFD7F-DBD1-4241-AC9D-29A31B11E7AA}">
      <dsp:nvSpPr>
        <dsp:cNvPr id="0" name=""/>
        <dsp:cNvSpPr/>
      </dsp:nvSpPr>
      <dsp:spPr>
        <a:xfrm>
          <a:off x="1435590" y="3107870"/>
          <a:ext cx="64511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755650">
            <a:lnSpc>
              <a:spcPct val="90000"/>
            </a:lnSpc>
            <a:spcBef>
              <a:spcPct val="0"/>
            </a:spcBef>
            <a:spcAft>
              <a:spcPct val="35000"/>
            </a:spcAft>
            <a:buNone/>
          </a:pPr>
          <a:r>
            <a:rPr lang="en-US" sz="1700" kern="1200"/>
            <a:t>https://johnbessant.org/wp-content/uploads/2020/06/Innovation-family-trees.pdf </a:t>
          </a:r>
        </a:p>
      </dsp:txBody>
      <dsp:txXfrm>
        <a:off x="1435590" y="3107870"/>
        <a:ext cx="6451109" cy="1242935"/>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BBCCE22-626C-4120-A162-140051A9038D}" type="datetimeFigureOut">
              <a:rPr lang="en-GB" smtClean="0"/>
              <a:pPr/>
              <a:t>03/11/2024</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43EEF7A-835F-4F95-B48D-CD2F7A44E3BA}" type="slidenum">
              <a:rPr lang="en-GB" smtClean="0"/>
              <a:pPr/>
              <a:t>‹#›</a:t>
            </a:fld>
            <a:endParaRPr lang="en-GB"/>
          </a:p>
        </p:txBody>
      </p:sp>
    </p:spTree>
    <p:extLst>
      <p:ext uri="{BB962C8B-B14F-4D97-AF65-F5344CB8AC3E}">
        <p14:creationId xmlns:p14="http://schemas.microsoft.com/office/powerpoint/2010/main" val="9748415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videos </a:t>
            </a:r>
          </a:p>
        </p:txBody>
      </p:sp>
      <p:sp>
        <p:nvSpPr>
          <p:cNvPr id="4" name="Slide Number Placeholder 3"/>
          <p:cNvSpPr>
            <a:spLocks noGrp="1"/>
          </p:cNvSpPr>
          <p:nvPr>
            <p:ph type="sldNum" sz="quarter" idx="5"/>
          </p:nvPr>
        </p:nvSpPr>
        <p:spPr/>
        <p:txBody>
          <a:bodyPr/>
          <a:lstStyle/>
          <a:p>
            <a:fld id="{C43EEF7A-835F-4F95-B48D-CD2F7A44E3BA}" type="slidenum">
              <a:rPr lang="en-GB" smtClean="0"/>
              <a:pPr/>
              <a:t>19</a:t>
            </a:fld>
            <a:endParaRPr lang="en-GB"/>
          </a:p>
        </p:txBody>
      </p:sp>
    </p:spTree>
    <p:extLst>
      <p:ext uri="{BB962C8B-B14F-4D97-AF65-F5344CB8AC3E}">
        <p14:creationId xmlns:p14="http://schemas.microsoft.com/office/powerpoint/2010/main" val="28331456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E8B88258-65D1-4498-9ED0-7EB357D9645B}" type="datetimeFigureOut">
              <a:rPr lang="en-GB" smtClean="0"/>
              <a:pPr/>
              <a:t>03/11/2024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77BB674-6ADE-4F10-A6DC-81939FBF1CF7}" type="slidenum">
              <a:rPr lang="en-GB" smtClean="0"/>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E8B88258-65D1-4498-9ED0-7EB357D9645B}" type="datetimeFigureOut">
              <a:rPr lang="en-GB" smtClean="0"/>
              <a:pPr/>
              <a:t>03/11/2024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77BB674-6ADE-4F10-A6DC-81939FBF1CF7}" type="slidenum">
              <a:rPr lang="en-GB" smtClean="0"/>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B88258-65D1-4498-9ED0-7EB357D9645B}" type="datetimeFigureOut">
              <a:rPr lang="en-GB" smtClean="0"/>
              <a:pPr/>
              <a:t>03/11/2024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77BB674-6ADE-4F10-A6DC-81939FBF1CF7}" type="slidenum">
              <a:rPr lang="en-GB" smtClean="0"/>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E8B88258-65D1-4498-9ED0-7EB357D9645B}" type="datetimeFigureOut">
              <a:rPr lang="en-GB" smtClean="0"/>
              <a:pPr/>
              <a:t>03/11/2024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77BB674-6ADE-4F10-A6DC-81939FBF1CF7}" type="slidenum">
              <a:rPr lang="en-GB" smtClean="0"/>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E8B88258-65D1-4498-9ED0-7EB357D9645B}" type="datetimeFigureOut">
              <a:rPr lang="en-GB" smtClean="0"/>
              <a:pPr/>
              <a:t>03/11/2024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477BB674-6ADE-4F10-A6DC-81939FBF1CF7}" type="slidenum">
              <a:rPr lang="en-GB" smtClean="0"/>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E8B88258-65D1-4498-9ED0-7EB357D9645B}" type="datetimeFigureOut">
              <a:rPr lang="en-GB" smtClean="0"/>
              <a:pPr/>
              <a:t>03/11/2024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477BB674-6ADE-4F10-A6DC-81939FBF1CF7}" type="slidenum">
              <a:rPr lang="en-GB" smtClean="0"/>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8B88258-65D1-4498-9ED0-7EB357D9645B}" type="datetimeFigureOut">
              <a:rPr lang="en-GB" smtClean="0"/>
              <a:pPr/>
              <a:t>03/11/2024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477BB674-6ADE-4F10-A6DC-81939FBF1CF7}" type="slidenum">
              <a:rPr lang="en-GB" smtClean="0"/>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8B88258-65D1-4498-9ED0-7EB357D9645B}" type="datetimeFigureOut">
              <a:rPr lang="en-GB" smtClean="0"/>
              <a:pPr/>
              <a:t>03/11/2024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77BB674-6ADE-4F10-A6DC-81939FBF1CF7}" type="slidenum">
              <a:rPr lang="en-GB" smtClean="0"/>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8B88258-65D1-4498-9ED0-7EB357D9645B}" type="datetimeFigureOut">
              <a:rPr lang="en-GB" smtClean="0"/>
              <a:pPr/>
              <a:t>03/11/2024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77BB674-6ADE-4F10-A6DC-81939FBF1CF7}" type="slidenum">
              <a:rPr lang="en-GB" smtClean="0"/>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E8B88258-65D1-4498-9ED0-7EB357D9645B}" type="datetimeFigureOut">
              <a:rPr lang="en-GB" smtClean="0"/>
              <a:pPr/>
              <a:t>03/11/2024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77BB674-6ADE-4F10-A6DC-81939FBF1CF7}" type="slidenum">
              <a:rPr lang="en-GB" smtClean="0"/>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E8B88258-65D1-4498-9ED0-7EB357D9645B}" type="datetimeFigureOut">
              <a:rPr lang="en-GB" smtClean="0"/>
              <a:pPr/>
              <a:t>03/11/2024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77BB674-6ADE-4F10-A6DC-81939FBF1CF7}" type="slidenum">
              <a:rPr lang="en-GB" smtClean="0"/>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B88258-65D1-4498-9ED0-7EB357D9645B}" type="datetimeFigureOut">
              <a:rPr lang="en-GB" smtClean="0"/>
              <a:pPr/>
              <a:t>03/11/2024</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7BB674-6ADE-4F10-A6DC-81939FBF1CF7}"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oleObject" Target="!OLE_LINK22" TargetMode="Externa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oleObject" Target="!OLE_LINK23" TargetMode="Externa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oleObject" Target="!OLE_LINK24" TargetMode="Externa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oleObject" Target="!OLE_LINK3" TargetMode="Externa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9.xml.rels><?xml version="1.0" encoding="UTF-8" standalone="yes"?>
<Relationships xmlns="http://schemas.openxmlformats.org/package/2006/relationships"><Relationship Id="rId8" Type="http://schemas.openxmlformats.org/officeDocument/2006/relationships/hyperlink" Target="https://youtu.be/37tFIp-cZYU" TargetMode="External"/><Relationship Id="rId3" Type="http://schemas.openxmlformats.org/officeDocument/2006/relationships/image" Target="../media/image13.jpeg"/><Relationship Id="rId7" Type="http://schemas.openxmlformats.org/officeDocument/2006/relationships/hyperlink" Target="https://youtu.be/UmD61HsULsw"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hyperlink" Target="https://www.youtube.com/watch?v=6kPnhM4ecyE&amp;feature=youtu.be" TargetMode="External"/><Relationship Id="rId5" Type="http://schemas.openxmlformats.org/officeDocument/2006/relationships/hyperlink" Target="https://www.youtube.com/watch?v=35ms0d3I1A0&amp;feature=youtu.be" TargetMode="External"/><Relationship Id="rId4" Type="http://schemas.openxmlformats.org/officeDocument/2006/relationships/hyperlink" Target="https://www.youtube.com/watch?v=8wbiag0uKuk&amp;feature=youtu.be" TargetMode="External"/><Relationship Id="rId9" Type="http://schemas.openxmlformats.org/officeDocument/2006/relationships/hyperlink" Target="https://youtu.be/-PjqIO45cJY" TargetMode="External"/></Relationships>
</file>

<file path=ppt/slides/_rels/slide20.xml.rels><?xml version="1.0" encoding="UTF-8" standalone="yes"?>
<Relationships xmlns="http://schemas.openxmlformats.org/package/2006/relationships"><Relationship Id="rId8" Type="http://schemas.openxmlformats.org/officeDocument/2006/relationships/hyperlink" Target="https://www.youtube.com/watch?v=x5n2AkB5vNk&amp;feature=youtu.be" TargetMode="External"/><Relationship Id="rId3" Type="http://schemas.openxmlformats.org/officeDocument/2006/relationships/hyperlink" Target="https://youtu.be/WkcnyY04mkY" TargetMode="External"/><Relationship Id="rId7" Type="http://schemas.openxmlformats.org/officeDocument/2006/relationships/hyperlink" Target="https://vimeo.com/34083247" TargetMode="External"/><Relationship Id="rId12" Type="http://schemas.openxmlformats.org/officeDocument/2006/relationships/hyperlink" Target="https://www.youtube.com/watch?v=Ka57qOFBDSE&amp;feature=youtu.be" TargetMode="External"/><Relationship Id="rId2" Type="http://schemas.openxmlformats.org/officeDocument/2006/relationships/hyperlink" Target="https://youtu.be/FU9aewJRX9I" TargetMode="External"/><Relationship Id="rId1" Type="http://schemas.openxmlformats.org/officeDocument/2006/relationships/slideLayout" Target="../slideLayouts/slideLayout2.xml"/><Relationship Id="rId6" Type="http://schemas.openxmlformats.org/officeDocument/2006/relationships/hyperlink" Target="https://youtu.be/6mNu1BFxP6k" TargetMode="External"/><Relationship Id="rId11" Type="http://schemas.openxmlformats.org/officeDocument/2006/relationships/hyperlink" Target="https://www.youtube.com/watch?v=3WXjth8lr0s&amp;feature=youtu.be" TargetMode="External"/><Relationship Id="rId5" Type="http://schemas.openxmlformats.org/officeDocument/2006/relationships/hyperlink" Target="https://www.youtube.com/watch?v=4VrkydKckqE&amp;feature=youtu.be" TargetMode="External"/><Relationship Id="rId10" Type="http://schemas.openxmlformats.org/officeDocument/2006/relationships/hyperlink" Target="https://www.youtube.com/watch?v=qmSO7rKAGgY&amp;feature=youtu.be" TargetMode="External"/><Relationship Id="rId4" Type="http://schemas.openxmlformats.org/officeDocument/2006/relationships/hyperlink" Target="https://www.youtube.com/watch?v=h9p4RmAHKbI&amp;feature=youtu.be" TargetMode="External"/><Relationship Id="rId9" Type="http://schemas.openxmlformats.org/officeDocument/2006/relationships/hyperlink" Target="https://www.youtube.com/watch?v=TynAUjG2jus&amp;feature=youtu.be"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s://static.wixstatic.com/mp3/f6594a_0eb3000fd8a4479ab9e818c31d913fbe.mp3" TargetMode="External"/><Relationship Id="rId7" Type="http://schemas.openxmlformats.org/officeDocument/2006/relationships/hyperlink" Target="https://static.wixstatic.com/mp3/f6594a_151573bd163a473aaab115e11144d937.mp3" TargetMode="External"/><Relationship Id="rId2" Type="http://schemas.openxmlformats.org/officeDocument/2006/relationships/hyperlink" Target="https://www.youtube.com/watch?v=bHbwflRnM6A&amp;feature=youtu.be" TargetMode="External"/><Relationship Id="rId1" Type="http://schemas.openxmlformats.org/officeDocument/2006/relationships/slideLayout" Target="../slideLayouts/slideLayout2.xml"/><Relationship Id="rId6" Type="http://schemas.openxmlformats.org/officeDocument/2006/relationships/hyperlink" Target="https://static.wixstatic.com/mp3/f6594a_a76306a038fe4deca3ee66f49560cfec.mp3" TargetMode="External"/><Relationship Id="rId5" Type="http://schemas.openxmlformats.org/officeDocument/2006/relationships/hyperlink" Target="https://www.youtube.com/watch?v=wuiXe-F4tJc&amp;feature=youtu.be" TargetMode="External"/><Relationship Id="rId4" Type="http://schemas.openxmlformats.org/officeDocument/2006/relationships/hyperlink" Target="https://johnbessant.org/resources/media-resources/the-innovators-media-library/" TargetMode="External"/></Relationships>
</file>

<file path=ppt/slides/_rels/slide22.xml.rels><?xml version="1.0" encoding="UTF-8" standalone="yes"?>
<Relationships xmlns="http://schemas.openxmlformats.org/package/2006/relationships"><Relationship Id="rId3" Type="http://schemas.openxmlformats.org/officeDocument/2006/relationships/hyperlink" Target="https://www.youtube.com/watch?v=4L30uIkMeMM" TargetMode="External"/><Relationship Id="rId2" Type="http://schemas.openxmlformats.org/officeDocument/2006/relationships/hyperlink" Target="https://www.youtube.com/watch?v=mbPiAzzGap0"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www.ted.com/talks/david_kelley_on_human_centered_design"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johnbessant.org/category/blog/" TargetMode="External"/><Relationship Id="rId2" Type="http://schemas.openxmlformats.org/officeDocument/2006/relationships/hyperlink" Target="https://podcasters.spotify.com/pod/show/john-bessant"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johnbessant.org/2020/07/05/the-birth-of-the-bike/"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s://www.johnbessant.org/cases"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www.johnbessant.org/market-toolkit" TargetMode="External"/><Relationship Id="rId2" Type="http://schemas.openxmlformats.org/officeDocument/2006/relationships/hyperlink" Target="https://www.youtube.com/watch?v=bHbwflRnM6A&amp;feature=youtu.be"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s://www.johnbessant.org/lean-toolkit"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https://www.johnbessant.org/lean-toolkit"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https://www.youtube.com/watch?v=WxwR_TTuKdc"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hyperlink" Target="https://johnbessant.org/2016/04/26/frugal-innovation/"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s://www.youtube.com/watch?v=4WsZUdbPKcI" TargetMode="External"/><Relationship Id="rId2" Type="http://schemas.openxmlformats.org/officeDocument/2006/relationships/hyperlink" Target="https://www.johnbessant.org/cases"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https://youtu.be/FU9aewJRX9I" TargetMode="External"/><Relationship Id="rId2" Type="http://schemas.openxmlformats.org/officeDocument/2006/relationships/hyperlink" Target="https://evhippel.mit.edu/teaching/" TargetMode="External"/><Relationship Id="rId1" Type="http://schemas.openxmlformats.org/officeDocument/2006/relationships/slideLayout" Target="../slideLayouts/slideLayout2.xml"/><Relationship Id="rId4" Type="http://schemas.openxmlformats.org/officeDocument/2006/relationships/hyperlink" Target="https://youtu.be/WkcnyY04mkY" TargetMode="External"/></Relationships>
</file>

<file path=ppt/slides/_rels/slide40.xml.rels><?xml version="1.0" encoding="UTF-8" standalone="yes"?>
<Relationships xmlns="http://schemas.openxmlformats.org/package/2006/relationships"><Relationship Id="rId3" Type="http://schemas.openxmlformats.org/officeDocument/2006/relationships/hyperlink" Target="https://www.johnbessant.org/cases" TargetMode="External"/><Relationship Id="rId2" Type="http://schemas.openxmlformats.org/officeDocument/2006/relationships/hyperlink" Target="https://blog.hypeinnovation.com/the-power-of-recombinant-innovation"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hyperlink" Target="https://www.johnbessant.org/tools"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hyperlink" Target="https://www.johnbessant.org/tools"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hyperlink" Target="https://johnbessant.org/2015/09/28/accidents-will-happen/"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hyperlink" Target="https://www.johnbessant.org/cases" TargetMode="Externa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hyperlink" Target="https://99percentinvisible.org/episode/half-a-house/"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5A8AFA4-5C32-4100-9C6D-839A47E15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6B5F253-7949-47C2-9DBD-1570ECDA2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4349" y="685800"/>
            <a:ext cx="4066277" cy="54864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251319" y="1254763"/>
            <a:ext cx="2583711" cy="2481729"/>
          </a:xfrm>
        </p:spPr>
        <p:txBody>
          <a:bodyPr vert="horz" lIns="91440" tIns="45720" rIns="91440" bIns="45720" rtlCol="0" anchor="b">
            <a:normAutofit/>
          </a:bodyPr>
          <a:lstStyle/>
          <a:p>
            <a:pPr>
              <a:lnSpc>
                <a:spcPct val="90000"/>
              </a:lnSpc>
            </a:pPr>
            <a:r>
              <a:rPr lang="en-US" sz="2800" b="1">
                <a:solidFill>
                  <a:srgbClr val="595959"/>
                </a:solidFill>
              </a:rPr>
              <a:t>Teaching Resources and Instructors’ Guidelines</a:t>
            </a:r>
            <a:endParaRPr lang="en-US" sz="2800" u="sng">
              <a:solidFill>
                <a:srgbClr val="595959"/>
              </a:solidFill>
            </a:endParaRPr>
          </a:p>
        </p:txBody>
      </p:sp>
      <p:sp>
        <p:nvSpPr>
          <p:cNvPr id="5" name="Rectangle 4"/>
          <p:cNvSpPr/>
          <p:nvPr/>
        </p:nvSpPr>
        <p:spPr>
          <a:xfrm>
            <a:off x="1386884" y="4046453"/>
            <a:ext cx="2312581" cy="1785506"/>
          </a:xfrm>
          <a:prstGeom prst="rect">
            <a:avLst/>
          </a:prstGeom>
        </p:spPr>
        <p:txBody>
          <a:bodyPr vert="horz" lIns="91440" tIns="45720" rIns="91440" bIns="45720" rtlCol="0" anchor="t">
            <a:normAutofit/>
          </a:bodyPr>
          <a:lstStyle/>
          <a:p>
            <a:pPr algn="ctr">
              <a:lnSpc>
                <a:spcPct val="90000"/>
              </a:lnSpc>
              <a:spcBef>
                <a:spcPts val="1000"/>
              </a:spcBef>
            </a:pPr>
            <a:r>
              <a:rPr lang="en-US" sz="1200">
                <a:solidFill>
                  <a:srgbClr val="595959"/>
                </a:solidFill>
              </a:rPr>
              <a:t>Chapter 6: Sources of innovation</a:t>
            </a:r>
          </a:p>
        </p:txBody>
      </p:sp>
      <p:pic>
        <p:nvPicPr>
          <p:cNvPr id="3" name="Picture 2">
            <a:extLst>
              <a:ext uri="{FF2B5EF4-FFF2-40B4-BE49-F238E27FC236}">
                <a16:creationId xmlns:a16="http://schemas.microsoft.com/office/drawing/2014/main" id="{438E9198-D938-B04F-C850-8A9D36C332D8}"/>
              </a:ext>
            </a:extLst>
          </p:cNvPr>
          <p:cNvPicPr>
            <a:picLocks noChangeAspect="1"/>
          </p:cNvPicPr>
          <p:nvPr/>
        </p:nvPicPr>
        <p:blipFill>
          <a:blip r:embed="rId2">
            <a:extLst>
              <a:ext uri="{28A0092B-C50C-407E-A947-70E740481C1C}">
                <a14:useLocalDpi xmlns:a14="http://schemas.microsoft.com/office/drawing/2010/main" val="0"/>
              </a:ext>
            </a:extLst>
          </a:blip>
          <a:srcRect l="2202" r="22522"/>
          <a:stretch/>
        </p:blipFill>
        <p:spPr>
          <a:xfrm>
            <a:off x="4580627" y="685799"/>
            <a:ext cx="4057650" cy="5486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6" name="Group 15">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6397" y="508838"/>
            <a:ext cx="3913467" cy="6239661"/>
            <a:chOff x="-19221" y="251144"/>
            <a:chExt cx="5217958" cy="6239661"/>
          </a:xfrm>
        </p:grpSpPr>
        <p:sp>
          <p:nvSpPr>
            <p:cNvPr id="17" name="Freeform: Shape 16">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Shape 18">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Shape 19">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ctrTitle"/>
          </p:nvPr>
        </p:nvSpPr>
        <p:spPr>
          <a:xfrm>
            <a:off x="480060" y="1243013"/>
            <a:ext cx="2891790" cy="4371974"/>
          </a:xfrm>
        </p:spPr>
        <p:txBody>
          <a:bodyPr vert="horz" lIns="91440" tIns="45720" rIns="91440" bIns="45720" rtlCol="0" anchor="ctr">
            <a:normAutofit/>
          </a:bodyPr>
          <a:lstStyle/>
          <a:p>
            <a:pPr algn="l">
              <a:lnSpc>
                <a:spcPct val="90000"/>
              </a:lnSpc>
            </a:pPr>
            <a:r>
              <a:rPr lang="en-US" sz="3100" b="1" kern="1200">
                <a:solidFill>
                  <a:schemeClr val="tx2"/>
                </a:solidFill>
                <a:latin typeface="+mj-lt"/>
                <a:ea typeface="+mj-ea"/>
                <a:cs typeface="+mj-cs"/>
              </a:rPr>
              <a:t>Chapter 6: </a:t>
            </a:r>
            <a:r>
              <a:rPr lang="en-US" sz="3100" kern="1200">
                <a:solidFill>
                  <a:schemeClr val="tx2"/>
                </a:solidFill>
                <a:latin typeface="+mj-lt"/>
                <a:ea typeface="+mj-ea"/>
                <a:cs typeface="+mj-cs"/>
              </a:rPr>
              <a:t>Sources of innovation</a:t>
            </a:r>
          </a:p>
        </p:txBody>
      </p:sp>
      <p:sp>
        <p:nvSpPr>
          <p:cNvPr id="5" name="Title 1"/>
          <p:cNvSpPr txBox="1">
            <a:spLocks/>
          </p:cNvSpPr>
          <p:nvPr/>
        </p:nvSpPr>
        <p:spPr>
          <a:xfrm>
            <a:off x="4629150" y="804672"/>
            <a:ext cx="3915918" cy="5230368"/>
          </a:xfrm>
          <a:prstGeom prst="rect">
            <a:avLst/>
          </a:prstGeom>
        </p:spPr>
        <p:txBody>
          <a:bodyPr vert="horz" lIns="91440" tIns="45720" rIns="91440" bIns="45720" rtlCol="0" anchor="ctr">
            <a:normAutofit/>
          </a:bodyPr>
          <a:lstStyle/>
          <a:p>
            <a:pPr marL="0" marR="0" lvl="0" indent="-228600" fontAlgn="auto">
              <a:lnSpc>
                <a:spcPct val="90000"/>
              </a:lnSpc>
              <a:spcAft>
                <a:spcPts val="600"/>
              </a:spcAft>
              <a:buClrTx/>
              <a:buSzTx/>
              <a:buFont typeface="Arial" panose="020B0604020202020204" pitchFamily="34" charset="0"/>
              <a:buChar char="•"/>
              <a:tabLst/>
              <a:defRPr/>
            </a:pPr>
            <a:endParaRPr kumimoji="0" lang="en-US" sz="1600" b="1" u="none" strike="noStrike" cap="none" spc="0" normalizeH="0" baseline="0" noProof="0">
              <a:ln>
                <a:noFill/>
              </a:ln>
              <a:solidFill>
                <a:schemeClr val="tx2"/>
              </a:solidFill>
              <a:effectLst/>
              <a:uLnTx/>
              <a:uFillTx/>
            </a:endParaRPr>
          </a:p>
          <a:p>
            <a:pPr indent="-228600">
              <a:lnSpc>
                <a:spcPct val="90000"/>
              </a:lnSpc>
              <a:spcAft>
                <a:spcPts val="600"/>
              </a:spcAft>
              <a:buFont typeface="Arial" panose="020B0604020202020204" pitchFamily="34" charset="0"/>
              <a:buChar char="•"/>
            </a:pPr>
            <a:r>
              <a:rPr lang="en-US" sz="1600" i="1">
                <a:solidFill>
                  <a:schemeClr val="tx2"/>
                </a:solidFill>
              </a:rPr>
              <a:t> In the following PowerPoint slides you will find the key headings from </a:t>
            </a:r>
            <a:r>
              <a:rPr lang="en-US" sz="1600" b="1">
                <a:solidFill>
                  <a:schemeClr val="tx2"/>
                </a:solidFill>
              </a:rPr>
              <a:t>CHAPTER 6</a:t>
            </a:r>
            <a:r>
              <a:rPr lang="en-US" sz="1600" i="1">
                <a:solidFill>
                  <a:schemeClr val="tx2"/>
                </a:solidFill>
              </a:rPr>
              <a:t> together with the main illustrations, tables, etc.  </a:t>
            </a:r>
          </a:p>
          <a:p>
            <a:pPr indent="-228600">
              <a:lnSpc>
                <a:spcPct val="90000"/>
              </a:lnSpc>
              <a:spcAft>
                <a:spcPts val="600"/>
              </a:spcAft>
              <a:buFont typeface="Arial" panose="020B0604020202020204" pitchFamily="34" charset="0"/>
              <a:buChar char="•"/>
            </a:pPr>
            <a:endParaRPr lang="en-US" sz="1600" i="1">
              <a:solidFill>
                <a:schemeClr val="tx2"/>
              </a:solidFill>
            </a:endParaRPr>
          </a:p>
          <a:p>
            <a:pPr indent="-228600">
              <a:lnSpc>
                <a:spcPct val="90000"/>
              </a:lnSpc>
              <a:spcAft>
                <a:spcPts val="600"/>
              </a:spcAft>
              <a:buFont typeface="Arial" panose="020B0604020202020204" pitchFamily="34" charset="0"/>
              <a:buChar char="•"/>
            </a:pPr>
            <a:r>
              <a:rPr lang="en-US" sz="1600" i="1">
                <a:solidFill>
                  <a:schemeClr val="tx2"/>
                </a:solidFill>
              </a:rPr>
              <a:t>There are also slides summarizing the key messages in bullet-point fashion, and a wide range of activities which you can use to help students explore around these themes.  </a:t>
            </a:r>
          </a:p>
          <a:p>
            <a:pPr indent="-228600">
              <a:lnSpc>
                <a:spcPct val="90000"/>
              </a:lnSpc>
              <a:spcAft>
                <a:spcPts val="600"/>
              </a:spcAft>
              <a:buFont typeface="Arial" panose="020B0604020202020204" pitchFamily="34" charset="0"/>
              <a:buChar char="•"/>
            </a:pPr>
            <a:endParaRPr lang="en-US" sz="1600" i="1">
              <a:solidFill>
                <a:schemeClr val="tx2"/>
              </a:solidFill>
            </a:endParaRPr>
          </a:p>
          <a:p>
            <a:pPr indent="-228600">
              <a:lnSpc>
                <a:spcPct val="90000"/>
              </a:lnSpc>
              <a:spcAft>
                <a:spcPts val="600"/>
              </a:spcAft>
              <a:buFont typeface="Arial" panose="020B0604020202020204" pitchFamily="34" charset="0"/>
              <a:buChar char="•"/>
            </a:pPr>
            <a:r>
              <a:rPr lang="en-US" sz="1600" i="1">
                <a:solidFill>
                  <a:schemeClr val="tx2"/>
                </a:solidFill>
              </a:rPr>
              <a:t>Finally there are some reflection questions which can be used as the basis for discussion or assignments.</a:t>
            </a:r>
          </a:p>
          <a:p>
            <a:pPr indent="-228600">
              <a:lnSpc>
                <a:spcPct val="90000"/>
              </a:lnSpc>
              <a:spcAft>
                <a:spcPts val="600"/>
              </a:spcAft>
              <a:buFont typeface="Arial" panose="020B0604020202020204" pitchFamily="34" charset="0"/>
              <a:buChar char="•"/>
            </a:pPr>
            <a:endParaRPr lang="en-US" sz="1600" i="1">
              <a:solidFill>
                <a:schemeClr val="tx2"/>
              </a:solidFill>
            </a:endParaRPr>
          </a:p>
        </p:txBody>
      </p:sp>
      <p:cxnSp>
        <p:nvCxnSpPr>
          <p:cNvPr id="7" name="Straight Connector 6"/>
          <p:cNvCxnSpPr/>
          <p:nvPr/>
        </p:nvCxnSpPr>
        <p:spPr>
          <a:xfrm>
            <a:off x="458167" y="1507529"/>
            <a:ext cx="8478016" cy="1588"/>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8E761768-3858-4B55-A983-E0B7B1409F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E3E51905-F374-4E1A-97CF-B741584B74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26280"/>
            <a:ext cx="3337098" cy="2331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A210685A-6235-45A7-850D-A6F555466E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2530" y="702944"/>
            <a:ext cx="4026994" cy="558698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62603" y="1345958"/>
            <a:ext cx="3144897" cy="4166085"/>
          </a:xfrm>
        </p:spPr>
        <p:txBody>
          <a:bodyPr>
            <a:normAutofit/>
          </a:bodyPr>
          <a:lstStyle/>
          <a:p>
            <a:pPr lvl="0">
              <a:defRPr/>
            </a:pPr>
            <a:r>
              <a:rPr lang="en-GB" b="1"/>
              <a:t>Learning Objectives</a:t>
            </a:r>
          </a:p>
        </p:txBody>
      </p:sp>
      <p:grpSp>
        <p:nvGrpSpPr>
          <p:cNvPr id="25" name="Group 24">
            <a:extLst>
              <a:ext uri="{FF2B5EF4-FFF2-40B4-BE49-F238E27FC236}">
                <a16:creationId xmlns:a16="http://schemas.microsoft.com/office/drawing/2014/main" id="{AB70F8CE-E82E-416C-9783-C495D90B9EA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147" y="3048506"/>
            <a:ext cx="472714" cy="765242"/>
            <a:chOff x="45711" y="3048506"/>
            <a:chExt cx="630289" cy="765242"/>
          </a:xfrm>
        </p:grpSpPr>
        <p:sp>
          <p:nvSpPr>
            <p:cNvPr id="26" name="Rectangle 2">
              <a:extLst>
                <a:ext uri="{FF2B5EF4-FFF2-40B4-BE49-F238E27FC236}">
                  <a16:creationId xmlns:a16="http://schemas.microsoft.com/office/drawing/2014/main" id="{29A4BC2C-696B-4395-9400-045CDEEA35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166" y="3048506"/>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59">
              <a:extLst>
                <a:ext uri="{FF2B5EF4-FFF2-40B4-BE49-F238E27FC236}">
                  <a16:creationId xmlns:a16="http://schemas.microsoft.com/office/drawing/2014/main" id="{260F70B9-87BD-4263-9F05-E90EA5889A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166" y="3225010"/>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62">
              <a:extLst>
                <a:ext uri="{FF2B5EF4-FFF2-40B4-BE49-F238E27FC236}">
                  <a16:creationId xmlns:a16="http://schemas.microsoft.com/office/drawing/2014/main" id="{032DDFCA-6EDF-4605-9349-8ED81B247B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166" y="3401514"/>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64">
              <a:extLst>
                <a:ext uri="{FF2B5EF4-FFF2-40B4-BE49-F238E27FC236}">
                  <a16:creationId xmlns:a16="http://schemas.microsoft.com/office/drawing/2014/main" id="{9361BA33-8989-4034-B3B2-3353D81F10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166" y="3578017"/>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66">
              <a:extLst>
                <a:ext uri="{FF2B5EF4-FFF2-40B4-BE49-F238E27FC236}">
                  <a16:creationId xmlns:a16="http://schemas.microsoft.com/office/drawing/2014/main" id="{0418FE74-A99A-4EFE-A5EF-293657165C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166" y="3754521"/>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2">
              <a:extLst>
                <a:ext uri="{FF2B5EF4-FFF2-40B4-BE49-F238E27FC236}">
                  <a16:creationId xmlns:a16="http://schemas.microsoft.com/office/drawing/2014/main" id="{3860D389-B4A1-4C8D-B729-1FBAAF932D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2053" y="3048506"/>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59">
              <a:extLst>
                <a:ext uri="{FF2B5EF4-FFF2-40B4-BE49-F238E27FC236}">
                  <a16:creationId xmlns:a16="http://schemas.microsoft.com/office/drawing/2014/main" id="{94EE628D-5F81-4593-A546-FE5341A4F3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2053" y="3225010"/>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62">
              <a:extLst>
                <a:ext uri="{FF2B5EF4-FFF2-40B4-BE49-F238E27FC236}">
                  <a16:creationId xmlns:a16="http://schemas.microsoft.com/office/drawing/2014/main" id="{3F59FFE1-E919-4382-8B19-0F59E0CFD8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2053" y="3401514"/>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64">
              <a:extLst>
                <a:ext uri="{FF2B5EF4-FFF2-40B4-BE49-F238E27FC236}">
                  <a16:creationId xmlns:a16="http://schemas.microsoft.com/office/drawing/2014/main" id="{C72A68C0-67B2-4059-B9FB-DAF2DE6C98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2053" y="3578017"/>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66">
              <a:extLst>
                <a:ext uri="{FF2B5EF4-FFF2-40B4-BE49-F238E27FC236}">
                  <a16:creationId xmlns:a16="http://schemas.microsoft.com/office/drawing/2014/main" id="{76E81708-DB09-4AC2-B02A-07394F8D2B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2053" y="3754521"/>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2">
              <a:extLst>
                <a:ext uri="{FF2B5EF4-FFF2-40B4-BE49-F238E27FC236}">
                  <a16:creationId xmlns:a16="http://schemas.microsoft.com/office/drawing/2014/main" id="{9EE3BA06-C343-456D-B024-9F730A332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939" y="3048506"/>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59">
              <a:extLst>
                <a:ext uri="{FF2B5EF4-FFF2-40B4-BE49-F238E27FC236}">
                  <a16:creationId xmlns:a16="http://schemas.microsoft.com/office/drawing/2014/main" id="{6CD71060-F14E-4990-8698-52DFE9C732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939" y="3225010"/>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62">
              <a:extLst>
                <a:ext uri="{FF2B5EF4-FFF2-40B4-BE49-F238E27FC236}">
                  <a16:creationId xmlns:a16="http://schemas.microsoft.com/office/drawing/2014/main" id="{88D6FF31-8CBC-4EA6-886D-2798CFA582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939" y="3401514"/>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64">
              <a:extLst>
                <a:ext uri="{FF2B5EF4-FFF2-40B4-BE49-F238E27FC236}">
                  <a16:creationId xmlns:a16="http://schemas.microsoft.com/office/drawing/2014/main" id="{8331D18D-CADD-4888-99CB-C76BDBF9F1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939" y="3578017"/>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66">
              <a:extLst>
                <a:ext uri="{FF2B5EF4-FFF2-40B4-BE49-F238E27FC236}">
                  <a16:creationId xmlns:a16="http://schemas.microsoft.com/office/drawing/2014/main" id="{CA52436E-27FC-4F19-97F2-1E1ABAA8C9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939" y="3754521"/>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2">
              <a:extLst>
                <a:ext uri="{FF2B5EF4-FFF2-40B4-BE49-F238E27FC236}">
                  <a16:creationId xmlns:a16="http://schemas.microsoft.com/office/drawing/2014/main" id="{7910BDE3-A3BE-43A9-9337-0B4354956E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7825" y="3048506"/>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59">
              <a:extLst>
                <a:ext uri="{FF2B5EF4-FFF2-40B4-BE49-F238E27FC236}">
                  <a16:creationId xmlns:a16="http://schemas.microsoft.com/office/drawing/2014/main" id="{B6EAAB17-E229-40D5-9D27-4FC5B49F67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7825" y="3225010"/>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62">
              <a:extLst>
                <a:ext uri="{FF2B5EF4-FFF2-40B4-BE49-F238E27FC236}">
                  <a16:creationId xmlns:a16="http://schemas.microsoft.com/office/drawing/2014/main" id="{EE364DC9-B9E3-4C68-B68C-ED16C8E583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7825" y="3401514"/>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64">
              <a:extLst>
                <a:ext uri="{FF2B5EF4-FFF2-40B4-BE49-F238E27FC236}">
                  <a16:creationId xmlns:a16="http://schemas.microsoft.com/office/drawing/2014/main" id="{53718762-3A1D-4B08-AA92-C57069D440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7825" y="3578017"/>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66">
              <a:extLst>
                <a:ext uri="{FF2B5EF4-FFF2-40B4-BE49-F238E27FC236}">
                  <a16:creationId xmlns:a16="http://schemas.microsoft.com/office/drawing/2014/main" id="{A0C820CF-BE9A-4275-84DC-80740E34EE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7825" y="3754521"/>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2">
              <a:extLst>
                <a:ext uri="{FF2B5EF4-FFF2-40B4-BE49-F238E27FC236}">
                  <a16:creationId xmlns:a16="http://schemas.microsoft.com/office/drawing/2014/main" id="{11490484-3AE4-41A8-976F-26E4D4892D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5711" y="3048506"/>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59">
              <a:extLst>
                <a:ext uri="{FF2B5EF4-FFF2-40B4-BE49-F238E27FC236}">
                  <a16:creationId xmlns:a16="http://schemas.microsoft.com/office/drawing/2014/main" id="{D5969311-8D34-4F15-BE5D-95F0B6EDC6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5711" y="3225010"/>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62">
              <a:extLst>
                <a:ext uri="{FF2B5EF4-FFF2-40B4-BE49-F238E27FC236}">
                  <a16:creationId xmlns:a16="http://schemas.microsoft.com/office/drawing/2014/main" id="{B64A2B04-A2CC-4FE5-B1FD-B16A84A38B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5711" y="3401514"/>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64">
              <a:extLst>
                <a:ext uri="{FF2B5EF4-FFF2-40B4-BE49-F238E27FC236}">
                  <a16:creationId xmlns:a16="http://schemas.microsoft.com/office/drawing/2014/main" id="{095AA4F0-534F-4A74-AA86-6A9EC993D4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5711" y="3578017"/>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66">
              <a:extLst>
                <a:ext uri="{FF2B5EF4-FFF2-40B4-BE49-F238E27FC236}">
                  <a16:creationId xmlns:a16="http://schemas.microsoft.com/office/drawing/2014/main" id="{51B81732-52BB-4062-8A4A-3C477855BE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5711" y="3754521"/>
              <a:ext cx="61834"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8" name="Straight Connector 7"/>
          <p:cNvCxnSpPr/>
          <p:nvPr/>
        </p:nvCxnSpPr>
        <p:spPr>
          <a:xfrm>
            <a:off x="457200" y="1435143"/>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graphicFrame>
        <p:nvGraphicFramePr>
          <p:cNvPr id="15" name="Content Placeholder 12">
            <a:extLst>
              <a:ext uri="{FF2B5EF4-FFF2-40B4-BE49-F238E27FC236}">
                <a16:creationId xmlns:a16="http://schemas.microsoft.com/office/drawing/2014/main" id="{D210FF0B-D730-4345-8D44-85E34092EB77}"/>
              </a:ext>
            </a:extLst>
          </p:cNvPr>
          <p:cNvGraphicFramePr>
            <a:graphicFrameLocks noGrp="1"/>
          </p:cNvGraphicFramePr>
          <p:nvPr>
            <p:ph idx="1"/>
            <p:extLst>
              <p:ext uri="{D42A27DB-BD31-4B8C-83A1-F6EECF244321}">
                <p14:modId xmlns:p14="http://schemas.microsoft.com/office/powerpoint/2010/main" val="3836636052"/>
              </p:ext>
            </p:extLst>
          </p:nvPr>
        </p:nvGraphicFramePr>
        <p:xfrm>
          <a:off x="4670298" y="749808"/>
          <a:ext cx="4025646" cy="53583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069267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Rounded Rectangle 92">
            <a:extLst>
              <a:ext uri="{FF2B5EF4-FFF2-40B4-BE49-F238E27FC236}">
                <a16:creationId xmlns:a16="http://schemas.microsoft.com/office/drawing/2014/main" id="{D41FADFA-349B-7E4A-8B81-F36852DCBF64}"/>
              </a:ext>
            </a:extLst>
          </p:cNvPr>
          <p:cNvSpPr/>
          <p:nvPr/>
        </p:nvSpPr>
        <p:spPr>
          <a:xfrm>
            <a:off x="1923428" y="144904"/>
            <a:ext cx="1126570" cy="614001"/>
          </a:xfrm>
          <a:prstGeom prst="round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ounded Rectangle 54">
            <a:extLst>
              <a:ext uri="{FF2B5EF4-FFF2-40B4-BE49-F238E27FC236}">
                <a16:creationId xmlns:a16="http://schemas.microsoft.com/office/drawing/2014/main" id="{5E413457-364A-6C4F-83F2-88E43E1BBECF}"/>
              </a:ext>
            </a:extLst>
          </p:cNvPr>
          <p:cNvSpPr/>
          <p:nvPr/>
        </p:nvSpPr>
        <p:spPr>
          <a:xfrm>
            <a:off x="6341165" y="2432749"/>
            <a:ext cx="1462424" cy="614000"/>
          </a:xfrm>
          <a:prstGeom prst="roundRect">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ounded Rectangle 53">
            <a:extLst>
              <a:ext uri="{FF2B5EF4-FFF2-40B4-BE49-F238E27FC236}">
                <a16:creationId xmlns:a16="http://schemas.microsoft.com/office/drawing/2014/main" id="{29219770-9C99-0940-A3F2-D0D756CFF7DE}"/>
              </a:ext>
            </a:extLst>
          </p:cNvPr>
          <p:cNvSpPr/>
          <p:nvPr/>
        </p:nvSpPr>
        <p:spPr>
          <a:xfrm>
            <a:off x="6341165" y="3459779"/>
            <a:ext cx="1288433" cy="894155"/>
          </a:xfrm>
          <a:prstGeom prst="roundRect">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ounded Rectangle 52">
            <a:extLst>
              <a:ext uri="{FF2B5EF4-FFF2-40B4-BE49-F238E27FC236}">
                <a16:creationId xmlns:a16="http://schemas.microsoft.com/office/drawing/2014/main" id="{39CF12BD-243B-504E-A1E1-CB8C82A5FB8A}"/>
              </a:ext>
            </a:extLst>
          </p:cNvPr>
          <p:cNvSpPr/>
          <p:nvPr/>
        </p:nvSpPr>
        <p:spPr>
          <a:xfrm>
            <a:off x="2819417" y="5369826"/>
            <a:ext cx="1133466" cy="738664"/>
          </a:xfrm>
          <a:prstGeom prst="roundRect">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ounded Rectangle 26">
            <a:extLst>
              <a:ext uri="{FF2B5EF4-FFF2-40B4-BE49-F238E27FC236}">
                <a16:creationId xmlns:a16="http://schemas.microsoft.com/office/drawing/2014/main" id="{0812B912-2BCB-FA42-A9AD-21326C199680}"/>
              </a:ext>
            </a:extLst>
          </p:cNvPr>
          <p:cNvSpPr/>
          <p:nvPr/>
        </p:nvSpPr>
        <p:spPr>
          <a:xfrm>
            <a:off x="825844" y="3677602"/>
            <a:ext cx="1252330" cy="614000"/>
          </a:xfrm>
          <a:prstGeom prst="roundRect">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4CEE2744-131E-A94D-A91E-D43D9ECEC231}"/>
              </a:ext>
            </a:extLst>
          </p:cNvPr>
          <p:cNvSpPr/>
          <p:nvPr/>
        </p:nvSpPr>
        <p:spPr>
          <a:xfrm>
            <a:off x="5103542" y="239890"/>
            <a:ext cx="1005925" cy="569893"/>
          </a:xfrm>
          <a:prstGeom prst="roundRect">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3">
            <a:extLst>
              <a:ext uri="{FF2B5EF4-FFF2-40B4-BE49-F238E27FC236}">
                <a16:creationId xmlns:a16="http://schemas.microsoft.com/office/drawing/2014/main" id="{9D42092C-E374-0847-A424-CAE29CA58EE2}"/>
              </a:ext>
            </a:extLst>
          </p:cNvPr>
          <p:cNvSpPr/>
          <p:nvPr/>
        </p:nvSpPr>
        <p:spPr>
          <a:xfrm>
            <a:off x="5956129" y="1262555"/>
            <a:ext cx="1221295" cy="635029"/>
          </a:xfrm>
          <a:prstGeom prst="round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 Rectangle 2">
            <a:extLst>
              <a:ext uri="{FF2B5EF4-FFF2-40B4-BE49-F238E27FC236}">
                <a16:creationId xmlns:a16="http://schemas.microsoft.com/office/drawing/2014/main" id="{314A9311-1D79-144D-B85C-5E55D5DE5F85}"/>
              </a:ext>
            </a:extLst>
          </p:cNvPr>
          <p:cNvSpPr/>
          <p:nvPr/>
        </p:nvSpPr>
        <p:spPr>
          <a:xfrm>
            <a:off x="1054716" y="1059057"/>
            <a:ext cx="1246999" cy="713320"/>
          </a:xfrm>
          <a:prstGeom prst="round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descr="Brain in head">
            <a:extLst>
              <a:ext uri="{FF2B5EF4-FFF2-40B4-BE49-F238E27FC236}">
                <a16:creationId xmlns:a16="http://schemas.microsoft.com/office/drawing/2014/main" id="{85701FC7-A826-D64A-90FF-7626D8B2794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114800" y="2971800"/>
            <a:ext cx="914400" cy="914400"/>
          </a:xfrm>
          <a:prstGeom prst="rect">
            <a:avLst/>
          </a:prstGeom>
        </p:spPr>
      </p:pic>
      <p:sp>
        <p:nvSpPr>
          <p:cNvPr id="7" name="TextBox 6">
            <a:extLst>
              <a:ext uri="{FF2B5EF4-FFF2-40B4-BE49-F238E27FC236}">
                <a16:creationId xmlns:a16="http://schemas.microsoft.com/office/drawing/2014/main" id="{056B0592-D9EA-1445-88B0-86BBE83382D3}"/>
              </a:ext>
            </a:extLst>
          </p:cNvPr>
          <p:cNvSpPr txBox="1"/>
          <p:nvPr/>
        </p:nvSpPr>
        <p:spPr>
          <a:xfrm>
            <a:off x="3829279" y="2599169"/>
            <a:ext cx="1997766" cy="307777"/>
          </a:xfrm>
          <a:prstGeom prst="rect">
            <a:avLst/>
          </a:prstGeom>
          <a:noFill/>
        </p:spPr>
        <p:txBody>
          <a:bodyPr wrap="square" rtlCol="0">
            <a:spAutoFit/>
          </a:bodyPr>
          <a:lstStyle/>
          <a:p>
            <a:r>
              <a:rPr lang="en-US" sz="1400" dirty="0"/>
              <a:t>Sources of innovation</a:t>
            </a:r>
          </a:p>
        </p:txBody>
      </p:sp>
      <p:sp>
        <p:nvSpPr>
          <p:cNvPr id="14" name="TextBox 13">
            <a:extLst>
              <a:ext uri="{FF2B5EF4-FFF2-40B4-BE49-F238E27FC236}">
                <a16:creationId xmlns:a16="http://schemas.microsoft.com/office/drawing/2014/main" id="{A92F3431-C782-AD44-A0D0-07DA244AE7EA}"/>
              </a:ext>
            </a:extLst>
          </p:cNvPr>
          <p:cNvSpPr txBox="1"/>
          <p:nvPr/>
        </p:nvSpPr>
        <p:spPr>
          <a:xfrm>
            <a:off x="6050044" y="1284477"/>
            <a:ext cx="1252330" cy="523220"/>
          </a:xfrm>
          <a:prstGeom prst="rect">
            <a:avLst/>
          </a:prstGeom>
          <a:noFill/>
        </p:spPr>
        <p:txBody>
          <a:bodyPr wrap="square" rtlCol="0">
            <a:spAutoFit/>
          </a:bodyPr>
          <a:lstStyle/>
          <a:p>
            <a:r>
              <a:rPr lang="en-US" sz="1400" dirty="0"/>
              <a:t>Knowledge push</a:t>
            </a:r>
          </a:p>
        </p:txBody>
      </p:sp>
      <p:sp>
        <p:nvSpPr>
          <p:cNvPr id="15" name="TextBox 14">
            <a:extLst>
              <a:ext uri="{FF2B5EF4-FFF2-40B4-BE49-F238E27FC236}">
                <a16:creationId xmlns:a16="http://schemas.microsoft.com/office/drawing/2014/main" id="{341750DA-9D36-8D46-850C-70CB5EFCA46E}"/>
              </a:ext>
            </a:extLst>
          </p:cNvPr>
          <p:cNvSpPr txBox="1"/>
          <p:nvPr/>
        </p:nvSpPr>
        <p:spPr>
          <a:xfrm>
            <a:off x="5071517" y="361658"/>
            <a:ext cx="1562235" cy="307777"/>
          </a:xfrm>
          <a:prstGeom prst="rect">
            <a:avLst/>
          </a:prstGeom>
          <a:noFill/>
        </p:spPr>
        <p:txBody>
          <a:bodyPr wrap="square" rtlCol="0">
            <a:spAutoFit/>
          </a:bodyPr>
          <a:lstStyle/>
          <a:p>
            <a:r>
              <a:rPr lang="en-US" sz="1400" dirty="0"/>
              <a:t>Accidents</a:t>
            </a:r>
          </a:p>
        </p:txBody>
      </p:sp>
      <p:sp>
        <p:nvSpPr>
          <p:cNvPr id="17" name="TextBox 16">
            <a:extLst>
              <a:ext uri="{FF2B5EF4-FFF2-40B4-BE49-F238E27FC236}">
                <a16:creationId xmlns:a16="http://schemas.microsoft.com/office/drawing/2014/main" id="{AEFCB261-3802-9045-9A4B-CFBD3E061EFD}"/>
              </a:ext>
            </a:extLst>
          </p:cNvPr>
          <p:cNvSpPr txBox="1"/>
          <p:nvPr/>
        </p:nvSpPr>
        <p:spPr>
          <a:xfrm>
            <a:off x="1102148" y="1006442"/>
            <a:ext cx="1395522" cy="738664"/>
          </a:xfrm>
          <a:prstGeom prst="rect">
            <a:avLst/>
          </a:prstGeom>
          <a:noFill/>
        </p:spPr>
        <p:txBody>
          <a:bodyPr wrap="square" rtlCol="0">
            <a:spAutoFit/>
          </a:bodyPr>
          <a:lstStyle/>
          <a:p>
            <a:r>
              <a:rPr lang="en-US" sz="1400" dirty="0"/>
              <a:t>Design-driven and experience innovation</a:t>
            </a:r>
          </a:p>
        </p:txBody>
      </p:sp>
      <p:sp>
        <p:nvSpPr>
          <p:cNvPr id="18" name="TextBox 17">
            <a:extLst>
              <a:ext uri="{FF2B5EF4-FFF2-40B4-BE49-F238E27FC236}">
                <a16:creationId xmlns:a16="http://schemas.microsoft.com/office/drawing/2014/main" id="{809EA160-93D8-C543-A950-D98ACCCFA45E}"/>
              </a:ext>
            </a:extLst>
          </p:cNvPr>
          <p:cNvSpPr txBox="1"/>
          <p:nvPr/>
        </p:nvSpPr>
        <p:spPr>
          <a:xfrm>
            <a:off x="816771" y="3615270"/>
            <a:ext cx="1252330" cy="738664"/>
          </a:xfrm>
          <a:prstGeom prst="rect">
            <a:avLst/>
          </a:prstGeom>
          <a:noFill/>
        </p:spPr>
        <p:txBody>
          <a:bodyPr wrap="square" rtlCol="0">
            <a:spAutoFit/>
          </a:bodyPr>
          <a:lstStyle/>
          <a:p>
            <a:r>
              <a:rPr lang="en-US" sz="1400" dirty="0"/>
              <a:t>Benchmarking/ learning from others</a:t>
            </a:r>
          </a:p>
        </p:txBody>
      </p:sp>
      <p:sp>
        <p:nvSpPr>
          <p:cNvPr id="19" name="TextBox 18">
            <a:extLst>
              <a:ext uri="{FF2B5EF4-FFF2-40B4-BE49-F238E27FC236}">
                <a16:creationId xmlns:a16="http://schemas.microsoft.com/office/drawing/2014/main" id="{EE07225C-B796-C843-9087-A5ED131FA5FB}"/>
              </a:ext>
            </a:extLst>
          </p:cNvPr>
          <p:cNvSpPr txBox="1"/>
          <p:nvPr/>
        </p:nvSpPr>
        <p:spPr>
          <a:xfrm>
            <a:off x="6551259" y="2547063"/>
            <a:ext cx="1252330" cy="307777"/>
          </a:xfrm>
          <a:prstGeom prst="rect">
            <a:avLst/>
          </a:prstGeom>
          <a:noFill/>
        </p:spPr>
        <p:txBody>
          <a:bodyPr wrap="square" rtlCol="0">
            <a:spAutoFit/>
          </a:bodyPr>
          <a:lstStyle/>
          <a:p>
            <a:r>
              <a:rPr lang="en-US" sz="1400" dirty="0"/>
              <a:t>Need pull</a:t>
            </a:r>
          </a:p>
        </p:txBody>
      </p:sp>
      <p:sp>
        <p:nvSpPr>
          <p:cNvPr id="21" name="TextBox 20">
            <a:extLst>
              <a:ext uri="{FF2B5EF4-FFF2-40B4-BE49-F238E27FC236}">
                <a16:creationId xmlns:a16="http://schemas.microsoft.com/office/drawing/2014/main" id="{9328EEA4-8503-B84F-AE58-2886AD3659E7}"/>
              </a:ext>
            </a:extLst>
          </p:cNvPr>
          <p:cNvSpPr txBox="1"/>
          <p:nvPr/>
        </p:nvSpPr>
        <p:spPr>
          <a:xfrm>
            <a:off x="6377269" y="3567792"/>
            <a:ext cx="1252330" cy="523220"/>
          </a:xfrm>
          <a:prstGeom prst="rect">
            <a:avLst/>
          </a:prstGeom>
          <a:noFill/>
        </p:spPr>
        <p:txBody>
          <a:bodyPr wrap="square" rtlCol="0">
            <a:spAutoFit/>
          </a:bodyPr>
          <a:lstStyle/>
          <a:p>
            <a:r>
              <a:rPr lang="en-US" sz="1400" dirty="0"/>
              <a:t>Process improvement</a:t>
            </a:r>
          </a:p>
        </p:txBody>
      </p:sp>
      <p:cxnSp>
        <p:nvCxnSpPr>
          <p:cNvPr id="59" name="Straight Arrow Connector 58">
            <a:extLst>
              <a:ext uri="{FF2B5EF4-FFF2-40B4-BE49-F238E27FC236}">
                <a16:creationId xmlns:a16="http://schemas.microsoft.com/office/drawing/2014/main" id="{360A0D23-5716-0F4B-9E80-F5F751806268}"/>
              </a:ext>
            </a:extLst>
          </p:cNvPr>
          <p:cNvCxnSpPr>
            <a:cxnSpLocks/>
          </p:cNvCxnSpPr>
          <p:nvPr/>
        </p:nvCxnSpPr>
        <p:spPr>
          <a:xfrm flipV="1">
            <a:off x="5220072" y="1693624"/>
            <a:ext cx="606973" cy="5698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3FD6BF50-521B-8742-8EE2-0384BD4BBDE3}"/>
              </a:ext>
            </a:extLst>
          </p:cNvPr>
          <p:cNvCxnSpPr>
            <a:cxnSpLocks/>
          </p:cNvCxnSpPr>
          <p:nvPr/>
        </p:nvCxnSpPr>
        <p:spPr>
          <a:xfrm flipV="1">
            <a:off x="4916513" y="981321"/>
            <a:ext cx="473477" cy="10039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D2377DAC-6184-6D4D-8D64-47D2BCBBBC1A}"/>
              </a:ext>
            </a:extLst>
          </p:cNvPr>
          <p:cNvCxnSpPr>
            <a:cxnSpLocks/>
          </p:cNvCxnSpPr>
          <p:nvPr/>
        </p:nvCxnSpPr>
        <p:spPr>
          <a:xfrm flipH="1" flipV="1">
            <a:off x="2613836" y="1772377"/>
            <a:ext cx="1454109" cy="7694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0E53E289-014A-E342-892E-5DA8AAC8A991}"/>
              </a:ext>
            </a:extLst>
          </p:cNvPr>
          <p:cNvCxnSpPr>
            <a:cxnSpLocks/>
          </p:cNvCxnSpPr>
          <p:nvPr/>
        </p:nvCxnSpPr>
        <p:spPr>
          <a:xfrm>
            <a:off x="5700361" y="2750839"/>
            <a:ext cx="511536" cy="66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53B2914B-4720-FD44-9EA4-8EE2845D8CF0}"/>
              </a:ext>
            </a:extLst>
          </p:cNvPr>
          <p:cNvCxnSpPr>
            <a:cxnSpLocks/>
          </p:cNvCxnSpPr>
          <p:nvPr/>
        </p:nvCxnSpPr>
        <p:spPr>
          <a:xfrm>
            <a:off x="5040318" y="3534054"/>
            <a:ext cx="821889" cy="3382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6EAA03B5-15FB-744B-AA2A-7728CB4FF271}"/>
              </a:ext>
            </a:extLst>
          </p:cNvPr>
          <p:cNvCxnSpPr>
            <a:cxnSpLocks/>
          </p:cNvCxnSpPr>
          <p:nvPr/>
        </p:nvCxnSpPr>
        <p:spPr>
          <a:xfrm flipH="1">
            <a:off x="3606446" y="3972637"/>
            <a:ext cx="342630" cy="7517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181FA209-E74E-A443-B3C4-02F3C5AEB13A}"/>
              </a:ext>
            </a:extLst>
          </p:cNvPr>
          <p:cNvCxnSpPr/>
          <p:nvPr/>
        </p:nvCxnSpPr>
        <p:spPr>
          <a:xfrm flipH="1">
            <a:off x="2745765" y="3256875"/>
            <a:ext cx="852849" cy="4154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1" name="Rounded Rectangle 60">
            <a:extLst>
              <a:ext uri="{FF2B5EF4-FFF2-40B4-BE49-F238E27FC236}">
                <a16:creationId xmlns:a16="http://schemas.microsoft.com/office/drawing/2014/main" id="{CCD9A4D9-5712-8D4B-987C-5C5E2954B497}"/>
              </a:ext>
            </a:extLst>
          </p:cNvPr>
          <p:cNvSpPr/>
          <p:nvPr/>
        </p:nvSpPr>
        <p:spPr>
          <a:xfrm>
            <a:off x="5673856" y="4584610"/>
            <a:ext cx="1288433" cy="894155"/>
          </a:xfrm>
          <a:prstGeom prst="roundRect">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ounded Rectangle 61">
            <a:extLst>
              <a:ext uri="{FF2B5EF4-FFF2-40B4-BE49-F238E27FC236}">
                <a16:creationId xmlns:a16="http://schemas.microsoft.com/office/drawing/2014/main" id="{FF8D23BF-F689-3F4A-A1DA-63A55CC90806}"/>
              </a:ext>
            </a:extLst>
          </p:cNvPr>
          <p:cNvSpPr/>
          <p:nvPr/>
        </p:nvSpPr>
        <p:spPr>
          <a:xfrm>
            <a:off x="4318072" y="5332041"/>
            <a:ext cx="1288433" cy="894155"/>
          </a:xfrm>
          <a:prstGeom prst="roundRect">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F30D89C9-D711-CB45-A7C7-541BD746D2C9}"/>
              </a:ext>
            </a:extLst>
          </p:cNvPr>
          <p:cNvSpPr txBox="1"/>
          <p:nvPr/>
        </p:nvSpPr>
        <p:spPr>
          <a:xfrm>
            <a:off x="5735133" y="4648887"/>
            <a:ext cx="1252330" cy="738664"/>
          </a:xfrm>
          <a:prstGeom prst="rect">
            <a:avLst/>
          </a:prstGeom>
          <a:noFill/>
        </p:spPr>
        <p:txBody>
          <a:bodyPr wrap="square" rtlCol="0">
            <a:spAutoFit/>
          </a:bodyPr>
          <a:lstStyle/>
          <a:p>
            <a:r>
              <a:rPr lang="en-US" sz="1400" dirty="0"/>
              <a:t>Crisis driven and extreme contexts</a:t>
            </a:r>
          </a:p>
        </p:txBody>
      </p:sp>
      <p:sp>
        <p:nvSpPr>
          <p:cNvPr id="66" name="TextBox 65">
            <a:extLst>
              <a:ext uri="{FF2B5EF4-FFF2-40B4-BE49-F238E27FC236}">
                <a16:creationId xmlns:a16="http://schemas.microsoft.com/office/drawing/2014/main" id="{62C937D7-C63E-BC4F-B003-F590B6691E89}"/>
              </a:ext>
            </a:extLst>
          </p:cNvPr>
          <p:cNvSpPr txBox="1"/>
          <p:nvPr/>
        </p:nvSpPr>
        <p:spPr>
          <a:xfrm>
            <a:off x="4354685" y="5409786"/>
            <a:ext cx="1252330" cy="523220"/>
          </a:xfrm>
          <a:prstGeom prst="rect">
            <a:avLst/>
          </a:prstGeom>
          <a:noFill/>
        </p:spPr>
        <p:txBody>
          <a:bodyPr wrap="square" rtlCol="0">
            <a:spAutoFit/>
          </a:bodyPr>
          <a:lstStyle/>
          <a:p>
            <a:r>
              <a:rPr lang="en-US" sz="1400" dirty="0"/>
              <a:t>Frugal innovation</a:t>
            </a:r>
          </a:p>
        </p:txBody>
      </p:sp>
      <p:sp>
        <p:nvSpPr>
          <p:cNvPr id="68" name="TextBox 67">
            <a:extLst>
              <a:ext uri="{FF2B5EF4-FFF2-40B4-BE49-F238E27FC236}">
                <a16:creationId xmlns:a16="http://schemas.microsoft.com/office/drawing/2014/main" id="{DD93C8E3-27D1-0D42-B5DB-4E6FDBDFAD23}"/>
              </a:ext>
            </a:extLst>
          </p:cNvPr>
          <p:cNvSpPr txBox="1"/>
          <p:nvPr/>
        </p:nvSpPr>
        <p:spPr>
          <a:xfrm>
            <a:off x="2862281" y="5425336"/>
            <a:ext cx="1252330" cy="523220"/>
          </a:xfrm>
          <a:prstGeom prst="rect">
            <a:avLst/>
          </a:prstGeom>
          <a:noFill/>
        </p:spPr>
        <p:txBody>
          <a:bodyPr wrap="square" rtlCol="0">
            <a:spAutoFit/>
          </a:bodyPr>
          <a:lstStyle/>
          <a:p>
            <a:r>
              <a:rPr lang="en-US" sz="1400" dirty="0"/>
              <a:t>Mass </a:t>
            </a:r>
            <a:r>
              <a:rPr lang="en-US" sz="1400" dirty="0" err="1"/>
              <a:t>customisation</a:t>
            </a:r>
            <a:endParaRPr lang="en-US" sz="1400" dirty="0"/>
          </a:p>
        </p:txBody>
      </p:sp>
      <p:sp>
        <p:nvSpPr>
          <p:cNvPr id="70" name="Rounded Rectangle 69">
            <a:extLst>
              <a:ext uri="{FF2B5EF4-FFF2-40B4-BE49-F238E27FC236}">
                <a16:creationId xmlns:a16="http://schemas.microsoft.com/office/drawing/2014/main" id="{79133EDB-382A-9741-A6CE-2B9D578F2E93}"/>
              </a:ext>
            </a:extLst>
          </p:cNvPr>
          <p:cNvSpPr/>
          <p:nvPr/>
        </p:nvSpPr>
        <p:spPr>
          <a:xfrm>
            <a:off x="1247858" y="4798437"/>
            <a:ext cx="1252330" cy="614000"/>
          </a:xfrm>
          <a:prstGeom prst="roundRect">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71">
            <a:extLst>
              <a:ext uri="{FF2B5EF4-FFF2-40B4-BE49-F238E27FC236}">
                <a16:creationId xmlns:a16="http://schemas.microsoft.com/office/drawing/2014/main" id="{F264FCA7-DD26-C642-837D-52E3AF6C41BB}"/>
              </a:ext>
            </a:extLst>
          </p:cNvPr>
          <p:cNvSpPr txBox="1"/>
          <p:nvPr/>
        </p:nvSpPr>
        <p:spPr>
          <a:xfrm>
            <a:off x="1234060" y="4889217"/>
            <a:ext cx="1252330" cy="523220"/>
          </a:xfrm>
          <a:prstGeom prst="rect">
            <a:avLst/>
          </a:prstGeom>
          <a:noFill/>
        </p:spPr>
        <p:txBody>
          <a:bodyPr wrap="square" rtlCol="0">
            <a:spAutoFit/>
          </a:bodyPr>
          <a:lstStyle/>
          <a:p>
            <a:r>
              <a:rPr lang="en-US" sz="1400" dirty="0"/>
              <a:t>User –led innovation</a:t>
            </a:r>
          </a:p>
        </p:txBody>
      </p:sp>
      <p:sp>
        <p:nvSpPr>
          <p:cNvPr id="74" name="Rounded Rectangle 73">
            <a:extLst>
              <a:ext uri="{FF2B5EF4-FFF2-40B4-BE49-F238E27FC236}">
                <a16:creationId xmlns:a16="http://schemas.microsoft.com/office/drawing/2014/main" id="{12596A08-230C-5C47-8C40-3B323F0D713C}"/>
              </a:ext>
            </a:extLst>
          </p:cNvPr>
          <p:cNvSpPr/>
          <p:nvPr/>
        </p:nvSpPr>
        <p:spPr>
          <a:xfrm>
            <a:off x="816771" y="1978570"/>
            <a:ext cx="1126570" cy="614001"/>
          </a:xfrm>
          <a:prstGeom prst="round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TextBox 81">
            <a:extLst>
              <a:ext uri="{FF2B5EF4-FFF2-40B4-BE49-F238E27FC236}">
                <a16:creationId xmlns:a16="http://schemas.microsoft.com/office/drawing/2014/main" id="{06C1A18C-C7A0-8A4F-A6D6-5A3EB0ABBDA5}"/>
              </a:ext>
            </a:extLst>
          </p:cNvPr>
          <p:cNvSpPr txBox="1"/>
          <p:nvPr/>
        </p:nvSpPr>
        <p:spPr>
          <a:xfrm>
            <a:off x="847386" y="1998523"/>
            <a:ext cx="1252330" cy="523220"/>
          </a:xfrm>
          <a:prstGeom prst="rect">
            <a:avLst/>
          </a:prstGeom>
          <a:noFill/>
        </p:spPr>
        <p:txBody>
          <a:bodyPr wrap="square" rtlCol="0">
            <a:spAutoFit/>
          </a:bodyPr>
          <a:lstStyle/>
          <a:p>
            <a:r>
              <a:rPr lang="en-US" sz="1400" dirty="0"/>
              <a:t>Recombinant innovation</a:t>
            </a:r>
          </a:p>
        </p:txBody>
      </p:sp>
      <p:sp>
        <p:nvSpPr>
          <p:cNvPr id="86" name="Rounded Rectangle 85">
            <a:extLst>
              <a:ext uri="{FF2B5EF4-FFF2-40B4-BE49-F238E27FC236}">
                <a16:creationId xmlns:a16="http://schemas.microsoft.com/office/drawing/2014/main" id="{53F3625E-8701-D240-AC46-9C957A454F62}"/>
              </a:ext>
            </a:extLst>
          </p:cNvPr>
          <p:cNvSpPr/>
          <p:nvPr/>
        </p:nvSpPr>
        <p:spPr>
          <a:xfrm>
            <a:off x="3574283" y="239301"/>
            <a:ext cx="1104414" cy="610312"/>
          </a:xfrm>
          <a:prstGeom prst="round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TextBox 82">
            <a:extLst>
              <a:ext uri="{FF2B5EF4-FFF2-40B4-BE49-F238E27FC236}">
                <a16:creationId xmlns:a16="http://schemas.microsoft.com/office/drawing/2014/main" id="{D9C27C63-72AC-4D49-933A-5DE4DAD07314}"/>
              </a:ext>
            </a:extLst>
          </p:cNvPr>
          <p:cNvSpPr txBox="1"/>
          <p:nvPr/>
        </p:nvSpPr>
        <p:spPr>
          <a:xfrm>
            <a:off x="3606765" y="370947"/>
            <a:ext cx="1252330" cy="307777"/>
          </a:xfrm>
          <a:prstGeom prst="rect">
            <a:avLst/>
          </a:prstGeom>
          <a:noFill/>
        </p:spPr>
        <p:txBody>
          <a:bodyPr wrap="square" rtlCol="0">
            <a:spAutoFit/>
          </a:bodyPr>
          <a:lstStyle/>
          <a:p>
            <a:r>
              <a:rPr lang="en-US" sz="1400" dirty="0"/>
              <a:t>Regulation</a:t>
            </a:r>
          </a:p>
        </p:txBody>
      </p:sp>
      <p:sp>
        <p:nvSpPr>
          <p:cNvPr id="88" name="Rounded Rectangle 87">
            <a:extLst>
              <a:ext uri="{FF2B5EF4-FFF2-40B4-BE49-F238E27FC236}">
                <a16:creationId xmlns:a16="http://schemas.microsoft.com/office/drawing/2014/main" id="{1A7AE807-C58B-7740-9CEF-F0246281AF7F}"/>
              </a:ext>
            </a:extLst>
          </p:cNvPr>
          <p:cNvSpPr/>
          <p:nvPr/>
        </p:nvSpPr>
        <p:spPr>
          <a:xfrm>
            <a:off x="733655" y="2766968"/>
            <a:ext cx="1126570" cy="614001"/>
          </a:xfrm>
          <a:prstGeom prst="round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TextBox 88">
            <a:extLst>
              <a:ext uri="{FF2B5EF4-FFF2-40B4-BE49-F238E27FC236}">
                <a16:creationId xmlns:a16="http://schemas.microsoft.com/office/drawing/2014/main" id="{808942B5-44E9-C94D-BE84-FE4B9A0EB794}"/>
              </a:ext>
            </a:extLst>
          </p:cNvPr>
          <p:cNvSpPr txBox="1"/>
          <p:nvPr/>
        </p:nvSpPr>
        <p:spPr>
          <a:xfrm>
            <a:off x="714246" y="2716687"/>
            <a:ext cx="1252330" cy="738664"/>
          </a:xfrm>
          <a:prstGeom prst="rect">
            <a:avLst/>
          </a:prstGeom>
          <a:noFill/>
        </p:spPr>
        <p:txBody>
          <a:bodyPr wrap="square" rtlCol="0">
            <a:spAutoFit/>
          </a:bodyPr>
          <a:lstStyle/>
          <a:p>
            <a:r>
              <a:rPr lang="en-US" sz="1400" dirty="0"/>
              <a:t>Prototyping and experiment</a:t>
            </a:r>
          </a:p>
        </p:txBody>
      </p:sp>
      <p:sp>
        <p:nvSpPr>
          <p:cNvPr id="91" name="TextBox 90">
            <a:extLst>
              <a:ext uri="{FF2B5EF4-FFF2-40B4-BE49-F238E27FC236}">
                <a16:creationId xmlns:a16="http://schemas.microsoft.com/office/drawing/2014/main" id="{C0AB249C-EC16-CD47-99EF-92E4AB47ED5F}"/>
              </a:ext>
            </a:extLst>
          </p:cNvPr>
          <p:cNvSpPr txBox="1"/>
          <p:nvPr/>
        </p:nvSpPr>
        <p:spPr>
          <a:xfrm>
            <a:off x="2014833" y="215006"/>
            <a:ext cx="1395522" cy="523220"/>
          </a:xfrm>
          <a:prstGeom prst="rect">
            <a:avLst/>
          </a:prstGeom>
          <a:noFill/>
        </p:spPr>
        <p:txBody>
          <a:bodyPr wrap="square" rtlCol="0">
            <a:spAutoFit/>
          </a:bodyPr>
          <a:lstStyle/>
          <a:p>
            <a:r>
              <a:rPr lang="en-US" sz="1400" dirty="0"/>
              <a:t>Futures and forecasting</a:t>
            </a:r>
          </a:p>
        </p:txBody>
      </p:sp>
      <p:cxnSp>
        <p:nvCxnSpPr>
          <p:cNvPr id="95" name="Straight Arrow Connector 94">
            <a:extLst>
              <a:ext uri="{FF2B5EF4-FFF2-40B4-BE49-F238E27FC236}">
                <a16:creationId xmlns:a16="http://schemas.microsoft.com/office/drawing/2014/main" id="{13B8B4C9-9C4E-2B42-AA10-8C728E5551F9}"/>
              </a:ext>
            </a:extLst>
          </p:cNvPr>
          <p:cNvCxnSpPr/>
          <p:nvPr/>
        </p:nvCxnSpPr>
        <p:spPr>
          <a:xfrm flipV="1">
            <a:off x="4354685" y="1031162"/>
            <a:ext cx="0" cy="10291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B66EA7BE-C63D-E049-B69A-A42B46BC6597}"/>
              </a:ext>
            </a:extLst>
          </p:cNvPr>
          <p:cNvCxnSpPr>
            <a:cxnSpLocks/>
          </p:cNvCxnSpPr>
          <p:nvPr/>
        </p:nvCxnSpPr>
        <p:spPr>
          <a:xfrm flipH="1" flipV="1">
            <a:off x="3095762" y="969369"/>
            <a:ext cx="972182" cy="12624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D81ED833-5F71-B64B-AD6E-4CB6ACD36B0D}"/>
              </a:ext>
            </a:extLst>
          </p:cNvPr>
          <p:cNvCxnSpPr>
            <a:cxnSpLocks/>
          </p:cNvCxnSpPr>
          <p:nvPr/>
        </p:nvCxnSpPr>
        <p:spPr>
          <a:xfrm flipH="1">
            <a:off x="2275877" y="2785849"/>
            <a:ext cx="1330888" cy="2200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a16="http://schemas.microsoft.com/office/drawing/2014/main" id="{84B2C89D-DA44-054C-BBF7-6C93444615CC}"/>
              </a:ext>
            </a:extLst>
          </p:cNvPr>
          <p:cNvCxnSpPr>
            <a:cxnSpLocks/>
          </p:cNvCxnSpPr>
          <p:nvPr/>
        </p:nvCxnSpPr>
        <p:spPr>
          <a:xfrm flipH="1">
            <a:off x="2688667" y="3652321"/>
            <a:ext cx="1102342" cy="7507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3" name="Straight Arrow Connector 102">
            <a:extLst>
              <a:ext uri="{FF2B5EF4-FFF2-40B4-BE49-F238E27FC236}">
                <a16:creationId xmlns:a16="http://schemas.microsoft.com/office/drawing/2014/main" id="{DEB38EFC-97F6-BF45-BA1E-4EB4F7052693}"/>
              </a:ext>
            </a:extLst>
          </p:cNvPr>
          <p:cNvCxnSpPr>
            <a:cxnSpLocks/>
          </p:cNvCxnSpPr>
          <p:nvPr/>
        </p:nvCxnSpPr>
        <p:spPr>
          <a:xfrm flipH="1" flipV="1">
            <a:off x="2327096" y="2440384"/>
            <a:ext cx="1279669" cy="969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E3A23662-EA63-0843-B434-A63085F0EBEE}"/>
              </a:ext>
            </a:extLst>
          </p:cNvPr>
          <p:cNvCxnSpPr>
            <a:cxnSpLocks/>
          </p:cNvCxnSpPr>
          <p:nvPr/>
        </p:nvCxnSpPr>
        <p:spPr>
          <a:xfrm flipH="1">
            <a:off x="4641823" y="4100804"/>
            <a:ext cx="11575" cy="7519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7" name="Straight Arrow Connector 106">
            <a:extLst>
              <a:ext uri="{FF2B5EF4-FFF2-40B4-BE49-F238E27FC236}">
                <a16:creationId xmlns:a16="http://schemas.microsoft.com/office/drawing/2014/main" id="{9051E08C-E05C-4C4F-A844-CD94909CB704}"/>
              </a:ext>
            </a:extLst>
          </p:cNvPr>
          <p:cNvCxnSpPr>
            <a:cxnSpLocks/>
          </p:cNvCxnSpPr>
          <p:nvPr/>
        </p:nvCxnSpPr>
        <p:spPr>
          <a:xfrm>
            <a:off x="4931788" y="3839248"/>
            <a:ext cx="580148" cy="6740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99970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301E07F-4F79-4B58-8698-EF24DC1ECD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Arc 13">
            <a:extLst>
              <a:ext uri="{FF2B5EF4-FFF2-40B4-BE49-F238E27FC236}">
                <a16:creationId xmlns:a16="http://schemas.microsoft.com/office/drawing/2014/main" id="{E58B2195-5055-402F-A3E7-53FF0E4980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94377" y="775849"/>
            <a:ext cx="2240924"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2FF829E-164C-C647-862D-C0E45AB0C1E5}"/>
              </a:ext>
            </a:extLst>
          </p:cNvPr>
          <p:cNvSpPr>
            <a:spLocks noGrp="1"/>
          </p:cNvSpPr>
          <p:nvPr>
            <p:ph type="title"/>
          </p:nvPr>
        </p:nvSpPr>
        <p:spPr>
          <a:xfrm>
            <a:off x="5310553" y="647593"/>
            <a:ext cx="3350844" cy="3060541"/>
          </a:xfrm>
        </p:spPr>
        <p:txBody>
          <a:bodyPr vert="horz" lIns="91440" tIns="45720" rIns="91440" bIns="45720" rtlCol="0" anchor="b">
            <a:normAutofit/>
          </a:bodyPr>
          <a:lstStyle/>
          <a:p>
            <a:pPr>
              <a:lnSpc>
                <a:spcPct val="90000"/>
              </a:lnSpc>
            </a:pPr>
            <a:r>
              <a:rPr lang="en-US" sz="4700" kern="1200">
                <a:solidFill>
                  <a:srgbClr val="FFFFFF"/>
                </a:solidFill>
                <a:latin typeface="+mj-lt"/>
                <a:ea typeface="+mj-ea"/>
                <a:cs typeface="+mj-cs"/>
              </a:rPr>
              <a:t>Core themes and material from the book</a:t>
            </a:r>
          </a:p>
        </p:txBody>
      </p:sp>
      <p:sp>
        <p:nvSpPr>
          <p:cNvPr id="16" name="Oval 15">
            <a:extLst>
              <a:ext uri="{FF2B5EF4-FFF2-40B4-BE49-F238E27FC236}">
                <a16:creationId xmlns:a16="http://schemas.microsoft.com/office/drawing/2014/main" id="{9EE6F773-742A-491A-9A00-A2A150DF50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8276" y="366810"/>
            <a:ext cx="4593285" cy="612438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Books">
            <a:extLst>
              <a:ext uri="{FF2B5EF4-FFF2-40B4-BE49-F238E27FC236}">
                <a16:creationId xmlns:a16="http://schemas.microsoft.com/office/drawing/2014/main" id="{047FB8FE-B6DD-411D-B9FE-1BD2B5EA19B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0060" y="1834479"/>
            <a:ext cx="3189041" cy="3189041"/>
          </a:xfrm>
          <a:custGeom>
            <a:avLst/>
            <a:gdLst/>
            <a:ahLst/>
            <a:cxnLst/>
            <a:rect l="l" t="t" r="r" b="b"/>
            <a:pathLst>
              <a:path w="4273177" h="4470400">
                <a:moveTo>
                  <a:pt x="75080" y="0"/>
                </a:moveTo>
                <a:lnTo>
                  <a:pt x="4198097" y="0"/>
                </a:lnTo>
                <a:cubicBezTo>
                  <a:pt x="4239563" y="0"/>
                  <a:pt x="4273177" y="33614"/>
                  <a:pt x="4273177" y="75080"/>
                </a:cubicBezTo>
                <a:lnTo>
                  <a:pt x="4273177" y="4395320"/>
                </a:lnTo>
                <a:cubicBezTo>
                  <a:pt x="4273177" y="4436786"/>
                  <a:pt x="4239563" y="4470400"/>
                  <a:pt x="4198097" y="4470400"/>
                </a:cubicBezTo>
                <a:lnTo>
                  <a:pt x="75080" y="4470400"/>
                </a:lnTo>
                <a:cubicBezTo>
                  <a:pt x="33614" y="4470400"/>
                  <a:pt x="0" y="4436786"/>
                  <a:pt x="0" y="4395320"/>
                </a:cubicBezTo>
                <a:lnTo>
                  <a:pt x="0" y="75080"/>
                </a:lnTo>
                <a:cubicBezTo>
                  <a:pt x="0" y="33614"/>
                  <a:pt x="33614" y="0"/>
                  <a:pt x="75080" y="0"/>
                </a:cubicBezTo>
                <a:close/>
              </a:path>
            </a:pathLst>
          </a:custGeom>
        </p:spPr>
      </p:pic>
    </p:spTree>
    <p:extLst>
      <p:ext uri="{BB962C8B-B14F-4D97-AF65-F5344CB8AC3E}">
        <p14:creationId xmlns:p14="http://schemas.microsoft.com/office/powerpoint/2010/main" val="15585915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6335" y="1344400"/>
            <a:ext cx="8518718" cy="551841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827584" y="332656"/>
            <a:ext cx="7100226" cy="917864"/>
          </a:xfrm>
          <a:prstGeom prst="rect">
            <a:avLst/>
          </a:prstGeom>
        </p:spPr>
        <p:txBody>
          <a:bodyPr vert="horz" lIns="91440" tIns="45720" rIns="91440" bIns="45720" rtlCol="0" anchor="ctr">
            <a:noAutofit/>
          </a:bodyPr>
          <a:lstStyle/>
          <a:p>
            <a:pPr lvl="0" algn="ctr">
              <a:spcBef>
                <a:spcPct val="0"/>
              </a:spcBef>
              <a:defRPr/>
            </a:pPr>
            <a:r>
              <a:rPr lang="en-US" sz="3600" b="1" dirty="0">
                <a:solidFill>
                  <a:srgbClr val="008000"/>
                </a:solidFill>
                <a:latin typeface="+mj-lt"/>
                <a:ea typeface="+mj-ea"/>
                <a:cs typeface="+mj-cs"/>
              </a:rPr>
              <a:t>Where do innovations come from?</a:t>
            </a:r>
            <a:endParaRPr lang="en-GB" sz="3600" b="1" dirty="0">
              <a:solidFill>
                <a:srgbClr val="008000"/>
              </a:solidFill>
              <a:latin typeface="+mj-lt"/>
              <a:ea typeface="+mj-ea"/>
              <a:cs typeface="+mj-cs"/>
            </a:endParaRPr>
          </a:p>
        </p:txBody>
      </p:sp>
      <p:sp>
        <p:nvSpPr>
          <p:cNvPr id="9" name="Rectangle 8"/>
          <p:cNvSpPr/>
          <p:nvPr/>
        </p:nvSpPr>
        <p:spPr>
          <a:xfrm>
            <a:off x="0" y="6313084"/>
            <a:ext cx="9099315" cy="353943"/>
          </a:xfrm>
          <a:prstGeom prst="rect">
            <a:avLst/>
          </a:prstGeom>
          <a:solidFill>
            <a:schemeClr val="bg1"/>
          </a:solidFill>
        </p:spPr>
        <p:txBody>
          <a:bodyPr wrap="square">
            <a:spAutoFit/>
          </a:bodyPr>
          <a:lstStyle/>
          <a:p>
            <a:pPr algn="ctr"/>
            <a:r>
              <a:rPr lang="en-US" sz="1700" dirty="0"/>
              <a:t>Figure 6.1 of the book </a:t>
            </a:r>
            <a:r>
              <a:rPr lang="en-GB" sz="1700" dirty="0"/>
              <a:t>indicates the wide range of stimuli which can begin the innovation journey </a:t>
            </a:r>
            <a:endParaRPr lang="en-US" sz="1700" dirty="0">
              <a:solidFill>
                <a:srgbClr val="FF0000"/>
              </a:solidFill>
            </a:endParaRPr>
          </a:p>
        </p:txBody>
      </p:sp>
    </p:spTree>
    <p:extLst>
      <p:ext uri="{BB962C8B-B14F-4D97-AF65-F5344CB8AC3E}">
        <p14:creationId xmlns:p14="http://schemas.microsoft.com/office/powerpoint/2010/main" val="5621030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CA06CD6-90CA-4C45-856C-6771339E1E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241173" y="320040"/>
            <a:ext cx="8661654" cy="6217920"/>
          </a:xfrm>
          <a:prstGeom prst="rect">
            <a:avLst/>
          </a:prstGeom>
          <a:solidFill>
            <a:schemeClr val="tx1">
              <a:alpha val="10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383748-25D2-044B-8C10-AEE5B4366CC4}"/>
              </a:ext>
            </a:extLst>
          </p:cNvPr>
          <p:cNvSpPr>
            <a:spLocks noGrp="1"/>
          </p:cNvSpPr>
          <p:nvPr>
            <p:ph type="title"/>
          </p:nvPr>
        </p:nvSpPr>
        <p:spPr>
          <a:xfrm>
            <a:off x="628650" y="963507"/>
            <a:ext cx="2620771" cy="4930986"/>
          </a:xfrm>
        </p:spPr>
        <p:txBody>
          <a:bodyPr>
            <a:normAutofit/>
          </a:bodyPr>
          <a:lstStyle/>
          <a:p>
            <a:pPr algn="r"/>
            <a:r>
              <a:rPr lang="en-US">
                <a:solidFill>
                  <a:schemeClr val="accent1"/>
                </a:solidFill>
              </a:rPr>
              <a:t>Sources of innovation</a:t>
            </a:r>
          </a:p>
        </p:txBody>
      </p:sp>
      <p:cxnSp>
        <p:nvCxnSpPr>
          <p:cNvPr id="11" name="Straight Connector 10">
            <a:extLst>
              <a:ext uri="{FF2B5EF4-FFF2-40B4-BE49-F238E27FC236}">
                <a16:creationId xmlns:a16="http://schemas.microsoft.com/office/drawing/2014/main" id="{5021601D-2758-4B15-A31C-FDA184C51B3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B096C56-D3FE-6048-86D6-23C7D67969C9}"/>
              </a:ext>
            </a:extLst>
          </p:cNvPr>
          <p:cNvSpPr>
            <a:spLocks noGrp="1"/>
          </p:cNvSpPr>
          <p:nvPr>
            <p:ph sz="half" idx="1"/>
          </p:nvPr>
        </p:nvSpPr>
        <p:spPr>
          <a:xfrm>
            <a:off x="3732022" y="963507"/>
            <a:ext cx="4688205" cy="2304627"/>
          </a:xfrm>
        </p:spPr>
        <p:txBody>
          <a:bodyPr anchor="b">
            <a:normAutofit/>
          </a:bodyPr>
          <a:lstStyle/>
          <a:p>
            <a:pPr>
              <a:lnSpc>
                <a:spcPct val="90000"/>
              </a:lnSpc>
            </a:pPr>
            <a:r>
              <a:rPr lang="en-US" sz="1600"/>
              <a:t>Knowledge push</a:t>
            </a:r>
          </a:p>
          <a:p>
            <a:pPr>
              <a:lnSpc>
                <a:spcPct val="90000"/>
              </a:lnSpc>
            </a:pPr>
            <a:r>
              <a:rPr lang="en-US" sz="1600"/>
              <a:t>Need pull</a:t>
            </a:r>
          </a:p>
          <a:p>
            <a:pPr>
              <a:lnSpc>
                <a:spcPct val="90000"/>
              </a:lnSpc>
            </a:pPr>
            <a:r>
              <a:rPr lang="en-US" sz="1600"/>
              <a:t>Product innovation</a:t>
            </a:r>
          </a:p>
          <a:p>
            <a:pPr>
              <a:lnSpc>
                <a:spcPct val="90000"/>
              </a:lnSpc>
            </a:pPr>
            <a:r>
              <a:rPr lang="en-US" sz="1600"/>
              <a:t>Process improvement</a:t>
            </a:r>
          </a:p>
          <a:p>
            <a:pPr>
              <a:lnSpc>
                <a:spcPct val="90000"/>
              </a:lnSpc>
            </a:pPr>
            <a:r>
              <a:rPr lang="en-US" sz="1600"/>
              <a:t>Crisis-driven</a:t>
            </a:r>
          </a:p>
          <a:p>
            <a:pPr>
              <a:lnSpc>
                <a:spcPct val="90000"/>
              </a:lnSpc>
            </a:pPr>
            <a:r>
              <a:rPr lang="en-US" sz="1600"/>
              <a:t>Frugal innovation</a:t>
            </a:r>
          </a:p>
          <a:p>
            <a:pPr>
              <a:lnSpc>
                <a:spcPct val="90000"/>
              </a:lnSpc>
            </a:pPr>
            <a:r>
              <a:rPr lang="en-US" sz="1600"/>
              <a:t>Mass customization</a:t>
            </a:r>
          </a:p>
          <a:p>
            <a:pPr>
              <a:lnSpc>
                <a:spcPct val="90000"/>
              </a:lnSpc>
            </a:pPr>
            <a:r>
              <a:rPr lang="en-US" sz="1600"/>
              <a:t>User-led innovation</a:t>
            </a:r>
          </a:p>
          <a:p>
            <a:pPr>
              <a:lnSpc>
                <a:spcPct val="90000"/>
              </a:lnSpc>
            </a:pPr>
            <a:endParaRPr lang="en-US" sz="1600"/>
          </a:p>
        </p:txBody>
      </p:sp>
      <p:sp>
        <p:nvSpPr>
          <p:cNvPr id="4" name="Content Placeholder 3">
            <a:extLst>
              <a:ext uri="{FF2B5EF4-FFF2-40B4-BE49-F238E27FC236}">
                <a16:creationId xmlns:a16="http://schemas.microsoft.com/office/drawing/2014/main" id="{EEC1729B-2132-084C-B0E3-8931C8B20719}"/>
              </a:ext>
            </a:extLst>
          </p:cNvPr>
          <p:cNvSpPr>
            <a:spLocks noGrp="1"/>
          </p:cNvSpPr>
          <p:nvPr>
            <p:ph sz="half" idx="2"/>
          </p:nvPr>
        </p:nvSpPr>
        <p:spPr>
          <a:xfrm>
            <a:off x="3732022" y="2996952"/>
            <a:ext cx="4688205" cy="2304628"/>
          </a:xfrm>
        </p:spPr>
        <p:txBody>
          <a:bodyPr>
            <a:normAutofit/>
          </a:bodyPr>
          <a:lstStyle/>
          <a:p>
            <a:r>
              <a:rPr lang="en-US" sz="1700" dirty="0"/>
              <a:t>Prototyping</a:t>
            </a:r>
          </a:p>
          <a:p>
            <a:r>
              <a:rPr lang="en-US" sz="1700" dirty="0"/>
              <a:t>Benchmarking</a:t>
            </a:r>
          </a:p>
          <a:p>
            <a:r>
              <a:rPr lang="en-US" sz="1700" dirty="0"/>
              <a:t>Recombinant innovation</a:t>
            </a:r>
          </a:p>
          <a:p>
            <a:r>
              <a:rPr lang="en-US" sz="1700" dirty="0"/>
              <a:t>Design-driven innovation</a:t>
            </a:r>
          </a:p>
          <a:p>
            <a:r>
              <a:rPr lang="en-US" sz="1700" dirty="0"/>
              <a:t>Regulation</a:t>
            </a:r>
          </a:p>
          <a:p>
            <a:r>
              <a:rPr lang="en-US" sz="1700" dirty="0"/>
              <a:t>Futures and forecasting</a:t>
            </a:r>
          </a:p>
          <a:p>
            <a:r>
              <a:rPr lang="en-US" sz="1700" dirty="0"/>
              <a:t>Accidents</a:t>
            </a:r>
          </a:p>
        </p:txBody>
      </p:sp>
    </p:spTree>
    <p:extLst>
      <p:ext uri="{BB962C8B-B14F-4D97-AF65-F5344CB8AC3E}">
        <p14:creationId xmlns:p14="http://schemas.microsoft.com/office/powerpoint/2010/main" val="42406372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1AE57-5AA3-C646-B6B5-FC2CC59E8274}"/>
              </a:ext>
            </a:extLst>
          </p:cNvPr>
          <p:cNvSpPr>
            <a:spLocks noGrp="1"/>
          </p:cNvSpPr>
          <p:nvPr>
            <p:ph type="title"/>
          </p:nvPr>
        </p:nvSpPr>
        <p:spPr/>
        <p:txBody>
          <a:bodyPr/>
          <a:lstStyle/>
          <a:p>
            <a:r>
              <a:rPr lang="en-US"/>
              <a:t>Knowledge push innovation</a:t>
            </a:r>
            <a:endParaRPr lang="en-US" dirty="0"/>
          </a:p>
        </p:txBody>
      </p:sp>
      <p:pic>
        <p:nvPicPr>
          <p:cNvPr id="5" name="Picture 4" descr="Graphical user interface, application&#10;&#10;Description automatically generated">
            <a:extLst>
              <a:ext uri="{FF2B5EF4-FFF2-40B4-BE49-F238E27FC236}">
                <a16:creationId xmlns:a16="http://schemas.microsoft.com/office/drawing/2014/main" id="{B73CC32C-7304-D94C-90C4-12C53BE472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153652"/>
            <a:ext cx="9144000" cy="2550695"/>
          </a:xfrm>
          <a:prstGeom prst="rect">
            <a:avLst/>
          </a:prstGeom>
        </p:spPr>
      </p:pic>
    </p:spTree>
    <p:extLst>
      <p:ext uri="{BB962C8B-B14F-4D97-AF65-F5344CB8AC3E}">
        <p14:creationId xmlns:p14="http://schemas.microsoft.com/office/powerpoint/2010/main" val="21140412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763688" y="332656"/>
            <a:ext cx="5739505"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Types of product innovation</a:t>
            </a:r>
            <a:endParaRPr lang="en-GB" sz="3600" b="1" dirty="0">
              <a:solidFill>
                <a:srgbClr val="008000"/>
              </a:solidFill>
              <a:latin typeface="+mj-lt"/>
              <a:ea typeface="+mj-ea"/>
              <a:cs typeface="+mj-cs"/>
            </a:endParaRPr>
          </a:p>
        </p:txBody>
      </p:sp>
      <p:sp>
        <p:nvSpPr>
          <p:cNvPr id="9" name="Rectangle 8"/>
          <p:cNvSpPr/>
          <p:nvPr/>
        </p:nvSpPr>
        <p:spPr>
          <a:xfrm>
            <a:off x="458166" y="6117708"/>
            <a:ext cx="8070776" cy="615553"/>
          </a:xfrm>
          <a:prstGeom prst="rect">
            <a:avLst/>
          </a:prstGeom>
          <a:solidFill>
            <a:schemeClr val="bg1"/>
          </a:solidFill>
        </p:spPr>
        <p:txBody>
          <a:bodyPr wrap="square">
            <a:spAutoFit/>
          </a:bodyPr>
          <a:lstStyle/>
          <a:p>
            <a:pPr algn="ctr"/>
            <a:r>
              <a:rPr lang="en-US" sz="1700" dirty="0"/>
              <a:t>Figure 6.2 of the book </a:t>
            </a:r>
            <a:r>
              <a:rPr lang="en-GB" sz="1700" dirty="0"/>
              <a:t>indicates a typical breakdown, and we could construct a similar picture for process innovation</a:t>
            </a:r>
            <a:endParaRPr lang="en-US" sz="1700" dirty="0">
              <a:solidFill>
                <a:srgbClr val="FF0000"/>
              </a:solidFill>
            </a:endParaRPr>
          </a:p>
        </p:txBody>
      </p:sp>
      <p:graphicFrame>
        <p:nvGraphicFramePr>
          <p:cNvPr id="8" name="Chart 7"/>
          <p:cNvGraphicFramePr/>
          <p:nvPr/>
        </p:nvGraphicFramePr>
        <p:xfrm>
          <a:off x="928139" y="1859991"/>
          <a:ext cx="7600803" cy="425771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0861100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307E1-DAD4-CC43-A65B-C294879F5DC9}"/>
              </a:ext>
            </a:extLst>
          </p:cNvPr>
          <p:cNvSpPr>
            <a:spLocks noGrp="1"/>
          </p:cNvSpPr>
          <p:nvPr>
            <p:ph type="title"/>
          </p:nvPr>
        </p:nvSpPr>
        <p:spPr/>
        <p:txBody>
          <a:bodyPr/>
          <a:lstStyle/>
          <a:p>
            <a:r>
              <a:rPr lang="en-US"/>
              <a:t>Disruptive innovation</a:t>
            </a:r>
            <a:endParaRPr lang="en-US" dirty="0"/>
          </a:p>
        </p:txBody>
      </p:sp>
      <p:pic>
        <p:nvPicPr>
          <p:cNvPr id="5" name="Picture 4" descr="Chart, line chart&#10;&#10;Description automatically generated">
            <a:extLst>
              <a:ext uri="{FF2B5EF4-FFF2-40B4-BE49-F238E27FC236}">
                <a16:creationId xmlns:a16="http://schemas.microsoft.com/office/drawing/2014/main" id="{1B57C8F3-F7D8-314F-B3E3-D24AEA1355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6100" y="1479550"/>
            <a:ext cx="8051800" cy="3898900"/>
          </a:xfrm>
          <a:prstGeom prst="rect">
            <a:avLst/>
          </a:prstGeom>
        </p:spPr>
      </p:pic>
    </p:spTree>
    <p:extLst>
      <p:ext uri="{BB962C8B-B14F-4D97-AF65-F5344CB8AC3E}">
        <p14:creationId xmlns:p14="http://schemas.microsoft.com/office/powerpoint/2010/main" val="31039031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547664" y="404664"/>
            <a:ext cx="5739505" cy="917864"/>
          </a:xfrm>
          <a:prstGeom prst="rect">
            <a:avLst/>
          </a:prstGeom>
        </p:spPr>
        <p:txBody>
          <a:bodyPr vert="horz" lIns="91440" tIns="45720" rIns="91440" bIns="45720" rtlCol="0" anchor="ctr">
            <a:noAutofit/>
          </a:bodyPr>
          <a:lstStyle/>
          <a:p>
            <a:pPr lvl="0" algn="ctr">
              <a:spcBef>
                <a:spcPct val="0"/>
              </a:spcBef>
              <a:defRPr/>
            </a:pPr>
            <a:r>
              <a:rPr lang="en-US" sz="3600" b="1" dirty="0">
                <a:solidFill>
                  <a:srgbClr val="008000"/>
                </a:solidFill>
                <a:latin typeface="+mj-lt"/>
                <a:ea typeface="+mj-ea"/>
                <a:cs typeface="+mj-cs"/>
              </a:rPr>
              <a:t>Mass customization</a:t>
            </a:r>
            <a:endParaRPr lang="en-GB" sz="3600" b="1" dirty="0">
              <a:solidFill>
                <a:srgbClr val="008000"/>
              </a:solidFill>
              <a:latin typeface="+mj-lt"/>
              <a:ea typeface="+mj-ea"/>
              <a:cs typeface="+mj-cs"/>
            </a:endParaRPr>
          </a:p>
        </p:txBody>
      </p:sp>
      <p:sp>
        <p:nvSpPr>
          <p:cNvPr id="9" name="Rectangle 8"/>
          <p:cNvSpPr/>
          <p:nvPr/>
        </p:nvSpPr>
        <p:spPr>
          <a:xfrm>
            <a:off x="458166" y="6117708"/>
            <a:ext cx="8070776" cy="353943"/>
          </a:xfrm>
          <a:prstGeom prst="rect">
            <a:avLst/>
          </a:prstGeom>
          <a:solidFill>
            <a:schemeClr val="bg1"/>
          </a:solidFill>
        </p:spPr>
        <p:txBody>
          <a:bodyPr wrap="square">
            <a:spAutoFit/>
          </a:bodyPr>
          <a:lstStyle/>
          <a:p>
            <a:pPr algn="ctr"/>
            <a:r>
              <a:rPr lang="en-US" sz="1700" dirty="0"/>
              <a:t>Table 6.1 of the book </a:t>
            </a:r>
            <a:r>
              <a:rPr lang="en-GB" sz="1700" dirty="0"/>
              <a:t>summarises </a:t>
            </a:r>
            <a:r>
              <a:rPr lang="en-US" sz="1600" dirty="0"/>
              <a:t>options in customization (after </a:t>
            </a:r>
            <a:r>
              <a:rPr lang="en-US" sz="1600" dirty="0" err="1"/>
              <a:t>Mintzberg</a:t>
            </a:r>
            <a:r>
              <a:rPr lang="en-US" sz="1600" dirty="0"/>
              <a:t> and </a:t>
            </a:r>
            <a:r>
              <a:rPr lang="en-US" sz="1600" dirty="0" err="1"/>
              <a:t>Lampel</a:t>
            </a:r>
            <a:r>
              <a:rPr lang="en-US" sz="1600" dirty="0"/>
              <a:t>)</a:t>
            </a:r>
            <a:r>
              <a:rPr lang="en-GB" sz="1600" dirty="0"/>
              <a:t> </a:t>
            </a:r>
            <a:endParaRPr lang="en-US" sz="1700" dirty="0">
              <a:solidFill>
                <a:srgbClr val="FF0000"/>
              </a:solidFill>
            </a:endParaRPr>
          </a:p>
        </p:txBody>
      </p:sp>
      <p:graphicFrame>
        <p:nvGraphicFramePr>
          <p:cNvPr id="35844" name="Object 4"/>
          <p:cNvGraphicFramePr>
            <a:graphicFrameLocks noChangeAspect="1"/>
          </p:cNvGraphicFramePr>
          <p:nvPr/>
        </p:nvGraphicFramePr>
        <p:xfrm>
          <a:off x="635042" y="2039236"/>
          <a:ext cx="7718208" cy="3370235"/>
        </p:xfrm>
        <a:graphic>
          <a:graphicData uri="http://schemas.openxmlformats.org/presentationml/2006/ole">
            <mc:AlternateContent xmlns:mc="http://schemas.openxmlformats.org/markup-compatibility/2006">
              <mc:Choice xmlns:v="urn:schemas-microsoft-com:vml" Requires="v">
                <p:oleObj name="Document" r:id="rId2" imgW="22501587" imgH="8025397" progId="Word.Document.12">
                  <p:link updateAutomatic="1"/>
                </p:oleObj>
              </mc:Choice>
              <mc:Fallback>
                <p:oleObj name="Document" r:id="rId2" imgW="22501587" imgH="8025397" progId="Word.Document.12">
                  <p:link updateAutomatic="1"/>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5042" y="2039236"/>
                        <a:ext cx="7718208" cy="337023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9239048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835696" y="332656"/>
            <a:ext cx="5739505" cy="917864"/>
          </a:xfrm>
          <a:prstGeom prst="rect">
            <a:avLst/>
          </a:prstGeom>
        </p:spPr>
        <p:txBody>
          <a:bodyPr vert="horz" lIns="91440" tIns="45720" rIns="91440" bIns="45720" rtlCol="0" anchor="ctr">
            <a:noAutofit/>
          </a:bodyPr>
          <a:lstStyle/>
          <a:p>
            <a:pPr lvl="0" algn="ctr">
              <a:spcBef>
                <a:spcPct val="0"/>
              </a:spcBef>
              <a:defRPr/>
            </a:pPr>
            <a:r>
              <a:rPr lang="en-US" sz="3600" b="1" dirty="0">
                <a:solidFill>
                  <a:srgbClr val="008000"/>
                </a:solidFill>
                <a:latin typeface="+mj-lt"/>
                <a:ea typeface="+mj-ea"/>
                <a:cs typeface="+mj-cs"/>
              </a:rPr>
              <a:t>Mass customization (continued)</a:t>
            </a:r>
            <a:endParaRPr lang="en-GB" sz="3600" b="1" dirty="0">
              <a:solidFill>
                <a:srgbClr val="008000"/>
              </a:solidFill>
              <a:latin typeface="+mj-lt"/>
              <a:ea typeface="+mj-ea"/>
              <a:cs typeface="+mj-cs"/>
            </a:endParaRPr>
          </a:p>
        </p:txBody>
      </p:sp>
      <p:graphicFrame>
        <p:nvGraphicFramePr>
          <p:cNvPr id="36868" name="Object 4"/>
          <p:cNvGraphicFramePr>
            <a:graphicFrameLocks noChangeAspect="1"/>
          </p:cNvGraphicFramePr>
          <p:nvPr/>
        </p:nvGraphicFramePr>
        <p:xfrm>
          <a:off x="458788" y="1843088"/>
          <a:ext cx="8034337" cy="3957637"/>
        </p:xfrm>
        <a:graphic>
          <a:graphicData uri="http://schemas.openxmlformats.org/presentationml/2006/ole">
            <mc:AlternateContent xmlns:mc="http://schemas.openxmlformats.org/markup-compatibility/2006">
              <mc:Choice xmlns:v="urn:schemas-microsoft-com:vml" Requires="v">
                <p:oleObj name="Document" r:id="rId2" imgW="22501587" imgH="8634921" progId="Word.Document.12">
                  <p:link updateAutomatic="1"/>
                </p:oleObj>
              </mc:Choice>
              <mc:Fallback>
                <p:oleObj name="Document" r:id="rId2" imgW="22501587" imgH="8634921" progId="Word.Document.12">
                  <p:link updateAutomatic="1"/>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8788" y="1843088"/>
                        <a:ext cx="8034337" cy="3957637"/>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6602331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475656" y="332656"/>
            <a:ext cx="5739505" cy="917864"/>
          </a:xfrm>
          <a:prstGeom prst="rect">
            <a:avLst/>
          </a:prstGeom>
        </p:spPr>
        <p:txBody>
          <a:bodyPr vert="horz" lIns="91440" tIns="45720" rIns="91440" bIns="45720" rtlCol="0" anchor="ctr">
            <a:noAutofit/>
          </a:bodyPr>
          <a:lstStyle/>
          <a:p>
            <a:pPr lvl="0" algn="ctr">
              <a:spcBef>
                <a:spcPct val="0"/>
              </a:spcBef>
              <a:defRPr/>
            </a:pPr>
            <a:r>
              <a:rPr lang="en-US" sz="3600" b="1" dirty="0">
                <a:solidFill>
                  <a:srgbClr val="008000"/>
                </a:solidFill>
                <a:latin typeface="+mj-lt"/>
                <a:ea typeface="+mj-ea"/>
                <a:cs typeface="+mj-cs"/>
              </a:rPr>
              <a:t>Mass customization (continued)</a:t>
            </a:r>
            <a:endParaRPr lang="en-GB" sz="3600" b="1" dirty="0">
              <a:solidFill>
                <a:srgbClr val="008000"/>
              </a:solidFill>
              <a:latin typeface="+mj-lt"/>
              <a:ea typeface="+mj-ea"/>
              <a:cs typeface="+mj-cs"/>
            </a:endParaRPr>
          </a:p>
        </p:txBody>
      </p:sp>
      <p:graphicFrame>
        <p:nvGraphicFramePr>
          <p:cNvPr id="37892" name="Object 4"/>
          <p:cNvGraphicFramePr>
            <a:graphicFrameLocks noChangeAspect="1"/>
          </p:cNvGraphicFramePr>
          <p:nvPr/>
        </p:nvGraphicFramePr>
        <p:xfrm>
          <a:off x="458788" y="1885950"/>
          <a:ext cx="8248650" cy="4732338"/>
        </p:xfrm>
        <a:graphic>
          <a:graphicData uri="http://schemas.openxmlformats.org/presentationml/2006/ole">
            <mc:AlternateContent xmlns:mc="http://schemas.openxmlformats.org/markup-compatibility/2006">
              <mc:Choice xmlns:v="urn:schemas-microsoft-com:vml" Requires="v">
                <p:oleObj name="Document" r:id="rId2" imgW="22501587" imgH="12342857" progId="Word.Document.12">
                  <p:link updateAutomatic="1"/>
                </p:oleObj>
              </mc:Choice>
              <mc:Fallback>
                <p:oleObj name="Document" r:id="rId2" imgW="22501587" imgH="12342857" progId="Word.Document.12">
                  <p:link updateAutomatic="1"/>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8788" y="1885950"/>
                        <a:ext cx="8248650" cy="4732338"/>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9575774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361564" y="332094"/>
            <a:ext cx="5739505" cy="917864"/>
          </a:xfrm>
          <a:prstGeom prst="rect">
            <a:avLst/>
          </a:prstGeom>
        </p:spPr>
        <p:txBody>
          <a:bodyPr vert="horz" lIns="91440" tIns="45720" rIns="91440" bIns="45720" rtlCol="0" anchor="ctr">
            <a:noAutofit/>
          </a:bodyPr>
          <a:lstStyle/>
          <a:p>
            <a:pPr lvl="0" algn="ctr">
              <a:spcBef>
                <a:spcPct val="0"/>
              </a:spcBef>
              <a:defRPr/>
            </a:pPr>
            <a:r>
              <a:rPr lang="en-US" sz="3600" b="1" dirty="0">
                <a:solidFill>
                  <a:srgbClr val="008000"/>
                </a:solidFill>
                <a:latin typeface="+mj-lt"/>
                <a:ea typeface="+mj-ea"/>
                <a:cs typeface="+mj-cs"/>
              </a:rPr>
              <a:t>Mass customization (continued)</a:t>
            </a:r>
            <a:endParaRPr lang="en-GB" sz="3600" b="1" dirty="0">
              <a:solidFill>
                <a:srgbClr val="008000"/>
              </a:solidFill>
              <a:latin typeface="+mj-lt"/>
              <a:ea typeface="+mj-ea"/>
              <a:cs typeface="+mj-cs"/>
            </a:endParaRPr>
          </a:p>
        </p:txBody>
      </p:sp>
      <p:graphicFrame>
        <p:nvGraphicFramePr>
          <p:cNvPr id="38918" name="Object 6"/>
          <p:cNvGraphicFramePr>
            <a:graphicFrameLocks noChangeAspect="1"/>
          </p:cNvGraphicFramePr>
          <p:nvPr>
            <p:extLst>
              <p:ext uri="{D42A27DB-BD31-4B8C-83A1-F6EECF244321}">
                <p14:modId xmlns:p14="http://schemas.microsoft.com/office/powerpoint/2010/main" val="3062049626"/>
              </p:ext>
            </p:extLst>
          </p:nvPr>
        </p:nvGraphicFramePr>
        <p:xfrm>
          <a:off x="458166" y="1809749"/>
          <a:ext cx="8481061" cy="4881875"/>
        </p:xfrm>
        <a:graphic>
          <a:graphicData uri="http://schemas.openxmlformats.org/presentationml/2006/ole">
            <mc:AlternateContent xmlns:mc="http://schemas.openxmlformats.org/markup-compatibility/2006">
              <mc:Choice xmlns:v="urn:schemas-microsoft-com:vml" Requires="v">
                <p:oleObj name="Document" r:id="rId2" imgW="22501587" imgH="12952381" progId="Word.Document.12">
                  <p:link updateAutomatic="1"/>
                </p:oleObj>
              </mc:Choice>
              <mc:Fallback>
                <p:oleObj name="Document" r:id="rId2" imgW="22501587" imgH="12952381" progId="Word.Document.12">
                  <p:link updateAutomatic="1"/>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8166" y="1809749"/>
                        <a:ext cx="8481061" cy="488187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3446110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361564" y="332094"/>
            <a:ext cx="5739505"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Design driven innovation</a:t>
            </a:r>
            <a:endParaRPr lang="en-GB" sz="3600" b="1" dirty="0">
              <a:solidFill>
                <a:srgbClr val="008000"/>
              </a:solidFill>
              <a:latin typeface="+mj-lt"/>
              <a:ea typeface="+mj-ea"/>
              <a:cs typeface="+mj-cs"/>
            </a:endParaRPr>
          </a:p>
        </p:txBody>
      </p:sp>
      <p:sp>
        <p:nvSpPr>
          <p:cNvPr id="9" name="Rectangle 8"/>
          <p:cNvSpPr/>
          <p:nvPr/>
        </p:nvSpPr>
        <p:spPr>
          <a:xfrm>
            <a:off x="-1" y="6227607"/>
            <a:ext cx="8936183" cy="353943"/>
          </a:xfrm>
          <a:prstGeom prst="rect">
            <a:avLst/>
          </a:prstGeom>
          <a:solidFill>
            <a:schemeClr val="bg1"/>
          </a:solidFill>
        </p:spPr>
        <p:txBody>
          <a:bodyPr wrap="square">
            <a:spAutoFit/>
          </a:bodyPr>
          <a:lstStyle/>
          <a:p>
            <a:pPr algn="ctr"/>
            <a:r>
              <a:rPr lang="en-GB" sz="1700" dirty="0"/>
              <a:t>Source: Based on R. </a:t>
            </a:r>
            <a:r>
              <a:rPr lang="en-GB" sz="1700" dirty="0" err="1"/>
              <a:t>Verganti</a:t>
            </a:r>
            <a:r>
              <a:rPr lang="en-GB" sz="1700" dirty="0"/>
              <a:t> (2009) Design-Driven Innovation. Harvard Business School Press</a:t>
            </a:r>
            <a:endParaRPr lang="en-US" sz="1700" dirty="0"/>
          </a:p>
        </p:txBody>
      </p:sp>
      <p:grpSp>
        <p:nvGrpSpPr>
          <p:cNvPr id="2" name="Group 11"/>
          <p:cNvGrpSpPr/>
          <p:nvPr/>
        </p:nvGrpSpPr>
        <p:grpSpPr>
          <a:xfrm>
            <a:off x="1424039" y="1740641"/>
            <a:ext cx="6578650" cy="4349585"/>
            <a:chOff x="0" y="1407209"/>
            <a:chExt cx="6861378" cy="4828787"/>
          </a:xfrm>
        </p:grpSpPr>
        <p:cxnSp>
          <p:nvCxnSpPr>
            <p:cNvPr id="13" name="Straight Arrow Connector 12"/>
            <p:cNvCxnSpPr/>
            <p:nvPr/>
          </p:nvCxnSpPr>
          <p:spPr>
            <a:xfrm rot="16200000" flipV="1">
              <a:off x="-385887" y="3303508"/>
              <a:ext cx="3809762" cy="1716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4" name="Straight Arrow Connector 13"/>
            <p:cNvCxnSpPr/>
            <p:nvPr/>
          </p:nvCxnSpPr>
          <p:spPr>
            <a:xfrm>
              <a:off x="1527577" y="5216971"/>
              <a:ext cx="4805855"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328737" y="5860143"/>
              <a:ext cx="1011628" cy="375853"/>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dirty="0"/>
                <a:t>Meaning</a:t>
              </a:r>
            </a:p>
          </p:txBody>
        </p:sp>
        <p:sp>
          <p:nvSpPr>
            <p:cNvPr id="16" name="TextBox 15"/>
            <p:cNvSpPr txBox="1"/>
            <p:nvPr/>
          </p:nvSpPr>
          <p:spPr>
            <a:xfrm>
              <a:off x="0" y="2806207"/>
              <a:ext cx="1241220" cy="375853"/>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dirty="0"/>
                <a:t>Technology</a:t>
              </a:r>
            </a:p>
          </p:txBody>
        </p:sp>
        <p:sp>
          <p:nvSpPr>
            <p:cNvPr id="17" name="TextBox 16"/>
            <p:cNvSpPr txBox="1"/>
            <p:nvPr/>
          </p:nvSpPr>
          <p:spPr>
            <a:xfrm>
              <a:off x="199986" y="4572228"/>
              <a:ext cx="1310425" cy="649202"/>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dirty="0"/>
                <a:t>Incremental </a:t>
              </a:r>
            </a:p>
            <a:p>
              <a:r>
                <a:rPr lang="en-US" sz="1600" dirty="0"/>
                <a:t>change</a:t>
              </a:r>
            </a:p>
          </p:txBody>
        </p:sp>
        <p:sp>
          <p:nvSpPr>
            <p:cNvPr id="18" name="TextBox 17"/>
            <p:cNvSpPr txBox="1"/>
            <p:nvPr/>
          </p:nvSpPr>
          <p:spPr>
            <a:xfrm>
              <a:off x="269192" y="1407209"/>
              <a:ext cx="854056" cy="649202"/>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dirty="0"/>
                <a:t>Radical</a:t>
              </a:r>
            </a:p>
            <a:p>
              <a:r>
                <a:rPr lang="en-US" sz="1600" dirty="0"/>
                <a:t>change</a:t>
              </a:r>
            </a:p>
          </p:txBody>
        </p:sp>
        <p:sp>
          <p:nvSpPr>
            <p:cNvPr id="19" name="TextBox 18"/>
            <p:cNvSpPr txBox="1"/>
            <p:nvPr/>
          </p:nvSpPr>
          <p:spPr>
            <a:xfrm>
              <a:off x="5479375" y="5218559"/>
              <a:ext cx="854056" cy="649202"/>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dirty="0"/>
                <a:t>Radical</a:t>
              </a:r>
            </a:p>
            <a:p>
              <a:r>
                <a:rPr lang="en-US" sz="1600" dirty="0"/>
                <a:t>change</a:t>
              </a:r>
            </a:p>
          </p:txBody>
        </p:sp>
        <p:sp>
          <p:nvSpPr>
            <p:cNvPr id="20" name="TextBox 19"/>
            <p:cNvSpPr txBox="1"/>
            <p:nvPr/>
          </p:nvSpPr>
          <p:spPr>
            <a:xfrm>
              <a:off x="1510412" y="5218559"/>
              <a:ext cx="1310425" cy="649202"/>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dirty="0"/>
                <a:t>Incremental </a:t>
              </a:r>
            </a:p>
            <a:p>
              <a:r>
                <a:rPr lang="en-US" sz="1600" dirty="0"/>
                <a:t>change</a:t>
              </a:r>
            </a:p>
          </p:txBody>
        </p:sp>
        <p:sp>
          <p:nvSpPr>
            <p:cNvPr id="21" name="Oval 20"/>
            <p:cNvSpPr/>
            <p:nvPr/>
          </p:nvSpPr>
          <p:spPr>
            <a:xfrm>
              <a:off x="1973834" y="3535184"/>
              <a:ext cx="1750705" cy="135572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a:p>
          </p:txBody>
        </p:sp>
        <p:sp>
          <p:nvSpPr>
            <p:cNvPr id="22" name="TextBox 21"/>
            <p:cNvSpPr txBox="1"/>
            <p:nvPr/>
          </p:nvSpPr>
          <p:spPr>
            <a:xfrm>
              <a:off x="2067734" y="3925897"/>
              <a:ext cx="1506203" cy="649202"/>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dirty="0"/>
                <a:t>Market pull</a:t>
              </a:r>
            </a:p>
            <a:p>
              <a:r>
                <a:rPr lang="en-US" sz="1600" dirty="0"/>
                <a:t>(user centred)</a:t>
              </a:r>
            </a:p>
          </p:txBody>
        </p:sp>
        <p:sp>
          <p:nvSpPr>
            <p:cNvPr id="23" name="Oval 22"/>
            <p:cNvSpPr/>
            <p:nvPr/>
          </p:nvSpPr>
          <p:spPr>
            <a:xfrm>
              <a:off x="1527577" y="1407209"/>
              <a:ext cx="4805855" cy="1768330"/>
            </a:xfrm>
            <a:prstGeom prst="ellipse">
              <a:avLst/>
            </a:prstGeom>
            <a:solidFill>
              <a:schemeClr val="accent3">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sz="1600" dirty="0">
                  <a:solidFill>
                    <a:schemeClr val="tx1"/>
                  </a:solidFill>
                </a:rPr>
                <a:t>Technology push</a:t>
              </a:r>
            </a:p>
          </p:txBody>
        </p:sp>
        <p:sp>
          <p:nvSpPr>
            <p:cNvPr id="24" name="Oval 23"/>
            <p:cNvSpPr/>
            <p:nvPr/>
          </p:nvSpPr>
          <p:spPr>
            <a:xfrm>
              <a:off x="4818889" y="1408797"/>
              <a:ext cx="2042489" cy="3809762"/>
            </a:xfrm>
            <a:prstGeom prst="ellipse">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a:p>
          </p:txBody>
        </p:sp>
        <p:sp>
          <p:nvSpPr>
            <p:cNvPr id="25" name="TextBox 24"/>
            <p:cNvSpPr txBox="1"/>
            <p:nvPr/>
          </p:nvSpPr>
          <p:spPr>
            <a:xfrm>
              <a:off x="5170427" y="2990873"/>
              <a:ext cx="1478252" cy="375853"/>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dirty="0"/>
                <a:t>Design-driven</a:t>
              </a:r>
            </a:p>
          </p:txBody>
        </p:sp>
      </p:grpSp>
    </p:spTree>
    <p:extLst>
      <p:ext uri="{BB962C8B-B14F-4D97-AF65-F5344CB8AC3E}">
        <p14:creationId xmlns:p14="http://schemas.microsoft.com/office/powerpoint/2010/main" val="23320285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DCC231C8-C761-4B31-9B1C-C6D19248C6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86F030C-AEB8-4B45-A628-1A24EDB88EB2}"/>
              </a:ext>
            </a:extLst>
          </p:cNvPr>
          <p:cNvSpPr>
            <a:spLocks noGrp="1"/>
          </p:cNvSpPr>
          <p:nvPr>
            <p:ph type="title"/>
          </p:nvPr>
        </p:nvSpPr>
        <p:spPr>
          <a:xfrm>
            <a:off x="628650" y="557189"/>
            <a:ext cx="2530602" cy="5567891"/>
          </a:xfrm>
        </p:spPr>
        <p:txBody>
          <a:bodyPr>
            <a:normAutofit/>
          </a:bodyPr>
          <a:lstStyle/>
          <a:p>
            <a:r>
              <a:rPr lang="en-US" sz="4500"/>
              <a:t>Summary</a:t>
            </a:r>
          </a:p>
        </p:txBody>
      </p:sp>
      <p:graphicFrame>
        <p:nvGraphicFramePr>
          <p:cNvPr id="5" name="Content Placeholder 2">
            <a:extLst>
              <a:ext uri="{FF2B5EF4-FFF2-40B4-BE49-F238E27FC236}">
                <a16:creationId xmlns:a16="http://schemas.microsoft.com/office/drawing/2014/main" id="{A7D2211F-BD05-4507-BB17-878A4AB1595D}"/>
              </a:ext>
            </a:extLst>
          </p:cNvPr>
          <p:cNvGraphicFramePr>
            <a:graphicFrameLocks noGrp="1"/>
          </p:cNvGraphicFramePr>
          <p:nvPr>
            <p:ph idx="1"/>
            <p:extLst>
              <p:ext uri="{D42A27DB-BD31-4B8C-83A1-F6EECF244321}">
                <p14:modId xmlns:p14="http://schemas.microsoft.com/office/powerpoint/2010/main" val="2427987298"/>
              </p:ext>
            </p:extLst>
          </p:nvPr>
        </p:nvGraphicFramePr>
        <p:xfrm>
          <a:off x="3819906" y="620392"/>
          <a:ext cx="4697730"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451941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CC231C8-C761-4B31-9B1C-C6D19248C6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4A57F7-532C-6148-9447-9636DC721D06}"/>
              </a:ext>
            </a:extLst>
          </p:cNvPr>
          <p:cNvSpPr>
            <a:spLocks noGrp="1"/>
          </p:cNvSpPr>
          <p:nvPr>
            <p:ph type="title"/>
          </p:nvPr>
        </p:nvSpPr>
        <p:spPr>
          <a:xfrm>
            <a:off x="628650" y="557189"/>
            <a:ext cx="2530602" cy="5567891"/>
          </a:xfrm>
        </p:spPr>
        <p:txBody>
          <a:bodyPr>
            <a:normAutofit/>
          </a:bodyPr>
          <a:lstStyle/>
          <a:p>
            <a:r>
              <a:rPr lang="en-US" sz="4500"/>
              <a:t>Summary</a:t>
            </a:r>
          </a:p>
        </p:txBody>
      </p:sp>
      <p:graphicFrame>
        <p:nvGraphicFramePr>
          <p:cNvPr id="5" name="Content Placeholder 2">
            <a:extLst>
              <a:ext uri="{FF2B5EF4-FFF2-40B4-BE49-F238E27FC236}">
                <a16:creationId xmlns:a16="http://schemas.microsoft.com/office/drawing/2014/main" id="{0B59D797-DA04-4434-AC75-9F671CB929E9}"/>
              </a:ext>
            </a:extLst>
          </p:cNvPr>
          <p:cNvGraphicFramePr>
            <a:graphicFrameLocks noGrp="1"/>
          </p:cNvGraphicFramePr>
          <p:nvPr>
            <p:ph idx="1"/>
            <p:extLst>
              <p:ext uri="{D42A27DB-BD31-4B8C-83A1-F6EECF244321}">
                <p14:modId xmlns:p14="http://schemas.microsoft.com/office/powerpoint/2010/main" val="2090805680"/>
              </p:ext>
            </p:extLst>
          </p:nvPr>
        </p:nvGraphicFramePr>
        <p:xfrm>
          <a:off x="3819906" y="620392"/>
          <a:ext cx="4697730"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736421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A57F7-532C-6148-9447-9636DC721D06}"/>
              </a:ext>
            </a:extLst>
          </p:cNvPr>
          <p:cNvSpPr>
            <a:spLocks noGrp="1"/>
          </p:cNvSpPr>
          <p:nvPr>
            <p:ph type="title"/>
          </p:nvPr>
        </p:nvSpPr>
        <p:spPr>
          <a:xfrm>
            <a:off x="628650" y="557189"/>
            <a:ext cx="2530602" cy="5567891"/>
          </a:xfrm>
        </p:spPr>
        <p:txBody>
          <a:bodyPr>
            <a:normAutofit/>
          </a:bodyPr>
          <a:lstStyle/>
          <a:p>
            <a:r>
              <a:rPr lang="en-US" sz="4500"/>
              <a:t>Summary</a:t>
            </a:r>
          </a:p>
        </p:txBody>
      </p:sp>
      <p:graphicFrame>
        <p:nvGraphicFramePr>
          <p:cNvPr id="5" name="Content Placeholder 2">
            <a:extLst>
              <a:ext uri="{FF2B5EF4-FFF2-40B4-BE49-F238E27FC236}">
                <a16:creationId xmlns:a16="http://schemas.microsoft.com/office/drawing/2014/main" id="{0B59D797-DA04-4434-AC75-9F671CB929E9}"/>
              </a:ext>
            </a:extLst>
          </p:cNvPr>
          <p:cNvGraphicFramePr>
            <a:graphicFrameLocks noGrp="1"/>
          </p:cNvGraphicFramePr>
          <p:nvPr>
            <p:ph idx="1"/>
            <p:extLst>
              <p:ext uri="{D42A27DB-BD31-4B8C-83A1-F6EECF244321}">
                <p14:modId xmlns:p14="http://schemas.microsoft.com/office/powerpoint/2010/main" val="1137628348"/>
              </p:ext>
            </p:extLst>
          </p:nvPr>
        </p:nvGraphicFramePr>
        <p:xfrm>
          <a:off x="3819906" y="620392"/>
          <a:ext cx="4697730"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460879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50BCDA0-42BA-42AB-8E58-A25C965D01F9}"/>
              </a:ext>
            </a:extLst>
          </p:cNvPr>
          <p:cNvPicPr>
            <a:picLocks noChangeAspect="1"/>
          </p:cNvPicPr>
          <p:nvPr/>
        </p:nvPicPr>
        <p:blipFill rotWithShape="1">
          <a:blip r:embed="rId3"/>
          <a:srcRect l="19722" r="44833" b="-1"/>
          <a:stretch/>
        </p:blipFill>
        <p:spPr>
          <a:xfrm>
            <a:off x="-5524" y="10"/>
            <a:ext cx="3641692" cy="6857990"/>
          </a:xfrm>
          <a:custGeom>
            <a:avLst/>
            <a:gdLst/>
            <a:ahLst/>
            <a:cxnLst/>
            <a:rect l="l" t="t" r="r" b="b"/>
            <a:pathLst>
              <a:path w="4636517" h="6858000">
                <a:moveTo>
                  <a:pt x="0" y="0"/>
                </a:moveTo>
                <a:lnTo>
                  <a:pt x="4636517" y="0"/>
                </a:lnTo>
                <a:lnTo>
                  <a:pt x="4636517" y="6858000"/>
                </a:lnTo>
                <a:lnTo>
                  <a:pt x="0" y="6858000"/>
                </a:lnTo>
                <a:close/>
              </a:path>
            </a:pathLst>
          </a:custGeom>
        </p:spPr>
      </p:pic>
      <p:sp>
        <p:nvSpPr>
          <p:cNvPr id="2" name="Title 1">
            <a:extLst>
              <a:ext uri="{FF2B5EF4-FFF2-40B4-BE49-F238E27FC236}">
                <a16:creationId xmlns:a16="http://schemas.microsoft.com/office/drawing/2014/main" id="{614D8143-9088-1A4A-858B-DB874C43BBC6}"/>
              </a:ext>
            </a:extLst>
          </p:cNvPr>
          <p:cNvSpPr>
            <a:spLocks noGrp="1"/>
          </p:cNvSpPr>
          <p:nvPr>
            <p:ph type="title"/>
          </p:nvPr>
        </p:nvSpPr>
        <p:spPr>
          <a:xfrm>
            <a:off x="4370286" y="407987"/>
            <a:ext cx="4291113" cy="1325563"/>
          </a:xfrm>
        </p:spPr>
        <p:txBody>
          <a:bodyPr>
            <a:normAutofit/>
          </a:bodyPr>
          <a:lstStyle/>
          <a:p>
            <a:r>
              <a:rPr lang="en-US" dirty="0"/>
              <a:t>Videos</a:t>
            </a:r>
          </a:p>
        </p:txBody>
      </p:sp>
      <p:sp>
        <p:nvSpPr>
          <p:cNvPr id="3" name="Content Placeholder 2">
            <a:extLst>
              <a:ext uri="{FF2B5EF4-FFF2-40B4-BE49-F238E27FC236}">
                <a16:creationId xmlns:a16="http://schemas.microsoft.com/office/drawing/2014/main" id="{49BFE31F-7315-164A-BF78-744336F5540D}"/>
              </a:ext>
            </a:extLst>
          </p:cNvPr>
          <p:cNvSpPr>
            <a:spLocks noGrp="1"/>
          </p:cNvSpPr>
          <p:nvPr>
            <p:ph idx="1"/>
          </p:nvPr>
        </p:nvSpPr>
        <p:spPr>
          <a:xfrm>
            <a:off x="4370286" y="1868487"/>
            <a:ext cx="4291113" cy="4351338"/>
          </a:xfrm>
        </p:spPr>
        <p:txBody>
          <a:bodyPr>
            <a:normAutofit fontScale="92500" lnSpcReduction="20000"/>
          </a:bodyPr>
          <a:lstStyle/>
          <a:p>
            <a:pPr>
              <a:lnSpc>
                <a:spcPct val="90000"/>
              </a:lnSpc>
            </a:pPr>
            <a:r>
              <a:rPr lang="en-US" sz="2700" dirty="0"/>
              <a:t>There are several videos which can help explore and present the key themes of the chapter:</a:t>
            </a:r>
          </a:p>
          <a:p>
            <a:pPr>
              <a:lnSpc>
                <a:spcPct val="90000"/>
              </a:lnSpc>
            </a:pPr>
            <a:r>
              <a:rPr lang="en-US" sz="2700" dirty="0">
                <a:hlinkClick r:id="rId4"/>
              </a:rPr>
              <a:t>knowledge push</a:t>
            </a:r>
            <a:r>
              <a:rPr lang="en-US" sz="2700" dirty="0"/>
              <a:t> and </a:t>
            </a:r>
            <a:r>
              <a:rPr lang="en-US" sz="2700" dirty="0">
                <a:hlinkClick r:id="rId5"/>
              </a:rPr>
              <a:t>need pull </a:t>
            </a:r>
            <a:r>
              <a:rPr lang="en-US" sz="2700" dirty="0"/>
              <a:t>as sources of innovation</a:t>
            </a:r>
          </a:p>
          <a:p>
            <a:pPr>
              <a:lnSpc>
                <a:spcPct val="90000"/>
              </a:lnSpc>
            </a:pPr>
            <a:r>
              <a:rPr lang="en-US" sz="2700" dirty="0"/>
              <a:t>examples of </a:t>
            </a:r>
            <a:r>
              <a:rPr lang="en-US" sz="2700" dirty="0">
                <a:hlinkClick r:id="rId6"/>
              </a:rPr>
              <a:t>knowledge push innovation</a:t>
            </a:r>
            <a:endParaRPr lang="en-US" sz="2700" dirty="0"/>
          </a:p>
          <a:p>
            <a:r>
              <a:rPr lang="en-GB" sz="2800" dirty="0"/>
              <a:t>different kinds of need pull innovation:</a:t>
            </a:r>
          </a:p>
          <a:p>
            <a:r>
              <a:rPr lang="en-GB" sz="2800" dirty="0">
                <a:hlinkClick r:id="rId7"/>
              </a:rPr>
              <a:t>Incremental improvement</a:t>
            </a:r>
            <a:endParaRPr lang="en-GB" sz="2800" dirty="0"/>
          </a:p>
          <a:p>
            <a:r>
              <a:rPr lang="en-GB" sz="2800" dirty="0">
                <a:hlinkClick r:id="rId8"/>
              </a:rPr>
              <a:t>Radical innovation</a:t>
            </a:r>
            <a:endParaRPr lang="en-GB" sz="2800" dirty="0"/>
          </a:p>
          <a:p>
            <a:r>
              <a:rPr lang="en-GB" sz="2800" dirty="0">
                <a:hlinkClick r:id="rId9"/>
              </a:rPr>
              <a:t>Disruptive innovation</a:t>
            </a:r>
            <a:endParaRPr lang="en-GB" sz="2800" dirty="0"/>
          </a:p>
          <a:p>
            <a:pPr>
              <a:lnSpc>
                <a:spcPct val="90000"/>
              </a:lnSpc>
            </a:pPr>
            <a:endParaRPr lang="en-US" sz="2700" dirty="0"/>
          </a:p>
        </p:txBody>
      </p:sp>
    </p:spTree>
    <p:extLst>
      <p:ext uri="{BB962C8B-B14F-4D97-AF65-F5344CB8AC3E}">
        <p14:creationId xmlns:p14="http://schemas.microsoft.com/office/powerpoint/2010/main" val="28645404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8750925-9005-F54C-AC83-06A6E782831A}"/>
              </a:ext>
            </a:extLst>
          </p:cNvPr>
          <p:cNvSpPr>
            <a:spLocks noGrp="1"/>
          </p:cNvSpPr>
          <p:nvPr>
            <p:ph type="title"/>
          </p:nvPr>
        </p:nvSpPr>
        <p:spPr>
          <a:xfrm>
            <a:off x="515125" y="1153572"/>
            <a:ext cx="2400300" cy="4461163"/>
          </a:xfrm>
        </p:spPr>
        <p:txBody>
          <a:bodyPr>
            <a:normAutofit/>
          </a:bodyPr>
          <a:lstStyle/>
          <a:p>
            <a:r>
              <a:rPr lang="en-US">
                <a:solidFill>
                  <a:srgbClr val="FFFFFF"/>
                </a:solidFill>
              </a:rPr>
              <a:t>Videos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A0A17BA9-D4BA-904D-B1FE-EC57E717E1D6}"/>
              </a:ext>
            </a:extLst>
          </p:cNvPr>
          <p:cNvSpPr>
            <a:spLocks noGrp="1"/>
          </p:cNvSpPr>
          <p:nvPr>
            <p:ph idx="1"/>
          </p:nvPr>
        </p:nvSpPr>
        <p:spPr>
          <a:xfrm>
            <a:off x="3335481" y="591344"/>
            <a:ext cx="5179868" cy="5585619"/>
          </a:xfrm>
        </p:spPr>
        <p:txBody>
          <a:bodyPr anchor="ctr">
            <a:normAutofit fontScale="62500" lnSpcReduction="20000"/>
          </a:bodyPr>
          <a:lstStyle/>
          <a:p>
            <a:pPr marL="0" indent="0">
              <a:lnSpc>
                <a:spcPct val="90000"/>
              </a:lnSpc>
              <a:buNone/>
            </a:pPr>
            <a:r>
              <a:rPr lang="en-GB" dirty="0"/>
              <a:t>Other films which explore in more detail:</a:t>
            </a:r>
          </a:p>
          <a:p>
            <a:pPr marL="0" indent="0">
              <a:lnSpc>
                <a:spcPct val="90000"/>
              </a:lnSpc>
              <a:buNone/>
            </a:pPr>
            <a:endParaRPr lang="en-GB" dirty="0"/>
          </a:p>
          <a:p>
            <a:pPr>
              <a:lnSpc>
                <a:spcPct val="90000"/>
              </a:lnSpc>
            </a:pPr>
            <a:r>
              <a:rPr lang="en-GB" dirty="0">
                <a:hlinkClick r:id="rId2"/>
              </a:rPr>
              <a:t>User-led innovation (part 1)</a:t>
            </a:r>
            <a:endParaRPr lang="en-GB" dirty="0"/>
          </a:p>
          <a:p>
            <a:pPr>
              <a:lnSpc>
                <a:spcPct val="90000"/>
              </a:lnSpc>
            </a:pPr>
            <a:r>
              <a:rPr lang="en-GB" dirty="0">
                <a:hlinkClick r:id="rId3"/>
              </a:rPr>
              <a:t>User led innovation part 2</a:t>
            </a:r>
            <a:endParaRPr lang="en-GB" dirty="0"/>
          </a:p>
          <a:p>
            <a:r>
              <a:rPr lang="en-GB" dirty="0"/>
              <a:t>Interview with Pedro Oliveira talking about the </a:t>
            </a:r>
            <a:r>
              <a:rPr lang="en-GB" dirty="0">
                <a:hlinkClick r:id="rId4"/>
              </a:rPr>
              <a:t>Patient Innovation platform</a:t>
            </a:r>
            <a:r>
              <a:rPr lang="en-GB" dirty="0"/>
              <a:t>, a way of mobilizing user innovators in the healthcare space</a:t>
            </a:r>
          </a:p>
          <a:p>
            <a:pPr>
              <a:lnSpc>
                <a:spcPct val="90000"/>
              </a:lnSpc>
            </a:pPr>
            <a:r>
              <a:rPr lang="en-GB" dirty="0">
                <a:hlinkClick r:id="rId5"/>
              </a:rPr>
              <a:t>Mandy Haberman talking about user innovation</a:t>
            </a:r>
            <a:endParaRPr lang="en-GB" dirty="0"/>
          </a:p>
          <a:p>
            <a:pPr>
              <a:lnSpc>
                <a:spcPct val="90000"/>
              </a:lnSpc>
            </a:pPr>
            <a:r>
              <a:rPr lang="en-GB" dirty="0">
                <a:hlinkClick r:id="rId6"/>
              </a:rPr>
              <a:t>Interview with </a:t>
            </a:r>
            <a:r>
              <a:rPr lang="en-GB" dirty="0" err="1">
                <a:hlinkClick r:id="rId6"/>
              </a:rPr>
              <a:t>Helle-Vibeke</a:t>
            </a:r>
            <a:r>
              <a:rPr lang="en-GB" dirty="0">
                <a:hlinkClick r:id="rId6"/>
              </a:rPr>
              <a:t> Carstensen talking about innovation search in the public sector </a:t>
            </a:r>
            <a:endParaRPr lang="en-GB" dirty="0"/>
          </a:p>
          <a:p>
            <a:r>
              <a:rPr lang="en-GB" dirty="0">
                <a:hlinkClick r:id="rId7"/>
              </a:rPr>
              <a:t>Hugh Chapman, Managing Director of Veeder Root </a:t>
            </a:r>
            <a:r>
              <a:rPr lang="en-GB" dirty="0"/>
              <a:t>on continuous improvement</a:t>
            </a:r>
          </a:p>
          <a:p>
            <a:pPr>
              <a:lnSpc>
                <a:spcPct val="90000"/>
              </a:lnSpc>
            </a:pPr>
            <a:r>
              <a:rPr lang="en-GB" dirty="0">
                <a:hlinkClick r:id="rId8"/>
              </a:rPr>
              <a:t>Finding innovation opportunities in healthcare settings </a:t>
            </a:r>
            <a:endParaRPr lang="en-GB" dirty="0"/>
          </a:p>
          <a:p>
            <a:pPr>
              <a:lnSpc>
                <a:spcPct val="90000"/>
              </a:lnSpc>
            </a:pPr>
            <a:r>
              <a:rPr lang="en-GB" dirty="0">
                <a:hlinkClick r:id="rId9"/>
              </a:rPr>
              <a:t>Emma Taylor and employee innovation</a:t>
            </a:r>
            <a:endParaRPr lang="en-GB" dirty="0"/>
          </a:p>
          <a:p>
            <a:pPr>
              <a:lnSpc>
                <a:spcPct val="90000"/>
              </a:lnSpc>
            </a:pPr>
            <a:r>
              <a:rPr lang="en-GB" dirty="0">
                <a:hlinkClick r:id="rId10"/>
              </a:rPr>
              <a:t>The birth of bike</a:t>
            </a:r>
            <a:endParaRPr lang="en-GB" dirty="0"/>
          </a:p>
          <a:p>
            <a:pPr>
              <a:lnSpc>
                <a:spcPct val="90000"/>
              </a:lnSpc>
            </a:pPr>
            <a:r>
              <a:rPr lang="en-GB" dirty="0">
                <a:hlinkClick r:id="rId11"/>
              </a:rPr>
              <a:t>The birth of mp3</a:t>
            </a:r>
            <a:endParaRPr lang="en-GB" dirty="0"/>
          </a:p>
          <a:p>
            <a:pPr>
              <a:lnSpc>
                <a:spcPct val="90000"/>
              </a:lnSpc>
            </a:pPr>
            <a:r>
              <a:rPr lang="en-GB" dirty="0">
                <a:hlinkClick r:id="rId12"/>
              </a:rPr>
              <a:t>Sweeping the floor with innovation</a:t>
            </a:r>
            <a:endParaRPr lang="en-GB" dirty="0"/>
          </a:p>
        </p:txBody>
      </p:sp>
    </p:spTree>
    <p:extLst>
      <p:ext uri="{BB962C8B-B14F-4D97-AF65-F5344CB8AC3E}">
        <p14:creationId xmlns:p14="http://schemas.microsoft.com/office/powerpoint/2010/main" val="39691966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0E0FB91-2B42-1645-95E3-EBF4EC9B89D4}"/>
              </a:ext>
            </a:extLst>
          </p:cNvPr>
          <p:cNvSpPr>
            <a:spLocks noGrp="1"/>
          </p:cNvSpPr>
          <p:nvPr>
            <p:ph type="title"/>
          </p:nvPr>
        </p:nvSpPr>
        <p:spPr>
          <a:xfrm>
            <a:off x="515125" y="1153572"/>
            <a:ext cx="2400300" cy="4461163"/>
          </a:xfrm>
        </p:spPr>
        <p:txBody>
          <a:bodyPr>
            <a:normAutofit/>
          </a:bodyPr>
          <a:lstStyle/>
          <a:p>
            <a:r>
              <a:rPr lang="en-US" dirty="0">
                <a:solidFill>
                  <a:srgbClr val="FFFFFF"/>
                </a:solidFill>
              </a:rPr>
              <a:t>Videos and audio</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9C7113FE-DC7C-B045-A859-BE6FF5970A0D}"/>
              </a:ext>
            </a:extLst>
          </p:cNvPr>
          <p:cNvSpPr>
            <a:spLocks noGrp="1"/>
          </p:cNvSpPr>
          <p:nvPr>
            <p:ph idx="1"/>
          </p:nvPr>
        </p:nvSpPr>
        <p:spPr>
          <a:xfrm>
            <a:off x="3335481" y="591344"/>
            <a:ext cx="5179868" cy="5585619"/>
          </a:xfrm>
        </p:spPr>
        <p:txBody>
          <a:bodyPr anchor="ctr">
            <a:normAutofit fontScale="92500" lnSpcReduction="10000"/>
          </a:bodyPr>
          <a:lstStyle/>
          <a:p>
            <a:pPr>
              <a:lnSpc>
                <a:spcPct val="90000"/>
              </a:lnSpc>
            </a:pPr>
            <a:r>
              <a:rPr lang="en-GB" sz="2000" dirty="0"/>
              <a:t>Interview with </a:t>
            </a:r>
            <a:r>
              <a:rPr lang="en-GB" sz="2000" dirty="0">
                <a:hlinkClick r:id="rId2"/>
              </a:rPr>
              <a:t>Michael </a:t>
            </a:r>
            <a:r>
              <a:rPr lang="en-GB" sz="2000" dirty="0" err="1">
                <a:hlinkClick r:id="rId2"/>
              </a:rPr>
              <a:t>Bartl</a:t>
            </a:r>
            <a:r>
              <a:rPr lang="en-GB" sz="2000" dirty="0">
                <a:hlinkClick r:id="rId2"/>
              </a:rPr>
              <a:t> of </a:t>
            </a:r>
            <a:r>
              <a:rPr lang="en-GB" sz="2000" dirty="0" err="1">
                <a:hlinkClick r:id="rId2"/>
              </a:rPr>
              <a:t>Hyve</a:t>
            </a:r>
            <a:r>
              <a:rPr lang="en-GB" sz="2000" dirty="0"/>
              <a:t>, talking about the use of ‘netnography’ in the search for new innovation opportunities</a:t>
            </a:r>
          </a:p>
          <a:p>
            <a:pPr>
              <a:lnSpc>
                <a:spcPct val="90000"/>
              </a:lnSpc>
            </a:pPr>
            <a:endParaRPr lang="en-GB" sz="2000" dirty="0"/>
          </a:p>
          <a:p>
            <a:pPr>
              <a:lnSpc>
                <a:spcPct val="90000"/>
              </a:lnSpc>
            </a:pPr>
            <a:r>
              <a:rPr lang="en-GB" sz="2000" dirty="0"/>
              <a:t>Interview with </a:t>
            </a:r>
            <a:r>
              <a:rPr lang="en-GB" sz="2000" dirty="0">
                <a:hlinkClick r:id="rId3"/>
              </a:rPr>
              <a:t>Tim Craft (audio and video)</a:t>
            </a:r>
            <a:r>
              <a:rPr lang="en-GB" sz="2000" dirty="0">
                <a:hlinkClick r:id="rId4"/>
              </a:rPr>
              <a:t> </a:t>
            </a:r>
            <a:r>
              <a:rPr lang="en-GB" sz="2000" dirty="0"/>
              <a:t>talking about his experience as a user-innovator</a:t>
            </a:r>
          </a:p>
          <a:p>
            <a:pPr>
              <a:lnSpc>
                <a:spcPct val="90000"/>
              </a:lnSpc>
            </a:pPr>
            <a:endParaRPr lang="en-GB" sz="2000" dirty="0"/>
          </a:p>
          <a:p>
            <a:pPr>
              <a:lnSpc>
                <a:spcPct val="90000"/>
              </a:lnSpc>
            </a:pPr>
            <a:r>
              <a:rPr lang="en-GB" sz="2000" dirty="0"/>
              <a:t>Interview with </a:t>
            </a:r>
            <a:r>
              <a:rPr lang="en-GB" sz="2000" dirty="0">
                <a:hlinkClick r:id="rId5"/>
              </a:rPr>
              <a:t>Catharina van </a:t>
            </a:r>
            <a:r>
              <a:rPr lang="en-GB" sz="2000" dirty="0" err="1">
                <a:hlinkClick r:id="rId5"/>
              </a:rPr>
              <a:t>Delden</a:t>
            </a:r>
            <a:r>
              <a:rPr lang="en-GB" sz="2000" dirty="0">
                <a:hlinkClick r:id="rId5"/>
              </a:rPr>
              <a:t> and her company </a:t>
            </a:r>
            <a:r>
              <a:rPr lang="en-GB" sz="2000" dirty="0" err="1">
                <a:hlinkClick r:id="rId5"/>
              </a:rPr>
              <a:t>Innosabi</a:t>
            </a:r>
            <a:r>
              <a:rPr lang="en-GB" sz="2000" dirty="0">
                <a:hlinkClick r:id="rId5"/>
              </a:rPr>
              <a:t> </a:t>
            </a:r>
            <a:r>
              <a:rPr lang="en-GB" sz="2000" dirty="0"/>
              <a:t>which mobilizes external communities as a source of innovation for businesses</a:t>
            </a:r>
          </a:p>
          <a:p>
            <a:pPr>
              <a:lnSpc>
                <a:spcPct val="90000"/>
              </a:lnSpc>
            </a:pPr>
            <a:endParaRPr lang="en-GB" sz="2000" dirty="0"/>
          </a:p>
          <a:p>
            <a:pPr>
              <a:lnSpc>
                <a:spcPct val="90000"/>
              </a:lnSpc>
            </a:pPr>
            <a:r>
              <a:rPr lang="en-GB" sz="2000" dirty="0">
                <a:hlinkClick r:id="rId6"/>
              </a:rPr>
              <a:t>Interview (audio) with Helen King of the Irish Food Board </a:t>
            </a:r>
            <a:r>
              <a:rPr lang="en-GB" sz="2000" dirty="0"/>
              <a:t>talking about their use of futures methods to search for innovation opportunities</a:t>
            </a:r>
          </a:p>
          <a:p>
            <a:pPr>
              <a:lnSpc>
                <a:spcPct val="90000"/>
              </a:lnSpc>
            </a:pPr>
            <a:endParaRPr lang="en-GB" sz="2000" dirty="0"/>
          </a:p>
          <a:p>
            <a:pPr>
              <a:lnSpc>
                <a:spcPct val="90000"/>
              </a:lnSpc>
            </a:pPr>
            <a:r>
              <a:rPr lang="en-GB" sz="2000" dirty="0"/>
              <a:t>Interview with </a:t>
            </a:r>
            <a:r>
              <a:rPr lang="en-GB" sz="2000" dirty="0">
                <a:hlinkClick r:id="rId7"/>
              </a:rPr>
              <a:t>Lynne Maher, UK National Health Service </a:t>
            </a:r>
            <a:r>
              <a:rPr lang="en-GB" sz="2000" dirty="0"/>
              <a:t>talking about user experience as a source of innovation</a:t>
            </a:r>
          </a:p>
          <a:p>
            <a:pPr>
              <a:lnSpc>
                <a:spcPct val="90000"/>
              </a:lnSpc>
            </a:pPr>
            <a:endParaRPr lang="en-US" sz="1500" dirty="0"/>
          </a:p>
        </p:txBody>
      </p:sp>
    </p:spTree>
    <p:extLst>
      <p:ext uri="{BB962C8B-B14F-4D97-AF65-F5344CB8AC3E}">
        <p14:creationId xmlns:p14="http://schemas.microsoft.com/office/powerpoint/2010/main" val="23973319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CBB599-8D03-6E47-BF08-573ACC9126A8}"/>
              </a:ext>
            </a:extLst>
          </p:cNvPr>
          <p:cNvSpPr>
            <a:spLocks noGrp="1"/>
          </p:cNvSpPr>
          <p:nvPr>
            <p:ph type="title"/>
          </p:nvPr>
        </p:nvSpPr>
        <p:spPr>
          <a:xfrm>
            <a:off x="515125" y="1153572"/>
            <a:ext cx="2400300" cy="4461163"/>
          </a:xfrm>
        </p:spPr>
        <p:txBody>
          <a:bodyPr>
            <a:normAutofit/>
          </a:bodyPr>
          <a:lstStyle/>
          <a:p>
            <a:r>
              <a:rPr lang="en-US" sz="3700">
                <a:solidFill>
                  <a:srgbClr val="FFFFFF"/>
                </a:solidFill>
              </a:rPr>
              <a:t>Disruptive innovation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F8DF887C-759F-FF4B-8857-B64162DC036D}"/>
              </a:ext>
            </a:extLst>
          </p:cNvPr>
          <p:cNvSpPr>
            <a:spLocks noGrp="1"/>
          </p:cNvSpPr>
          <p:nvPr>
            <p:ph idx="1"/>
          </p:nvPr>
        </p:nvSpPr>
        <p:spPr>
          <a:xfrm>
            <a:off x="3335481" y="591344"/>
            <a:ext cx="5179868" cy="5585619"/>
          </a:xfrm>
        </p:spPr>
        <p:txBody>
          <a:bodyPr anchor="ctr">
            <a:normAutofit fontScale="85000" lnSpcReduction="20000"/>
          </a:bodyPr>
          <a:lstStyle/>
          <a:p>
            <a:r>
              <a:rPr lang="en-GB" dirty="0"/>
              <a:t>Follow the link below to watch a video briefly explaining Clay Christensen’s theory of Disruptive Innovation</a:t>
            </a:r>
          </a:p>
          <a:p>
            <a:r>
              <a:rPr lang="en-US" dirty="0">
                <a:hlinkClick r:id="rId2"/>
              </a:rPr>
              <a:t>https://www.youtube.com/watch?v=mbPiAzzGap0</a:t>
            </a:r>
            <a:endParaRPr lang="en-US" dirty="0"/>
          </a:p>
          <a:p>
            <a:endParaRPr lang="en-US" dirty="0"/>
          </a:p>
          <a:p>
            <a:r>
              <a:rPr lang="en-GB" dirty="0"/>
              <a:t>Follow the link below to watch Ted Graham’s TED Talk, ‘Three things I learned about disruptive innovation as an UberX driver’</a:t>
            </a:r>
            <a:endParaRPr lang="en-GB" sz="3600" dirty="0"/>
          </a:p>
          <a:p>
            <a:pPr marL="0" indent="0">
              <a:buNone/>
            </a:pPr>
            <a:endParaRPr lang="en-GB" sz="3600" dirty="0">
              <a:hlinkClick r:id="rId3"/>
            </a:endParaRPr>
          </a:p>
          <a:p>
            <a:r>
              <a:rPr lang="en-GB" sz="3600" dirty="0">
                <a:hlinkClick r:id="rId3"/>
              </a:rPr>
              <a:t>https://www.youtube.com/watch?v=4L30uIkMeMM</a:t>
            </a:r>
            <a:endParaRPr lang="en-GB" sz="3600" dirty="0"/>
          </a:p>
          <a:p>
            <a:endParaRPr lang="en-US" dirty="0"/>
          </a:p>
        </p:txBody>
      </p:sp>
    </p:spTree>
    <p:extLst>
      <p:ext uri="{BB962C8B-B14F-4D97-AF65-F5344CB8AC3E}">
        <p14:creationId xmlns:p14="http://schemas.microsoft.com/office/powerpoint/2010/main" val="5022114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069C05F-71CA-184E-B378-E14A061D3176}"/>
              </a:ext>
            </a:extLst>
          </p:cNvPr>
          <p:cNvSpPr>
            <a:spLocks noGrp="1"/>
          </p:cNvSpPr>
          <p:nvPr>
            <p:ph type="title"/>
          </p:nvPr>
        </p:nvSpPr>
        <p:spPr>
          <a:xfrm>
            <a:off x="515125" y="1153572"/>
            <a:ext cx="2400300" cy="4461163"/>
          </a:xfrm>
        </p:spPr>
        <p:txBody>
          <a:bodyPr>
            <a:normAutofit/>
          </a:bodyPr>
          <a:lstStyle/>
          <a:p>
            <a:r>
              <a:rPr lang="en-US" dirty="0">
                <a:solidFill>
                  <a:srgbClr val="FFFFFF"/>
                </a:solidFill>
              </a:rPr>
              <a:t>Human-centred design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3B9BDFF5-41B2-9146-AE4B-B7BFE8CECD83}"/>
              </a:ext>
            </a:extLst>
          </p:cNvPr>
          <p:cNvSpPr>
            <a:spLocks noGrp="1"/>
          </p:cNvSpPr>
          <p:nvPr>
            <p:ph idx="1"/>
          </p:nvPr>
        </p:nvSpPr>
        <p:spPr>
          <a:xfrm>
            <a:off x="3335481" y="591344"/>
            <a:ext cx="5179868" cy="5585619"/>
          </a:xfrm>
        </p:spPr>
        <p:txBody>
          <a:bodyPr anchor="ctr">
            <a:normAutofit/>
          </a:bodyPr>
          <a:lstStyle/>
          <a:p>
            <a:r>
              <a:rPr lang="en-GB" dirty="0"/>
              <a:t>Follow the link below to watch David Kelley’s TED Talk ‘Human-centred Design’</a:t>
            </a:r>
          </a:p>
          <a:p>
            <a:endParaRPr lang="en-GB" dirty="0"/>
          </a:p>
          <a:p>
            <a:endParaRPr lang="en-GB" dirty="0"/>
          </a:p>
          <a:p>
            <a:r>
              <a:rPr lang="en-GB" dirty="0">
                <a:hlinkClick r:id="rId2"/>
              </a:rPr>
              <a:t>https://www.ted.com/talks/david_kelley_on_human_centered_design</a:t>
            </a:r>
            <a:endParaRPr lang="en-GB" dirty="0"/>
          </a:p>
          <a:p>
            <a:endParaRPr lang="en-US" dirty="0"/>
          </a:p>
        </p:txBody>
      </p:sp>
    </p:spTree>
    <p:extLst>
      <p:ext uri="{BB962C8B-B14F-4D97-AF65-F5344CB8AC3E}">
        <p14:creationId xmlns:p14="http://schemas.microsoft.com/office/powerpoint/2010/main" val="23686950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987897-E368-6B40-A432-FCFC66E718D4}"/>
              </a:ext>
            </a:extLst>
          </p:cNvPr>
          <p:cNvSpPr>
            <a:spLocks noGrp="1"/>
          </p:cNvSpPr>
          <p:nvPr>
            <p:ph type="title"/>
          </p:nvPr>
        </p:nvSpPr>
        <p:spPr>
          <a:xfrm>
            <a:off x="515125" y="1153572"/>
            <a:ext cx="2400300" cy="4461163"/>
          </a:xfrm>
        </p:spPr>
        <p:txBody>
          <a:bodyPr>
            <a:normAutofit/>
          </a:bodyPr>
          <a:lstStyle/>
          <a:p>
            <a:r>
              <a:rPr lang="en-US">
                <a:solidFill>
                  <a:srgbClr val="FFFFFF"/>
                </a:solidFill>
              </a:rPr>
              <a:t>Blogs and podcasts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60F7953-C336-3B4A-8A1A-58F5A985ACE7}"/>
              </a:ext>
            </a:extLst>
          </p:cNvPr>
          <p:cNvSpPr>
            <a:spLocks noGrp="1"/>
          </p:cNvSpPr>
          <p:nvPr>
            <p:ph idx="1"/>
          </p:nvPr>
        </p:nvSpPr>
        <p:spPr>
          <a:xfrm>
            <a:off x="3335481" y="591344"/>
            <a:ext cx="5179868" cy="5585619"/>
          </a:xfrm>
        </p:spPr>
        <p:txBody>
          <a:bodyPr anchor="ctr">
            <a:normAutofit/>
          </a:bodyPr>
          <a:lstStyle/>
          <a:p>
            <a:pPr>
              <a:lnSpc>
                <a:spcPct val="90000"/>
              </a:lnSpc>
            </a:pPr>
            <a:r>
              <a:rPr lang="en-US" sz="3000" dirty="0"/>
              <a:t>There are </a:t>
            </a:r>
            <a:r>
              <a:rPr lang="en-US" sz="3000" dirty="0">
                <a:hlinkClick r:id="rId2"/>
              </a:rPr>
              <a:t>several podcasts  </a:t>
            </a:r>
            <a:r>
              <a:rPr lang="en-US" sz="3000" dirty="0"/>
              <a:t>and </a:t>
            </a:r>
            <a:r>
              <a:rPr lang="en-US" sz="3000" dirty="0">
                <a:hlinkClick r:id="rId3"/>
              </a:rPr>
              <a:t>blogs </a:t>
            </a:r>
            <a:r>
              <a:rPr lang="en-US" sz="3000" dirty="0"/>
              <a:t>picking up key themes around sources of innovation and some of the key variables.  See, for example:</a:t>
            </a:r>
          </a:p>
          <a:p>
            <a:pPr>
              <a:lnSpc>
                <a:spcPct val="90000"/>
              </a:lnSpc>
            </a:pPr>
            <a:r>
              <a:rPr lang="en-US" sz="3000" dirty="0"/>
              <a:t>Birth of the bike</a:t>
            </a:r>
          </a:p>
          <a:p>
            <a:pPr>
              <a:lnSpc>
                <a:spcPct val="90000"/>
              </a:lnSpc>
            </a:pPr>
            <a:r>
              <a:rPr lang="en-US" sz="3000" dirty="0"/>
              <a:t>An innovation birthday party</a:t>
            </a:r>
          </a:p>
          <a:p>
            <a:pPr>
              <a:lnSpc>
                <a:spcPct val="90000"/>
              </a:lnSpc>
            </a:pPr>
            <a:r>
              <a:rPr lang="en-US" sz="3000" dirty="0"/>
              <a:t>Flirting with ideas</a:t>
            </a:r>
          </a:p>
          <a:p>
            <a:pPr>
              <a:lnSpc>
                <a:spcPct val="90000"/>
              </a:lnSpc>
            </a:pPr>
            <a:r>
              <a:rPr lang="en-US" sz="3000" dirty="0"/>
              <a:t>Frugal innovation</a:t>
            </a:r>
          </a:p>
          <a:p>
            <a:pPr>
              <a:lnSpc>
                <a:spcPct val="90000"/>
              </a:lnSpc>
            </a:pPr>
            <a:r>
              <a:rPr lang="en-US" sz="3000" dirty="0"/>
              <a:t>Recombinant innovation</a:t>
            </a:r>
          </a:p>
          <a:p>
            <a:pPr>
              <a:lnSpc>
                <a:spcPct val="90000"/>
              </a:lnSpc>
            </a:pPr>
            <a:endParaRPr lang="en-US" sz="3000" dirty="0"/>
          </a:p>
          <a:p>
            <a:pPr>
              <a:lnSpc>
                <a:spcPct val="90000"/>
              </a:lnSpc>
            </a:pPr>
            <a:endParaRPr lang="en-US" sz="3000" dirty="0"/>
          </a:p>
        </p:txBody>
      </p:sp>
    </p:spTree>
    <p:extLst>
      <p:ext uri="{BB962C8B-B14F-4D97-AF65-F5344CB8AC3E}">
        <p14:creationId xmlns:p14="http://schemas.microsoft.com/office/powerpoint/2010/main" val="32935888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E829F1-84C0-044B-BBE4-ABFAD581D452}"/>
              </a:ext>
            </a:extLst>
          </p:cNvPr>
          <p:cNvSpPr>
            <a:spLocks noGrp="1"/>
          </p:cNvSpPr>
          <p:nvPr>
            <p:ph type="title"/>
          </p:nvPr>
        </p:nvSpPr>
        <p:spPr>
          <a:xfrm>
            <a:off x="515125" y="1153572"/>
            <a:ext cx="2400300" cy="4461163"/>
          </a:xfrm>
        </p:spPr>
        <p:txBody>
          <a:bodyPr>
            <a:normAutofit/>
          </a:bodyPr>
          <a:lstStyle/>
          <a:p>
            <a:r>
              <a:rPr lang="en-US">
                <a:solidFill>
                  <a:srgbClr val="FFFFFF"/>
                </a:solidFill>
              </a:rPr>
              <a:t>Activities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2B2D3D1-2581-F94B-9851-1F31823967E9}"/>
              </a:ext>
            </a:extLst>
          </p:cNvPr>
          <p:cNvSpPr>
            <a:spLocks noGrp="1"/>
          </p:cNvSpPr>
          <p:nvPr>
            <p:ph idx="1"/>
          </p:nvPr>
        </p:nvSpPr>
        <p:spPr>
          <a:xfrm>
            <a:off x="3335481" y="591344"/>
            <a:ext cx="5179868" cy="5585619"/>
          </a:xfrm>
        </p:spPr>
        <p:txBody>
          <a:bodyPr anchor="ctr">
            <a:normAutofit/>
          </a:bodyPr>
          <a:lstStyle/>
          <a:p>
            <a:r>
              <a:rPr lang="en-US" dirty="0"/>
              <a:t>There are a variety of activities (for both groups and individuals and for online as well as offline work.  These include:</a:t>
            </a:r>
          </a:p>
        </p:txBody>
      </p:sp>
    </p:spTree>
    <p:extLst>
      <p:ext uri="{BB962C8B-B14F-4D97-AF65-F5344CB8AC3E}">
        <p14:creationId xmlns:p14="http://schemas.microsoft.com/office/powerpoint/2010/main" val="2511175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DA1F35B-C8F7-4A5A-9339-7DA4D785B3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c 10">
            <a:extLst>
              <a:ext uri="{FF2B5EF4-FFF2-40B4-BE49-F238E27FC236}">
                <a16:creationId xmlns:a16="http://schemas.microsoft.com/office/drawing/2014/main" id="{B2D4AD41-40DA-4A81-92F5-B6E3BA1ED8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746107">
            <a:off x="6131316" y="457951"/>
            <a:ext cx="2240924" cy="2987899"/>
          </a:xfrm>
          <a:prstGeom prst="arc">
            <a:avLst>
              <a:gd name="adj1" fmla="val 14612914"/>
              <a:gd name="adj2" fmla="val 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2F0918A-2729-B94E-BB21-4E14C709C64B}"/>
              </a:ext>
            </a:extLst>
          </p:cNvPr>
          <p:cNvSpPr>
            <a:spLocks noGrp="1"/>
          </p:cNvSpPr>
          <p:nvPr>
            <p:ph type="title"/>
          </p:nvPr>
        </p:nvSpPr>
        <p:spPr>
          <a:xfrm>
            <a:off x="628650" y="365125"/>
            <a:ext cx="7886700" cy="1325563"/>
          </a:xfrm>
        </p:spPr>
        <p:txBody>
          <a:bodyPr>
            <a:normAutofit/>
          </a:bodyPr>
          <a:lstStyle/>
          <a:p>
            <a:pPr>
              <a:lnSpc>
                <a:spcPct val="90000"/>
              </a:lnSpc>
            </a:pPr>
            <a:r>
              <a:rPr lang="en-US"/>
              <a:t>Where do innovations come from?</a:t>
            </a:r>
          </a:p>
        </p:txBody>
      </p:sp>
      <p:graphicFrame>
        <p:nvGraphicFramePr>
          <p:cNvPr id="5" name="Content Placeholder 2">
            <a:extLst>
              <a:ext uri="{FF2B5EF4-FFF2-40B4-BE49-F238E27FC236}">
                <a16:creationId xmlns:a16="http://schemas.microsoft.com/office/drawing/2014/main" id="{FB7A88A2-D2B0-4073-8EAD-2DA632891440}"/>
              </a:ext>
            </a:extLst>
          </p:cNvPr>
          <p:cNvGraphicFramePr>
            <a:graphicFrameLocks noGrp="1"/>
          </p:cNvGraphicFramePr>
          <p:nvPr>
            <p:ph idx="1"/>
            <p:extLst>
              <p:ext uri="{D42A27DB-BD31-4B8C-83A1-F6EECF244321}">
                <p14:modId xmlns:p14="http://schemas.microsoft.com/office/powerpoint/2010/main" val="3960781200"/>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280039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670B26F-DC84-4E4C-BEC3-EE797B25F0DC}"/>
              </a:ext>
            </a:extLst>
          </p:cNvPr>
          <p:cNvSpPr>
            <a:spLocks noGrp="1"/>
          </p:cNvSpPr>
          <p:nvPr>
            <p:ph type="title"/>
          </p:nvPr>
        </p:nvSpPr>
        <p:spPr>
          <a:xfrm>
            <a:off x="515125" y="1153572"/>
            <a:ext cx="2400300" cy="4461163"/>
          </a:xfrm>
        </p:spPr>
        <p:txBody>
          <a:bodyPr>
            <a:normAutofit/>
          </a:bodyPr>
          <a:lstStyle/>
          <a:p>
            <a:r>
              <a:rPr lang="en-US" sz="4100">
                <a:solidFill>
                  <a:srgbClr val="FFFFFF"/>
                </a:solidFill>
              </a:rPr>
              <a:t>Activity (team or individual)</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A443BBF5-CAB4-E64C-8A5A-604B4DEC7051}"/>
              </a:ext>
            </a:extLst>
          </p:cNvPr>
          <p:cNvSpPr>
            <a:spLocks noGrp="1"/>
          </p:cNvSpPr>
          <p:nvPr>
            <p:ph idx="1"/>
          </p:nvPr>
        </p:nvSpPr>
        <p:spPr>
          <a:xfrm>
            <a:off x="3335481" y="591344"/>
            <a:ext cx="5179868" cy="5585619"/>
          </a:xfrm>
        </p:spPr>
        <p:txBody>
          <a:bodyPr anchor="ctr">
            <a:normAutofit/>
          </a:bodyPr>
          <a:lstStyle/>
          <a:p>
            <a:pPr>
              <a:lnSpc>
                <a:spcPct val="90000"/>
              </a:lnSpc>
            </a:pPr>
            <a:r>
              <a:rPr lang="en-US" sz="2500"/>
              <a:t>Choose some examples of product, service or social innovation - for example, a smart phone, an electric car, online booking of hospital appointments or enabling literacy programmes in Africa via mobile phones.  Now try and work backwards - draw out the ‘family tree’ of triggers which brought that innovation into being.  What were the enabling ‘pushes’ – (for example, where did the technology come from?) - and what were the ‘need pulls’? </a:t>
            </a:r>
          </a:p>
          <a:p>
            <a:pPr>
              <a:lnSpc>
                <a:spcPct val="90000"/>
              </a:lnSpc>
            </a:pPr>
            <a:endParaRPr lang="en-US" sz="2500"/>
          </a:p>
        </p:txBody>
      </p:sp>
    </p:spTree>
    <p:extLst>
      <p:ext uri="{BB962C8B-B14F-4D97-AF65-F5344CB8AC3E}">
        <p14:creationId xmlns:p14="http://schemas.microsoft.com/office/powerpoint/2010/main" val="19228685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36905E-75D3-844C-85FB-749D140B62FF}"/>
              </a:ext>
            </a:extLst>
          </p:cNvPr>
          <p:cNvSpPr>
            <a:spLocks noGrp="1"/>
          </p:cNvSpPr>
          <p:nvPr>
            <p:ph type="title"/>
          </p:nvPr>
        </p:nvSpPr>
        <p:spPr>
          <a:xfrm>
            <a:off x="515125" y="1153572"/>
            <a:ext cx="2400300" cy="4461163"/>
          </a:xfrm>
        </p:spPr>
        <p:txBody>
          <a:bodyPr>
            <a:normAutofit/>
          </a:bodyPr>
          <a:lstStyle/>
          <a:p>
            <a:r>
              <a:rPr lang="en-US" sz="3700" dirty="0">
                <a:solidFill>
                  <a:srgbClr val="FFFFFF"/>
                </a:solidFill>
              </a:rPr>
              <a:t>Activity – innovation histories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9136FF6E-9438-D348-8DF2-5C675430F386}"/>
              </a:ext>
            </a:extLst>
          </p:cNvPr>
          <p:cNvSpPr>
            <a:spLocks noGrp="1"/>
          </p:cNvSpPr>
          <p:nvPr>
            <p:ph idx="1"/>
          </p:nvPr>
        </p:nvSpPr>
        <p:spPr>
          <a:xfrm>
            <a:off x="3335481" y="591344"/>
            <a:ext cx="5179868" cy="5585619"/>
          </a:xfrm>
        </p:spPr>
        <p:txBody>
          <a:bodyPr anchor="ctr">
            <a:normAutofit/>
          </a:bodyPr>
          <a:lstStyle/>
          <a:p>
            <a:pPr>
              <a:lnSpc>
                <a:spcPct val="90000"/>
              </a:lnSpc>
            </a:pPr>
            <a:r>
              <a:rPr lang="en-US" sz="1800"/>
              <a:t>Innovations don’t just appear - sometimes they involve a lot of competing ideas before a ‘dominant design’ emerges.  Henry Ford wasn’t the first car maker but his was the design which ‘clicked’ with the market.  Apple’s </a:t>
            </a:r>
            <a:r>
              <a:rPr lang="en-US" sz="1800" err="1"/>
              <a:t>i</a:t>
            </a:r>
            <a:r>
              <a:rPr lang="en-US" sz="1800"/>
              <a:t>- Pod wasn’t the first mp3 player - but it became the dominant architecture which others then copied. South West Airlines weren’t the first low cost carrier but they established the model which other successful players like Ryanair, </a:t>
            </a:r>
            <a:r>
              <a:rPr lang="en-US" sz="1800" err="1"/>
              <a:t>Easyjet</a:t>
            </a:r>
            <a:r>
              <a:rPr lang="en-US" sz="1800"/>
              <a:t>, Air Berlin and Air Europa have followed.  Taking an example of an established innovation category like these, try and reconstruct the case history.  Where did the original idea come from and what forces - pushes and pulls - shaped its emergence into a dominant design?</a:t>
            </a:r>
            <a:r>
              <a:rPr lang="en-GB" sz="1800"/>
              <a:t> </a:t>
            </a:r>
            <a:endParaRPr lang="en-US" sz="1800"/>
          </a:p>
          <a:p>
            <a:pPr>
              <a:lnSpc>
                <a:spcPct val="90000"/>
              </a:lnSpc>
            </a:pPr>
            <a:r>
              <a:rPr lang="en-US" sz="1800"/>
              <a:t>Read the blog piece on </a:t>
            </a:r>
            <a:r>
              <a:rPr lang="en-US" sz="1800">
                <a:hlinkClick r:id="rId2"/>
              </a:rPr>
              <a:t>the birth of the bike </a:t>
            </a:r>
            <a:r>
              <a:rPr lang="en-US" sz="1800"/>
              <a:t>to give an idea of the task</a:t>
            </a:r>
          </a:p>
        </p:txBody>
      </p:sp>
    </p:spTree>
    <p:extLst>
      <p:ext uri="{BB962C8B-B14F-4D97-AF65-F5344CB8AC3E}">
        <p14:creationId xmlns:p14="http://schemas.microsoft.com/office/powerpoint/2010/main" val="12017846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854895-BE2D-C148-8949-0D904793D5E1}"/>
              </a:ext>
            </a:extLst>
          </p:cNvPr>
          <p:cNvSpPr>
            <a:spLocks noGrp="1"/>
          </p:cNvSpPr>
          <p:nvPr>
            <p:ph type="title"/>
          </p:nvPr>
        </p:nvSpPr>
        <p:spPr>
          <a:xfrm>
            <a:off x="515125" y="1153572"/>
            <a:ext cx="2400300" cy="4461163"/>
          </a:xfrm>
        </p:spPr>
        <p:txBody>
          <a:bodyPr>
            <a:normAutofit/>
          </a:bodyPr>
          <a:lstStyle/>
          <a:p>
            <a:r>
              <a:rPr lang="en-US" sz="3700">
                <a:solidFill>
                  <a:srgbClr val="FFFFFF"/>
                </a:solidFill>
              </a:rPr>
              <a:t>Activity – Sources of innovation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39D7EC61-10F7-E34D-98C5-80839F619F55}"/>
              </a:ext>
            </a:extLst>
          </p:cNvPr>
          <p:cNvSpPr>
            <a:spLocks noGrp="1"/>
          </p:cNvSpPr>
          <p:nvPr>
            <p:ph idx="1"/>
          </p:nvPr>
        </p:nvSpPr>
        <p:spPr>
          <a:xfrm>
            <a:off x="3335481" y="591344"/>
            <a:ext cx="5179868" cy="5585619"/>
          </a:xfrm>
        </p:spPr>
        <p:txBody>
          <a:bodyPr anchor="ctr">
            <a:normAutofit/>
          </a:bodyPr>
          <a:lstStyle/>
          <a:p>
            <a:pPr indent="-457200">
              <a:lnSpc>
                <a:spcPct val="90000"/>
              </a:lnSpc>
            </a:pPr>
            <a:r>
              <a:rPr lang="en-US" sz="2500"/>
              <a:t>Select a company of your interest and explore how they search for innovation opportunities.  Which of the approaches described in the chapter do they use and how? </a:t>
            </a:r>
          </a:p>
          <a:p>
            <a:pPr indent="-457200">
              <a:lnSpc>
                <a:spcPct val="90000"/>
              </a:lnSpc>
            </a:pPr>
            <a:endParaRPr lang="en-US" sz="2500"/>
          </a:p>
          <a:p>
            <a:pPr indent="-457200">
              <a:lnSpc>
                <a:spcPct val="90000"/>
              </a:lnSpc>
            </a:pPr>
            <a:r>
              <a:rPr lang="en-US" sz="2500"/>
              <a:t>If possible, interview the manager(s) on sources of innovation and how they manage the process inside the company. Provide a short report based on the field research, making conclusions, outlining limitations and suggesting further research in the area. </a:t>
            </a:r>
          </a:p>
          <a:p>
            <a:pPr>
              <a:lnSpc>
                <a:spcPct val="90000"/>
              </a:lnSpc>
            </a:pPr>
            <a:endParaRPr lang="en-US" sz="2500"/>
          </a:p>
        </p:txBody>
      </p:sp>
    </p:spTree>
    <p:extLst>
      <p:ext uri="{BB962C8B-B14F-4D97-AF65-F5344CB8AC3E}">
        <p14:creationId xmlns:p14="http://schemas.microsoft.com/office/powerpoint/2010/main" val="8440450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F8A6CC8-201B-B64B-BFFB-2DE6B00724ED}"/>
              </a:ext>
            </a:extLst>
          </p:cNvPr>
          <p:cNvSpPr>
            <a:spLocks noGrp="1"/>
          </p:cNvSpPr>
          <p:nvPr>
            <p:ph type="title"/>
          </p:nvPr>
        </p:nvSpPr>
        <p:spPr>
          <a:xfrm>
            <a:off x="515125" y="1153572"/>
            <a:ext cx="2400300" cy="4461163"/>
          </a:xfrm>
        </p:spPr>
        <p:txBody>
          <a:bodyPr>
            <a:normAutofit/>
          </a:bodyPr>
          <a:lstStyle/>
          <a:p>
            <a:r>
              <a:rPr lang="en-US" sz="3700">
                <a:solidFill>
                  <a:srgbClr val="FFFFFF"/>
                </a:solidFill>
              </a:rPr>
              <a:t>Knowledge push innovation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8" name="Content Placeholder 2">
            <a:extLst>
              <a:ext uri="{FF2B5EF4-FFF2-40B4-BE49-F238E27FC236}">
                <a16:creationId xmlns:a16="http://schemas.microsoft.com/office/drawing/2014/main" id="{69D5C4CC-76D9-7F48-A056-024E005AE1CD}"/>
              </a:ext>
            </a:extLst>
          </p:cNvPr>
          <p:cNvSpPr>
            <a:spLocks noGrp="1"/>
          </p:cNvSpPr>
          <p:nvPr>
            <p:ph idx="1"/>
          </p:nvPr>
        </p:nvSpPr>
        <p:spPr>
          <a:xfrm>
            <a:off x="3335481" y="591344"/>
            <a:ext cx="5179868" cy="5585619"/>
          </a:xfrm>
        </p:spPr>
        <p:txBody>
          <a:bodyPr anchor="ctr">
            <a:normAutofit/>
          </a:bodyPr>
          <a:lstStyle/>
          <a:p>
            <a:pPr>
              <a:lnSpc>
                <a:spcPct val="90000"/>
              </a:lnSpc>
            </a:pPr>
            <a:r>
              <a:rPr lang="en-US" sz="2700" dirty="0">
                <a:hlinkClick r:id="rId2"/>
              </a:rPr>
              <a:t>On the website there are many examples of knowledge driven companies </a:t>
            </a:r>
            <a:r>
              <a:rPr lang="en-US" sz="2700" dirty="0"/>
              <a:t>– 3M, Spirit, Corning, P&amp;G, Hella. Ask students to research examples focusing on how these companies built their strength. What’s their core knowledge base that they create and exploit?</a:t>
            </a:r>
          </a:p>
          <a:p>
            <a:pPr>
              <a:lnSpc>
                <a:spcPct val="90000"/>
              </a:lnSpc>
            </a:pPr>
            <a:endParaRPr lang="en-GB" sz="2700" dirty="0"/>
          </a:p>
          <a:p>
            <a:pPr>
              <a:lnSpc>
                <a:spcPct val="90000"/>
              </a:lnSpc>
            </a:pPr>
            <a:endParaRPr lang="en-US" sz="2700" dirty="0"/>
          </a:p>
        </p:txBody>
      </p:sp>
    </p:spTree>
    <p:extLst>
      <p:ext uri="{BB962C8B-B14F-4D97-AF65-F5344CB8AC3E}">
        <p14:creationId xmlns:p14="http://schemas.microsoft.com/office/powerpoint/2010/main" val="13562382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A59CD3C-AAA4-2D49-B854-08A32D67A420}"/>
              </a:ext>
            </a:extLst>
          </p:cNvPr>
          <p:cNvSpPr>
            <a:spLocks noGrp="1"/>
          </p:cNvSpPr>
          <p:nvPr>
            <p:ph type="title"/>
          </p:nvPr>
        </p:nvSpPr>
        <p:spPr>
          <a:xfrm>
            <a:off x="515125" y="1153572"/>
            <a:ext cx="2400300" cy="4461163"/>
          </a:xfrm>
        </p:spPr>
        <p:txBody>
          <a:bodyPr>
            <a:normAutofit/>
          </a:bodyPr>
          <a:lstStyle/>
          <a:p>
            <a:r>
              <a:rPr lang="en-US" sz="3700">
                <a:solidFill>
                  <a:srgbClr val="FFFFFF"/>
                </a:solidFill>
              </a:rPr>
              <a:t>Need pull innovation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0C0D1D0C-1E06-F648-8B84-147BFF56B2CE}"/>
              </a:ext>
            </a:extLst>
          </p:cNvPr>
          <p:cNvSpPr>
            <a:spLocks noGrp="1"/>
          </p:cNvSpPr>
          <p:nvPr>
            <p:ph idx="1"/>
          </p:nvPr>
        </p:nvSpPr>
        <p:spPr>
          <a:xfrm>
            <a:off x="3335481" y="591344"/>
            <a:ext cx="5179868" cy="5585619"/>
          </a:xfrm>
        </p:spPr>
        <p:txBody>
          <a:bodyPr anchor="ctr">
            <a:normAutofit/>
          </a:bodyPr>
          <a:lstStyle/>
          <a:p>
            <a:r>
              <a:rPr lang="en-US" dirty="0"/>
              <a:t>Ask students to list examples of need pull innovations in different sectors and try to characterize them in terms of whether they are incremental improvements or radical new to the world ideas.</a:t>
            </a:r>
          </a:p>
          <a:p>
            <a:endParaRPr lang="en-US" dirty="0"/>
          </a:p>
        </p:txBody>
      </p:sp>
    </p:spTree>
    <p:extLst>
      <p:ext uri="{BB962C8B-B14F-4D97-AF65-F5344CB8AC3E}">
        <p14:creationId xmlns:p14="http://schemas.microsoft.com/office/powerpoint/2010/main" val="4476231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6B1B06-27CF-764F-868C-C9FCCAAA6061}"/>
              </a:ext>
            </a:extLst>
          </p:cNvPr>
          <p:cNvSpPr>
            <a:spLocks noGrp="1"/>
          </p:cNvSpPr>
          <p:nvPr>
            <p:ph type="title"/>
          </p:nvPr>
        </p:nvSpPr>
        <p:spPr>
          <a:xfrm>
            <a:off x="515125" y="1153572"/>
            <a:ext cx="2400300" cy="4461163"/>
          </a:xfrm>
        </p:spPr>
        <p:txBody>
          <a:bodyPr>
            <a:normAutofit/>
          </a:bodyPr>
          <a:lstStyle/>
          <a:p>
            <a:r>
              <a:rPr lang="en-US" sz="2800">
                <a:solidFill>
                  <a:srgbClr val="FFFFFF"/>
                </a:solidFill>
              </a:rPr>
              <a:t>Understanding user needs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90C662EC-D1FB-8F41-8783-3E73288B409D}"/>
              </a:ext>
            </a:extLst>
          </p:cNvPr>
          <p:cNvSpPr>
            <a:spLocks noGrp="1"/>
          </p:cNvSpPr>
          <p:nvPr>
            <p:ph idx="1"/>
          </p:nvPr>
        </p:nvSpPr>
        <p:spPr>
          <a:xfrm>
            <a:off x="3335481" y="591344"/>
            <a:ext cx="5179868" cy="5585619"/>
          </a:xfrm>
        </p:spPr>
        <p:txBody>
          <a:bodyPr anchor="ctr">
            <a:normAutofit/>
          </a:bodyPr>
          <a:lstStyle/>
          <a:p>
            <a:r>
              <a:rPr lang="en-US" dirty="0"/>
              <a:t>Watch the </a:t>
            </a:r>
            <a:r>
              <a:rPr lang="en-US" dirty="0">
                <a:hlinkClick r:id="rId2"/>
              </a:rPr>
              <a:t>video of Michael Bartl </a:t>
            </a:r>
            <a:r>
              <a:rPr lang="en-US" dirty="0"/>
              <a:t>talking about new approaches to market research via ‘netnography’</a:t>
            </a:r>
          </a:p>
          <a:p>
            <a:r>
              <a:rPr lang="en-US" dirty="0"/>
              <a:t>Look at the </a:t>
            </a:r>
            <a:r>
              <a:rPr lang="en-US" dirty="0">
                <a:hlinkClick r:id="rId3"/>
              </a:rPr>
              <a:t>tools which can help research user needs</a:t>
            </a:r>
            <a:endParaRPr lang="en-US" dirty="0"/>
          </a:p>
          <a:p>
            <a:r>
              <a:rPr lang="en-US" dirty="0"/>
              <a:t>Try to use some of them to identify and research potential market needs for  new product or service idea</a:t>
            </a:r>
          </a:p>
        </p:txBody>
      </p:sp>
    </p:spTree>
    <p:extLst>
      <p:ext uri="{BB962C8B-B14F-4D97-AF65-F5344CB8AC3E}">
        <p14:creationId xmlns:p14="http://schemas.microsoft.com/office/powerpoint/2010/main" val="38233061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33512E7-3E54-904E-BA67-7BFB5CDC8292}"/>
              </a:ext>
            </a:extLst>
          </p:cNvPr>
          <p:cNvSpPr>
            <a:spLocks noGrp="1"/>
          </p:cNvSpPr>
          <p:nvPr>
            <p:ph type="title"/>
          </p:nvPr>
        </p:nvSpPr>
        <p:spPr>
          <a:xfrm>
            <a:off x="515125" y="1153572"/>
            <a:ext cx="2400300" cy="4461163"/>
          </a:xfrm>
        </p:spPr>
        <p:txBody>
          <a:bodyPr>
            <a:normAutofit/>
          </a:bodyPr>
          <a:lstStyle/>
          <a:p>
            <a:r>
              <a:rPr lang="en-US" sz="4100">
                <a:solidFill>
                  <a:srgbClr val="FFFFFF"/>
                </a:solidFill>
              </a:rPr>
              <a:t>Making processes better</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186AFC8-1DE8-1842-BBC0-22306EA9C2C2}"/>
              </a:ext>
            </a:extLst>
          </p:cNvPr>
          <p:cNvSpPr>
            <a:spLocks noGrp="1"/>
          </p:cNvSpPr>
          <p:nvPr>
            <p:ph idx="1"/>
          </p:nvPr>
        </p:nvSpPr>
        <p:spPr>
          <a:xfrm>
            <a:off x="3335481" y="591344"/>
            <a:ext cx="5179868" cy="5585619"/>
          </a:xfrm>
        </p:spPr>
        <p:txBody>
          <a:bodyPr anchor="ctr">
            <a:normAutofit/>
          </a:bodyPr>
          <a:lstStyle/>
          <a:p>
            <a:pPr>
              <a:lnSpc>
                <a:spcPct val="90000"/>
              </a:lnSpc>
              <a:buFont typeface="Arial"/>
              <a:buChar char="•"/>
            </a:pPr>
            <a:r>
              <a:rPr lang="en-US" sz="2000" dirty="0"/>
              <a:t>Tools to help find opportunities for innovation include:</a:t>
            </a:r>
          </a:p>
          <a:p>
            <a:pPr>
              <a:lnSpc>
                <a:spcPct val="90000"/>
              </a:lnSpc>
              <a:buFont typeface="Arial"/>
              <a:buChar char="•"/>
            </a:pPr>
            <a:endParaRPr lang="en-US" sz="2000" dirty="0"/>
          </a:p>
          <a:p>
            <a:pPr>
              <a:lnSpc>
                <a:spcPct val="90000"/>
              </a:lnSpc>
              <a:buFont typeface="Arial"/>
              <a:buChar char="•"/>
            </a:pPr>
            <a:r>
              <a:rPr lang="en-US" sz="2000" dirty="0">
                <a:hlinkClick r:id="rId2"/>
              </a:rPr>
              <a:t>Lean toolkit and activities</a:t>
            </a:r>
            <a:endParaRPr lang="en-US" sz="2000" dirty="0"/>
          </a:p>
          <a:p>
            <a:pPr>
              <a:lnSpc>
                <a:spcPct val="90000"/>
              </a:lnSpc>
            </a:pPr>
            <a:endParaRPr lang="en-US" sz="2000" dirty="0"/>
          </a:p>
          <a:p>
            <a:pPr>
              <a:lnSpc>
                <a:spcPct val="90000"/>
              </a:lnSpc>
            </a:pPr>
            <a:r>
              <a:rPr lang="en-US" sz="2000" dirty="0"/>
              <a:t>Try using some of these tools to help identify opportunities to improve a process in your workplace</a:t>
            </a:r>
          </a:p>
        </p:txBody>
      </p:sp>
    </p:spTree>
    <p:extLst>
      <p:ext uri="{BB962C8B-B14F-4D97-AF65-F5344CB8AC3E}">
        <p14:creationId xmlns:p14="http://schemas.microsoft.com/office/powerpoint/2010/main" val="9831005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E088C7B-06EF-A94A-BA22-30F996E70FA3}"/>
              </a:ext>
            </a:extLst>
          </p:cNvPr>
          <p:cNvSpPr>
            <a:spLocks noGrp="1"/>
          </p:cNvSpPr>
          <p:nvPr>
            <p:ph type="title"/>
          </p:nvPr>
        </p:nvSpPr>
        <p:spPr>
          <a:xfrm>
            <a:off x="515125" y="1153572"/>
            <a:ext cx="2400300" cy="4461163"/>
          </a:xfrm>
        </p:spPr>
        <p:txBody>
          <a:bodyPr>
            <a:normAutofit/>
          </a:bodyPr>
          <a:lstStyle/>
          <a:p>
            <a:r>
              <a:rPr lang="en-US">
                <a:solidFill>
                  <a:srgbClr val="FFFFFF"/>
                </a:solidFill>
              </a:rPr>
              <a:t>Process mapping</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5688DD6F-DE12-DA47-B3AB-23EB98921438}"/>
              </a:ext>
            </a:extLst>
          </p:cNvPr>
          <p:cNvSpPr>
            <a:spLocks noGrp="1"/>
          </p:cNvSpPr>
          <p:nvPr>
            <p:ph idx="1"/>
          </p:nvPr>
        </p:nvSpPr>
        <p:spPr>
          <a:xfrm>
            <a:off x="3335481" y="591344"/>
            <a:ext cx="5179868" cy="5585619"/>
          </a:xfrm>
        </p:spPr>
        <p:txBody>
          <a:bodyPr anchor="ctr">
            <a:normAutofit/>
          </a:bodyPr>
          <a:lstStyle/>
          <a:p>
            <a:pPr>
              <a:lnSpc>
                <a:spcPct val="90000"/>
              </a:lnSpc>
            </a:pPr>
            <a:r>
              <a:rPr lang="en-US" sz="2700" dirty="0"/>
              <a:t>Look around for a process which might benefit from improvement – for example anywhere there is a queue means that the process isn’t working as smoothly as it might and people are wasting their time and energy waiting.</a:t>
            </a:r>
          </a:p>
          <a:p>
            <a:pPr>
              <a:lnSpc>
                <a:spcPct val="90000"/>
              </a:lnSpc>
            </a:pPr>
            <a:r>
              <a:rPr lang="en-US" sz="2700" dirty="0"/>
              <a:t>Use the </a:t>
            </a:r>
            <a:r>
              <a:rPr lang="en-US" sz="2700" dirty="0">
                <a:hlinkClick r:id="rId2"/>
              </a:rPr>
              <a:t>process mapping tool </a:t>
            </a:r>
            <a:r>
              <a:rPr lang="en-US" sz="2700" dirty="0"/>
              <a:t>to try to identify ways of improving it</a:t>
            </a:r>
          </a:p>
          <a:p>
            <a:pPr>
              <a:lnSpc>
                <a:spcPct val="90000"/>
              </a:lnSpc>
            </a:pPr>
            <a:endParaRPr lang="en-US" sz="2700" dirty="0"/>
          </a:p>
        </p:txBody>
      </p:sp>
    </p:spTree>
    <p:extLst>
      <p:ext uri="{BB962C8B-B14F-4D97-AF65-F5344CB8AC3E}">
        <p14:creationId xmlns:p14="http://schemas.microsoft.com/office/powerpoint/2010/main" val="29742813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DFC4C9-BA82-B048-8DAA-8F40C07DBF5C}"/>
              </a:ext>
            </a:extLst>
          </p:cNvPr>
          <p:cNvSpPr>
            <a:spLocks noGrp="1"/>
          </p:cNvSpPr>
          <p:nvPr>
            <p:ph type="title"/>
          </p:nvPr>
        </p:nvSpPr>
        <p:spPr>
          <a:xfrm>
            <a:off x="515125" y="1153572"/>
            <a:ext cx="2400300" cy="4461163"/>
          </a:xfrm>
        </p:spPr>
        <p:txBody>
          <a:bodyPr>
            <a:normAutofit/>
          </a:bodyPr>
          <a:lstStyle/>
          <a:p>
            <a:r>
              <a:rPr lang="en-US" sz="3700">
                <a:solidFill>
                  <a:srgbClr val="FFFFFF"/>
                </a:solidFill>
              </a:rPr>
              <a:t>Activity – Disruptive innovation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DE114515-B029-4A41-81BA-E2D3527701C0}"/>
              </a:ext>
            </a:extLst>
          </p:cNvPr>
          <p:cNvSpPr>
            <a:spLocks noGrp="1"/>
          </p:cNvSpPr>
          <p:nvPr>
            <p:ph idx="1"/>
          </p:nvPr>
        </p:nvSpPr>
        <p:spPr>
          <a:xfrm>
            <a:off x="3335481" y="591344"/>
            <a:ext cx="5179868" cy="5585619"/>
          </a:xfrm>
        </p:spPr>
        <p:txBody>
          <a:bodyPr anchor="ctr">
            <a:normAutofit/>
          </a:bodyPr>
          <a:lstStyle/>
          <a:p>
            <a:pPr>
              <a:lnSpc>
                <a:spcPct val="90000"/>
              </a:lnSpc>
            </a:pPr>
            <a:r>
              <a:rPr lang="en-US" dirty="0"/>
              <a:t>Watch the </a:t>
            </a:r>
            <a:r>
              <a:rPr lang="en-US" dirty="0">
                <a:hlinkClick r:id="rId2"/>
              </a:rPr>
              <a:t>video of Clay Christensen explaining his theory of disruptive innovation</a:t>
            </a:r>
            <a:endParaRPr lang="en-US"/>
          </a:p>
          <a:p>
            <a:pPr>
              <a:lnSpc>
                <a:spcPct val="90000"/>
              </a:lnSpc>
            </a:pPr>
            <a:r>
              <a:rPr lang="en-US" dirty="0"/>
              <a:t>Research the topic more widely</a:t>
            </a:r>
            <a:endParaRPr lang="en-US"/>
          </a:p>
          <a:p>
            <a:pPr>
              <a:lnSpc>
                <a:spcPct val="90000"/>
              </a:lnSpc>
            </a:pPr>
            <a:r>
              <a:rPr lang="en-US" dirty="0"/>
              <a:t>Where and when might an organization use this approach to help identify new opportunities for innovation?</a:t>
            </a:r>
            <a:endParaRPr lang="en-US"/>
          </a:p>
          <a:p>
            <a:pPr>
              <a:lnSpc>
                <a:spcPct val="90000"/>
              </a:lnSpc>
            </a:pPr>
            <a:endParaRPr lang="en-US"/>
          </a:p>
        </p:txBody>
      </p:sp>
    </p:spTree>
    <p:extLst>
      <p:ext uri="{BB962C8B-B14F-4D97-AF65-F5344CB8AC3E}">
        <p14:creationId xmlns:p14="http://schemas.microsoft.com/office/powerpoint/2010/main" val="17737382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401C85-CB55-264A-8104-318817B81968}"/>
              </a:ext>
            </a:extLst>
          </p:cNvPr>
          <p:cNvSpPr>
            <a:spLocks noGrp="1"/>
          </p:cNvSpPr>
          <p:nvPr>
            <p:ph type="title"/>
          </p:nvPr>
        </p:nvSpPr>
        <p:spPr>
          <a:xfrm>
            <a:off x="515125" y="1153572"/>
            <a:ext cx="2400300" cy="4461163"/>
          </a:xfrm>
        </p:spPr>
        <p:txBody>
          <a:bodyPr>
            <a:normAutofit/>
          </a:bodyPr>
          <a:lstStyle/>
          <a:p>
            <a:r>
              <a:rPr lang="en-US" sz="3700">
                <a:solidFill>
                  <a:srgbClr val="FFFFFF"/>
                </a:solidFill>
              </a:rPr>
              <a:t>Activity – Frugal innovation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00C12718-8202-604F-B82A-9099BEAE2894}"/>
              </a:ext>
            </a:extLst>
          </p:cNvPr>
          <p:cNvSpPr>
            <a:spLocks noGrp="1"/>
          </p:cNvSpPr>
          <p:nvPr>
            <p:ph idx="1"/>
          </p:nvPr>
        </p:nvSpPr>
        <p:spPr>
          <a:xfrm>
            <a:off x="3335481" y="591344"/>
            <a:ext cx="5179868" cy="5585619"/>
          </a:xfrm>
        </p:spPr>
        <p:txBody>
          <a:bodyPr anchor="ctr">
            <a:normAutofit/>
          </a:bodyPr>
          <a:lstStyle/>
          <a:p>
            <a:r>
              <a:rPr lang="en-US" dirty="0"/>
              <a:t>Read the </a:t>
            </a:r>
            <a:r>
              <a:rPr lang="en-US" dirty="0">
                <a:hlinkClick r:id="rId2"/>
              </a:rPr>
              <a:t>blog piece on frugal innovation</a:t>
            </a:r>
            <a:endParaRPr lang="en-US" dirty="0"/>
          </a:p>
          <a:p>
            <a:r>
              <a:rPr lang="en-US" dirty="0"/>
              <a:t>Where and how might an organization find inspiration for new innovation directions in this approach?</a:t>
            </a:r>
          </a:p>
        </p:txBody>
      </p:sp>
    </p:spTree>
    <p:extLst>
      <p:ext uri="{BB962C8B-B14F-4D97-AF65-F5344CB8AC3E}">
        <p14:creationId xmlns:p14="http://schemas.microsoft.com/office/powerpoint/2010/main" val="16799384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C1FD7-34FC-544B-8CB6-B694A7FAEA5B}"/>
              </a:ext>
            </a:extLst>
          </p:cNvPr>
          <p:cNvSpPr>
            <a:spLocks noGrp="1"/>
          </p:cNvSpPr>
          <p:nvPr>
            <p:ph type="title"/>
          </p:nvPr>
        </p:nvSpPr>
        <p:spPr>
          <a:xfrm>
            <a:off x="3724072" y="629268"/>
            <a:ext cx="4939868" cy="1286160"/>
          </a:xfrm>
        </p:spPr>
        <p:txBody>
          <a:bodyPr anchor="b">
            <a:normAutofit/>
          </a:bodyPr>
          <a:lstStyle/>
          <a:p>
            <a:pPr>
              <a:lnSpc>
                <a:spcPct val="90000"/>
              </a:lnSpc>
            </a:pPr>
            <a:r>
              <a:rPr lang="en-US" sz="4100"/>
              <a:t>Activity – Crowdsourcing ideas</a:t>
            </a:r>
          </a:p>
        </p:txBody>
      </p:sp>
      <p:sp>
        <p:nvSpPr>
          <p:cNvPr id="3" name="Content Placeholder 2">
            <a:extLst>
              <a:ext uri="{FF2B5EF4-FFF2-40B4-BE49-F238E27FC236}">
                <a16:creationId xmlns:a16="http://schemas.microsoft.com/office/drawing/2014/main" id="{7231A2FD-99EA-634A-A510-D38D9253F39D}"/>
              </a:ext>
            </a:extLst>
          </p:cNvPr>
          <p:cNvSpPr>
            <a:spLocks noGrp="1"/>
          </p:cNvSpPr>
          <p:nvPr>
            <p:ph idx="1"/>
          </p:nvPr>
        </p:nvSpPr>
        <p:spPr>
          <a:xfrm>
            <a:off x="3724073" y="2438400"/>
            <a:ext cx="4939867" cy="3785419"/>
          </a:xfrm>
        </p:spPr>
        <p:txBody>
          <a:bodyPr>
            <a:normAutofit/>
          </a:bodyPr>
          <a:lstStyle/>
          <a:p>
            <a:r>
              <a:rPr lang="en-US" sz="1700" dirty="0"/>
              <a:t> There are many online innovation contests asking for user input.  </a:t>
            </a:r>
            <a:r>
              <a:rPr lang="en-GB" sz="1700" dirty="0"/>
              <a:t>Ask students to </a:t>
            </a:r>
            <a:r>
              <a:rPr lang="en-US" sz="1700" dirty="0"/>
              <a:t>research websites to find an opportunity to co-create and participate.  </a:t>
            </a:r>
          </a:p>
          <a:p>
            <a:endParaRPr lang="en-US" sz="1700" dirty="0"/>
          </a:p>
          <a:p>
            <a:r>
              <a:rPr lang="en-US" sz="1700" dirty="0"/>
              <a:t>Get them to review these and present back (using screen shots) explaining how they are being invited to participate in innovation.  What might the challenges be in using this approach to finding innovation opportunities for an organization?</a:t>
            </a:r>
          </a:p>
          <a:p>
            <a:endParaRPr lang="en-US" sz="1700" dirty="0"/>
          </a:p>
          <a:p>
            <a:r>
              <a:rPr lang="en-US" sz="1700" dirty="0"/>
              <a:t>(Thanks to Hagen </a:t>
            </a:r>
            <a:r>
              <a:rPr lang="en-US" sz="1700" dirty="0" err="1"/>
              <a:t>Habicht</a:t>
            </a:r>
            <a:r>
              <a:rPr lang="en-US" sz="1700" dirty="0"/>
              <a:t>, HHL Leipzig for suggesting this exercise)</a:t>
            </a:r>
          </a:p>
        </p:txBody>
      </p:sp>
      <p:pic>
        <p:nvPicPr>
          <p:cNvPr id="5" name="Picture 4">
            <a:extLst>
              <a:ext uri="{FF2B5EF4-FFF2-40B4-BE49-F238E27FC236}">
                <a16:creationId xmlns:a16="http://schemas.microsoft.com/office/drawing/2014/main" id="{7992C418-3D4F-4A94-BC85-1B222B887153}"/>
              </a:ext>
            </a:extLst>
          </p:cNvPr>
          <p:cNvPicPr>
            <a:picLocks noChangeAspect="1"/>
          </p:cNvPicPr>
          <p:nvPr/>
        </p:nvPicPr>
        <p:blipFill rotWithShape="1">
          <a:blip r:embed="rId2"/>
          <a:srcRect l="56540" r="12282"/>
          <a:stretch/>
        </p:blipFill>
        <p:spPr>
          <a:xfrm>
            <a:off x="20" y="10"/>
            <a:ext cx="3476673" cy="6857990"/>
          </a:xfrm>
          <a:prstGeom prst="rect">
            <a:avLst/>
          </a:prstGeom>
          <a:effectLst/>
        </p:spPr>
      </p:pic>
      <p:cxnSp>
        <p:nvCxnSpPr>
          <p:cNvPr id="9" name="Straight Connector 8">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810700" y="2115117"/>
            <a:ext cx="4732020" cy="0"/>
          </a:xfrm>
          <a:prstGeom prst="line">
            <a:avLst/>
          </a:prstGeom>
          <a:ln w="19050">
            <a:solidFill>
              <a:srgbClr val="F5E83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62733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F46C360-31E5-C74F-A909-9FDE3F69D66B}"/>
              </a:ext>
            </a:extLst>
          </p:cNvPr>
          <p:cNvSpPr>
            <a:spLocks noGrp="1"/>
          </p:cNvSpPr>
          <p:nvPr>
            <p:ph type="title"/>
          </p:nvPr>
        </p:nvSpPr>
        <p:spPr>
          <a:xfrm>
            <a:off x="515125" y="1153572"/>
            <a:ext cx="2400300" cy="4461163"/>
          </a:xfrm>
        </p:spPr>
        <p:txBody>
          <a:bodyPr>
            <a:normAutofit/>
          </a:bodyPr>
          <a:lstStyle/>
          <a:p>
            <a:r>
              <a:rPr lang="en-US" sz="2800">
                <a:solidFill>
                  <a:srgbClr val="FFFFFF"/>
                </a:solidFill>
              </a:rPr>
              <a:t>Activity: The challenge of customisation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9B610B6A-BFFC-BA4C-B17F-89E497DCCC05}"/>
              </a:ext>
            </a:extLst>
          </p:cNvPr>
          <p:cNvSpPr>
            <a:spLocks noGrp="1"/>
          </p:cNvSpPr>
          <p:nvPr>
            <p:ph idx="1"/>
          </p:nvPr>
        </p:nvSpPr>
        <p:spPr>
          <a:xfrm>
            <a:off x="3335481" y="591344"/>
            <a:ext cx="5179868" cy="5585619"/>
          </a:xfrm>
        </p:spPr>
        <p:txBody>
          <a:bodyPr anchor="ctr">
            <a:normAutofit/>
          </a:bodyPr>
          <a:lstStyle/>
          <a:p>
            <a:pPr>
              <a:lnSpc>
                <a:spcPct val="90000"/>
              </a:lnSpc>
              <a:buFont typeface="Arial"/>
              <a:buChar char="•"/>
            </a:pPr>
            <a:r>
              <a:rPr lang="en-US" sz="2000" dirty="0">
                <a:hlinkClick r:id="rId2"/>
              </a:rPr>
              <a:t>Look at the Model T Ford case and explore the innovations involved</a:t>
            </a:r>
            <a:endParaRPr lang="en-US" sz="2000" dirty="0"/>
          </a:p>
          <a:p>
            <a:pPr marL="0" indent="0">
              <a:lnSpc>
                <a:spcPct val="90000"/>
              </a:lnSpc>
              <a:buNone/>
            </a:pPr>
            <a:endParaRPr lang="en-GB" sz="2000" dirty="0"/>
          </a:p>
          <a:p>
            <a:pPr>
              <a:lnSpc>
                <a:spcPct val="90000"/>
              </a:lnSpc>
              <a:buFont typeface="Arial"/>
              <a:buChar char="•"/>
            </a:pPr>
            <a:r>
              <a:rPr lang="en-US" sz="2000" dirty="0"/>
              <a:t> Watch the Frank </a:t>
            </a:r>
            <a:r>
              <a:rPr lang="en-US" sz="2000" dirty="0" err="1"/>
              <a:t>Piller</a:t>
            </a:r>
            <a:r>
              <a:rPr lang="en-US" sz="2000" dirty="0"/>
              <a:t> video about the challenges in exploiting the new ‘mass customization’ opportunities and the implication of the ‘3D printing’ for business models</a:t>
            </a:r>
          </a:p>
          <a:p>
            <a:pPr>
              <a:lnSpc>
                <a:spcPct val="90000"/>
              </a:lnSpc>
            </a:pPr>
            <a:r>
              <a:rPr lang="en-US" sz="2000" dirty="0">
                <a:hlinkClick r:id="rId3"/>
              </a:rPr>
              <a:t>https://www.youtube.com/watch?v=4WsZUdbPKcI</a:t>
            </a:r>
            <a:endParaRPr lang="en-US" sz="2000" dirty="0"/>
          </a:p>
          <a:p>
            <a:pPr>
              <a:lnSpc>
                <a:spcPct val="90000"/>
              </a:lnSpc>
            </a:pPr>
            <a:endParaRPr lang="en-US" sz="2000" dirty="0"/>
          </a:p>
          <a:p>
            <a:pPr>
              <a:lnSpc>
                <a:spcPct val="90000"/>
              </a:lnSpc>
            </a:pPr>
            <a:r>
              <a:rPr lang="en-GB" sz="2000" dirty="0"/>
              <a:t>Ask students to study these cases and present about the challenges involved in delivering </a:t>
            </a:r>
            <a:r>
              <a:rPr lang="en-US" sz="2000" dirty="0"/>
              <a:t>mass customization. Then, ask students to design a customized offering and think about the innovation behind the scenes needed to bring it about.</a:t>
            </a:r>
            <a:endParaRPr lang="en-GB" sz="2000" dirty="0"/>
          </a:p>
          <a:p>
            <a:pPr>
              <a:lnSpc>
                <a:spcPct val="90000"/>
              </a:lnSpc>
            </a:pPr>
            <a:endParaRPr lang="en-US" sz="2000" dirty="0"/>
          </a:p>
        </p:txBody>
      </p:sp>
    </p:spTree>
    <p:extLst>
      <p:ext uri="{BB962C8B-B14F-4D97-AF65-F5344CB8AC3E}">
        <p14:creationId xmlns:p14="http://schemas.microsoft.com/office/powerpoint/2010/main" val="2609520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203B05F-BA2E-524A-BD91-45F55163ADB8}"/>
              </a:ext>
            </a:extLst>
          </p:cNvPr>
          <p:cNvSpPr>
            <a:spLocks noGrp="1"/>
          </p:cNvSpPr>
          <p:nvPr>
            <p:ph type="title"/>
          </p:nvPr>
        </p:nvSpPr>
        <p:spPr>
          <a:xfrm>
            <a:off x="515125" y="1153572"/>
            <a:ext cx="2400300" cy="4461163"/>
          </a:xfrm>
        </p:spPr>
        <p:txBody>
          <a:bodyPr>
            <a:normAutofit/>
          </a:bodyPr>
          <a:lstStyle/>
          <a:p>
            <a:r>
              <a:rPr lang="en-US" sz="3700">
                <a:solidFill>
                  <a:srgbClr val="FFFFFF"/>
                </a:solidFill>
              </a:rPr>
              <a:t>Activity: User-led innovation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4B3E0B63-E208-8C49-8EE2-86B76ECFAF97}"/>
              </a:ext>
            </a:extLst>
          </p:cNvPr>
          <p:cNvSpPr>
            <a:spLocks noGrp="1"/>
          </p:cNvSpPr>
          <p:nvPr>
            <p:ph idx="1"/>
          </p:nvPr>
        </p:nvSpPr>
        <p:spPr>
          <a:xfrm>
            <a:off x="3335481" y="591344"/>
            <a:ext cx="5179868" cy="5585619"/>
          </a:xfrm>
        </p:spPr>
        <p:txBody>
          <a:bodyPr anchor="ctr">
            <a:normAutofit/>
          </a:bodyPr>
          <a:lstStyle/>
          <a:p>
            <a:pPr>
              <a:lnSpc>
                <a:spcPct val="90000"/>
              </a:lnSpc>
            </a:pPr>
            <a:r>
              <a:rPr lang="en-US" sz="2200"/>
              <a:t>Watch these Von Hippel videos explaining user innovation methods:</a:t>
            </a:r>
            <a:endParaRPr lang="en-GB" sz="2200"/>
          </a:p>
          <a:p>
            <a:pPr>
              <a:lnSpc>
                <a:spcPct val="90000"/>
              </a:lnSpc>
            </a:pPr>
            <a:r>
              <a:rPr lang="en-US" sz="2200">
                <a:hlinkClick r:id="rId2"/>
              </a:rPr>
              <a:t>https://evhippel.mit.edu/teaching/</a:t>
            </a:r>
            <a:endParaRPr lang="en-US" sz="2200"/>
          </a:p>
          <a:p>
            <a:pPr>
              <a:lnSpc>
                <a:spcPct val="90000"/>
              </a:lnSpc>
            </a:pPr>
            <a:endParaRPr lang="en-GB" sz="2200"/>
          </a:p>
          <a:p>
            <a:pPr>
              <a:lnSpc>
                <a:spcPct val="90000"/>
              </a:lnSpc>
            </a:pPr>
            <a:r>
              <a:rPr lang="en-US" sz="2200"/>
              <a:t>Watch the ITN videos about user innovation</a:t>
            </a:r>
          </a:p>
          <a:p>
            <a:pPr>
              <a:lnSpc>
                <a:spcPct val="90000"/>
              </a:lnSpc>
            </a:pPr>
            <a:r>
              <a:rPr lang="en-GB" sz="2200">
                <a:hlinkClick r:id="rId3"/>
              </a:rPr>
              <a:t>https://youtu.be/FU9aewJRX9I</a:t>
            </a:r>
            <a:endParaRPr lang="en-GB" sz="2200"/>
          </a:p>
          <a:p>
            <a:pPr>
              <a:lnSpc>
                <a:spcPct val="90000"/>
              </a:lnSpc>
            </a:pPr>
            <a:r>
              <a:rPr lang="en-GB" sz="2200">
                <a:hlinkClick r:id="rId4"/>
              </a:rPr>
              <a:t>https://youtu.be/WkcnyY04mkY</a:t>
            </a:r>
            <a:endParaRPr lang="en-US" sz="2200"/>
          </a:p>
          <a:p>
            <a:pPr>
              <a:lnSpc>
                <a:spcPct val="90000"/>
              </a:lnSpc>
            </a:pPr>
            <a:endParaRPr lang="en-US" sz="2200"/>
          </a:p>
          <a:p>
            <a:pPr>
              <a:lnSpc>
                <a:spcPct val="90000"/>
              </a:lnSpc>
            </a:pPr>
            <a:r>
              <a:rPr lang="en-GB" sz="2200"/>
              <a:t>Ask students to study these resources and prepare a short report (or a presentation) on the main points involved in adopting this approach</a:t>
            </a:r>
            <a:r>
              <a:rPr lang="en-US" sz="2200"/>
              <a:t>.</a:t>
            </a:r>
            <a:endParaRPr lang="en-GB" sz="2200"/>
          </a:p>
          <a:p>
            <a:pPr>
              <a:lnSpc>
                <a:spcPct val="90000"/>
              </a:lnSpc>
            </a:pPr>
            <a:endParaRPr lang="en-US" sz="2200"/>
          </a:p>
        </p:txBody>
      </p:sp>
    </p:spTree>
    <p:extLst>
      <p:ext uri="{BB962C8B-B14F-4D97-AF65-F5344CB8AC3E}">
        <p14:creationId xmlns:p14="http://schemas.microsoft.com/office/powerpoint/2010/main" val="1874866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F9DC142-DDFA-824A-B478-56B3B6975277}"/>
              </a:ext>
            </a:extLst>
          </p:cNvPr>
          <p:cNvSpPr>
            <a:spLocks noGrp="1"/>
          </p:cNvSpPr>
          <p:nvPr>
            <p:ph type="title"/>
          </p:nvPr>
        </p:nvSpPr>
        <p:spPr>
          <a:xfrm>
            <a:off x="515125" y="1153572"/>
            <a:ext cx="2400300" cy="4461163"/>
          </a:xfrm>
        </p:spPr>
        <p:txBody>
          <a:bodyPr>
            <a:normAutofit/>
          </a:bodyPr>
          <a:lstStyle/>
          <a:p>
            <a:r>
              <a:rPr lang="en-US" sz="3100">
                <a:solidFill>
                  <a:srgbClr val="FFFFFF"/>
                </a:solidFill>
              </a:rPr>
              <a:t>Activity: Recombinant innovation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C217B456-3B44-C04C-898D-396AFACF6EC1}"/>
              </a:ext>
            </a:extLst>
          </p:cNvPr>
          <p:cNvSpPr>
            <a:spLocks noGrp="1"/>
          </p:cNvSpPr>
          <p:nvPr>
            <p:ph idx="1"/>
          </p:nvPr>
        </p:nvSpPr>
        <p:spPr>
          <a:xfrm>
            <a:off x="3335481" y="591344"/>
            <a:ext cx="5179868" cy="5585619"/>
          </a:xfrm>
        </p:spPr>
        <p:txBody>
          <a:bodyPr anchor="ctr">
            <a:normAutofit/>
          </a:bodyPr>
          <a:lstStyle/>
          <a:p>
            <a:pPr>
              <a:lnSpc>
                <a:spcPct val="90000"/>
              </a:lnSpc>
            </a:pPr>
            <a:r>
              <a:rPr lang="en-US" sz="2200" dirty="0"/>
              <a:t>Read the </a:t>
            </a:r>
            <a:r>
              <a:rPr lang="en-US" sz="2200" dirty="0">
                <a:hlinkClick r:id="rId2"/>
              </a:rPr>
              <a:t>blog piece on recombinant innovation</a:t>
            </a:r>
            <a:endParaRPr lang="en-US" sz="2200" dirty="0"/>
          </a:p>
          <a:p>
            <a:pPr>
              <a:lnSpc>
                <a:spcPct val="90000"/>
              </a:lnSpc>
            </a:pPr>
            <a:endParaRPr lang="en-US" sz="2200" dirty="0"/>
          </a:p>
          <a:p>
            <a:pPr>
              <a:lnSpc>
                <a:spcPct val="90000"/>
              </a:lnSpc>
            </a:pPr>
            <a:r>
              <a:rPr lang="en-US" sz="2200" dirty="0"/>
              <a:t>Look at the </a:t>
            </a:r>
            <a:r>
              <a:rPr lang="en-US" sz="2200" dirty="0">
                <a:hlinkClick r:id="rId3"/>
              </a:rPr>
              <a:t>Aravind case study </a:t>
            </a:r>
            <a:r>
              <a:rPr lang="en-US" sz="2200" dirty="0"/>
              <a:t>where eye clinics particularly took inspiration from McDonalds</a:t>
            </a:r>
          </a:p>
          <a:p>
            <a:pPr>
              <a:lnSpc>
                <a:spcPct val="90000"/>
              </a:lnSpc>
            </a:pPr>
            <a:endParaRPr lang="en-GB" sz="2200" dirty="0"/>
          </a:p>
          <a:p>
            <a:pPr>
              <a:lnSpc>
                <a:spcPct val="90000"/>
              </a:lnSpc>
            </a:pPr>
            <a:endParaRPr lang="en-GB" sz="2200" dirty="0"/>
          </a:p>
          <a:p>
            <a:pPr>
              <a:lnSpc>
                <a:spcPct val="90000"/>
              </a:lnSpc>
            </a:pPr>
            <a:endParaRPr lang="en-GB" sz="2200" dirty="0"/>
          </a:p>
          <a:p>
            <a:pPr>
              <a:lnSpc>
                <a:spcPct val="90000"/>
              </a:lnSpc>
            </a:pPr>
            <a:r>
              <a:rPr lang="en-GB" sz="2200" dirty="0"/>
              <a:t>Ask students </a:t>
            </a:r>
            <a:r>
              <a:rPr lang="en-US" sz="2200" dirty="0"/>
              <a:t>to find a problem area in an organization and then look for analogue industries/areas from where they can learn.</a:t>
            </a:r>
            <a:endParaRPr lang="en-GB" sz="2200" dirty="0"/>
          </a:p>
          <a:p>
            <a:pPr>
              <a:lnSpc>
                <a:spcPct val="90000"/>
              </a:lnSpc>
            </a:pPr>
            <a:endParaRPr lang="en-US" sz="2200" dirty="0"/>
          </a:p>
        </p:txBody>
      </p:sp>
    </p:spTree>
    <p:extLst>
      <p:ext uri="{BB962C8B-B14F-4D97-AF65-F5344CB8AC3E}">
        <p14:creationId xmlns:p14="http://schemas.microsoft.com/office/powerpoint/2010/main" val="6749622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4A4B29D-8EF9-244D-9245-67FC697C6A25}"/>
              </a:ext>
            </a:extLst>
          </p:cNvPr>
          <p:cNvSpPr>
            <a:spLocks noGrp="1"/>
          </p:cNvSpPr>
          <p:nvPr>
            <p:ph type="title"/>
          </p:nvPr>
        </p:nvSpPr>
        <p:spPr>
          <a:xfrm>
            <a:off x="515125" y="1153572"/>
            <a:ext cx="2400300" cy="4461163"/>
          </a:xfrm>
        </p:spPr>
        <p:txBody>
          <a:bodyPr>
            <a:normAutofit/>
          </a:bodyPr>
          <a:lstStyle/>
          <a:p>
            <a:r>
              <a:rPr lang="en-US">
                <a:solidFill>
                  <a:srgbClr val="FFFFFF"/>
                </a:solidFill>
              </a:rPr>
              <a:t>Activity: Learning from others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37744473-C8F5-DE45-9397-F16D067BD054}"/>
              </a:ext>
            </a:extLst>
          </p:cNvPr>
          <p:cNvSpPr>
            <a:spLocks noGrp="1"/>
          </p:cNvSpPr>
          <p:nvPr>
            <p:ph idx="1"/>
          </p:nvPr>
        </p:nvSpPr>
        <p:spPr>
          <a:xfrm>
            <a:off x="3335481" y="591344"/>
            <a:ext cx="5179868" cy="5585619"/>
          </a:xfrm>
        </p:spPr>
        <p:txBody>
          <a:bodyPr anchor="ctr">
            <a:normAutofit/>
          </a:bodyPr>
          <a:lstStyle/>
          <a:p>
            <a:pPr marL="0" indent="0">
              <a:lnSpc>
                <a:spcPct val="90000"/>
              </a:lnSpc>
              <a:buNone/>
            </a:pPr>
            <a:r>
              <a:rPr lang="en-US" sz="2500" dirty="0">
                <a:hlinkClick r:id="rId2"/>
              </a:rPr>
              <a:t>On the website there are tools to explore on:</a:t>
            </a:r>
            <a:endParaRPr lang="en-US" sz="2500" dirty="0"/>
          </a:p>
          <a:p>
            <a:pPr>
              <a:lnSpc>
                <a:spcPct val="90000"/>
              </a:lnSpc>
              <a:buFont typeface="Arial"/>
              <a:buChar char="•"/>
            </a:pPr>
            <a:r>
              <a:rPr lang="en-US" sz="2500" dirty="0"/>
              <a:t> Benchmarking</a:t>
            </a:r>
          </a:p>
          <a:p>
            <a:pPr>
              <a:lnSpc>
                <a:spcPct val="90000"/>
              </a:lnSpc>
            </a:pPr>
            <a:r>
              <a:rPr lang="en-US" sz="2500" dirty="0"/>
              <a:t>Competitiveness profiling</a:t>
            </a:r>
          </a:p>
          <a:p>
            <a:pPr>
              <a:lnSpc>
                <a:spcPct val="90000"/>
              </a:lnSpc>
            </a:pPr>
            <a:r>
              <a:rPr lang="en-US" sz="2500" dirty="0"/>
              <a:t>Value curves (Blue Ocean)</a:t>
            </a:r>
            <a:endParaRPr lang="en-GB" sz="2500" dirty="0"/>
          </a:p>
          <a:p>
            <a:pPr>
              <a:lnSpc>
                <a:spcPct val="90000"/>
              </a:lnSpc>
            </a:pPr>
            <a:endParaRPr lang="en-US" sz="2500" dirty="0"/>
          </a:p>
          <a:p>
            <a:pPr>
              <a:lnSpc>
                <a:spcPct val="90000"/>
              </a:lnSpc>
            </a:pPr>
            <a:endParaRPr lang="en-US" sz="2500" dirty="0"/>
          </a:p>
          <a:p>
            <a:pPr>
              <a:lnSpc>
                <a:spcPct val="90000"/>
              </a:lnSpc>
            </a:pPr>
            <a:r>
              <a:rPr lang="en-US" sz="2500" dirty="0"/>
              <a:t>Activity - </a:t>
            </a:r>
            <a:r>
              <a:rPr lang="en-GB" sz="2500" dirty="0"/>
              <a:t>ask students to provide examples on how these tools could be used to find opportunities for </a:t>
            </a:r>
            <a:r>
              <a:rPr lang="en-US" sz="2500" dirty="0"/>
              <a:t>product and/or process innovation</a:t>
            </a:r>
            <a:r>
              <a:rPr lang="en-GB" sz="2500" dirty="0"/>
              <a:t> </a:t>
            </a:r>
          </a:p>
          <a:p>
            <a:pPr>
              <a:lnSpc>
                <a:spcPct val="90000"/>
              </a:lnSpc>
            </a:pPr>
            <a:endParaRPr lang="en-US" sz="2500" dirty="0"/>
          </a:p>
        </p:txBody>
      </p:sp>
    </p:spTree>
    <p:extLst>
      <p:ext uri="{BB962C8B-B14F-4D97-AF65-F5344CB8AC3E}">
        <p14:creationId xmlns:p14="http://schemas.microsoft.com/office/powerpoint/2010/main" val="32785879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A9FD5FF-A0F7-AC4D-84D6-54876FE31276}"/>
              </a:ext>
            </a:extLst>
          </p:cNvPr>
          <p:cNvSpPr>
            <a:spLocks noGrp="1"/>
          </p:cNvSpPr>
          <p:nvPr>
            <p:ph type="title"/>
          </p:nvPr>
        </p:nvSpPr>
        <p:spPr>
          <a:xfrm>
            <a:off x="515125" y="1153572"/>
            <a:ext cx="2400300" cy="4461163"/>
          </a:xfrm>
        </p:spPr>
        <p:txBody>
          <a:bodyPr>
            <a:normAutofit/>
          </a:bodyPr>
          <a:lstStyle/>
          <a:p>
            <a:r>
              <a:rPr lang="en-US" sz="3700">
                <a:solidFill>
                  <a:srgbClr val="FFFFFF"/>
                </a:solidFill>
              </a:rPr>
              <a:t>Activity: Regulation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6CE8BCC6-FD5B-9340-AD84-E5D673CDACC4}"/>
              </a:ext>
            </a:extLst>
          </p:cNvPr>
          <p:cNvSpPr>
            <a:spLocks noGrp="1"/>
          </p:cNvSpPr>
          <p:nvPr>
            <p:ph idx="1"/>
          </p:nvPr>
        </p:nvSpPr>
        <p:spPr>
          <a:xfrm>
            <a:off x="3335481" y="591344"/>
            <a:ext cx="5179868" cy="5585619"/>
          </a:xfrm>
        </p:spPr>
        <p:txBody>
          <a:bodyPr anchor="ctr">
            <a:normAutofit/>
          </a:bodyPr>
          <a:lstStyle/>
          <a:p>
            <a:r>
              <a:rPr lang="en-GB" dirty="0"/>
              <a:t>Ask students to </a:t>
            </a:r>
            <a:r>
              <a:rPr lang="en-US" dirty="0"/>
              <a:t>research an example of a regulated sector and highlight how innovation happens in response to this, and to try and get around this.</a:t>
            </a:r>
          </a:p>
        </p:txBody>
      </p:sp>
    </p:spTree>
    <p:extLst>
      <p:ext uri="{BB962C8B-B14F-4D97-AF65-F5344CB8AC3E}">
        <p14:creationId xmlns:p14="http://schemas.microsoft.com/office/powerpoint/2010/main" val="10299906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22A1562-28E9-A343-AC50-7BEA161480FD}"/>
              </a:ext>
            </a:extLst>
          </p:cNvPr>
          <p:cNvSpPr>
            <a:spLocks noGrp="1"/>
          </p:cNvSpPr>
          <p:nvPr>
            <p:ph type="title"/>
          </p:nvPr>
        </p:nvSpPr>
        <p:spPr>
          <a:xfrm>
            <a:off x="515125" y="1153572"/>
            <a:ext cx="2400300" cy="4461163"/>
          </a:xfrm>
        </p:spPr>
        <p:txBody>
          <a:bodyPr>
            <a:normAutofit/>
          </a:bodyPr>
          <a:lstStyle/>
          <a:p>
            <a:r>
              <a:rPr lang="en-US" sz="3700">
                <a:solidFill>
                  <a:srgbClr val="FFFFFF"/>
                </a:solidFill>
              </a:rPr>
              <a:t>Activity: Futures and forecasting</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11C2B6E2-B221-9A44-A63F-0CA2B2536E93}"/>
              </a:ext>
            </a:extLst>
          </p:cNvPr>
          <p:cNvSpPr>
            <a:spLocks noGrp="1"/>
          </p:cNvSpPr>
          <p:nvPr>
            <p:ph idx="1"/>
          </p:nvPr>
        </p:nvSpPr>
        <p:spPr>
          <a:xfrm>
            <a:off x="3335481" y="591344"/>
            <a:ext cx="5179868" cy="5585619"/>
          </a:xfrm>
        </p:spPr>
        <p:txBody>
          <a:bodyPr anchor="ctr">
            <a:normAutofit/>
          </a:bodyPr>
          <a:lstStyle/>
          <a:p>
            <a:pPr>
              <a:lnSpc>
                <a:spcPct val="90000"/>
              </a:lnSpc>
            </a:pPr>
            <a:r>
              <a:rPr lang="en-US" sz="2700" dirty="0"/>
              <a:t>Ask students to make use of some of the tools in the </a:t>
            </a:r>
            <a:r>
              <a:rPr lang="en-US" sz="2700" dirty="0">
                <a:hlinkClick r:id="rId2"/>
              </a:rPr>
              <a:t>Futures Toolkit to present </a:t>
            </a:r>
            <a:r>
              <a:rPr lang="en-US" sz="2700" dirty="0"/>
              <a:t>pictures/scenarios of the future and potential innovation opportunities emerging from this. </a:t>
            </a:r>
          </a:p>
          <a:p>
            <a:pPr>
              <a:lnSpc>
                <a:spcPct val="90000"/>
              </a:lnSpc>
            </a:pPr>
            <a:endParaRPr lang="en-US" sz="2700" dirty="0"/>
          </a:p>
          <a:p>
            <a:pPr>
              <a:lnSpc>
                <a:spcPct val="90000"/>
              </a:lnSpc>
            </a:pPr>
            <a:r>
              <a:rPr lang="en-US" sz="2700" dirty="0"/>
              <a:t>As a variant you could allocate different tools to each group of students and ask them to compare their usefulness.</a:t>
            </a:r>
          </a:p>
          <a:p>
            <a:pPr>
              <a:lnSpc>
                <a:spcPct val="90000"/>
              </a:lnSpc>
            </a:pPr>
            <a:endParaRPr lang="en-US" sz="2700" dirty="0"/>
          </a:p>
        </p:txBody>
      </p:sp>
    </p:spTree>
    <p:extLst>
      <p:ext uri="{BB962C8B-B14F-4D97-AF65-F5344CB8AC3E}">
        <p14:creationId xmlns:p14="http://schemas.microsoft.com/office/powerpoint/2010/main" val="350384779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29D90D4-23C0-F240-A6A0-54B9B2F1985B}"/>
              </a:ext>
            </a:extLst>
          </p:cNvPr>
          <p:cNvSpPr>
            <a:spLocks noGrp="1"/>
          </p:cNvSpPr>
          <p:nvPr>
            <p:ph type="title"/>
          </p:nvPr>
        </p:nvSpPr>
        <p:spPr>
          <a:xfrm>
            <a:off x="515125" y="1153572"/>
            <a:ext cx="2400300" cy="4461163"/>
          </a:xfrm>
        </p:spPr>
        <p:txBody>
          <a:bodyPr>
            <a:normAutofit/>
          </a:bodyPr>
          <a:lstStyle/>
          <a:p>
            <a:r>
              <a:rPr lang="en-US" sz="3700">
                <a:solidFill>
                  <a:srgbClr val="FFFFFF"/>
                </a:solidFill>
              </a:rPr>
              <a:t>Activity: Accidental innovation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97CB95A0-2EC5-5E47-97A3-4F1622F56BB7}"/>
              </a:ext>
            </a:extLst>
          </p:cNvPr>
          <p:cNvSpPr>
            <a:spLocks noGrp="1"/>
          </p:cNvSpPr>
          <p:nvPr>
            <p:ph idx="1"/>
          </p:nvPr>
        </p:nvSpPr>
        <p:spPr>
          <a:xfrm>
            <a:off x="3335481" y="591344"/>
            <a:ext cx="5179868" cy="5585619"/>
          </a:xfrm>
        </p:spPr>
        <p:txBody>
          <a:bodyPr anchor="ctr">
            <a:normAutofit/>
          </a:bodyPr>
          <a:lstStyle/>
          <a:p>
            <a:pPr lvl="0">
              <a:lnSpc>
                <a:spcPct val="90000"/>
              </a:lnSpc>
            </a:pPr>
            <a:r>
              <a:rPr lang="en-GB" sz="2700"/>
              <a:t>Read the </a:t>
            </a:r>
            <a:r>
              <a:rPr lang="en-GB" sz="2700">
                <a:hlinkClick r:id="rId2"/>
              </a:rPr>
              <a:t>blog post on accidental innovation</a:t>
            </a:r>
            <a:endParaRPr lang="en-GB" sz="2700"/>
          </a:p>
          <a:p>
            <a:pPr lvl="0">
              <a:lnSpc>
                <a:spcPct val="90000"/>
              </a:lnSpc>
            </a:pPr>
            <a:endParaRPr lang="en-GB" sz="2700"/>
          </a:p>
          <a:p>
            <a:pPr lvl="0">
              <a:lnSpc>
                <a:spcPct val="90000"/>
              </a:lnSpc>
            </a:pPr>
            <a:r>
              <a:rPr lang="en-GB" sz="2700"/>
              <a:t>Ask students to research examples of innovations which have come about by accident, and prepare a presentation describing the story and the lessons which it offers innovation management.</a:t>
            </a:r>
          </a:p>
          <a:p>
            <a:pPr lvl="0">
              <a:lnSpc>
                <a:spcPct val="90000"/>
              </a:lnSpc>
            </a:pPr>
            <a:endParaRPr lang="en-GB" sz="2700"/>
          </a:p>
          <a:p>
            <a:pPr lvl="0">
              <a:lnSpc>
                <a:spcPct val="90000"/>
              </a:lnSpc>
            </a:pPr>
            <a:r>
              <a:rPr lang="en-GB" sz="2700"/>
              <a:t>(Examples might be Post-it notes, Viagra)</a:t>
            </a:r>
          </a:p>
          <a:p>
            <a:pPr>
              <a:lnSpc>
                <a:spcPct val="90000"/>
              </a:lnSpc>
            </a:pPr>
            <a:endParaRPr lang="en-US" sz="2700"/>
          </a:p>
        </p:txBody>
      </p:sp>
    </p:spTree>
    <p:extLst>
      <p:ext uri="{BB962C8B-B14F-4D97-AF65-F5344CB8AC3E}">
        <p14:creationId xmlns:p14="http://schemas.microsoft.com/office/powerpoint/2010/main" val="1944518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F3E2-DE82-684F-AB96-D65AACA856AA}"/>
              </a:ext>
            </a:extLst>
          </p:cNvPr>
          <p:cNvSpPr>
            <a:spLocks noGrp="1"/>
          </p:cNvSpPr>
          <p:nvPr>
            <p:ph type="title"/>
          </p:nvPr>
        </p:nvSpPr>
        <p:spPr>
          <a:xfrm>
            <a:off x="515125" y="1153572"/>
            <a:ext cx="2400300" cy="4461163"/>
          </a:xfrm>
        </p:spPr>
        <p:txBody>
          <a:bodyPr>
            <a:normAutofit/>
          </a:bodyPr>
          <a:lstStyle/>
          <a:p>
            <a:r>
              <a:rPr lang="en-US">
                <a:solidFill>
                  <a:srgbClr val="FFFFFF"/>
                </a:solidFill>
              </a:rPr>
              <a:t>Cases </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7FC5492F-86A8-4E4C-88C3-DE87089A6DE2}"/>
              </a:ext>
            </a:extLst>
          </p:cNvPr>
          <p:cNvSpPr>
            <a:spLocks noGrp="1"/>
          </p:cNvSpPr>
          <p:nvPr>
            <p:ph idx="1"/>
          </p:nvPr>
        </p:nvSpPr>
        <p:spPr>
          <a:xfrm>
            <a:off x="3335481" y="591344"/>
            <a:ext cx="5179868" cy="5585619"/>
          </a:xfrm>
        </p:spPr>
        <p:txBody>
          <a:bodyPr anchor="ctr">
            <a:normAutofit lnSpcReduction="10000"/>
          </a:bodyPr>
          <a:lstStyle/>
          <a:p>
            <a:r>
              <a:rPr lang="en-US" dirty="0">
                <a:hlinkClick r:id="rId2"/>
              </a:rPr>
              <a:t>There are several case studies </a:t>
            </a:r>
            <a:r>
              <a:rPr lang="en-US" dirty="0"/>
              <a:t>which highlight key themes in the chapter, including:</a:t>
            </a:r>
          </a:p>
          <a:p>
            <a:r>
              <a:rPr lang="en-US" dirty="0"/>
              <a:t>M-PESA, Field Ready, </a:t>
            </a:r>
            <a:r>
              <a:rPr lang="en-US" dirty="0" err="1"/>
              <a:t>Lifespring</a:t>
            </a:r>
            <a:r>
              <a:rPr lang="en-US" dirty="0"/>
              <a:t> Hospitals, Aravind and NHL where extreme conditions trigger new innovation directions</a:t>
            </a:r>
          </a:p>
          <a:p>
            <a:r>
              <a:rPr lang="en-US" dirty="0"/>
              <a:t>Humanitarian innovation as an example of crisis as a driver</a:t>
            </a:r>
          </a:p>
        </p:txBody>
      </p:sp>
    </p:spTree>
    <p:extLst>
      <p:ext uri="{BB962C8B-B14F-4D97-AF65-F5344CB8AC3E}">
        <p14:creationId xmlns:p14="http://schemas.microsoft.com/office/powerpoint/2010/main" val="429458259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770AC62-2C95-EC48-9823-6CE6CB63D4AE}"/>
              </a:ext>
            </a:extLst>
          </p:cNvPr>
          <p:cNvSpPr>
            <a:spLocks noGrp="1"/>
          </p:cNvSpPr>
          <p:nvPr>
            <p:ph type="title"/>
          </p:nvPr>
        </p:nvSpPr>
        <p:spPr>
          <a:xfrm>
            <a:off x="515125" y="1153572"/>
            <a:ext cx="2400300" cy="4461163"/>
          </a:xfrm>
        </p:spPr>
        <p:txBody>
          <a:bodyPr>
            <a:normAutofit/>
          </a:bodyPr>
          <a:lstStyle/>
          <a:p>
            <a:r>
              <a:rPr lang="en-US">
                <a:solidFill>
                  <a:srgbClr val="FFFFFF"/>
                </a:solidFill>
              </a:rPr>
              <a:t>Cases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EDDCBD07-2D35-C542-964B-A9C5A5146880}"/>
              </a:ext>
            </a:extLst>
          </p:cNvPr>
          <p:cNvSpPr>
            <a:spLocks noGrp="1"/>
          </p:cNvSpPr>
          <p:nvPr>
            <p:ph idx="1"/>
          </p:nvPr>
        </p:nvSpPr>
        <p:spPr>
          <a:xfrm>
            <a:off x="3335481" y="591344"/>
            <a:ext cx="5179868" cy="5585619"/>
          </a:xfrm>
        </p:spPr>
        <p:txBody>
          <a:bodyPr anchor="ctr">
            <a:normAutofit/>
          </a:bodyPr>
          <a:lstStyle/>
          <a:p>
            <a:pPr>
              <a:lnSpc>
                <a:spcPct val="90000"/>
              </a:lnSpc>
            </a:pPr>
            <a:r>
              <a:rPr lang="en-GB" sz="1800" dirty="0"/>
              <a:t>Spirit, a Russian company which draws on the extensive knowledge base built up during the Cold War around voice recognition technology to provide solutions for major global companies like Cisco and Oracle</a:t>
            </a:r>
          </a:p>
          <a:p>
            <a:pPr>
              <a:lnSpc>
                <a:spcPct val="90000"/>
              </a:lnSpc>
            </a:pPr>
            <a:endParaRPr lang="en-GB" sz="1800" dirty="0"/>
          </a:p>
          <a:p>
            <a:pPr>
              <a:lnSpc>
                <a:spcPct val="90000"/>
              </a:lnSpc>
            </a:pPr>
            <a:r>
              <a:rPr lang="en-GB" sz="1800" dirty="0"/>
              <a:t>Dyson demonstrates a similar theme, using a science-based approach to rethink appliances like washing machines, cooling fans and hand driers</a:t>
            </a:r>
          </a:p>
          <a:p>
            <a:pPr>
              <a:lnSpc>
                <a:spcPct val="90000"/>
              </a:lnSpc>
            </a:pPr>
            <a:endParaRPr lang="en-GB" sz="1800" dirty="0"/>
          </a:p>
          <a:p>
            <a:pPr>
              <a:lnSpc>
                <a:spcPct val="90000"/>
              </a:lnSpc>
            </a:pPr>
            <a:r>
              <a:rPr lang="en-GB" sz="1800" dirty="0"/>
              <a:t>Case studies of Philips, Kodak and Cerulean that offer examples of disruptive innovation challenges and responses</a:t>
            </a:r>
          </a:p>
          <a:p>
            <a:pPr>
              <a:lnSpc>
                <a:spcPct val="90000"/>
              </a:lnSpc>
            </a:pPr>
            <a:endParaRPr lang="en-GB" sz="1800" dirty="0"/>
          </a:p>
          <a:p>
            <a:pPr>
              <a:lnSpc>
                <a:spcPct val="90000"/>
              </a:lnSpc>
            </a:pPr>
            <a:r>
              <a:rPr lang="en-GB" sz="1800" dirty="0"/>
              <a:t>Case studies of Lego, Adidas and Threadless which illustrate the move toward mass customization</a:t>
            </a:r>
          </a:p>
          <a:p>
            <a:pPr>
              <a:lnSpc>
                <a:spcPct val="90000"/>
              </a:lnSpc>
            </a:pPr>
            <a:endParaRPr lang="en-US" sz="1800" dirty="0"/>
          </a:p>
        </p:txBody>
      </p:sp>
    </p:spTree>
    <p:extLst>
      <p:ext uri="{BB962C8B-B14F-4D97-AF65-F5344CB8AC3E}">
        <p14:creationId xmlns:p14="http://schemas.microsoft.com/office/powerpoint/2010/main" val="40599641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B0ECC2-C859-444D-9B8B-F97B01BDE76F}"/>
              </a:ext>
            </a:extLst>
          </p:cNvPr>
          <p:cNvSpPr>
            <a:spLocks noGrp="1"/>
          </p:cNvSpPr>
          <p:nvPr>
            <p:ph type="title"/>
          </p:nvPr>
        </p:nvSpPr>
        <p:spPr>
          <a:xfrm>
            <a:off x="515125" y="1153572"/>
            <a:ext cx="2400300" cy="4461163"/>
          </a:xfrm>
        </p:spPr>
        <p:txBody>
          <a:bodyPr>
            <a:normAutofit/>
          </a:bodyPr>
          <a:lstStyle/>
          <a:p>
            <a:r>
              <a:rPr lang="en-US">
                <a:solidFill>
                  <a:srgbClr val="FFFFFF"/>
                </a:solidFill>
              </a:rPr>
              <a:t>Cases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18B00881-EEED-E74B-B870-BD35313FDB2A}"/>
              </a:ext>
            </a:extLst>
          </p:cNvPr>
          <p:cNvSpPr>
            <a:spLocks noGrp="1"/>
          </p:cNvSpPr>
          <p:nvPr>
            <p:ph idx="1"/>
          </p:nvPr>
        </p:nvSpPr>
        <p:spPr>
          <a:xfrm>
            <a:off x="3449007" y="692696"/>
            <a:ext cx="5179868" cy="5585619"/>
          </a:xfrm>
        </p:spPr>
        <p:txBody>
          <a:bodyPr anchor="ctr">
            <a:noAutofit/>
          </a:bodyPr>
          <a:lstStyle/>
          <a:p>
            <a:pPr>
              <a:lnSpc>
                <a:spcPct val="90000"/>
              </a:lnSpc>
            </a:pPr>
            <a:r>
              <a:rPr lang="en-GB" sz="2000" dirty="0"/>
              <a:t>Case study of Kodak which has been able to reuse its strong knowledge base in coating photographic film (which became redundant as the industry moved to digital images) in the field of high speed, high volume printing. </a:t>
            </a:r>
          </a:p>
          <a:p>
            <a:pPr>
              <a:lnSpc>
                <a:spcPct val="90000"/>
              </a:lnSpc>
            </a:pPr>
            <a:endParaRPr lang="en-GB" sz="2000" dirty="0"/>
          </a:p>
          <a:p>
            <a:pPr>
              <a:lnSpc>
                <a:spcPct val="90000"/>
              </a:lnSpc>
            </a:pPr>
            <a:r>
              <a:rPr lang="en-GB" sz="2000" dirty="0"/>
              <a:t>There is also a case study of Fujifilm which made a similar move away from photography, deploying its deep knowledge base to enter new fields in skincare</a:t>
            </a:r>
          </a:p>
          <a:p>
            <a:pPr>
              <a:lnSpc>
                <a:spcPct val="90000"/>
              </a:lnSpc>
            </a:pPr>
            <a:endParaRPr lang="en-GB" sz="2000" dirty="0"/>
          </a:p>
          <a:p>
            <a:pPr>
              <a:lnSpc>
                <a:spcPct val="90000"/>
              </a:lnSpc>
            </a:pPr>
            <a:r>
              <a:rPr lang="en-GB" sz="2000" dirty="0"/>
              <a:t>Aravind, NHL and </a:t>
            </a:r>
            <a:r>
              <a:rPr lang="en-GB" sz="2000" dirty="0" err="1"/>
              <a:t>Lifespring</a:t>
            </a:r>
            <a:r>
              <a:rPr lang="en-GB" sz="2000" dirty="0"/>
              <a:t> all offer insights into how emerging and underserved markets can drive different innovation trajectories</a:t>
            </a:r>
          </a:p>
          <a:p>
            <a:pPr>
              <a:lnSpc>
                <a:spcPct val="90000"/>
              </a:lnSpc>
            </a:pPr>
            <a:endParaRPr lang="en-GB" sz="2000" dirty="0"/>
          </a:p>
          <a:p>
            <a:pPr>
              <a:lnSpc>
                <a:spcPct val="90000"/>
              </a:lnSpc>
            </a:pPr>
            <a:r>
              <a:rPr lang="en-GB" sz="2000" dirty="0"/>
              <a:t>Yellowberry gives an insight into user innovation</a:t>
            </a:r>
          </a:p>
          <a:p>
            <a:pPr marL="0" indent="0">
              <a:lnSpc>
                <a:spcPct val="90000"/>
              </a:lnSpc>
              <a:buNone/>
            </a:pPr>
            <a:endParaRPr lang="en-GB" sz="2000" dirty="0"/>
          </a:p>
          <a:p>
            <a:pPr>
              <a:lnSpc>
                <a:spcPct val="90000"/>
              </a:lnSpc>
            </a:pPr>
            <a:r>
              <a:rPr lang="en-GB" sz="2000" dirty="0"/>
              <a:t>Lego, Threadless and Local Motors all offer insights into how user communities can be mobilized to support innovation</a:t>
            </a:r>
          </a:p>
          <a:p>
            <a:pPr>
              <a:lnSpc>
                <a:spcPct val="90000"/>
              </a:lnSpc>
            </a:pPr>
            <a:endParaRPr lang="en-US" sz="2000" dirty="0"/>
          </a:p>
        </p:txBody>
      </p:sp>
    </p:spTree>
    <p:extLst>
      <p:ext uri="{BB962C8B-B14F-4D97-AF65-F5344CB8AC3E}">
        <p14:creationId xmlns:p14="http://schemas.microsoft.com/office/powerpoint/2010/main" val="90381045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6C1D9D-5D54-BF4B-80E1-5BB401299C18}"/>
              </a:ext>
            </a:extLst>
          </p:cNvPr>
          <p:cNvSpPr>
            <a:spLocks noGrp="1"/>
          </p:cNvSpPr>
          <p:nvPr>
            <p:ph type="title"/>
          </p:nvPr>
        </p:nvSpPr>
        <p:spPr>
          <a:xfrm>
            <a:off x="515125" y="1153572"/>
            <a:ext cx="2400300" cy="4461163"/>
          </a:xfrm>
        </p:spPr>
        <p:txBody>
          <a:bodyPr>
            <a:normAutofit/>
          </a:bodyPr>
          <a:lstStyle/>
          <a:p>
            <a:r>
              <a:rPr lang="en-US" dirty="0">
                <a:solidFill>
                  <a:srgbClr val="FFFFFF"/>
                </a:solidFill>
              </a:rPr>
              <a:t>Cases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44E8E085-1930-6744-B940-618ABFBC5ACC}"/>
              </a:ext>
            </a:extLst>
          </p:cNvPr>
          <p:cNvSpPr>
            <a:spLocks noGrp="1"/>
          </p:cNvSpPr>
          <p:nvPr>
            <p:ph idx="1"/>
          </p:nvPr>
        </p:nvSpPr>
        <p:spPr>
          <a:xfrm>
            <a:off x="3335481" y="591344"/>
            <a:ext cx="5179868" cy="5585619"/>
          </a:xfrm>
        </p:spPr>
        <p:txBody>
          <a:bodyPr anchor="ctr">
            <a:normAutofit/>
          </a:bodyPr>
          <a:lstStyle/>
          <a:p>
            <a:r>
              <a:rPr lang="en-GB" dirty="0"/>
              <a:t>Follow the link below to listen to a podcast on how architecture firm, Elemental, responded to a 2010 earthquake in </a:t>
            </a:r>
            <a:r>
              <a:rPr lang="en-GB" dirty="0" err="1"/>
              <a:t>Constitución</a:t>
            </a:r>
            <a:r>
              <a:rPr lang="en-GB" dirty="0"/>
              <a:t>, Chile</a:t>
            </a:r>
          </a:p>
          <a:p>
            <a:endParaRPr lang="en-GB" dirty="0"/>
          </a:p>
          <a:p>
            <a:r>
              <a:rPr lang="en-GB" dirty="0">
                <a:hlinkClick r:id="rId2"/>
              </a:rPr>
              <a:t>https://99percentinvisible.org/episode/half-a-house/</a:t>
            </a:r>
            <a:endParaRPr lang="en-GB" dirty="0"/>
          </a:p>
          <a:p>
            <a:endParaRPr lang="en-GB" dirty="0">
              <a:solidFill>
                <a:srgbClr val="FF0000"/>
              </a:solidFill>
            </a:endParaRPr>
          </a:p>
          <a:p>
            <a:endParaRPr lang="en-US" dirty="0"/>
          </a:p>
        </p:txBody>
      </p:sp>
    </p:spTree>
    <p:extLst>
      <p:ext uri="{BB962C8B-B14F-4D97-AF65-F5344CB8AC3E}">
        <p14:creationId xmlns:p14="http://schemas.microsoft.com/office/powerpoint/2010/main" val="335929731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262F87A-B1B7-FD4A-A39A-50818E83FC0B}"/>
              </a:ext>
            </a:extLst>
          </p:cNvPr>
          <p:cNvSpPr>
            <a:spLocks noGrp="1"/>
          </p:cNvSpPr>
          <p:nvPr>
            <p:ph type="title"/>
          </p:nvPr>
        </p:nvSpPr>
        <p:spPr>
          <a:xfrm>
            <a:off x="515125" y="1153572"/>
            <a:ext cx="2400300" cy="4461163"/>
          </a:xfrm>
        </p:spPr>
        <p:txBody>
          <a:bodyPr>
            <a:normAutofit/>
          </a:bodyPr>
          <a:lstStyle/>
          <a:p>
            <a:r>
              <a:rPr lang="en-US" sz="3100">
                <a:solidFill>
                  <a:srgbClr val="FFFFFF"/>
                </a:solidFill>
              </a:rPr>
              <a:t>Assessments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300B727-214E-D140-B0D9-8DF9906E14FF}"/>
              </a:ext>
            </a:extLst>
          </p:cNvPr>
          <p:cNvSpPr>
            <a:spLocks noGrp="1"/>
          </p:cNvSpPr>
          <p:nvPr>
            <p:ph idx="1"/>
          </p:nvPr>
        </p:nvSpPr>
        <p:spPr>
          <a:xfrm>
            <a:off x="3335481" y="591344"/>
            <a:ext cx="5179868" cy="5585619"/>
          </a:xfrm>
        </p:spPr>
        <p:txBody>
          <a:bodyPr anchor="ctr">
            <a:normAutofit/>
          </a:bodyPr>
          <a:lstStyle/>
          <a:p>
            <a:r>
              <a:rPr lang="en-US" dirty="0"/>
              <a:t>The following slides offer some example assessment questions and discussion themes for individual or group activity</a:t>
            </a:r>
          </a:p>
          <a:p>
            <a:endParaRPr lang="en-US" dirty="0"/>
          </a:p>
        </p:txBody>
      </p:sp>
    </p:spTree>
    <p:extLst>
      <p:ext uri="{BB962C8B-B14F-4D97-AF65-F5344CB8AC3E}">
        <p14:creationId xmlns:p14="http://schemas.microsoft.com/office/powerpoint/2010/main" val="340126718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36B5CC-CEB8-844D-A5EB-1B8DEF4019E9}"/>
              </a:ext>
            </a:extLst>
          </p:cNvPr>
          <p:cNvSpPr>
            <a:spLocks noGrp="1"/>
          </p:cNvSpPr>
          <p:nvPr>
            <p:ph type="title"/>
          </p:nvPr>
        </p:nvSpPr>
        <p:spPr>
          <a:xfrm>
            <a:off x="515125" y="1153572"/>
            <a:ext cx="2400300" cy="4461163"/>
          </a:xfrm>
        </p:spPr>
        <p:txBody>
          <a:bodyPr>
            <a:normAutofit/>
          </a:bodyPr>
          <a:lstStyle/>
          <a:p>
            <a:r>
              <a:rPr lang="en-US" sz="3100">
                <a:solidFill>
                  <a:srgbClr val="FFFFFF"/>
                </a:solidFill>
              </a:rPr>
              <a:t>Assessments</a:t>
            </a:r>
            <a:br>
              <a:rPr lang="en-US" sz="3100">
                <a:solidFill>
                  <a:srgbClr val="FFFFFF"/>
                </a:solidFill>
              </a:rPr>
            </a:br>
            <a:endParaRPr lang="en-US" sz="3100">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19978C6-463B-1D47-A760-0C30FD43655A}"/>
              </a:ext>
            </a:extLst>
          </p:cNvPr>
          <p:cNvSpPr>
            <a:spLocks noGrp="1"/>
          </p:cNvSpPr>
          <p:nvPr>
            <p:ph idx="1"/>
          </p:nvPr>
        </p:nvSpPr>
        <p:spPr>
          <a:xfrm>
            <a:off x="3335481" y="591344"/>
            <a:ext cx="5179868" cy="5585619"/>
          </a:xfrm>
        </p:spPr>
        <p:txBody>
          <a:bodyPr anchor="ctr">
            <a:normAutofit/>
          </a:bodyPr>
          <a:lstStyle/>
          <a:p>
            <a:pPr marL="514350" lvl="0" indent="-514350">
              <a:lnSpc>
                <a:spcPct val="90000"/>
              </a:lnSpc>
            </a:pPr>
            <a:r>
              <a:rPr lang="en-US" dirty="0"/>
              <a:t>1.	Where do innovations come from? List as many possible sources as you can, providing examples</a:t>
            </a:r>
            <a:r>
              <a:rPr lang="en-GB" dirty="0"/>
              <a:t>. </a:t>
            </a:r>
            <a:endParaRPr lang="en-GB"/>
          </a:p>
          <a:p>
            <a:pPr marL="514350" indent="-514350">
              <a:lnSpc>
                <a:spcPct val="90000"/>
              </a:lnSpc>
            </a:pPr>
            <a:endParaRPr lang="en-GB"/>
          </a:p>
          <a:p>
            <a:pPr marL="514350" indent="-514350">
              <a:lnSpc>
                <a:spcPct val="90000"/>
              </a:lnSpc>
            </a:pPr>
            <a:r>
              <a:rPr lang="en-GB"/>
              <a:t>2.	What are k</a:t>
            </a:r>
            <a:r>
              <a:rPr lang="en-GB" dirty="0"/>
              <a:t>nowledge push and need pull </a:t>
            </a:r>
            <a:r>
              <a:rPr lang="en-US" dirty="0"/>
              <a:t>innovations? Explain, providing examples from different industries and sectors.   </a:t>
            </a:r>
            <a:endParaRPr lang="en-GB"/>
          </a:p>
          <a:p>
            <a:pPr>
              <a:lnSpc>
                <a:spcPct val="90000"/>
              </a:lnSpc>
            </a:pPr>
            <a:endParaRPr lang="en-US"/>
          </a:p>
        </p:txBody>
      </p:sp>
    </p:spTree>
    <p:extLst>
      <p:ext uri="{BB962C8B-B14F-4D97-AF65-F5344CB8AC3E}">
        <p14:creationId xmlns:p14="http://schemas.microsoft.com/office/powerpoint/2010/main" val="937736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0B4DBC-70E3-9F43-A111-8C71D7BC8F8C}"/>
              </a:ext>
            </a:extLst>
          </p:cNvPr>
          <p:cNvSpPr>
            <a:spLocks noGrp="1"/>
          </p:cNvSpPr>
          <p:nvPr>
            <p:ph type="title"/>
          </p:nvPr>
        </p:nvSpPr>
        <p:spPr>
          <a:xfrm>
            <a:off x="515125" y="1153572"/>
            <a:ext cx="2400300" cy="4461163"/>
          </a:xfrm>
        </p:spPr>
        <p:txBody>
          <a:bodyPr>
            <a:normAutofit/>
          </a:bodyPr>
          <a:lstStyle/>
          <a:p>
            <a:r>
              <a:rPr lang="en-US" sz="3100">
                <a:solidFill>
                  <a:srgbClr val="FFFFFF"/>
                </a:solidFill>
              </a:rPr>
              <a:t>Assessments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59DBC2CD-0D96-8F42-A91D-8584C6C06F8E}"/>
              </a:ext>
            </a:extLst>
          </p:cNvPr>
          <p:cNvSpPr>
            <a:spLocks noGrp="1"/>
          </p:cNvSpPr>
          <p:nvPr>
            <p:ph idx="1"/>
          </p:nvPr>
        </p:nvSpPr>
        <p:spPr>
          <a:xfrm>
            <a:off x="3335481" y="591344"/>
            <a:ext cx="5179868" cy="5585619"/>
          </a:xfrm>
        </p:spPr>
        <p:txBody>
          <a:bodyPr anchor="ctr">
            <a:normAutofit/>
          </a:bodyPr>
          <a:lstStyle/>
          <a:p>
            <a:pPr marL="514350" indent="-514350">
              <a:lnSpc>
                <a:spcPct val="90000"/>
              </a:lnSpc>
              <a:buFontTx/>
              <a:buAutoNum type="arabicPeriod" startAt="3"/>
            </a:pPr>
            <a:r>
              <a:rPr lang="en-US" sz="2500"/>
              <a:t>What are User-Led Innovation</a:t>
            </a:r>
            <a:r>
              <a:rPr lang="en-GB" sz="2500"/>
              <a:t> &amp; </a:t>
            </a:r>
            <a:r>
              <a:rPr lang="en-US" sz="2500"/>
              <a:t>Lead user methods</a:t>
            </a:r>
            <a:r>
              <a:rPr lang="en-GB" sz="2500"/>
              <a:t>? How do these two approaches impact the innovation process inside organisations. Provide examples, explaining the concepts. </a:t>
            </a:r>
          </a:p>
          <a:p>
            <a:pPr marL="514350" indent="-514350">
              <a:lnSpc>
                <a:spcPct val="90000"/>
              </a:lnSpc>
            </a:pPr>
            <a:endParaRPr lang="en-GB" sz="2500"/>
          </a:p>
          <a:p>
            <a:pPr marL="514350" indent="-514350">
              <a:lnSpc>
                <a:spcPct val="90000"/>
              </a:lnSpc>
            </a:pPr>
            <a:r>
              <a:rPr lang="en-GB" sz="2500"/>
              <a:t>4.	Imagine Nick Smith has just been promoted inside a big company and his new tasks are to work on the future</a:t>
            </a:r>
            <a:r>
              <a:rPr lang="en-US" sz="2500"/>
              <a:t>. Help Nick to explore the ways in which futures can be used to drive an innovation agenda.</a:t>
            </a:r>
            <a:endParaRPr lang="en-GB" sz="2500"/>
          </a:p>
          <a:p>
            <a:pPr>
              <a:lnSpc>
                <a:spcPct val="90000"/>
              </a:lnSpc>
            </a:pPr>
            <a:endParaRPr lang="en-US" sz="2500"/>
          </a:p>
        </p:txBody>
      </p:sp>
    </p:spTree>
    <p:extLst>
      <p:ext uri="{BB962C8B-B14F-4D97-AF65-F5344CB8AC3E}">
        <p14:creationId xmlns:p14="http://schemas.microsoft.com/office/powerpoint/2010/main" val="177700356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A98311-8D42-FC44-A705-E4155438E9A3}"/>
              </a:ext>
            </a:extLst>
          </p:cNvPr>
          <p:cNvSpPr>
            <a:spLocks noGrp="1"/>
          </p:cNvSpPr>
          <p:nvPr>
            <p:ph type="title"/>
          </p:nvPr>
        </p:nvSpPr>
        <p:spPr>
          <a:xfrm>
            <a:off x="515125" y="1153572"/>
            <a:ext cx="2400300" cy="4461163"/>
          </a:xfrm>
        </p:spPr>
        <p:txBody>
          <a:bodyPr>
            <a:normAutofit/>
          </a:bodyPr>
          <a:lstStyle/>
          <a:p>
            <a:r>
              <a:rPr lang="en-US" sz="3100">
                <a:solidFill>
                  <a:srgbClr val="FFFFFF"/>
                </a:solidFill>
              </a:rPr>
              <a:t>Assessments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5FC3F8C5-D1E9-8945-953F-1FA3CF49A4A6}"/>
              </a:ext>
            </a:extLst>
          </p:cNvPr>
          <p:cNvSpPr>
            <a:spLocks noGrp="1"/>
          </p:cNvSpPr>
          <p:nvPr>
            <p:ph idx="1"/>
          </p:nvPr>
        </p:nvSpPr>
        <p:spPr>
          <a:xfrm>
            <a:off x="3335481" y="591344"/>
            <a:ext cx="5179868" cy="5585619"/>
          </a:xfrm>
        </p:spPr>
        <p:txBody>
          <a:bodyPr anchor="ctr">
            <a:normAutofit/>
          </a:bodyPr>
          <a:lstStyle/>
          <a:p>
            <a:pPr>
              <a:lnSpc>
                <a:spcPct val="90000"/>
              </a:lnSpc>
            </a:pPr>
            <a:r>
              <a:rPr lang="en-GB" sz="2000"/>
              <a:t>5.	Push and pull - which is more important?  This question has worried managers and policy makers for decades - and having an idea of the answer would help focus support for the innovation process more effectively. Using examples try and show how each is important under certain conditions, but that it is their interplay which really shapes innovation. </a:t>
            </a:r>
          </a:p>
          <a:p>
            <a:pPr>
              <a:lnSpc>
                <a:spcPct val="90000"/>
              </a:lnSpc>
            </a:pPr>
            <a:r>
              <a:rPr lang="en-GB" sz="2000"/>
              <a:t> </a:t>
            </a:r>
          </a:p>
          <a:p>
            <a:pPr>
              <a:lnSpc>
                <a:spcPct val="90000"/>
              </a:lnSpc>
            </a:pPr>
            <a:r>
              <a:rPr lang="en-GB" sz="2000"/>
              <a:t>6.	Taking each of the ‘4P’s’ of innovation which we introduced in chapter 1, try and identify examples of ‘product’, ‘process’, ‘position’ and ‘paradigm’ innovation - and in each case list the sources which gave rise to those innovations.</a:t>
            </a:r>
          </a:p>
          <a:p>
            <a:pPr>
              <a:lnSpc>
                <a:spcPct val="90000"/>
              </a:lnSpc>
            </a:pPr>
            <a:endParaRPr lang="en-US" sz="2000"/>
          </a:p>
        </p:txBody>
      </p:sp>
    </p:spTree>
    <p:extLst>
      <p:ext uri="{BB962C8B-B14F-4D97-AF65-F5344CB8AC3E}">
        <p14:creationId xmlns:p14="http://schemas.microsoft.com/office/powerpoint/2010/main" val="52398204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77DBE4-1BAC-1045-9D55-384A1C7264BA}"/>
              </a:ext>
            </a:extLst>
          </p:cNvPr>
          <p:cNvSpPr>
            <a:spLocks noGrp="1"/>
          </p:cNvSpPr>
          <p:nvPr>
            <p:ph type="title"/>
          </p:nvPr>
        </p:nvSpPr>
        <p:spPr>
          <a:xfrm>
            <a:off x="515125" y="1153572"/>
            <a:ext cx="2400300" cy="4461163"/>
          </a:xfrm>
        </p:spPr>
        <p:txBody>
          <a:bodyPr>
            <a:normAutofit/>
          </a:bodyPr>
          <a:lstStyle/>
          <a:p>
            <a:r>
              <a:rPr lang="en-US" sz="3100">
                <a:solidFill>
                  <a:srgbClr val="FFFFFF"/>
                </a:solidFill>
              </a:rPr>
              <a:t>Assessments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1E5EE55D-9EF9-D845-BDBB-E893C107BEB7}"/>
              </a:ext>
            </a:extLst>
          </p:cNvPr>
          <p:cNvSpPr>
            <a:spLocks noGrp="1"/>
          </p:cNvSpPr>
          <p:nvPr>
            <p:ph idx="1"/>
          </p:nvPr>
        </p:nvSpPr>
        <p:spPr>
          <a:xfrm>
            <a:off x="3335481" y="591344"/>
            <a:ext cx="5179868" cy="5585619"/>
          </a:xfrm>
        </p:spPr>
        <p:txBody>
          <a:bodyPr anchor="ctr">
            <a:normAutofit/>
          </a:bodyPr>
          <a:lstStyle/>
          <a:p>
            <a:r>
              <a:rPr lang="en-US" dirty="0"/>
              <a:t>7.	Julia Wilson is keen to use her skills in creating social enterprises. Where might she look for sources of inspiration on which to focus her entrepreneurial enthusiasm?</a:t>
            </a:r>
            <a:r>
              <a:rPr lang="en-GB" dirty="0"/>
              <a:t> </a:t>
            </a:r>
          </a:p>
          <a:p>
            <a:endParaRPr lang="en-US" dirty="0"/>
          </a:p>
        </p:txBody>
      </p:sp>
    </p:spTree>
    <p:extLst>
      <p:ext uri="{BB962C8B-B14F-4D97-AF65-F5344CB8AC3E}">
        <p14:creationId xmlns:p14="http://schemas.microsoft.com/office/powerpoint/2010/main" val="24620473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3206</TotalTime>
  <Words>2806</Words>
  <Application>Microsoft Macintosh PowerPoint</Application>
  <PresentationFormat>On-screen Show (4:3)</PresentationFormat>
  <Paragraphs>271</Paragraphs>
  <Slides>53</Slides>
  <Notes>1</Notes>
  <HiddenSlides>0</HiddenSlides>
  <MMClips>0</MMClips>
  <ScaleCrop>false</ScaleCrop>
  <HeadingPairs>
    <vt:vector size="8" baseType="variant">
      <vt:variant>
        <vt:lpstr>Fonts Used</vt:lpstr>
      </vt:variant>
      <vt:variant>
        <vt:i4>2</vt:i4>
      </vt:variant>
      <vt:variant>
        <vt:lpstr>Theme</vt:lpstr>
      </vt:variant>
      <vt:variant>
        <vt:i4>1</vt:i4>
      </vt:variant>
      <vt:variant>
        <vt:lpstr>Links</vt:lpstr>
      </vt:variant>
      <vt:variant>
        <vt:i4>4</vt:i4>
      </vt:variant>
      <vt:variant>
        <vt:lpstr>Slide Titles</vt:lpstr>
      </vt:variant>
      <vt:variant>
        <vt:i4>53</vt:i4>
      </vt:variant>
    </vt:vector>
  </HeadingPairs>
  <TitlesOfParts>
    <vt:vector size="60" baseType="lpstr">
      <vt:lpstr>Arial</vt:lpstr>
      <vt:lpstr>Calibri</vt:lpstr>
      <vt:lpstr>Office Theme</vt:lpstr>
      <vt:lpstr>!OLE_LINK22</vt:lpstr>
      <vt:lpstr>!OLE_LINK23</vt:lpstr>
      <vt:lpstr>!OLE_LINK24</vt:lpstr>
      <vt:lpstr>!OLE_LINK3</vt:lpstr>
      <vt:lpstr>Teaching Resources and Instructors’ Guidelines</vt:lpstr>
      <vt:lpstr>Chapter 6: Sources of innovation</vt:lpstr>
      <vt:lpstr>Learning Objectives</vt:lpstr>
      <vt:lpstr>PowerPoint Presentation</vt:lpstr>
      <vt:lpstr>Core themes and material from the book</vt:lpstr>
      <vt:lpstr>PowerPoint Presentation</vt:lpstr>
      <vt:lpstr>Sources of innovation</vt:lpstr>
      <vt:lpstr>Knowledge push innovation</vt:lpstr>
      <vt:lpstr>PowerPoint Presentation</vt:lpstr>
      <vt:lpstr>Disruptive innovation</vt:lpstr>
      <vt:lpstr>PowerPoint Presentation</vt:lpstr>
      <vt:lpstr>PowerPoint Presentation</vt:lpstr>
      <vt:lpstr>PowerPoint Presentation</vt:lpstr>
      <vt:lpstr>PowerPoint Presentation</vt:lpstr>
      <vt:lpstr>PowerPoint Presentation</vt:lpstr>
      <vt:lpstr>Summary</vt:lpstr>
      <vt:lpstr>Summary</vt:lpstr>
      <vt:lpstr>Summary</vt:lpstr>
      <vt:lpstr>Videos</vt:lpstr>
      <vt:lpstr>Videos</vt:lpstr>
      <vt:lpstr>Videos and audio</vt:lpstr>
      <vt:lpstr>Disruptive innovation</vt:lpstr>
      <vt:lpstr>Human-centred design</vt:lpstr>
      <vt:lpstr>Blogs and podcasts</vt:lpstr>
      <vt:lpstr>Activities</vt:lpstr>
      <vt:lpstr>Where do innovations come from?</vt:lpstr>
      <vt:lpstr>Activity (team or individual)</vt:lpstr>
      <vt:lpstr>Activity – innovation histories</vt:lpstr>
      <vt:lpstr>Activity – Sources of innovation</vt:lpstr>
      <vt:lpstr>Knowledge push innovation</vt:lpstr>
      <vt:lpstr>Need pull innovation</vt:lpstr>
      <vt:lpstr>Understanding user needs</vt:lpstr>
      <vt:lpstr>Making processes better</vt:lpstr>
      <vt:lpstr>Process mapping</vt:lpstr>
      <vt:lpstr>Activity – Disruptive innovation</vt:lpstr>
      <vt:lpstr>Activity – Frugal innovation</vt:lpstr>
      <vt:lpstr>Activity – Crowdsourcing ideas</vt:lpstr>
      <vt:lpstr>Activity: The challenge of customisation</vt:lpstr>
      <vt:lpstr>Activity: User-led innovation</vt:lpstr>
      <vt:lpstr>Activity: Recombinant innovation</vt:lpstr>
      <vt:lpstr>Activity: Learning from others</vt:lpstr>
      <vt:lpstr>Activity: Regulation</vt:lpstr>
      <vt:lpstr>Activity: Futures and forecasting</vt:lpstr>
      <vt:lpstr>Activity: Accidental innovation</vt:lpstr>
      <vt:lpstr>Cases </vt:lpstr>
      <vt:lpstr>Cases</vt:lpstr>
      <vt:lpstr>Cases</vt:lpstr>
      <vt:lpstr>Cases</vt:lpstr>
      <vt:lpstr>Assessments</vt:lpstr>
      <vt:lpstr>Assessments </vt:lpstr>
      <vt:lpstr>Assessments</vt:lpstr>
      <vt:lpstr>Assessments</vt:lpstr>
      <vt:lpstr>Assessments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Teaching Resources and Instructors’ Guidelines</dc:title>
  <dc:creator>john bessant</dc:creator>
  <cp:lastModifiedBy>john bessant</cp:lastModifiedBy>
  <cp:revision>6</cp:revision>
  <dcterms:created xsi:type="dcterms:W3CDTF">2020-11-14T14:36:35Z</dcterms:created>
  <dcterms:modified xsi:type="dcterms:W3CDTF">2024-11-03T15:55:34Z</dcterms:modified>
</cp:coreProperties>
</file>