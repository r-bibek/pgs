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7"/>
  </p:notesMasterIdLst>
  <p:sldIdLst>
    <p:sldId id="257" r:id="rId2"/>
    <p:sldId id="258" r:id="rId3"/>
    <p:sldId id="259" r:id="rId4"/>
    <p:sldId id="318" r:id="rId5"/>
    <p:sldId id="260" r:id="rId6"/>
    <p:sldId id="261" r:id="rId7"/>
    <p:sldId id="262" r:id="rId8"/>
    <p:sldId id="263" r:id="rId9"/>
    <p:sldId id="264" r:id="rId10"/>
    <p:sldId id="265" r:id="rId11"/>
    <p:sldId id="266" r:id="rId12"/>
    <p:sldId id="269" r:id="rId13"/>
    <p:sldId id="272" r:id="rId14"/>
    <p:sldId id="273" r:id="rId15"/>
    <p:sldId id="367" r:id="rId16"/>
    <p:sldId id="275" r:id="rId17"/>
    <p:sldId id="276" r:id="rId18"/>
    <p:sldId id="279" r:id="rId19"/>
    <p:sldId id="280" r:id="rId20"/>
    <p:sldId id="281" r:id="rId21"/>
    <p:sldId id="282" r:id="rId22"/>
    <p:sldId id="283" r:id="rId23"/>
    <p:sldId id="287" r:id="rId24"/>
    <p:sldId id="288" r:id="rId25"/>
    <p:sldId id="370" r:id="rId26"/>
    <p:sldId id="292" r:id="rId27"/>
    <p:sldId id="293" r:id="rId28"/>
    <p:sldId id="294" r:id="rId29"/>
    <p:sldId id="295" r:id="rId30"/>
    <p:sldId id="326" r:id="rId31"/>
    <p:sldId id="368" r:id="rId32"/>
    <p:sldId id="369" r:id="rId33"/>
    <p:sldId id="328" r:id="rId34"/>
    <p:sldId id="344" r:id="rId35"/>
    <p:sldId id="268" r:id="rId36"/>
    <p:sldId id="270" r:id="rId37"/>
    <p:sldId id="271" r:id="rId38"/>
    <p:sldId id="274" r:id="rId39"/>
    <p:sldId id="353" r:id="rId40"/>
    <p:sldId id="285" r:id="rId41"/>
    <p:sldId id="286" r:id="rId42"/>
    <p:sldId id="366" r:id="rId43"/>
    <p:sldId id="278" r:id="rId44"/>
    <p:sldId id="291" r:id="rId45"/>
    <p:sldId id="311" r:id="rId46"/>
    <p:sldId id="312" r:id="rId47"/>
    <p:sldId id="365" r:id="rId48"/>
    <p:sldId id="296" r:id="rId49"/>
    <p:sldId id="297" r:id="rId50"/>
    <p:sldId id="298" r:id="rId51"/>
    <p:sldId id="299" r:id="rId52"/>
    <p:sldId id="300" r:id="rId53"/>
    <p:sldId id="301" r:id="rId54"/>
    <p:sldId id="302" r:id="rId55"/>
    <p:sldId id="303" r:id="rId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63"/>
  </p:normalViewPr>
  <p:slideViewPr>
    <p:cSldViewPr>
      <p:cViewPr varScale="1">
        <p:scale>
          <a:sx n="117" d="100"/>
          <a:sy n="117" d="100"/>
        </p:scale>
        <p:origin x="1720" y="176"/>
      </p:cViewPr>
      <p:guideLst>
        <p:guide orient="horz" pos="2160"/>
        <p:guide pos="2880"/>
      </p:guideLst>
    </p:cSldViewPr>
  </p:slideViewPr>
  <p:notesTextViewPr>
    <p:cViewPr>
      <p:scale>
        <a:sx n="100" d="100"/>
        <a:sy n="10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730D98C-0BFA-4298-8CAE-C4CD14539F54}" type="datetimeFigureOut">
              <a:rPr lang="en-GB" smtClean="0"/>
              <a:pPr/>
              <a:t>02/11/2024</a:t>
            </a:fld>
            <a:endParaRPr lang="en-GB"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E3D2FA6-82A9-4F29-8686-00ED47EE186B}" type="slidenum">
              <a:rPr lang="en-GB" smtClean="0"/>
              <a:pPr/>
              <a:t>‹#›</a:t>
            </a:fld>
            <a:endParaRPr lang="en-GB"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9E3D2FA6-82A9-4F29-8686-00ED47EE186B}" type="slidenum">
              <a:rPr lang="en-GB" smtClean="0"/>
              <a:pPr/>
              <a:t>12</a:t>
            </a:fld>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videos </a:t>
            </a:r>
          </a:p>
        </p:txBody>
      </p:sp>
      <p:sp>
        <p:nvSpPr>
          <p:cNvPr id="4" name="Slide Number Placeholder 3"/>
          <p:cNvSpPr>
            <a:spLocks noGrp="1"/>
          </p:cNvSpPr>
          <p:nvPr>
            <p:ph type="sldNum" sz="quarter" idx="5"/>
          </p:nvPr>
        </p:nvSpPr>
        <p:spPr/>
        <p:txBody>
          <a:bodyPr/>
          <a:lstStyle/>
          <a:p>
            <a:fld id="{C43EEF7A-835F-4F95-B48D-CD2F7A44E3BA}" type="slidenum">
              <a:rPr lang="en-GB" smtClean="0"/>
              <a:pPr/>
              <a:t>30</a:t>
            </a:fld>
            <a:endParaRPr lang="en-GB"/>
          </a:p>
        </p:txBody>
      </p:sp>
    </p:spTree>
    <p:extLst>
      <p:ext uri="{BB962C8B-B14F-4D97-AF65-F5344CB8AC3E}">
        <p14:creationId xmlns:p14="http://schemas.microsoft.com/office/powerpoint/2010/main" val="23199489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42F704D3-B1FC-4875-A5F5-F34410E00E53}" type="datetimeFigureOut">
              <a:rPr lang="en-GB" smtClean="0"/>
              <a:pPr/>
              <a:t>02/11/2024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D21D2B7C-0872-4D42-92A6-A03FB6B971EE}" type="slidenum">
              <a:rPr lang="en-GB" smtClean="0"/>
              <a:pPr/>
              <a:t>‹#›</a:t>
            </a:fld>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2F704D3-B1FC-4875-A5F5-F34410E00E53}" type="datetimeFigureOut">
              <a:rPr lang="en-GB" smtClean="0"/>
              <a:pPr/>
              <a:t>02/11/2024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D21D2B7C-0872-4D42-92A6-A03FB6B971EE}" type="slidenum">
              <a:rPr lang="en-GB" smtClean="0"/>
              <a:pPr/>
              <a:t>‹#›</a:t>
            </a:fld>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F704D3-B1FC-4875-A5F5-F34410E00E53}" type="datetimeFigureOut">
              <a:rPr lang="en-GB" smtClean="0"/>
              <a:pPr/>
              <a:t>02/11/2024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D21D2B7C-0872-4D42-92A6-A03FB6B971EE}" type="slidenum">
              <a:rPr lang="en-GB" smtClean="0"/>
              <a:pPr/>
              <a:t>‹#›</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42F704D3-B1FC-4875-A5F5-F34410E00E53}" type="datetimeFigureOut">
              <a:rPr lang="en-GB" smtClean="0"/>
              <a:pPr/>
              <a:t>02/11/2024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D21D2B7C-0872-4D42-92A6-A03FB6B971EE}" type="slidenum">
              <a:rPr lang="en-GB" smtClean="0"/>
              <a:pPr/>
              <a:t>‹#›</a:t>
            </a:fld>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42F704D3-B1FC-4875-A5F5-F34410E00E53}" type="datetimeFigureOut">
              <a:rPr lang="en-GB" smtClean="0"/>
              <a:pPr/>
              <a:t>02/11/2024</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D21D2B7C-0872-4D42-92A6-A03FB6B971EE}" type="slidenum">
              <a:rPr lang="en-GB" smtClean="0"/>
              <a:pPr/>
              <a:t>‹#›</a:t>
            </a:fld>
            <a:endParaRPr lang="en-GB"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42F704D3-B1FC-4875-A5F5-F34410E00E53}" type="datetimeFigureOut">
              <a:rPr lang="en-GB" smtClean="0"/>
              <a:pPr/>
              <a:t>02/11/2024</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D21D2B7C-0872-4D42-92A6-A03FB6B971EE}" type="slidenum">
              <a:rPr lang="en-GB" smtClean="0"/>
              <a:pPr/>
              <a:t>‹#›</a:t>
            </a:fld>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F704D3-B1FC-4875-A5F5-F34410E00E53}" type="datetimeFigureOut">
              <a:rPr lang="en-GB" smtClean="0"/>
              <a:pPr/>
              <a:t>02/11/2024</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D21D2B7C-0872-4D42-92A6-A03FB6B971EE}" type="slidenum">
              <a:rPr lang="en-GB" smtClean="0"/>
              <a:pPr/>
              <a:t>‹#›</a:t>
            </a:fld>
            <a:endParaRPr lang="en-GB"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2F704D3-B1FC-4875-A5F5-F34410E00E53}" type="datetimeFigureOut">
              <a:rPr lang="en-GB" smtClean="0"/>
              <a:pPr/>
              <a:t>02/11/2024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D21D2B7C-0872-4D42-92A6-A03FB6B971EE}" type="slidenum">
              <a:rPr lang="en-GB" smtClean="0"/>
              <a:pPr/>
              <a:t>‹#›</a:t>
            </a:fld>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2F704D3-B1FC-4875-A5F5-F34410E00E53}" type="datetimeFigureOut">
              <a:rPr lang="en-GB" smtClean="0"/>
              <a:pPr/>
              <a:t>02/11/2024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D21D2B7C-0872-4D42-92A6-A03FB6B971EE}" type="slidenum">
              <a:rPr lang="en-GB" smtClean="0"/>
              <a:pPr/>
              <a:t>‹#›</a:t>
            </a:fld>
            <a:endParaRPr lang="en-GB"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2F704D3-B1FC-4875-A5F5-F34410E00E53}" type="datetimeFigureOut">
              <a:rPr lang="en-GB" smtClean="0"/>
              <a:pPr/>
              <a:t>02/11/2024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D21D2B7C-0872-4D42-92A6-A03FB6B971EE}" type="slidenum">
              <a:rPr lang="en-GB" smtClean="0"/>
              <a:pPr/>
              <a:t>‹#›</a:t>
            </a:fld>
            <a:endParaRPr lang="en-GB"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2F704D3-B1FC-4875-A5F5-F34410E00E53}" type="datetimeFigureOut">
              <a:rPr lang="en-GB" smtClean="0"/>
              <a:pPr/>
              <a:t>02/11/2024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D21D2B7C-0872-4D42-92A6-A03FB6B971EE}" type="slidenum">
              <a:rPr lang="en-GB" smtClean="0"/>
              <a:pPr/>
              <a:t>‹#›</a:t>
            </a:fld>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F704D3-B1FC-4875-A5F5-F34410E00E53}" type="datetimeFigureOut">
              <a:rPr lang="en-GB" smtClean="0"/>
              <a:pPr/>
              <a:t>02/11/2024</a:t>
            </a:fld>
            <a:endParaRPr lang="en-GB"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1D2B7C-0872-4D42-92A6-A03FB6B971EE}" type="slidenum">
              <a:rPr lang="en-GB" smtClean="0"/>
              <a:pPr/>
              <a:t>‹#›</a:t>
            </a:fld>
            <a:endParaRPr lang="en-GB"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oleObject" Target="!OLE_LINK7"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oleObject" Target="!OLE_LINK8"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oleObject" Target="Macintosh%20HD:Users:annatrifilova:Documents:Teaching:wiley%20strategic%20innovation%20management:Wiley_Teaching_Guide:Lecturer_Guide:SIM%20Lecturer%20guide%20ch%20Leadership%20and%20organization.docx!OLE_LINK9" TargetMode="Externa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oleObject" Target="!OLE_LINK1" TargetMode="Externa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oleObject" Target="!OLE_LINK12" TargetMode="Externa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8" Type="http://schemas.openxmlformats.org/officeDocument/2006/relationships/hyperlink" Target="https://www.youtube.com/watch?v=e8YRB5299PE" TargetMode="External"/><Relationship Id="rId3" Type="http://schemas.openxmlformats.org/officeDocument/2006/relationships/image" Target="../media/image14.jpeg"/><Relationship Id="rId7" Type="http://schemas.openxmlformats.org/officeDocument/2006/relationships/hyperlink" Target="https://www.youtube.com/watch?v=7bw3i-snCms"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youtu.be/Z4PlkH4xECE" TargetMode="External"/><Relationship Id="rId5" Type="http://schemas.openxmlformats.org/officeDocument/2006/relationships/hyperlink" Target="https://youtu.be/98RkU5U1s5c" TargetMode="External"/><Relationship Id="rId10" Type="http://schemas.openxmlformats.org/officeDocument/2006/relationships/hyperlink" Target="https://johnbessant.org/tidewave/" TargetMode="External"/><Relationship Id="rId4" Type="http://schemas.openxmlformats.org/officeDocument/2006/relationships/hyperlink" Target="https://youtu.be/hW9Pnh-WPIQ" TargetMode="External"/><Relationship Id="rId9" Type="http://schemas.openxmlformats.org/officeDocument/2006/relationships/hyperlink" Target="https://www.youtube.com/watch?v=7e2zXQ3YfYs"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www.youtube.com/watch?v=uq9KBkKCLFM" TargetMode="External"/><Relationship Id="rId2" Type="http://schemas.openxmlformats.org/officeDocument/2006/relationships/hyperlink" Target="https://vimeo.com/34083247"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ted.com/talks/linda_hill_how_to_manage_for_collective_creativity" TargetMode="External"/><Relationship Id="rId2" Type="http://schemas.openxmlformats.org/officeDocument/2006/relationships/hyperlink" Target="https://www.youtube.com/watch?v=2GtgSkmDnbQ" TargetMode="External"/><Relationship Id="rId1" Type="http://schemas.openxmlformats.org/officeDocument/2006/relationships/slideLayout" Target="../slideLayouts/slideLayout2.xml"/><Relationship Id="rId4" Type="http://schemas.openxmlformats.org/officeDocument/2006/relationships/hyperlink" Target="https://www.youtube.com/watch?v=-hyT6_GXPRk&amp;feature=youtu.be" TargetMode="External"/></Relationships>
</file>

<file path=ppt/slides/_rels/slide33.xml.rels><?xml version="1.0" encoding="UTF-8" standalone="yes"?>
<Relationships xmlns="http://schemas.openxmlformats.org/package/2006/relationships"><Relationship Id="rId2" Type="http://schemas.openxmlformats.org/officeDocument/2006/relationships/hyperlink" Target="https://www.buzzsprout.com/721626"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hyperlink" Target="https://www.youtube.com/watch?v=iG9CE55wbtY" TargetMode="Externa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hyperlink" Target="https://www.johnbessant.org/_files/ugd/f6594a_f2c4aecd55d448828af3dfc5ee1d8979.pdf" TargetMode="Externa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hyperlink" Target="https://www.johnbessant.org/_files/ugd/6ba33a_c28d8d392c644a4fb612019e6d4f7204.pdf" TargetMode="Externa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hyperlink" Target="https://www.johnbessant.org/cases"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hyperlink" Target="https://www.youtube.com/watch?v=cuT2WuJwnLI" TargetMode="Externa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hyperlink" Target="https://www.johnbessant.org/building-toolkit"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tellarleadership.com/docs/Team%20Working/assessment/Team%20Roles%20Questionnaire.pdf" TargetMode="External"/><Relationship Id="rId2" Type="http://schemas.openxmlformats.org/officeDocument/2006/relationships/hyperlink" Target="https://ae44e96f-9228-4cfc-8b1a-cc1349890204.filesusr.com/ugd/6ba33a_4bd1a787f87e43e1b88aced41f6713e4.pdf" TargetMode="Externa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hyperlink" Target="https://ae44e96f-9228-4cfc-8b1a-cc1349890204.filesusr.com/ugd/6ba33a_5e8ae1104d8f40d58269edd5e034844e.pdf" TargetMode="Externa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hyperlink" Target="https://static.wixstatic.com/mp3/f6594a_f3d0bee1cec44ef192be395f4e8093aa.mp3" TargetMode="Externa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hyperlink" Target="https://static.wixstatic.com/mp3/f6594a_0eb3000fd8a4479ab9e818c31d913fbe.mp3" TargetMode="Externa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5A8AFA4-5C32-4100-9C6D-839A47E15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6B5F253-7949-47C2-9DBD-1570ECDA2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4349" y="685800"/>
            <a:ext cx="4066277" cy="54864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251319" y="1254763"/>
            <a:ext cx="2583711" cy="2481729"/>
          </a:xfrm>
        </p:spPr>
        <p:txBody>
          <a:bodyPr vert="horz" lIns="91440" tIns="45720" rIns="91440" bIns="45720" rtlCol="0" anchor="b">
            <a:normAutofit/>
          </a:bodyPr>
          <a:lstStyle/>
          <a:p>
            <a:pPr>
              <a:lnSpc>
                <a:spcPct val="90000"/>
              </a:lnSpc>
            </a:pPr>
            <a:r>
              <a:rPr lang="en-US" sz="2800" b="1">
                <a:solidFill>
                  <a:srgbClr val="595959"/>
                </a:solidFill>
              </a:rPr>
              <a:t>Teaching Resources and Instructors’ Guidelines</a:t>
            </a:r>
            <a:endParaRPr lang="en-US" sz="2800" u="sng">
              <a:solidFill>
                <a:srgbClr val="595959"/>
              </a:solidFill>
            </a:endParaRPr>
          </a:p>
        </p:txBody>
      </p:sp>
      <p:sp>
        <p:nvSpPr>
          <p:cNvPr id="5" name="Rectangle 4"/>
          <p:cNvSpPr/>
          <p:nvPr/>
        </p:nvSpPr>
        <p:spPr>
          <a:xfrm>
            <a:off x="1386884" y="4046453"/>
            <a:ext cx="2312581" cy="1785506"/>
          </a:xfrm>
          <a:prstGeom prst="rect">
            <a:avLst/>
          </a:prstGeom>
        </p:spPr>
        <p:txBody>
          <a:bodyPr vert="horz" lIns="91440" tIns="45720" rIns="91440" bIns="45720" rtlCol="0" anchor="t">
            <a:normAutofit/>
          </a:bodyPr>
          <a:lstStyle/>
          <a:p>
            <a:pPr algn="ctr">
              <a:lnSpc>
                <a:spcPct val="90000"/>
              </a:lnSpc>
              <a:spcBef>
                <a:spcPts val="1000"/>
              </a:spcBef>
            </a:pPr>
            <a:r>
              <a:rPr lang="en-US" sz="1200">
                <a:solidFill>
                  <a:srgbClr val="595959"/>
                </a:solidFill>
              </a:rPr>
              <a:t>Chapter 5: Building the innovative organization</a:t>
            </a:r>
          </a:p>
        </p:txBody>
      </p:sp>
      <p:pic>
        <p:nvPicPr>
          <p:cNvPr id="3" name="Picture 2">
            <a:extLst>
              <a:ext uri="{FF2B5EF4-FFF2-40B4-BE49-F238E27FC236}">
                <a16:creationId xmlns:a16="http://schemas.microsoft.com/office/drawing/2014/main" id="{FE2D2FAD-05A7-B1F4-B1FF-661BA2F41A24}"/>
              </a:ext>
            </a:extLst>
          </p:cNvPr>
          <p:cNvPicPr>
            <a:picLocks noChangeAspect="1"/>
          </p:cNvPicPr>
          <p:nvPr/>
        </p:nvPicPr>
        <p:blipFill>
          <a:blip r:embed="rId2">
            <a:extLst>
              <a:ext uri="{28A0092B-C50C-407E-A947-70E740481C1C}">
                <a14:useLocalDpi xmlns:a14="http://schemas.microsoft.com/office/drawing/2010/main" val="0"/>
              </a:ext>
            </a:extLst>
          </a:blip>
          <a:srcRect l="92" r="24633"/>
          <a:stretch/>
        </p:blipFill>
        <p:spPr>
          <a:xfrm>
            <a:off x="4580627" y="685799"/>
            <a:ext cx="4057650" cy="5486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15125" y="1153572"/>
            <a:ext cx="2400300" cy="4461163"/>
          </a:xfrm>
        </p:spPr>
        <p:txBody>
          <a:bodyPr vert="horz" lIns="91440" tIns="45720" rIns="91440" bIns="45720" rtlCol="0" anchor="ctr">
            <a:normAutofit/>
          </a:bodyPr>
          <a:lstStyle/>
          <a:p>
            <a:pPr algn="l">
              <a:lnSpc>
                <a:spcPct val="90000"/>
              </a:lnSpc>
            </a:pPr>
            <a:r>
              <a:rPr lang="en-US" sz="3100" b="1" kern="1200">
                <a:solidFill>
                  <a:srgbClr val="FFFFFF"/>
                </a:solidFill>
                <a:latin typeface="+mj-lt"/>
                <a:ea typeface="+mj-ea"/>
                <a:cs typeface="+mj-cs"/>
              </a:rPr>
              <a:t>Chapter 5: Building the innovative organization</a:t>
            </a:r>
            <a:endParaRPr lang="en-US" sz="3100" kern="1200">
              <a:solidFill>
                <a:srgbClr val="FFFFFF"/>
              </a:solidFill>
              <a:latin typeface="+mj-lt"/>
              <a:ea typeface="+mj-ea"/>
              <a:cs typeface="+mj-cs"/>
            </a:endParaRPr>
          </a:p>
        </p:txBody>
      </p:sp>
      <p:sp>
        <p:nvSpPr>
          <p:cNvPr id="16" name="Arc 1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Title 1"/>
          <p:cNvSpPr txBox="1">
            <a:spLocks/>
          </p:cNvSpPr>
          <p:nvPr/>
        </p:nvSpPr>
        <p:spPr>
          <a:xfrm>
            <a:off x="3335481" y="591344"/>
            <a:ext cx="5179868" cy="5585619"/>
          </a:xfrm>
          <a:prstGeom prst="rect">
            <a:avLst/>
          </a:prstGeom>
        </p:spPr>
        <p:txBody>
          <a:bodyPr vert="horz" lIns="91440" tIns="45720" rIns="91440" bIns="45720" rtlCol="0" anchor="ctr">
            <a:normAutofit/>
          </a:bodyPr>
          <a:lstStyle/>
          <a:p>
            <a:pPr marL="0" marR="0" lvl="0" indent="-228600" fontAlgn="auto">
              <a:lnSpc>
                <a:spcPct val="90000"/>
              </a:lnSpc>
              <a:spcAft>
                <a:spcPts val="600"/>
              </a:spcAft>
              <a:buClrTx/>
              <a:buSzTx/>
              <a:buFont typeface="Arial" panose="020B0604020202020204" pitchFamily="34" charset="0"/>
              <a:buChar char="•"/>
              <a:tabLst/>
              <a:defRPr/>
            </a:pPr>
            <a:endParaRPr kumimoji="0" lang="en-US" b="1" u="none" strike="noStrike" cap="none" spc="0" normalizeH="0" baseline="0" noProof="0" dirty="0">
              <a:ln>
                <a:noFill/>
              </a:ln>
              <a:effectLst/>
              <a:uLnTx/>
              <a:uFillTx/>
            </a:endParaRPr>
          </a:p>
          <a:p>
            <a:pPr indent="-228600">
              <a:lnSpc>
                <a:spcPct val="90000"/>
              </a:lnSpc>
              <a:spcAft>
                <a:spcPts val="600"/>
              </a:spcAft>
              <a:buFont typeface="Arial" panose="020B0604020202020204" pitchFamily="34" charset="0"/>
              <a:buChar char="•"/>
            </a:pPr>
            <a:r>
              <a:rPr lang="en-US" i="1" dirty="0"/>
              <a:t> In the following PowerPoint slides you will find the key headings from </a:t>
            </a:r>
            <a:r>
              <a:rPr lang="en-US" b="1" dirty="0"/>
              <a:t>CHAPTER 5</a:t>
            </a:r>
            <a:r>
              <a:rPr lang="en-US" i="1" dirty="0"/>
              <a:t> together with the main illustrations, tables, etc.  </a:t>
            </a:r>
          </a:p>
          <a:p>
            <a:pPr indent="-228600">
              <a:lnSpc>
                <a:spcPct val="90000"/>
              </a:lnSpc>
              <a:spcAft>
                <a:spcPts val="600"/>
              </a:spcAft>
              <a:buFont typeface="Arial" panose="020B0604020202020204" pitchFamily="34" charset="0"/>
              <a:buChar char="•"/>
            </a:pPr>
            <a:endParaRPr lang="en-US" i="1" dirty="0"/>
          </a:p>
          <a:p>
            <a:pPr indent="-228600">
              <a:lnSpc>
                <a:spcPct val="90000"/>
              </a:lnSpc>
              <a:spcAft>
                <a:spcPts val="600"/>
              </a:spcAft>
              <a:buFont typeface="Arial" panose="020B0604020202020204" pitchFamily="34" charset="0"/>
              <a:buChar char="•"/>
            </a:pPr>
            <a:r>
              <a:rPr lang="en-US" i="1" dirty="0"/>
              <a:t>There are also slides summarizing the key messages in bullet-point fashion, and a wide range of activities which you can use to help students explore around these themes.  </a:t>
            </a:r>
          </a:p>
          <a:p>
            <a:pPr indent="-228600">
              <a:lnSpc>
                <a:spcPct val="90000"/>
              </a:lnSpc>
              <a:spcAft>
                <a:spcPts val="600"/>
              </a:spcAft>
              <a:buFont typeface="Arial" panose="020B0604020202020204" pitchFamily="34" charset="0"/>
              <a:buChar char="•"/>
            </a:pPr>
            <a:endParaRPr lang="en-US" i="1" dirty="0"/>
          </a:p>
          <a:p>
            <a:pPr indent="-228600">
              <a:lnSpc>
                <a:spcPct val="90000"/>
              </a:lnSpc>
              <a:spcAft>
                <a:spcPts val="600"/>
              </a:spcAft>
              <a:buFont typeface="Arial" panose="020B0604020202020204" pitchFamily="34" charset="0"/>
              <a:buChar char="•"/>
            </a:pPr>
            <a:r>
              <a:rPr lang="en-US" i="1" dirty="0"/>
              <a:t>Finally there are some reflection questions which can be used as the basis for discussion or assignments.</a:t>
            </a:r>
          </a:p>
          <a:p>
            <a:pPr indent="-228600">
              <a:lnSpc>
                <a:spcPct val="90000"/>
              </a:lnSpc>
              <a:spcAft>
                <a:spcPts val="600"/>
              </a:spcAft>
              <a:buFont typeface="Arial" panose="020B0604020202020204" pitchFamily="34" charset="0"/>
              <a:buChar char="•"/>
            </a:pPr>
            <a:endParaRPr lang="en-US" i="1" dirty="0"/>
          </a:p>
        </p:txBody>
      </p:sp>
      <p:cxnSp>
        <p:nvCxnSpPr>
          <p:cNvPr id="7" name="Straight Connector 6"/>
          <p:cNvCxnSpPr/>
          <p:nvPr/>
        </p:nvCxnSpPr>
        <p:spPr>
          <a:xfrm>
            <a:off x="458167" y="1507529"/>
            <a:ext cx="8478016" cy="1588"/>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15125" y="1153572"/>
            <a:ext cx="2400300" cy="4461163"/>
          </a:xfrm>
        </p:spPr>
        <p:txBody>
          <a:bodyPr vert="horz" lIns="91440" tIns="45720" rIns="91440" bIns="45720" rtlCol="0" anchor="ctr">
            <a:normAutofit/>
          </a:bodyPr>
          <a:lstStyle/>
          <a:p>
            <a:pPr lvl="0" algn="l">
              <a:lnSpc>
                <a:spcPct val="90000"/>
              </a:lnSpc>
              <a:defRPr/>
            </a:pPr>
            <a:r>
              <a:rPr lang="en-US" sz="4100" b="1" kern="1200">
                <a:solidFill>
                  <a:srgbClr val="FFFFFF"/>
                </a:solidFill>
                <a:latin typeface="+mj-lt"/>
                <a:ea typeface="+mj-ea"/>
                <a:cs typeface="+mj-cs"/>
              </a:rPr>
              <a:t>Learning objectives</a:t>
            </a:r>
          </a:p>
        </p:txBody>
      </p:sp>
      <p:sp>
        <p:nvSpPr>
          <p:cNvPr id="16" name="Arc 1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Title 1"/>
          <p:cNvSpPr txBox="1">
            <a:spLocks/>
          </p:cNvSpPr>
          <p:nvPr/>
        </p:nvSpPr>
        <p:spPr>
          <a:xfrm>
            <a:off x="3335481" y="591344"/>
            <a:ext cx="5179868" cy="5585619"/>
          </a:xfrm>
          <a:prstGeom prst="rect">
            <a:avLst/>
          </a:prstGeom>
        </p:spPr>
        <p:txBody>
          <a:bodyPr vert="horz" lIns="91440" tIns="45720" rIns="91440" bIns="45720" rtlCol="0" anchor="ctr">
            <a:normAutofit/>
          </a:bodyPr>
          <a:lstStyle/>
          <a:p>
            <a:pPr lvl="0" indent="-228600">
              <a:lnSpc>
                <a:spcPct val="90000"/>
              </a:lnSpc>
              <a:spcAft>
                <a:spcPts val="1200"/>
              </a:spcAft>
              <a:buFont typeface="Arial" panose="020B0604020202020204" pitchFamily="34" charset="0"/>
              <a:buChar char="•"/>
            </a:pPr>
            <a:endParaRPr lang="en-US" i="1" dirty="0"/>
          </a:p>
          <a:p>
            <a:pPr lvl="0" indent="-228600">
              <a:lnSpc>
                <a:spcPct val="90000"/>
              </a:lnSpc>
              <a:spcAft>
                <a:spcPts val="1200"/>
              </a:spcAft>
              <a:buFont typeface="Arial" panose="020B0604020202020204" pitchFamily="34" charset="0"/>
              <a:buChar char="•"/>
            </a:pPr>
            <a:r>
              <a:rPr lang="en-US" i="1" dirty="0"/>
              <a:t> By the end of this chapter you will understand:</a:t>
            </a:r>
          </a:p>
          <a:p>
            <a:pPr marL="342900" lvl="0" indent="-228600">
              <a:lnSpc>
                <a:spcPct val="90000"/>
              </a:lnSpc>
              <a:spcAft>
                <a:spcPts val="1200"/>
              </a:spcAft>
              <a:buFont typeface="Arial" panose="020B0604020202020204" pitchFamily="34" charset="0"/>
              <a:buChar char="•"/>
            </a:pPr>
            <a:r>
              <a:rPr lang="en-US" i="1" dirty="0"/>
              <a:t>how leadership and organization of innovation is much more than a set of processes, tools and techniques, </a:t>
            </a:r>
          </a:p>
          <a:p>
            <a:pPr marL="342900" lvl="0" indent="-228600">
              <a:lnSpc>
                <a:spcPct val="90000"/>
              </a:lnSpc>
              <a:spcAft>
                <a:spcPts val="1200"/>
              </a:spcAft>
              <a:buFont typeface="Arial" panose="020B0604020202020204" pitchFamily="34" charset="0"/>
              <a:buChar char="•"/>
            </a:pPr>
            <a:r>
              <a:rPr lang="en-US" i="1" dirty="0"/>
              <a:t>how different leadership and creative styles influence the ability to identify, assess and develop new ideas and concepts.</a:t>
            </a:r>
            <a:endParaRPr lang="en-US" dirty="0"/>
          </a:p>
          <a:p>
            <a:pPr marL="342900" lvl="0" indent="-228600">
              <a:lnSpc>
                <a:spcPct val="90000"/>
              </a:lnSpc>
              <a:spcAft>
                <a:spcPts val="1200"/>
              </a:spcAft>
              <a:buFont typeface="Arial" panose="020B0604020202020204" pitchFamily="34" charset="0"/>
              <a:buChar char="•"/>
            </a:pPr>
            <a:r>
              <a:rPr lang="en-US" i="1" dirty="0"/>
              <a:t>how teams, groups and processes each contribute to successful innovation behaviours and outcomes.</a:t>
            </a:r>
            <a:endParaRPr lang="en-US" dirty="0"/>
          </a:p>
          <a:p>
            <a:pPr marL="342900" indent="-228600">
              <a:lnSpc>
                <a:spcPct val="90000"/>
              </a:lnSpc>
              <a:spcAft>
                <a:spcPts val="1200"/>
              </a:spcAft>
              <a:buFont typeface="Arial" panose="020B0604020202020204" pitchFamily="34" charset="0"/>
              <a:buChar char="•"/>
            </a:pPr>
            <a:r>
              <a:rPr lang="en-US" i="1" dirty="0"/>
              <a:t>how different environmental  factors can support or hinder innovation and entrepreneurship.</a:t>
            </a:r>
            <a:endParaRPr lang="en-US" dirty="0"/>
          </a:p>
        </p:txBody>
      </p:sp>
      <p:cxnSp>
        <p:nvCxnSpPr>
          <p:cNvPr id="7" name="Straight Connector 6"/>
          <p:cNvCxnSpPr/>
          <p:nvPr/>
        </p:nvCxnSpPr>
        <p:spPr>
          <a:xfrm>
            <a:off x="458167" y="1433555"/>
            <a:ext cx="8478016"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19387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301E07F-4F79-4B58-8698-EF24DC1ECD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Arc 13">
            <a:extLst>
              <a:ext uri="{FF2B5EF4-FFF2-40B4-BE49-F238E27FC236}">
                <a16:creationId xmlns:a16="http://schemas.microsoft.com/office/drawing/2014/main" id="{E58B2195-5055-402F-A3E7-53FF0E498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4377" y="775849"/>
            <a:ext cx="2240924"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2FF829E-164C-C647-862D-C0E45AB0C1E5}"/>
              </a:ext>
            </a:extLst>
          </p:cNvPr>
          <p:cNvSpPr>
            <a:spLocks noGrp="1"/>
          </p:cNvSpPr>
          <p:nvPr>
            <p:ph type="title"/>
          </p:nvPr>
        </p:nvSpPr>
        <p:spPr>
          <a:xfrm>
            <a:off x="5310553" y="647593"/>
            <a:ext cx="3350844" cy="3060541"/>
          </a:xfrm>
        </p:spPr>
        <p:txBody>
          <a:bodyPr vert="horz" lIns="91440" tIns="45720" rIns="91440" bIns="45720" rtlCol="0" anchor="b">
            <a:normAutofit/>
          </a:bodyPr>
          <a:lstStyle/>
          <a:p>
            <a:pPr>
              <a:lnSpc>
                <a:spcPct val="90000"/>
              </a:lnSpc>
            </a:pPr>
            <a:r>
              <a:rPr lang="en-US" sz="4700" kern="1200">
                <a:solidFill>
                  <a:srgbClr val="FFFFFF"/>
                </a:solidFill>
                <a:latin typeface="+mj-lt"/>
                <a:ea typeface="+mj-ea"/>
                <a:cs typeface="+mj-cs"/>
              </a:rPr>
              <a:t>Core themes and material from the book</a:t>
            </a:r>
          </a:p>
        </p:txBody>
      </p:sp>
      <p:sp>
        <p:nvSpPr>
          <p:cNvPr id="16" name="Oval 15">
            <a:extLst>
              <a:ext uri="{FF2B5EF4-FFF2-40B4-BE49-F238E27FC236}">
                <a16:creationId xmlns:a16="http://schemas.microsoft.com/office/drawing/2014/main" id="{9EE6F773-742A-491A-9A00-A2A150DF5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8276" y="366810"/>
            <a:ext cx="4593285" cy="61243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Books">
            <a:extLst>
              <a:ext uri="{FF2B5EF4-FFF2-40B4-BE49-F238E27FC236}">
                <a16:creationId xmlns:a16="http://schemas.microsoft.com/office/drawing/2014/main" id="{047FB8FE-B6DD-411D-B9FE-1BD2B5EA19B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0060" y="1834479"/>
            <a:ext cx="3189041" cy="3189041"/>
          </a:xfrm>
          <a:custGeom>
            <a:avLst/>
            <a:gdLst/>
            <a:ahLst/>
            <a:cxnLst/>
            <a:rect l="l" t="t" r="r" b="b"/>
            <a:pathLst>
              <a:path w="4273177" h="4470400">
                <a:moveTo>
                  <a:pt x="75080" y="0"/>
                </a:moveTo>
                <a:lnTo>
                  <a:pt x="4198097" y="0"/>
                </a:lnTo>
                <a:cubicBezTo>
                  <a:pt x="4239563" y="0"/>
                  <a:pt x="4273177" y="33614"/>
                  <a:pt x="4273177" y="75080"/>
                </a:cubicBezTo>
                <a:lnTo>
                  <a:pt x="4273177" y="4395320"/>
                </a:lnTo>
                <a:cubicBezTo>
                  <a:pt x="4273177" y="4436786"/>
                  <a:pt x="4239563" y="4470400"/>
                  <a:pt x="4198097" y="4470400"/>
                </a:cubicBezTo>
                <a:lnTo>
                  <a:pt x="75080" y="4470400"/>
                </a:lnTo>
                <a:cubicBezTo>
                  <a:pt x="33614" y="4470400"/>
                  <a:pt x="0" y="4436786"/>
                  <a:pt x="0" y="4395320"/>
                </a:cubicBezTo>
                <a:lnTo>
                  <a:pt x="0" y="75080"/>
                </a:lnTo>
                <a:cubicBezTo>
                  <a:pt x="0" y="33614"/>
                  <a:pt x="33614" y="0"/>
                  <a:pt x="75080" y="0"/>
                </a:cubicBezTo>
                <a:close/>
              </a:path>
            </a:pathLst>
          </a:custGeom>
        </p:spPr>
      </p:pic>
    </p:spTree>
    <p:extLst>
      <p:ext uri="{BB962C8B-B14F-4D97-AF65-F5344CB8AC3E}">
        <p14:creationId xmlns:p14="http://schemas.microsoft.com/office/powerpoint/2010/main" val="2083530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619672" y="332656"/>
            <a:ext cx="5739505"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The innovative organization</a:t>
            </a:r>
            <a:endParaRPr lang="en-GB" sz="3600" b="1" dirty="0">
              <a:solidFill>
                <a:srgbClr val="008000"/>
              </a:solidFill>
              <a:latin typeface="+mj-lt"/>
              <a:ea typeface="+mj-ea"/>
              <a:cs typeface="+mj-cs"/>
            </a:endParaRPr>
          </a:p>
        </p:txBody>
      </p:sp>
      <p:sp>
        <p:nvSpPr>
          <p:cNvPr id="8" name="Rectangle 7"/>
          <p:cNvSpPr/>
          <p:nvPr/>
        </p:nvSpPr>
        <p:spPr>
          <a:xfrm>
            <a:off x="458167" y="1578882"/>
            <a:ext cx="8478016" cy="1661993"/>
          </a:xfrm>
          <a:prstGeom prst="rect">
            <a:avLst/>
          </a:prstGeom>
        </p:spPr>
        <p:txBody>
          <a:bodyPr wrap="square">
            <a:spAutoFit/>
          </a:bodyPr>
          <a:lstStyle/>
          <a:p>
            <a:r>
              <a:rPr lang="en-US" sz="2000" dirty="0"/>
              <a:t>Research shows these factors are associated with good performance:</a:t>
            </a:r>
            <a:endParaRPr lang="en-US" sz="2000" dirty="0">
              <a:solidFill>
                <a:srgbClr val="000090"/>
              </a:solidFill>
            </a:endParaRPr>
          </a:p>
          <a:p>
            <a:pPr lvl="0"/>
            <a:endParaRPr lang="en-GB" sz="2600" dirty="0"/>
          </a:p>
          <a:p>
            <a:r>
              <a:rPr lang="en-GB" sz="2800" dirty="0"/>
              <a:t> </a:t>
            </a:r>
          </a:p>
          <a:p>
            <a:endParaRPr lang="en-GB" sz="2800" dirty="0"/>
          </a:p>
        </p:txBody>
      </p:sp>
      <p:graphicFrame>
        <p:nvGraphicFramePr>
          <p:cNvPr id="144387" name="Object 3"/>
          <p:cNvGraphicFramePr>
            <a:graphicFrameLocks noChangeAspect="1"/>
          </p:cNvGraphicFramePr>
          <p:nvPr/>
        </p:nvGraphicFramePr>
        <p:xfrm>
          <a:off x="976024" y="2620123"/>
          <a:ext cx="8123291" cy="3691460"/>
        </p:xfrm>
        <a:graphic>
          <a:graphicData uri="http://schemas.openxmlformats.org/presentationml/2006/ole">
            <mc:AlternateContent xmlns:mc="http://schemas.openxmlformats.org/markup-compatibility/2006">
              <mc:Choice xmlns:v="urn:schemas-microsoft-com:vml" Requires="v">
                <p:oleObj name="Document" r:id="rId2" imgW="22501587" imgH="9396825" progId="Word.Document.12">
                  <p:link updateAutomatic="1"/>
                </p:oleObj>
              </mc:Choice>
              <mc:Fallback>
                <p:oleObj name="Document" r:id="rId2" imgW="22501587" imgH="9396825" progId="Word.Document.12">
                  <p:link updateAutomatic="1"/>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6024" y="2620123"/>
                        <a:ext cx="8123291" cy="36914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81038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691680" y="332656"/>
            <a:ext cx="5739505"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The innovative organization</a:t>
            </a:r>
          </a:p>
          <a:p>
            <a:pPr lvl="0" algn="ctr">
              <a:spcBef>
                <a:spcPct val="0"/>
              </a:spcBef>
              <a:defRPr/>
            </a:pPr>
            <a:r>
              <a:rPr lang="en-US" sz="3600" b="1" dirty="0">
                <a:solidFill>
                  <a:srgbClr val="008000"/>
                </a:solidFill>
                <a:latin typeface="+mj-lt"/>
                <a:ea typeface="+mj-ea"/>
                <a:cs typeface="+mj-cs"/>
              </a:rPr>
              <a:t>(continued)</a:t>
            </a:r>
            <a:endParaRPr lang="en-GB" sz="3600" b="1" dirty="0">
              <a:solidFill>
                <a:srgbClr val="008000"/>
              </a:solidFill>
              <a:latin typeface="+mj-lt"/>
              <a:ea typeface="+mj-ea"/>
              <a:cs typeface="+mj-cs"/>
            </a:endParaRPr>
          </a:p>
        </p:txBody>
      </p:sp>
      <p:graphicFrame>
        <p:nvGraphicFramePr>
          <p:cNvPr id="192515" name="Object 3"/>
          <p:cNvGraphicFramePr>
            <a:graphicFrameLocks noChangeAspect="1"/>
          </p:cNvGraphicFramePr>
          <p:nvPr/>
        </p:nvGraphicFramePr>
        <p:xfrm>
          <a:off x="1835696" y="1772816"/>
          <a:ext cx="7128792" cy="4712656"/>
        </p:xfrm>
        <a:graphic>
          <a:graphicData uri="http://schemas.openxmlformats.org/presentationml/2006/ole">
            <mc:AlternateContent xmlns:mc="http://schemas.openxmlformats.org/markup-compatibility/2006">
              <mc:Choice xmlns:v="urn:schemas-microsoft-com:vml" Requires="v">
                <p:oleObj name="Document" r:id="rId2" imgW="22501587" imgH="13053968" progId="Word.Document.12">
                  <p:link updateAutomatic="1"/>
                </p:oleObj>
              </mc:Choice>
              <mc:Fallback>
                <p:oleObj name="Document" r:id="rId2" imgW="22501587" imgH="13053968" progId="Word.Document.12">
                  <p:link updateAutomatic="1"/>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696" y="1772816"/>
                        <a:ext cx="7128792" cy="47126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429847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2051720" y="332656"/>
            <a:ext cx="4931869" cy="917864"/>
          </a:xfrm>
          <a:prstGeom prst="rect">
            <a:avLst/>
          </a:prstGeom>
        </p:spPr>
        <p:txBody>
          <a:bodyPr vert="horz" lIns="91440" tIns="45720" rIns="91440" bIns="45720" rtlCol="0" anchor="ctr">
            <a:noAutofit/>
          </a:bodyPr>
          <a:lstStyle/>
          <a:p>
            <a:pPr lvl="0" algn="ctr"/>
            <a:r>
              <a:rPr lang="en-US" sz="3600" b="1" dirty="0">
                <a:solidFill>
                  <a:srgbClr val="008000"/>
                </a:solidFill>
                <a:latin typeface="+mj-lt"/>
                <a:ea typeface="+mj-ea"/>
                <a:cs typeface="+mj-cs"/>
              </a:rPr>
              <a:t>Innovation leadership</a:t>
            </a:r>
            <a:endParaRPr lang="en-GB" sz="3600" b="1" dirty="0">
              <a:solidFill>
                <a:srgbClr val="008000"/>
              </a:solidFill>
              <a:latin typeface="+mj-lt"/>
              <a:ea typeface="+mj-ea"/>
              <a:cs typeface="+mj-cs"/>
            </a:endParaRPr>
          </a:p>
        </p:txBody>
      </p:sp>
      <p:sp>
        <p:nvSpPr>
          <p:cNvPr id="9" name="Rectangle 8"/>
          <p:cNvSpPr/>
          <p:nvPr/>
        </p:nvSpPr>
        <p:spPr>
          <a:xfrm>
            <a:off x="467544" y="3933056"/>
            <a:ext cx="8478016" cy="2631490"/>
          </a:xfrm>
          <a:prstGeom prst="rect">
            <a:avLst/>
          </a:prstGeom>
        </p:spPr>
        <p:txBody>
          <a:bodyPr wrap="square">
            <a:spAutoFit/>
          </a:bodyPr>
          <a:lstStyle/>
          <a:p>
            <a:pPr>
              <a:spcAft>
                <a:spcPts val="1800"/>
              </a:spcAft>
            </a:pPr>
            <a:r>
              <a:rPr lang="en-US" sz="2000" dirty="0"/>
              <a:t>Reviews of research on leadership and performance suggest leadership directly influences:</a:t>
            </a:r>
            <a:endParaRPr lang="en-GB" sz="2000" dirty="0"/>
          </a:p>
          <a:p>
            <a:pPr>
              <a:spcAft>
                <a:spcPts val="1800"/>
              </a:spcAft>
              <a:buFont typeface="Arial"/>
              <a:buChar char="•"/>
            </a:pPr>
            <a:r>
              <a:rPr lang="en-US" sz="2000" dirty="0"/>
              <a:t> Around 15% of the differences found in performance of businesses; </a:t>
            </a:r>
            <a:endParaRPr lang="en-GB" sz="2000" dirty="0"/>
          </a:p>
          <a:p>
            <a:pPr>
              <a:spcAft>
                <a:spcPts val="1800"/>
              </a:spcAft>
              <a:buFont typeface="Arial"/>
              <a:buChar char="•"/>
            </a:pPr>
            <a:r>
              <a:rPr lang="en-US" sz="2000" dirty="0"/>
              <a:t> Contributes around an additional 35% through the choice of business strategy;</a:t>
            </a:r>
            <a:endParaRPr lang="en-GB" sz="2000" dirty="0"/>
          </a:p>
          <a:p>
            <a:pPr>
              <a:spcAft>
                <a:spcPts val="1800"/>
              </a:spcAft>
              <a:buFont typeface="Arial"/>
              <a:buChar char="•"/>
            </a:pPr>
            <a:r>
              <a:rPr lang="en-US" sz="2000" dirty="0"/>
              <a:t> So directly and indirectly </a:t>
            </a:r>
            <a:r>
              <a:rPr lang="en-US" sz="2000" dirty="0">
                <a:solidFill>
                  <a:schemeClr val="bg1">
                    <a:lumMod val="50000"/>
                  </a:schemeClr>
                </a:solidFill>
              </a:rPr>
              <a:t>leadership can account for half of the variance in performance observed across organizations.</a:t>
            </a:r>
            <a:endParaRPr lang="en-GB" sz="2000" dirty="0">
              <a:solidFill>
                <a:schemeClr val="bg1">
                  <a:lumMod val="50000"/>
                </a:schemeClr>
              </a:solidFill>
            </a:endParaRPr>
          </a:p>
        </p:txBody>
      </p:sp>
      <p:sp>
        <p:nvSpPr>
          <p:cNvPr id="57346" name="AutoShape 2" descr="Image result for leader"/>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GB" dirty="0"/>
          </a:p>
        </p:txBody>
      </p:sp>
      <p:sp>
        <p:nvSpPr>
          <p:cNvPr id="57348" name="AutoShape 4" descr="Image result for leader"/>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GB" dirty="0"/>
          </a:p>
        </p:txBody>
      </p:sp>
      <p:sp>
        <p:nvSpPr>
          <p:cNvPr id="57350" name="AutoShape 6" descr="Image result for leader"/>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GB" dirty="0"/>
          </a:p>
        </p:txBody>
      </p:sp>
      <p:pic>
        <p:nvPicPr>
          <p:cNvPr id="57352" name="Picture 8" descr="Image result for leader"/>
          <p:cNvPicPr>
            <a:picLocks noChangeAspect="1" noChangeArrowheads="1"/>
          </p:cNvPicPr>
          <p:nvPr/>
        </p:nvPicPr>
        <p:blipFill>
          <a:blip r:embed="rId2" cstate="print"/>
          <a:srcRect/>
          <a:stretch>
            <a:fillRect/>
          </a:stretch>
        </p:blipFill>
        <p:spPr bwMode="auto">
          <a:xfrm>
            <a:off x="0" y="1772816"/>
            <a:ext cx="3444886" cy="1937750"/>
          </a:xfrm>
          <a:prstGeom prst="rect">
            <a:avLst/>
          </a:prstGeom>
          <a:noFill/>
        </p:spPr>
      </p:pic>
    </p:spTree>
    <p:extLst>
      <p:ext uri="{BB962C8B-B14F-4D97-AF65-F5344CB8AC3E}">
        <p14:creationId xmlns:p14="http://schemas.microsoft.com/office/powerpoint/2010/main" val="3291048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907704" y="332656"/>
            <a:ext cx="4931869" cy="917864"/>
          </a:xfrm>
          <a:prstGeom prst="rect">
            <a:avLst/>
          </a:prstGeom>
        </p:spPr>
        <p:txBody>
          <a:bodyPr vert="horz" lIns="91440" tIns="45720" rIns="91440" bIns="45720" rtlCol="0" anchor="ctr">
            <a:noAutofit/>
          </a:bodyPr>
          <a:lstStyle/>
          <a:p>
            <a:pPr algn="ctr"/>
            <a:r>
              <a:rPr lang="en-US" sz="3600" b="1" dirty="0">
                <a:solidFill>
                  <a:srgbClr val="008000"/>
                </a:solidFill>
                <a:latin typeface="+mj-lt"/>
                <a:ea typeface="+mj-ea"/>
                <a:cs typeface="+mj-cs"/>
              </a:rPr>
              <a:t>Characteristic traits of good leaders</a:t>
            </a:r>
            <a:endParaRPr lang="en-GB" sz="3600" b="1" dirty="0">
              <a:solidFill>
                <a:srgbClr val="008000"/>
              </a:solidFill>
              <a:latin typeface="+mj-lt"/>
              <a:ea typeface="+mj-ea"/>
              <a:cs typeface="+mj-cs"/>
            </a:endParaRPr>
          </a:p>
        </p:txBody>
      </p:sp>
      <p:sp>
        <p:nvSpPr>
          <p:cNvPr id="9" name="Rectangle 8"/>
          <p:cNvSpPr/>
          <p:nvPr/>
        </p:nvSpPr>
        <p:spPr>
          <a:xfrm>
            <a:off x="458167" y="1746644"/>
            <a:ext cx="8478016" cy="4832092"/>
          </a:xfrm>
          <a:prstGeom prst="rect">
            <a:avLst/>
          </a:prstGeom>
        </p:spPr>
        <p:txBody>
          <a:bodyPr wrap="square">
            <a:spAutoFit/>
          </a:bodyPr>
          <a:lstStyle/>
          <a:p>
            <a:pPr marL="971550" lvl="1" indent="-514350">
              <a:buFont typeface="Arial"/>
              <a:buChar char="•"/>
            </a:pPr>
            <a:r>
              <a:rPr lang="en-US" sz="2800" dirty="0"/>
              <a:t>bright, alert and intelligent;</a:t>
            </a:r>
            <a:endParaRPr lang="en-GB" sz="2800" dirty="0"/>
          </a:p>
          <a:p>
            <a:pPr marL="971550" lvl="1" indent="-514350">
              <a:buFont typeface="Arial"/>
              <a:buChar char="•"/>
            </a:pPr>
            <a:r>
              <a:rPr lang="en-US" sz="2800" dirty="0"/>
              <a:t>seek responsibility and take charge;</a:t>
            </a:r>
            <a:endParaRPr lang="en-GB" sz="2800" dirty="0"/>
          </a:p>
          <a:p>
            <a:pPr marL="971550" lvl="1" indent="-514350">
              <a:buFont typeface="Arial"/>
              <a:buChar char="•"/>
            </a:pPr>
            <a:r>
              <a:rPr lang="en-US" sz="2800" dirty="0"/>
              <a:t>skillful in their task domain;</a:t>
            </a:r>
            <a:endParaRPr lang="en-GB" sz="2800" dirty="0"/>
          </a:p>
          <a:p>
            <a:pPr marL="971550" lvl="1" indent="-514350">
              <a:buFont typeface="Arial"/>
              <a:buChar char="•"/>
            </a:pPr>
            <a:r>
              <a:rPr lang="en-US" sz="2800" dirty="0"/>
              <a:t>administratively and socially competent;</a:t>
            </a:r>
            <a:endParaRPr lang="en-GB" sz="2800" dirty="0"/>
          </a:p>
          <a:p>
            <a:pPr marL="971550" lvl="1" indent="-514350">
              <a:buFont typeface="Arial"/>
              <a:buChar char="•"/>
            </a:pPr>
            <a:r>
              <a:rPr lang="en-US" sz="2800" dirty="0"/>
              <a:t>energetic, active and resilient;</a:t>
            </a:r>
            <a:endParaRPr lang="en-GB" sz="2800" dirty="0"/>
          </a:p>
          <a:p>
            <a:pPr marL="971550" lvl="1" indent="-514350">
              <a:buFont typeface="Arial"/>
              <a:buChar char="•"/>
            </a:pPr>
            <a:r>
              <a:rPr lang="en-US" sz="2800" dirty="0"/>
              <a:t>good communicators</a:t>
            </a:r>
            <a:r>
              <a:rPr lang="en-GB" sz="2800" dirty="0"/>
              <a:t>.</a:t>
            </a:r>
          </a:p>
          <a:p>
            <a:endParaRPr lang="en-GB" sz="2800" dirty="0"/>
          </a:p>
          <a:p>
            <a:r>
              <a:rPr lang="en-US" sz="2800" dirty="0"/>
              <a:t>BUT</a:t>
            </a:r>
          </a:p>
          <a:p>
            <a:endParaRPr lang="en-GB" sz="2800" dirty="0"/>
          </a:p>
          <a:p>
            <a:r>
              <a:rPr lang="en-US" sz="2800" dirty="0">
                <a:solidFill>
                  <a:schemeClr val="bg1">
                    <a:lumMod val="50000"/>
                  </a:schemeClr>
                </a:solidFill>
              </a:rPr>
              <a:t>There is no brief and universal list of enduring traits that all good leaders must possess under all conditions.</a:t>
            </a:r>
            <a:r>
              <a:rPr lang="en-GB" sz="2800" dirty="0">
                <a:solidFill>
                  <a:schemeClr val="bg1">
                    <a:lumMod val="50000"/>
                  </a:schemeClr>
                </a:solidFill>
              </a:rPr>
              <a:t> </a:t>
            </a:r>
          </a:p>
        </p:txBody>
      </p:sp>
    </p:spTree>
    <p:extLst>
      <p:ext uri="{BB962C8B-B14F-4D97-AF65-F5344CB8AC3E}">
        <p14:creationId xmlns:p14="http://schemas.microsoft.com/office/powerpoint/2010/main" val="2136834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979712" y="332656"/>
            <a:ext cx="4931869" cy="917864"/>
          </a:xfrm>
          <a:prstGeom prst="rect">
            <a:avLst/>
          </a:prstGeom>
        </p:spPr>
        <p:txBody>
          <a:bodyPr vert="horz" lIns="91440" tIns="45720" rIns="91440" bIns="45720" rtlCol="0" anchor="ctr">
            <a:noAutofit/>
          </a:bodyPr>
          <a:lstStyle/>
          <a:p>
            <a:pPr algn="ctr"/>
            <a:r>
              <a:rPr lang="en-US" sz="3600" b="1" dirty="0">
                <a:solidFill>
                  <a:srgbClr val="008000"/>
                </a:solidFill>
                <a:latin typeface="+mj-lt"/>
                <a:ea typeface="+mj-ea"/>
                <a:cs typeface="+mj-cs"/>
              </a:rPr>
              <a:t>Key factors for leaders to focus on</a:t>
            </a:r>
            <a:r>
              <a:rPr lang="en-GB" sz="3600" b="1" dirty="0">
                <a:solidFill>
                  <a:srgbClr val="008000"/>
                </a:solidFill>
                <a:latin typeface="+mj-lt"/>
                <a:ea typeface="+mj-ea"/>
                <a:cs typeface="+mj-cs"/>
              </a:rPr>
              <a:t> </a:t>
            </a:r>
          </a:p>
        </p:txBody>
      </p:sp>
      <p:sp>
        <p:nvSpPr>
          <p:cNvPr id="9" name="Rectangle 8"/>
          <p:cNvSpPr/>
          <p:nvPr/>
        </p:nvSpPr>
        <p:spPr>
          <a:xfrm>
            <a:off x="458167" y="1697328"/>
            <a:ext cx="8478016" cy="4278094"/>
          </a:xfrm>
          <a:prstGeom prst="rect">
            <a:avLst/>
          </a:prstGeom>
        </p:spPr>
        <p:txBody>
          <a:bodyPr wrap="square">
            <a:spAutoFit/>
          </a:bodyPr>
          <a:lstStyle/>
          <a:p>
            <a:pPr>
              <a:spcAft>
                <a:spcPts val="2400"/>
              </a:spcAft>
            </a:pPr>
            <a:r>
              <a:rPr lang="en-US" sz="2800" dirty="0"/>
              <a:t>A review of twenty-seven empirical studies of the relationships between leadership and innovation investigated when and how leadership influences innovation, identified six factors leaders should focus on:</a:t>
            </a:r>
          </a:p>
          <a:p>
            <a:pPr marL="514350" indent="-514350">
              <a:spcAft>
                <a:spcPts val="2400"/>
              </a:spcAft>
              <a:buFont typeface="+mj-lt"/>
              <a:buAutoNum type="arabicPeriod"/>
            </a:pPr>
            <a:r>
              <a:rPr lang="en-US" sz="2800" dirty="0"/>
              <a:t>Upper management should establish an innovation policy that is promoted throughout the organization. </a:t>
            </a:r>
            <a:r>
              <a:rPr lang="en-US" sz="2800" dirty="0">
                <a:solidFill>
                  <a:schemeClr val="bg1">
                    <a:lumMod val="50000"/>
                  </a:schemeClr>
                </a:solidFill>
              </a:rPr>
              <a:t>It is necessary that the organization through its leaders communicate to employees that innovative behavior will be rewarded.</a:t>
            </a:r>
            <a:r>
              <a:rPr lang="en-GB" sz="2800" dirty="0">
                <a:solidFill>
                  <a:schemeClr val="bg1">
                    <a:lumMod val="50000"/>
                  </a:schemeClr>
                </a:solidFill>
              </a:rPr>
              <a:t> </a:t>
            </a:r>
            <a:r>
              <a:rPr lang="en-US" sz="2800" dirty="0">
                <a:solidFill>
                  <a:schemeClr val="bg1">
                    <a:lumMod val="50000"/>
                  </a:schemeClr>
                </a:solidFill>
              </a:rPr>
              <a:t> </a:t>
            </a:r>
            <a:endParaRPr lang="en-GB" sz="2800" dirty="0">
              <a:solidFill>
                <a:schemeClr val="bg1">
                  <a:lumMod val="50000"/>
                </a:schemeClr>
              </a:solidFill>
            </a:endParaRPr>
          </a:p>
        </p:txBody>
      </p:sp>
    </p:spTree>
    <p:extLst>
      <p:ext uri="{BB962C8B-B14F-4D97-AF65-F5344CB8AC3E}">
        <p14:creationId xmlns:p14="http://schemas.microsoft.com/office/powerpoint/2010/main" val="1937901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2051720" y="332656"/>
            <a:ext cx="4931869" cy="917864"/>
          </a:xfrm>
          <a:prstGeom prst="rect">
            <a:avLst/>
          </a:prstGeom>
        </p:spPr>
        <p:txBody>
          <a:bodyPr vert="horz" lIns="91440" tIns="45720" rIns="91440" bIns="45720" rtlCol="0" anchor="ctr">
            <a:noAutofit/>
          </a:bodyPr>
          <a:lstStyle/>
          <a:p>
            <a:pPr algn="ctr"/>
            <a:r>
              <a:rPr lang="en-US" sz="3600" b="1" dirty="0">
                <a:solidFill>
                  <a:srgbClr val="008000"/>
                </a:solidFill>
                <a:latin typeface="+mj-lt"/>
                <a:ea typeface="+mj-ea"/>
                <a:cs typeface="+mj-cs"/>
              </a:rPr>
              <a:t>Key factors for leaders to focus on (continued)</a:t>
            </a:r>
            <a:r>
              <a:rPr lang="en-GB" sz="3600" b="1" dirty="0">
                <a:solidFill>
                  <a:srgbClr val="008000"/>
                </a:solidFill>
                <a:latin typeface="+mj-lt"/>
                <a:ea typeface="+mj-ea"/>
                <a:cs typeface="+mj-cs"/>
              </a:rPr>
              <a:t> </a:t>
            </a:r>
          </a:p>
        </p:txBody>
      </p:sp>
      <p:sp>
        <p:nvSpPr>
          <p:cNvPr id="9" name="Rectangle 8"/>
          <p:cNvSpPr/>
          <p:nvPr/>
        </p:nvSpPr>
        <p:spPr>
          <a:xfrm>
            <a:off x="458167" y="1697328"/>
            <a:ext cx="8478016" cy="4278094"/>
          </a:xfrm>
          <a:prstGeom prst="rect">
            <a:avLst/>
          </a:prstGeom>
        </p:spPr>
        <p:txBody>
          <a:bodyPr wrap="square">
            <a:spAutoFit/>
          </a:bodyPr>
          <a:lstStyle/>
          <a:p>
            <a:pPr marL="514350" indent="-514350">
              <a:spcAft>
                <a:spcPts val="2400"/>
              </a:spcAft>
            </a:pPr>
            <a:r>
              <a:rPr lang="en-US" sz="2800" dirty="0"/>
              <a:t>2.   When forming teams, </a:t>
            </a:r>
            <a:r>
              <a:rPr lang="en-US" sz="2800" dirty="0">
                <a:solidFill>
                  <a:schemeClr val="bg1">
                    <a:lumMod val="50000"/>
                  </a:schemeClr>
                </a:solidFill>
              </a:rPr>
              <a:t>some heterogeneity is necessary</a:t>
            </a:r>
            <a:r>
              <a:rPr lang="en-US" sz="2800" dirty="0"/>
              <a:t> to promote innovation. However, if the team is too heterogeneous, tensions may arise, when heterogeneity is too low, more directive leadership is required to promote team reflection, for example, by encouraging discussion and disagreement.</a:t>
            </a:r>
            <a:endParaRPr lang="en-GB" sz="2800" dirty="0"/>
          </a:p>
          <a:p>
            <a:pPr marL="514350" indent="-514350">
              <a:spcAft>
                <a:spcPts val="2400"/>
              </a:spcAft>
            </a:pPr>
            <a:r>
              <a:rPr lang="en-US" sz="2800" dirty="0"/>
              <a:t>3.	Leaders should promote </a:t>
            </a:r>
            <a:r>
              <a:rPr lang="en-US" sz="2800" dirty="0">
                <a:solidFill>
                  <a:schemeClr val="bg1">
                    <a:lumMod val="50000"/>
                  </a:schemeClr>
                </a:solidFill>
              </a:rPr>
              <a:t>a team climate of emotional safety, respect,</a:t>
            </a:r>
            <a:r>
              <a:rPr lang="en-US" sz="2800" dirty="0"/>
              <a:t> </a:t>
            </a:r>
            <a:r>
              <a:rPr lang="en-US" sz="2800" dirty="0">
                <a:solidFill>
                  <a:schemeClr val="bg1">
                    <a:lumMod val="50000"/>
                  </a:schemeClr>
                </a:solidFill>
              </a:rPr>
              <a:t>and joy </a:t>
            </a:r>
            <a:r>
              <a:rPr lang="en-US" sz="2800" dirty="0"/>
              <a:t>through emotional support and shared decision-making.</a:t>
            </a:r>
            <a:endParaRPr lang="en-GB" sz="2800" dirty="0"/>
          </a:p>
        </p:txBody>
      </p:sp>
    </p:spTree>
    <p:extLst>
      <p:ext uri="{BB962C8B-B14F-4D97-AF65-F5344CB8AC3E}">
        <p14:creationId xmlns:p14="http://schemas.microsoft.com/office/powerpoint/2010/main" val="3221248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2051720" y="332656"/>
            <a:ext cx="4931869" cy="917864"/>
          </a:xfrm>
          <a:prstGeom prst="rect">
            <a:avLst/>
          </a:prstGeom>
        </p:spPr>
        <p:txBody>
          <a:bodyPr vert="horz" lIns="91440" tIns="45720" rIns="91440" bIns="45720" rtlCol="0" anchor="ctr">
            <a:noAutofit/>
          </a:bodyPr>
          <a:lstStyle/>
          <a:p>
            <a:pPr algn="ctr"/>
            <a:r>
              <a:rPr lang="en-US" sz="3600" b="1" dirty="0">
                <a:solidFill>
                  <a:srgbClr val="008000"/>
                </a:solidFill>
                <a:latin typeface="+mj-lt"/>
                <a:ea typeface="+mj-ea"/>
                <a:cs typeface="+mj-cs"/>
              </a:rPr>
              <a:t>Key factors for leaders to focus on (continued)</a:t>
            </a:r>
            <a:r>
              <a:rPr lang="en-GB" sz="3600" b="1" dirty="0">
                <a:solidFill>
                  <a:srgbClr val="008000"/>
                </a:solidFill>
                <a:latin typeface="+mj-lt"/>
                <a:ea typeface="+mj-ea"/>
                <a:cs typeface="+mj-cs"/>
              </a:rPr>
              <a:t> </a:t>
            </a:r>
          </a:p>
        </p:txBody>
      </p:sp>
      <p:sp>
        <p:nvSpPr>
          <p:cNvPr id="9" name="Rectangle 8"/>
          <p:cNvSpPr/>
          <p:nvPr/>
        </p:nvSpPr>
        <p:spPr>
          <a:xfrm>
            <a:off x="458167" y="1697328"/>
            <a:ext cx="8478016" cy="4339650"/>
          </a:xfrm>
          <a:prstGeom prst="rect">
            <a:avLst/>
          </a:prstGeom>
        </p:spPr>
        <p:txBody>
          <a:bodyPr wrap="square">
            <a:spAutoFit/>
          </a:bodyPr>
          <a:lstStyle/>
          <a:p>
            <a:pPr>
              <a:spcAft>
                <a:spcPts val="4800"/>
              </a:spcAft>
            </a:pPr>
            <a:r>
              <a:rPr lang="en-US" sz="2800" dirty="0"/>
              <a:t>4.	Individuals and teams have </a:t>
            </a:r>
            <a:r>
              <a:rPr lang="en-US" sz="2800" dirty="0">
                <a:solidFill>
                  <a:schemeClr val="bg1">
                    <a:lumMod val="50000"/>
                  </a:schemeClr>
                </a:solidFill>
              </a:rPr>
              <a:t>autonomy</a:t>
            </a:r>
            <a:r>
              <a:rPr lang="en-US" sz="2800" dirty="0"/>
              <a:t> and </a:t>
            </a:r>
            <a:r>
              <a:rPr lang="en-US" sz="2800" dirty="0">
                <a:solidFill>
                  <a:schemeClr val="bg1">
                    <a:lumMod val="50000"/>
                  </a:schemeClr>
                </a:solidFill>
              </a:rPr>
              <a:t>space for idea generation and creative problem solving</a:t>
            </a:r>
            <a:r>
              <a:rPr lang="en-US" sz="2800" dirty="0"/>
              <a:t>.</a:t>
            </a:r>
            <a:endParaRPr lang="en-GB" sz="2800" dirty="0"/>
          </a:p>
          <a:p>
            <a:pPr>
              <a:spcAft>
                <a:spcPts val="4800"/>
              </a:spcAft>
            </a:pPr>
            <a:r>
              <a:rPr lang="en-US" sz="2800" dirty="0"/>
              <a:t>5.	</a:t>
            </a:r>
            <a:r>
              <a:rPr lang="en-US" sz="2800" dirty="0">
                <a:solidFill>
                  <a:schemeClr val="bg1">
                    <a:lumMod val="50000"/>
                  </a:schemeClr>
                </a:solidFill>
              </a:rPr>
              <a:t>Time limits </a:t>
            </a:r>
            <a:r>
              <a:rPr lang="en-US" sz="2800" dirty="0"/>
              <a:t>for idea creation and problem solutions should be set, particularly in the implementation phases</a:t>
            </a:r>
            <a:endParaRPr lang="en-GB" sz="2800" dirty="0"/>
          </a:p>
          <a:p>
            <a:pPr>
              <a:spcAft>
                <a:spcPts val="4800"/>
              </a:spcAft>
            </a:pPr>
            <a:r>
              <a:rPr lang="en-US" sz="2800" dirty="0"/>
              <a:t>6.	Finally, </a:t>
            </a:r>
            <a:r>
              <a:rPr lang="en-US" sz="2800" dirty="0">
                <a:solidFill>
                  <a:schemeClr val="bg1">
                    <a:lumMod val="50000"/>
                  </a:schemeClr>
                </a:solidFill>
              </a:rPr>
              <a:t>team leaders</a:t>
            </a:r>
            <a:r>
              <a:rPr lang="en-US" sz="2800" dirty="0"/>
              <a:t>, who have the expertise, </a:t>
            </a:r>
            <a:r>
              <a:rPr lang="en-US" sz="2800" dirty="0">
                <a:solidFill>
                  <a:schemeClr val="bg1">
                    <a:lumMod val="50000"/>
                  </a:schemeClr>
                </a:solidFill>
              </a:rPr>
              <a:t>should engage closely </a:t>
            </a:r>
            <a:r>
              <a:rPr lang="en-US" sz="2800" dirty="0"/>
              <a:t>in the evaluation of innovative activities.</a:t>
            </a:r>
            <a:r>
              <a:rPr lang="en-GB" sz="2800" dirty="0"/>
              <a:t> </a:t>
            </a:r>
          </a:p>
        </p:txBody>
      </p:sp>
    </p:spTree>
    <p:extLst>
      <p:ext uri="{BB962C8B-B14F-4D97-AF65-F5344CB8AC3E}">
        <p14:creationId xmlns:p14="http://schemas.microsoft.com/office/powerpoint/2010/main" val="30600217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2051720" y="332656"/>
            <a:ext cx="4931869" cy="917864"/>
          </a:xfrm>
          <a:prstGeom prst="rect">
            <a:avLst/>
          </a:prstGeom>
        </p:spPr>
        <p:txBody>
          <a:bodyPr vert="horz" lIns="91440" tIns="45720" rIns="91440" bIns="45720" rtlCol="0" anchor="ctr">
            <a:noAutofit/>
          </a:bodyPr>
          <a:lstStyle/>
          <a:p>
            <a:pPr lvl="0" algn="ctr"/>
            <a:r>
              <a:rPr lang="en-US" sz="3600" b="1" dirty="0">
                <a:solidFill>
                  <a:srgbClr val="008000"/>
                </a:solidFill>
                <a:latin typeface="+mj-lt"/>
                <a:ea typeface="+mj-ea"/>
                <a:cs typeface="+mj-cs"/>
              </a:rPr>
              <a:t>Creative style</a:t>
            </a:r>
            <a:endParaRPr lang="en-GB" sz="3600" b="1" dirty="0">
              <a:solidFill>
                <a:srgbClr val="008000"/>
              </a:solidFill>
              <a:latin typeface="+mj-lt"/>
              <a:ea typeface="+mj-ea"/>
              <a:cs typeface="+mj-cs"/>
            </a:endParaRPr>
          </a:p>
        </p:txBody>
      </p:sp>
      <p:sp>
        <p:nvSpPr>
          <p:cNvPr id="9" name="Rectangle 8"/>
          <p:cNvSpPr/>
          <p:nvPr/>
        </p:nvSpPr>
        <p:spPr>
          <a:xfrm>
            <a:off x="458167" y="1524722"/>
            <a:ext cx="8478016" cy="5047536"/>
          </a:xfrm>
          <a:prstGeom prst="rect">
            <a:avLst/>
          </a:prstGeom>
        </p:spPr>
        <p:txBody>
          <a:bodyPr wrap="square">
            <a:spAutoFit/>
          </a:bodyPr>
          <a:lstStyle/>
          <a:p>
            <a:pPr lvl="0">
              <a:spcAft>
                <a:spcPts val="1200"/>
              </a:spcAft>
            </a:pPr>
            <a:r>
              <a:rPr lang="en-US" sz="2800" dirty="0"/>
              <a:t>Kirton’s ‘adaptors and innovators’ spectrum</a:t>
            </a:r>
            <a:r>
              <a:rPr lang="en-GB" sz="2800" dirty="0"/>
              <a:t>:</a:t>
            </a:r>
          </a:p>
          <a:p>
            <a:pPr lvl="1">
              <a:spcAft>
                <a:spcPts val="1200"/>
              </a:spcAft>
              <a:buFont typeface="Arial"/>
              <a:buChar char="•"/>
            </a:pPr>
            <a:r>
              <a:rPr lang="en-US" sz="2800" dirty="0"/>
              <a:t> </a:t>
            </a:r>
            <a:r>
              <a:rPr lang="en-US" sz="2800" dirty="0">
                <a:solidFill>
                  <a:schemeClr val="bg1">
                    <a:lumMod val="50000"/>
                  </a:schemeClr>
                </a:solidFill>
              </a:rPr>
              <a:t>Adaptors</a:t>
            </a:r>
            <a:r>
              <a:rPr lang="en-US" sz="2800" dirty="0"/>
              <a:t> </a:t>
            </a:r>
            <a:r>
              <a:rPr lang="en-US" sz="2400" dirty="0"/>
              <a:t>characteristically produce a sufficiency of ideas based closely on existing agreed definitions of a problem and its likely solutions, but stretching the solutions. These ideas help to improve and 'do better'. </a:t>
            </a:r>
            <a:endParaRPr lang="en-GB" sz="2400" dirty="0"/>
          </a:p>
          <a:p>
            <a:pPr lvl="1">
              <a:spcAft>
                <a:spcPts val="1200"/>
              </a:spcAft>
              <a:buFont typeface="Arial"/>
              <a:buChar char="•"/>
            </a:pPr>
            <a:r>
              <a:rPr lang="en-US" sz="2800" dirty="0">
                <a:solidFill>
                  <a:schemeClr val="bg1">
                    <a:lumMod val="50000"/>
                  </a:schemeClr>
                </a:solidFill>
              </a:rPr>
              <a:t> Innovators </a:t>
            </a:r>
            <a:r>
              <a:rPr lang="en-US" sz="2400" dirty="0"/>
              <a:t>are more likely to reconstruct the problem, challenge the assumptions and to emerge with a much less expected solution which very probably is also at first less acceptable. Innovators are less concerned with doing things better than with doing things differently.</a:t>
            </a:r>
            <a:r>
              <a:rPr lang="en-GB" sz="2400" dirty="0"/>
              <a:t> </a:t>
            </a:r>
          </a:p>
          <a:p>
            <a:pPr marL="514350" indent="-514350">
              <a:spcAft>
                <a:spcPts val="1200"/>
              </a:spcAft>
            </a:pPr>
            <a:endParaRPr lang="en-GB" sz="2800" dirty="0"/>
          </a:p>
        </p:txBody>
      </p:sp>
    </p:spTree>
    <p:extLst>
      <p:ext uri="{BB962C8B-B14F-4D97-AF65-F5344CB8AC3E}">
        <p14:creationId xmlns:p14="http://schemas.microsoft.com/office/powerpoint/2010/main" val="39228603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979712" y="332656"/>
            <a:ext cx="4931869" cy="917864"/>
          </a:xfrm>
          <a:prstGeom prst="rect">
            <a:avLst/>
          </a:prstGeom>
        </p:spPr>
        <p:txBody>
          <a:bodyPr vert="horz" lIns="91440" tIns="45720" rIns="91440" bIns="45720" rtlCol="0" anchor="ctr">
            <a:noAutofit/>
          </a:bodyPr>
          <a:lstStyle/>
          <a:p>
            <a:pPr algn="ctr"/>
            <a:r>
              <a:rPr lang="en-US" sz="3600" b="1" dirty="0">
                <a:solidFill>
                  <a:srgbClr val="008000"/>
                </a:solidFill>
                <a:latin typeface="+mj-lt"/>
                <a:ea typeface="+mj-ea"/>
                <a:cs typeface="+mj-cs"/>
              </a:rPr>
              <a:t>Collective and social aspects of innovation</a:t>
            </a:r>
            <a:endParaRPr lang="en-GB" sz="3600" b="1" dirty="0">
              <a:solidFill>
                <a:srgbClr val="008000"/>
              </a:solidFill>
              <a:latin typeface="+mj-lt"/>
              <a:ea typeface="+mj-ea"/>
              <a:cs typeface="+mj-cs"/>
            </a:endParaRPr>
          </a:p>
        </p:txBody>
      </p:sp>
      <p:sp>
        <p:nvSpPr>
          <p:cNvPr id="9" name="Rectangle 8"/>
          <p:cNvSpPr/>
          <p:nvPr/>
        </p:nvSpPr>
        <p:spPr>
          <a:xfrm>
            <a:off x="458167" y="1927893"/>
            <a:ext cx="8478016" cy="2092881"/>
          </a:xfrm>
          <a:prstGeom prst="rect">
            <a:avLst/>
          </a:prstGeom>
        </p:spPr>
        <p:txBody>
          <a:bodyPr wrap="square">
            <a:spAutoFit/>
          </a:bodyPr>
          <a:lstStyle/>
          <a:p>
            <a:pPr lvl="0">
              <a:spcAft>
                <a:spcPts val="3600"/>
              </a:spcAft>
              <a:buFont typeface="Arial"/>
              <a:buChar char="•"/>
            </a:pPr>
            <a:r>
              <a:rPr lang="en-US" sz="2000" dirty="0"/>
              <a:t> ‘It takes five years to develop a new car in this country. Heck, we won World War 2 in four years...’ </a:t>
            </a:r>
            <a:endParaRPr lang="en-GB" sz="2000" dirty="0"/>
          </a:p>
          <a:p>
            <a:pPr lvl="0">
              <a:spcAft>
                <a:spcPts val="3600"/>
              </a:spcAft>
              <a:buFont typeface="Arial"/>
              <a:buChar char="•"/>
            </a:pPr>
            <a:r>
              <a:rPr lang="en-US" sz="2000" dirty="0"/>
              <a:t> Ross Perot’s critical comment on the state of the US car industry in the late 1980s captured some of the frustration with existing ways of designing and building cars.</a:t>
            </a:r>
            <a:endParaRPr lang="en-GB" sz="2000" dirty="0"/>
          </a:p>
        </p:txBody>
      </p:sp>
      <p:pic>
        <p:nvPicPr>
          <p:cNvPr id="47106" name="Picture 2" descr="Image result for car production line 80s"/>
          <p:cNvPicPr>
            <a:picLocks noChangeAspect="1" noChangeArrowheads="1"/>
          </p:cNvPicPr>
          <p:nvPr/>
        </p:nvPicPr>
        <p:blipFill>
          <a:blip r:embed="rId2" cstate="print"/>
          <a:srcRect/>
          <a:stretch>
            <a:fillRect/>
          </a:stretch>
        </p:blipFill>
        <p:spPr bwMode="auto">
          <a:xfrm>
            <a:off x="1547664" y="4149080"/>
            <a:ext cx="5904656" cy="2405821"/>
          </a:xfrm>
          <a:prstGeom prst="rect">
            <a:avLst/>
          </a:prstGeom>
          <a:noFill/>
        </p:spPr>
      </p:pic>
    </p:spTree>
    <p:extLst>
      <p:ext uri="{BB962C8B-B14F-4D97-AF65-F5344CB8AC3E}">
        <p14:creationId xmlns:p14="http://schemas.microsoft.com/office/powerpoint/2010/main" val="23315306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75656" y="332656"/>
            <a:ext cx="5913610" cy="917864"/>
          </a:xfrm>
          <a:prstGeom prst="rect">
            <a:avLst/>
          </a:prstGeom>
        </p:spPr>
        <p:txBody>
          <a:bodyPr vert="horz" lIns="91440" tIns="45720" rIns="91440" bIns="45720" rtlCol="0" anchor="ctr">
            <a:noAutofit/>
          </a:bodyPr>
          <a:lstStyle/>
          <a:p>
            <a:pPr algn="ctr"/>
            <a:r>
              <a:rPr lang="en-US" sz="3600" b="1" dirty="0">
                <a:solidFill>
                  <a:srgbClr val="008000"/>
                </a:solidFill>
                <a:latin typeface="+mj-lt"/>
                <a:ea typeface="+mj-ea"/>
                <a:cs typeface="+mj-cs"/>
              </a:rPr>
              <a:t>Collective and social aspects of innovation (continued)</a:t>
            </a:r>
            <a:endParaRPr lang="en-GB" sz="3600" b="1" dirty="0">
              <a:solidFill>
                <a:srgbClr val="008000"/>
              </a:solidFill>
              <a:latin typeface="+mj-lt"/>
              <a:ea typeface="+mj-ea"/>
              <a:cs typeface="+mj-cs"/>
            </a:endParaRPr>
          </a:p>
        </p:txBody>
      </p:sp>
      <p:sp>
        <p:nvSpPr>
          <p:cNvPr id="9" name="Rectangle 8"/>
          <p:cNvSpPr/>
          <p:nvPr/>
        </p:nvSpPr>
        <p:spPr>
          <a:xfrm>
            <a:off x="458167" y="1927893"/>
            <a:ext cx="8478016" cy="3970318"/>
          </a:xfrm>
          <a:prstGeom prst="rect">
            <a:avLst/>
          </a:prstGeom>
        </p:spPr>
        <p:txBody>
          <a:bodyPr wrap="square">
            <a:spAutoFit/>
          </a:bodyPr>
          <a:lstStyle/>
          <a:p>
            <a:pPr lvl="1">
              <a:buFont typeface="Arial"/>
              <a:buChar char="•"/>
            </a:pPr>
            <a:r>
              <a:rPr lang="en-US" sz="2800" dirty="0"/>
              <a:t> The power of team working</a:t>
            </a:r>
            <a:endParaRPr lang="en-GB" sz="2800" dirty="0"/>
          </a:p>
          <a:p>
            <a:pPr lvl="1"/>
            <a:endParaRPr lang="en-GB" sz="2800" dirty="0"/>
          </a:p>
          <a:p>
            <a:pPr lvl="1">
              <a:buFont typeface="Arial"/>
              <a:buChar char="•"/>
            </a:pPr>
            <a:r>
              <a:rPr lang="en-US" sz="2800" dirty="0"/>
              <a:t> Lew Varaldi, project manager of Ford’s Team Taurus project put it, ‘... it’s amazing the dedication and commitment you get from people...we will never go back to the old ways because we know so much about what they can bring to the party...’</a:t>
            </a:r>
            <a:endParaRPr lang="en-GB" sz="2800" dirty="0"/>
          </a:p>
          <a:p>
            <a:pPr lvl="1"/>
            <a:endParaRPr lang="en-GB" sz="2800" dirty="0"/>
          </a:p>
          <a:p>
            <a:pPr lvl="1">
              <a:buFont typeface="Arial"/>
              <a:buChar char="•"/>
            </a:pPr>
            <a:r>
              <a:rPr lang="en-US" sz="2800" dirty="0"/>
              <a:t> Groups are not necessarily teams….</a:t>
            </a:r>
            <a:r>
              <a:rPr lang="en-GB" sz="2800" dirty="0"/>
              <a:t> </a:t>
            </a:r>
          </a:p>
        </p:txBody>
      </p:sp>
    </p:spTree>
    <p:extLst>
      <p:ext uri="{BB962C8B-B14F-4D97-AF65-F5344CB8AC3E}">
        <p14:creationId xmlns:p14="http://schemas.microsoft.com/office/powerpoint/2010/main" val="871058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BDBD39-9038-084C-8488-C00F4BAB9F9B}"/>
              </a:ext>
            </a:extLst>
          </p:cNvPr>
          <p:cNvSpPr>
            <a:spLocks noGrp="1"/>
          </p:cNvSpPr>
          <p:nvPr>
            <p:ph type="title"/>
          </p:nvPr>
        </p:nvSpPr>
        <p:spPr/>
        <p:txBody>
          <a:bodyPr/>
          <a:lstStyle/>
          <a:p>
            <a:r>
              <a:rPr lang="en-US" dirty="0"/>
              <a:t>High involvement innovation</a:t>
            </a:r>
          </a:p>
        </p:txBody>
      </p:sp>
      <p:pic>
        <p:nvPicPr>
          <p:cNvPr id="7" name="Picture 6" descr="Chart, bubble chart&#10;&#10;Description automatically generated">
            <a:extLst>
              <a:ext uri="{FF2B5EF4-FFF2-40B4-BE49-F238E27FC236}">
                <a16:creationId xmlns:a16="http://schemas.microsoft.com/office/drawing/2014/main" id="{203CE5BE-3CA6-9A43-B623-206DB17392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28800"/>
            <a:ext cx="9144000" cy="4778549"/>
          </a:xfrm>
          <a:prstGeom prst="rect">
            <a:avLst/>
          </a:prstGeom>
        </p:spPr>
      </p:pic>
    </p:spTree>
    <p:extLst>
      <p:ext uri="{BB962C8B-B14F-4D97-AF65-F5344CB8AC3E}">
        <p14:creationId xmlns:p14="http://schemas.microsoft.com/office/powerpoint/2010/main" val="36482256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547664" y="332656"/>
            <a:ext cx="5913610" cy="917864"/>
          </a:xfrm>
          <a:prstGeom prst="rect">
            <a:avLst/>
          </a:prstGeom>
        </p:spPr>
        <p:txBody>
          <a:bodyPr vert="horz" lIns="91440" tIns="45720" rIns="91440" bIns="45720" rtlCol="0" anchor="ctr">
            <a:noAutofit/>
          </a:bodyPr>
          <a:lstStyle/>
          <a:p>
            <a:pPr lvl="0" algn="ctr"/>
            <a:r>
              <a:rPr lang="en-US" sz="3600" b="1" dirty="0">
                <a:solidFill>
                  <a:srgbClr val="008000"/>
                </a:solidFill>
                <a:latin typeface="+mj-lt"/>
                <a:ea typeface="+mj-ea"/>
                <a:cs typeface="+mj-cs"/>
              </a:rPr>
              <a:t>Key factors in high performance teams</a:t>
            </a:r>
            <a:endParaRPr lang="en-GB" sz="3600" b="1" dirty="0">
              <a:solidFill>
                <a:srgbClr val="008000"/>
              </a:solidFill>
              <a:latin typeface="+mj-lt"/>
              <a:ea typeface="+mj-ea"/>
              <a:cs typeface="+mj-cs"/>
            </a:endParaRPr>
          </a:p>
        </p:txBody>
      </p:sp>
      <p:sp>
        <p:nvSpPr>
          <p:cNvPr id="9" name="Rectangle 8"/>
          <p:cNvSpPr/>
          <p:nvPr/>
        </p:nvSpPr>
        <p:spPr>
          <a:xfrm>
            <a:off x="458167" y="1742958"/>
            <a:ext cx="8478016" cy="4678204"/>
          </a:xfrm>
          <a:prstGeom prst="rect">
            <a:avLst/>
          </a:prstGeom>
        </p:spPr>
        <p:txBody>
          <a:bodyPr wrap="square">
            <a:spAutoFit/>
          </a:bodyPr>
          <a:lstStyle/>
          <a:p>
            <a:r>
              <a:rPr lang="en-US" sz="2800" dirty="0"/>
              <a:t>Key elements in effective high-performance team working include:</a:t>
            </a:r>
            <a:endParaRPr lang="en-GB" sz="2800" dirty="0"/>
          </a:p>
          <a:p>
            <a:pPr lvl="1"/>
            <a:endParaRPr lang="en-GB" sz="2800" dirty="0"/>
          </a:p>
          <a:p>
            <a:pPr lvl="1">
              <a:buFont typeface="Arial"/>
              <a:buChar char="•"/>
            </a:pPr>
            <a:r>
              <a:rPr lang="en-US" sz="2800" dirty="0"/>
              <a:t> clearly defined tasks and objectives;</a:t>
            </a:r>
            <a:endParaRPr lang="en-GB" sz="2800" dirty="0"/>
          </a:p>
          <a:p>
            <a:pPr lvl="1">
              <a:buFont typeface="Arial"/>
              <a:buChar char="•"/>
            </a:pPr>
            <a:r>
              <a:rPr lang="en-US" sz="2800" dirty="0"/>
              <a:t> effective team leadership;</a:t>
            </a:r>
            <a:endParaRPr lang="en-GB" sz="2800" dirty="0"/>
          </a:p>
          <a:p>
            <a:pPr lvl="1">
              <a:buFont typeface="Arial"/>
              <a:buChar char="•"/>
            </a:pPr>
            <a:r>
              <a:rPr lang="en-US" sz="2800" dirty="0"/>
              <a:t> good balance of team roles and match to individual behavioural style;</a:t>
            </a:r>
            <a:endParaRPr lang="en-GB" sz="2800" dirty="0"/>
          </a:p>
          <a:p>
            <a:pPr lvl="1">
              <a:buFont typeface="Arial"/>
              <a:buChar char="•"/>
            </a:pPr>
            <a:r>
              <a:rPr lang="en-US" sz="2800" dirty="0"/>
              <a:t> effective conflict resolution mechanisms within the group;</a:t>
            </a:r>
            <a:endParaRPr lang="en-GB" sz="2800" dirty="0"/>
          </a:p>
          <a:p>
            <a:pPr lvl="1">
              <a:buFont typeface="Arial"/>
              <a:buChar char="•"/>
            </a:pPr>
            <a:r>
              <a:rPr lang="en-US" sz="2800" dirty="0"/>
              <a:t> continuing liaison with external organization.</a:t>
            </a:r>
            <a:endParaRPr lang="en-GB" sz="2800" dirty="0"/>
          </a:p>
          <a:p>
            <a:endParaRPr lang="en-GB" dirty="0"/>
          </a:p>
        </p:txBody>
      </p:sp>
    </p:spTree>
    <p:extLst>
      <p:ext uri="{BB962C8B-B14F-4D97-AF65-F5344CB8AC3E}">
        <p14:creationId xmlns:p14="http://schemas.microsoft.com/office/powerpoint/2010/main" val="16770847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547664" y="332656"/>
            <a:ext cx="5913610" cy="917864"/>
          </a:xfrm>
          <a:prstGeom prst="rect">
            <a:avLst/>
          </a:prstGeom>
        </p:spPr>
        <p:txBody>
          <a:bodyPr vert="horz" lIns="91440" tIns="45720" rIns="91440" bIns="45720" rtlCol="0" anchor="ctr">
            <a:noAutofit/>
          </a:bodyPr>
          <a:lstStyle/>
          <a:p>
            <a:pPr algn="ctr"/>
            <a:r>
              <a:rPr lang="en-US" sz="3600" b="1" dirty="0">
                <a:solidFill>
                  <a:srgbClr val="008000"/>
                </a:solidFill>
                <a:latin typeface="+mj-lt"/>
                <a:ea typeface="+mj-ea"/>
                <a:cs typeface="+mj-cs"/>
              </a:rPr>
              <a:t>Tuckman’s model of team development</a:t>
            </a:r>
            <a:endParaRPr lang="en-GB" sz="3600" b="1" dirty="0">
              <a:solidFill>
                <a:srgbClr val="008000"/>
              </a:solidFill>
              <a:latin typeface="+mj-lt"/>
              <a:ea typeface="+mj-ea"/>
              <a:cs typeface="+mj-cs"/>
            </a:endParaRPr>
          </a:p>
        </p:txBody>
      </p:sp>
      <p:sp>
        <p:nvSpPr>
          <p:cNvPr id="9" name="Rectangle 8"/>
          <p:cNvSpPr/>
          <p:nvPr/>
        </p:nvSpPr>
        <p:spPr>
          <a:xfrm>
            <a:off x="458167" y="1927893"/>
            <a:ext cx="8478016" cy="3877985"/>
          </a:xfrm>
          <a:prstGeom prst="rect">
            <a:avLst/>
          </a:prstGeom>
        </p:spPr>
        <p:txBody>
          <a:bodyPr wrap="square">
            <a:spAutoFit/>
          </a:bodyPr>
          <a:lstStyle/>
          <a:p>
            <a:r>
              <a:rPr lang="en-US" sz="2800" dirty="0"/>
              <a:t>Teams typically go through four stages of development:</a:t>
            </a:r>
            <a:endParaRPr lang="en-GB" sz="2800" dirty="0"/>
          </a:p>
          <a:p>
            <a:pPr lvl="1"/>
            <a:endParaRPr lang="en-GB" sz="2800" dirty="0"/>
          </a:p>
          <a:p>
            <a:pPr lvl="1">
              <a:spcAft>
                <a:spcPts val="1800"/>
              </a:spcAft>
              <a:buFont typeface="Arial"/>
              <a:buChar char="•"/>
            </a:pPr>
            <a:r>
              <a:rPr lang="en-US" sz="2800" dirty="0">
                <a:solidFill>
                  <a:schemeClr val="bg1">
                    <a:lumMod val="50000"/>
                  </a:schemeClr>
                </a:solidFill>
              </a:rPr>
              <a:t>‘forming, </a:t>
            </a:r>
            <a:endParaRPr lang="en-GB" sz="2800" dirty="0">
              <a:solidFill>
                <a:schemeClr val="bg1">
                  <a:lumMod val="50000"/>
                </a:schemeClr>
              </a:solidFill>
            </a:endParaRPr>
          </a:p>
          <a:p>
            <a:pPr lvl="1">
              <a:spcAft>
                <a:spcPts val="1800"/>
              </a:spcAft>
              <a:buFont typeface="Arial"/>
              <a:buChar char="•"/>
            </a:pPr>
            <a:r>
              <a:rPr lang="en-US" sz="2800" dirty="0">
                <a:solidFill>
                  <a:schemeClr val="bg1">
                    <a:lumMod val="50000"/>
                  </a:schemeClr>
                </a:solidFill>
              </a:rPr>
              <a:t>storming, </a:t>
            </a:r>
            <a:endParaRPr lang="en-GB" sz="2800" dirty="0">
              <a:solidFill>
                <a:schemeClr val="bg1">
                  <a:lumMod val="50000"/>
                </a:schemeClr>
              </a:solidFill>
            </a:endParaRPr>
          </a:p>
          <a:p>
            <a:pPr lvl="1">
              <a:spcAft>
                <a:spcPts val="1800"/>
              </a:spcAft>
              <a:buFont typeface="Arial"/>
              <a:buChar char="•"/>
            </a:pPr>
            <a:r>
              <a:rPr lang="en-US" sz="2800" dirty="0">
                <a:solidFill>
                  <a:schemeClr val="bg1">
                    <a:lumMod val="50000"/>
                  </a:schemeClr>
                </a:solidFill>
              </a:rPr>
              <a:t>norming, </a:t>
            </a:r>
            <a:endParaRPr lang="en-GB" sz="2800" dirty="0">
              <a:solidFill>
                <a:schemeClr val="bg1">
                  <a:lumMod val="50000"/>
                </a:schemeClr>
              </a:solidFill>
            </a:endParaRPr>
          </a:p>
          <a:p>
            <a:pPr lvl="1">
              <a:spcAft>
                <a:spcPts val="1800"/>
              </a:spcAft>
              <a:buFont typeface="Arial"/>
              <a:buChar char="•"/>
            </a:pPr>
            <a:r>
              <a:rPr lang="en-US" sz="2800" dirty="0">
                <a:solidFill>
                  <a:schemeClr val="bg1">
                    <a:lumMod val="50000"/>
                  </a:schemeClr>
                </a:solidFill>
              </a:rPr>
              <a:t>performing’.</a:t>
            </a:r>
            <a:endParaRPr lang="en-GB" sz="2800" dirty="0">
              <a:solidFill>
                <a:schemeClr val="bg1">
                  <a:lumMod val="50000"/>
                </a:schemeClr>
              </a:solidFill>
            </a:endParaRPr>
          </a:p>
          <a:p>
            <a:endParaRPr lang="en-GB" dirty="0"/>
          </a:p>
        </p:txBody>
      </p:sp>
    </p:spTree>
    <p:extLst>
      <p:ext uri="{BB962C8B-B14F-4D97-AF65-F5344CB8AC3E}">
        <p14:creationId xmlns:p14="http://schemas.microsoft.com/office/powerpoint/2010/main" val="3504321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93832"/>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683568" y="332656"/>
            <a:ext cx="5739505"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Advantages and disadvantages of groups</a:t>
            </a:r>
            <a:endParaRPr lang="en-GB" sz="3600" b="1" dirty="0">
              <a:solidFill>
                <a:srgbClr val="008000"/>
              </a:solidFill>
              <a:latin typeface="+mj-lt"/>
              <a:ea typeface="+mj-ea"/>
              <a:cs typeface="+mj-cs"/>
            </a:endParaRPr>
          </a:p>
        </p:txBody>
      </p:sp>
      <p:graphicFrame>
        <p:nvGraphicFramePr>
          <p:cNvPr id="220166" name="Object 6"/>
          <p:cNvGraphicFramePr>
            <a:graphicFrameLocks noChangeAspect="1"/>
          </p:cNvGraphicFramePr>
          <p:nvPr/>
        </p:nvGraphicFramePr>
        <p:xfrm>
          <a:off x="640271" y="1886334"/>
          <a:ext cx="8110962" cy="3920619"/>
        </p:xfrm>
        <a:graphic>
          <a:graphicData uri="http://schemas.openxmlformats.org/presentationml/2006/ole">
            <mc:AlternateContent xmlns:mc="http://schemas.openxmlformats.org/markup-compatibility/2006">
              <mc:Choice xmlns:v="urn:schemas-microsoft-com:vml" Requires="v">
                <p:oleObj name="Document" r:id="rId2" imgW="23822222" imgH="8685714" progId="Word.Document.12">
                  <p:link updateAutomatic="1"/>
                </p:oleObj>
              </mc:Choice>
              <mc:Fallback>
                <p:oleObj name="Document" r:id="rId2" imgW="23822222" imgH="8685714" progId="Word.Document.12">
                  <p:link updateAutomatic="1"/>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271" y="1886334"/>
                        <a:ext cx="8110962" cy="39206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076" name="AutoShape 4" descr="Image result for group worki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GB" dirty="0"/>
          </a:p>
        </p:txBody>
      </p:sp>
      <p:pic>
        <p:nvPicPr>
          <p:cNvPr id="3078" name="Picture 6" descr="Image result for group working"/>
          <p:cNvPicPr>
            <a:picLocks noChangeAspect="1" noChangeArrowheads="1"/>
          </p:cNvPicPr>
          <p:nvPr/>
        </p:nvPicPr>
        <p:blipFill>
          <a:blip r:embed="rId4" cstate="print"/>
          <a:srcRect/>
          <a:stretch>
            <a:fillRect/>
          </a:stretch>
        </p:blipFill>
        <p:spPr bwMode="auto">
          <a:xfrm>
            <a:off x="6732240" y="0"/>
            <a:ext cx="1512168" cy="1512168"/>
          </a:xfrm>
          <a:prstGeom prst="rect">
            <a:avLst/>
          </a:prstGeom>
          <a:noFill/>
        </p:spPr>
      </p:pic>
    </p:spTree>
    <p:extLst>
      <p:ext uri="{BB962C8B-B14F-4D97-AF65-F5344CB8AC3E}">
        <p14:creationId xmlns:p14="http://schemas.microsoft.com/office/powerpoint/2010/main" val="31264671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93832"/>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683568" y="332656"/>
            <a:ext cx="5739505"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Advantages and disadvantages of groups</a:t>
            </a:r>
            <a:endParaRPr lang="en-GB" sz="3600" b="1" dirty="0">
              <a:solidFill>
                <a:srgbClr val="008000"/>
              </a:solidFill>
              <a:latin typeface="+mj-lt"/>
              <a:ea typeface="+mj-ea"/>
              <a:cs typeface="+mj-cs"/>
            </a:endParaRPr>
          </a:p>
        </p:txBody>
      </p:sp>
      <p:sp>
        <p:nvSpPr>
          <p:cNvPr id="11" name="Rectangle 10"/>
          <p:cNvSpPr/>
          <p:nvPr/>
        </p:nvSpPr>
        <p:spPr>
          <a:xfrm>
            <a:off x="319207" y="5988417"/>
            <a:ext cx="8518336" cy="646331"/>
          </a:xfrm>
          <a:prstGeom prst="rect">
            <a:avLst/>
          </a:prstGeom>
        </p:spPr>
        <p:txBody>
          <a:bodyPr wrap="square">
            <a:spAutoFit/>
          </a:bodyPr>
          <a:lstStyle/>
          <a:p>
            <a:r>
              <a:rPr lang="en-US" i="1" dirty="0"/>
              <a:t>Source:</a:t>
            </a:r>
            <a:r>
              <a:rPr lang="en-US" dirty="0"/>
              <a:t> S. Isaksen and J. Tidd (2006) </a:t>
            </a:r>
            <a:r>
              <a:rPr lang="en-US" i="1" dirty="0"/>
              <a:t>Meeting the Innovation Challenge</a:t>
            </a:r>
            <a:r>
              <a:rPr lang="en-US" dirty="0"/>
              <a:t>, John Wiley &amp; Sons, Ltd, Chichester</a:t>
            </a:r>
            <a:r>
              <a:rPr lang="en-GB" dirty="0"/>
              <a:t> </a:t>
            </a:r>
            <a:endParaRPr lang="en-US" dirty="0">
              <a:solidFill>
                <a:srgbClr val="FF0000"/>
              </a:solidFill>
            </a:endParaRPr>
          </a:p>
        </p:txBody>
      </p:sp>
      <p:graphicFrame>
        <p:nvGraphicFramePr>
          <p:cNvPr id="221190" name="Object 6"/>
          <p:cNvGraphicFramePr>
            <a:graphicFrameLocks noChangeAspect="1"/>
          </p:cNvGraphicFramePr>
          <p:nvPr/>
        </p:nvGraphicFramePr>
        <p:xfrm>
          <a:off x="337273" y="1898664"/>
          <a:ext cx="8471736" cy="2823339"/>
        </p:xfrm>
        <a:graphic>
          <a:graphicData uri="http://schemas.openxmlformats.org/presentationml/2006/ole">
            <mc:AlternateContent xmlns:mc="http://schemas.openxmlformats.org/markup-compatibility/2006">
              <mc:Choice xmlns:v="urn:schemas-microsoft-com:vml" Requires="v">
                <p:oleObj name="Document" r:id="rId2" imgW="23822222" imgH="6552381" progId="Word.Document.12">
                  <p:link updateAutomatic="1"/>
                </p:oleObj>
              </mc:Choice>
              <mc:Fallback>
                <p:oleObj name="Document" r:id="rId2" imgW="23822222" imgH="6552381" progId="Word.Document.12">
                  <p:link updateAutomatic="1"/>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273" y="1898664"/>
                        <a:ext cx="8471736" cy="28233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pic>
        <p:nvPicPr>
          <p:cNvPr id="9" name="Picture 6" descr="Image result for group working"/>
          <p:cNvPicPr>
            <a:picLocks noChangeAspect="1" noChangeArrowheads="1"/>
          </p:cNvPicPr>
          <p:nvPr/>
        </p:nvPicPr>
        <p:blipFill>
          <a:blip r:embed="rId4" cstate="print"/>
          <a:srcRect/>
          <a:stretch>
            <a:fillRect/>
          </a:stretch>
        </p:blipFill>
        <p:spPr bwMode="auto">
          <a:xfrm>
            <a:off x="6732240" y="0"/>
            <a:ext cx="1512168" cy="1512168"/>
          </a:xfrm>
          <a:prstGeom prst="rect">
            <a:avLst/>
          </a:prstGeom>
          <a:noFill/>
        </p:spPr>
      </p:pic>
    </p:spTree>
    <p:extLst>
      <p:ext uri="{BB962C8B-B14F-4D97-AF65-F5344CB8AC3E}">
        <p14:creationId xmlns:p14="http://schemas.microsoft.com/office/powerpoint/2010/main" val="41700296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93832"/>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03648" y="332656"/>
            <a:ext cx="5739505"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High performing teams</a:t>
            </a:r>
            <a:endParaRPr lang="en-GB" sz="3600" b="1" dirty="0">
              <a:solidFill>
                <a:srgbClr val="008000"/>
              </a:solidFill>
              <a:latin typeface="+mj-lt"/>
              <a:ea typeface="+mj-ea"/>
              <a:cs typeface="+mj-cs"/>
            </a:endParaRPr>
          </a:p>
        </p:txBody>
      </p:sp>
      <p:sp>
        <p:nvSpPr>
          <p:cNvPr id="8" name="Rectangle 7"/>
          <p:cNvSpPr/>
          <p:nvPr/>
        </p:nvSpPr>
        <p:spPr>
          <a:xfrm>
            <a:off x="458167" y="1681723"/>
            <a:ext cx="8478016" cy="5693866"/>
          </a:xfrm>
          <a:prstGeom prst="rect">
            <a:avLst/>
          </a:prstGeom>
        </p:spPr>
        <p:txBody>
          <a:bodyPr wrap="square">
            <a:spAutoFit/>
          </a:bodyPr>
          <a:lstStyle/>
          <a:p>
            <a:pPr lvl="0"/>
            <a:r>
              <a:rPr lang="en-US" sz="2800" dirty="0"/>
              <a:t>Based on Tidd and Isaksen research, </a:t>
            </a:r>
            <a:r>
              <a:rPr lang="en-US" sz="2800" dirty="0">
                <a:solidFill>
                  <a:schemeClr val="bg1">
                    <a:lumMod val="50000"/>
                  </a:schemeClr>
                </a:solidFill>
              </a:rPr>
              <a:t>high performing characteristics are</a:t>
            </a:r>
            <a:r>
              <a:rPr lang="en-US" sz="2800" dirty="0"/>
              <a:t>:</a:t>
            </a:r>
            <a:r>
              <a:rPr lang="en-GB" sz="2800" dirty="0"/>
              <a:t> </a:t>
            </a:r>
          </a:p>
          <a:p>
            <a:pPr lvl="1">
              <a:buFont typeface="Arial"/>
              <a:buChar char="•"/>
            </a:pPr>
            <a:r>
              <a:rPr lang="en-US" sz="2800" dirty="0"/>
              <a:t> a clear, common and elevating goal; </a:t>
            </a:r>
            <a:endParaRPr lang="en-GB" sz="2800" dirty="0"/>
          </a:p>
          <a:p>
            <a:pPr lvl="1">
              <a:buFont typeface="Arial"/>
              <a:buChar char="•"/>
            </a:pPr>
            <a:r>
              <a:rPr lang="en-US" sz="2800" dirty="0"/>
              <a:t> results-driven structure; </a:t>
            </a:r>
            <a:endParaRPr lang="en-GB" sz="2800" dirty="0"/>
          </a:p>
          <a:p>
            <a:pPr lvl="1">
              <a:buFont typeface="Arial"/>
              <a:buChar char="•"/>
            </a:pPr>
            <a:r>
              <a:rPr lang="en-US" sz="2800" dirty="0"/>
              <a:t> competent team members; </a:t>
            </a:r>
            <a:endParaRPr lang="en-GB" sz="2800" dirty="0"/>
          </a:p>
          <a:p>
            <a:pPr lvl="1">
              <a:buFont typeface="Arial"/>
              <a:buChar char="•"/>
            </a:pPr>
            <a:r>
              <a:rPr lang="en-US" sz="2800" dirty="0"/>
              <a:t> unified commitment.</a:t>
            </a:r>
          </a:p>
          <a:p>
            <a:pPr lvl="1"/>
            <a:endParaRPr lang="en-US" sz="2800" dirty="0"/>
          </a:p>
          <a:p>
            <a:r>
              <a:rPr lang="en-US" sz="2800" dirty="0">
                <a:solidFill>
                  <a:schemeClr val="bg1">
                    <a:lumMod val="50000"/>
                  </a:schemeClr>
                </a:solidFill>
              </a:rPr>
              <a:t>Collaborative climate</a:t>
            </a:r>
            <a:r>
              <a:rPr lang="en-US" sz="2800" dirty="0"/>
              <a:t>: </a:t>
            </a:r>
            <a:endParaRPr lang="en-GB" sz="2800" dirty="0"/>
          </a:p>
          <a:p>
            <a:pPr lvl="1">
              <a:buFont typeface="Arial"/>
              <a:buChar char="•"/>
            </a:pPr>
            <a:r>
              <a:rPr lang="en-US" sz="2800" dirty="0"/>
              <a:t> standards of excellence; </a:t>
            </a:r>
            <a:endParaRPr lang="en-GB" sz="2800" dirty="0"/>
          </a:p>
          <a:p>
            <a:pPr lvl="1">
              <a:buFont typeface="Arial"/>
              <a:buChar char="•"/>
            </a:pPr>
            <a:r>
              <a:rPr lang="en-US" sz="2800" dirty="0"/>
              <a:t> external support and recognition; </a:t>
            </a:r>
            <a:endParaRPr lang="en-GB" sz="2800" dirty="0"/>
          </a:p>
          <a:p>
            <a:pPr lvl="1">
              <a:buFont typeface="Arial"/>
              <a:buChar char="•"/>
            </a:pPr>
            <a:r>
              <a:rPr lang="en-US" sz="2800" dirty="0"/>
              <a:t> principled leadership.</a:t>
            </a:r>
            <a:endParaRPr lang="en-GB" sz="2800" dirty="0"/>
          </a:p>
          <a:p>
            <a:endParaRPr lang="en-GB" sz="2800" dirty="0"/>
          </a:p>
          <a:p>
            <a:pPr lvl="0"/>
            <a:endParaRPr lang="en-GB" sz="2800" dirty="0"/>
          </a:p>
        </p:txBody>
      </p:sp>
    </p:spTree>
    <p:extLst>
      <p:ext uri="{BB962C8B-B14F-4D97-AF65-F5344CB8AC3E}">
        <p14:creationId xmlns:p14="http://schemas.microsoft.com/office/powerpoint/2010/main" val="9442673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93832"/>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547664" y="332656"/>
            <a:ext cx="5739505"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High performing teams </a:t>
            </a:r>
            <a:r>
              <a:rPr lang="en-US" sz="3600" b="1" dirty="0">
                <a:solidFill>
                  <a:srgbClr val="008000"/>
                </a:solidFill>
              </a:rPr>
              <a:t> (continued)</a:t>
            </a:r>
            <a:endParaRPr lang="en-GB" sz="3600" b="1" dirty="0">
              <a:solidFill>
                <a:srgbClr val="008000"/>
              </a:solidFill>
              <a:latin typeface="+mj-lt"/>
              <a:ea typeface="+mj-ea"/>
              <a:cs typeface="+mj-cs"/>
            </a:endParaRPr>
          </a:p>
        </p:txBody>
      </p:sp>
      <p:sp>
        <p:nvSpPr>
          <p:cNvPr id="8" name="Rectangle 7"/>
          <p:cNvSpPr/>
          <p:nvPr/>
        </p:nvSpPr>
        <p:spPr>
          <a:xfrm>
            <a:off x="458167" y="1681723"/>
            <a:ext cx="8478016" cy="4462760"/>
          </a:xfrm>
          <a:prstGeom prst="rect">
            <a:avLst/>
          </a:prstGeom>
        </p:spPr>
        <p:txBody>
          <a:bodyPr wrap="square">
            <a:spAutoFit/>
          </a:bodyPr>
          <a:lstStyle/>
          <a:p>
            <a:pPr>
              <a:spcAft>
                <a:spcPts val="1200"/>
              </a:spcAft>
            </a:pPr>
            <a:r>
              <a:rPr lang="en-US" sz="2800" dirty="0"/>
              <a:t>Based on Tidd and Isaksen research, </a:t>
            </a:r>
            <a:r>
              <a:rPr lang="en-US" sz="2800" dirty="0">
                <a:solidFill>
                  <a:schemeClr val="bg1">
                    <a:lumMod val="50000"/>
                  </a:schemeClr>
                </a:solidFill>
              </a:rPr>
              <a:t>appropriate use of the team</a:t>
            </a:r>
            <a:r>
              <a:rPr lang="en-US" sz="2800" dirty="0"/>
              <a:t>:</a:t>
            </a:r>
          </a:p>
          <a:p>
            <a:pPr>
              <a:spcAft>
                <a:spcPts val="1200"/>
              </a:spcAft>
            </a:pPr>
            <a:endParaRPr lang="en-GB" sz="2800" dirty="0"/>
          </a:p>
          <a:p>
            <a:pPr lvl="1">
              <a:spcAft>
                <a:spcPts val="1200"/>
              </a:spcAft>
              <a:buFont typeface="Arial"/>
              <a:buChar char="•"/>
            </a:pPr>
            <a:r>
              <a:rPr lang="en-US" sz="2800" dirty="0"/>
              <a:t> participation in decision making; </a:t>
            </a:r>
            <a:endParaRPr lang="en-GB" sz="2800" dirty="0"/>
          </a:p>
          <a:p>
            <a:pPr lvl="1">
              <a:spcAft>
                <a:spcPts val="1200"/>
              </a:spcAft>
              <a:buFont typeface="Arial"/>
              <a:buChar char="•"/>
            </a:pPr>
            <a:r>
              <a:rPr lang="en-US" sz="2800" dirty="0"/>
              <a:t> team spirit; </a:t>
            </a:r>
            <a:endParaRPr lang="en-GB" sz="2800" dirty="0"/>
          </a:p>
          <a:p>
            <a:pPr lvl="1">
              <a:spcAft>
                <a:spcPts val="1200"/>
              </a:spcAft>
              <a:buFont typeface="Arial"/>
              <a:buChar char="•"/>
            </a:pPr>
            <a:r>
              <a:rPr lang="en-US" sz="2800" dirty="0"/>
              <a:t> embracing appropriate change.</a:t>
            </a:r>
            <a:endParaRPr lang="en-GB" sz="2800" dirty="0"/>
          </a:p>
          <a:p>
            <a:pPr lvl="0">
              <a:spcAft>
                <a:spcPts val="1200"/>
              </a:spcAft>
            </a:pPr>
            <a:r>
              <a:rPr lang="en-US" sz="2800" dirty="0"/>
              <a:t> </a:t>
            </a:r>
            <a:endParaRPr lang="en-GB" sz="2800" dirty="0"/>
          </a:p>
          <a:p>
            <a:pPr lvl="0">
              <a:spcAft>
                <a:spcPts val="1200"/>
              </a:spcAft>
            </a:pPr>
            <a:endParaRPr lang="en-GB" sz="2800" dirty="0"/>
          </a:p>
        </p:txBody>
      </p:sp>
    </p:spTree>
    <p:extLst>
      <p:ext uri="{BB962C8B-B14F-4D97-AF65-F5344CB8AC3E}">
        <p14:creationId xmlns:p14="http://schemas.microsoft.com/office/powerpoint/2010/main" val="16079294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93832"/>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691680" y="332656"/>
            <a:ext cx="5739505"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‘Tripwires’ undermining team effectiveness</a:t>
            </a:r>
            <a:endParaRPr lang="en-GB" sz="3600" b="1" dirty="0">
              <a:solidFill>
                <a:srgbClr val="008000"/>
              </a:solidFill>
              <a:latin typeface="+mj-lt"/>
              <a:ea typeface="+mj-ea"/>
              <a:cs typeface="+mj-cs"/>
            </a:endParaRPr>
          </a:p>
        </p:txBody>
      </p:sp>
      <p:sp>
        <p:nvSpPr>
          <p:cNvPr id="8" name="Rectangle 7"/>
          <p:cNvSpPr/>
          <p:nvPr/>
        </p:nvSpPr>
        <p:spPr>
          <a:xfrm>
            <a:off x="395536" y="2420888"/>
            <a:ext cx="8478016" cy="3062377"/>
          </a:xfrm>
          <a:prstGeom prst="rect">
            <a:avLst/>
          </a:prstGeom>
        </p:spPr>
        <p:txBody>
          <a:bodyPr wrap="square">
            <a:spAutoFit/>
          </a:bodyPr>
          <a:lstStyle/>
          <a:p>
            <a:pPr lvl="1">
              <a:spcAft>
                <a:spcPts val="600"/>
              </a:spcAft>
              <a:buFont typeface="Arial"/>
              <a:buChar char="•"/>
            </a:pPr>
            <a:r>
              <a:rPr lang="en-US" sz="2800" dirty="0"/>
              <a:t> group versus team; </a:t>
            </a:r>
            <a:endParaRPr lang="en-GB" sz="2800" dirty="0"/>
          </a:p>
          <a:p>
            <a:pPr lvl="1">
              <a:spcAft>
                <a:spcPts val="600"/>
              </a:spcAft>
              <a:buFont typeface="Arial"/>
              <a:buChar char="•"/>
            </a:pPr>
            <a:r>
              <a:rPr lang="en-US" sz="2800" dirty="0"/>
              <a:t> ends versus means;</a:t>
            </a:r>
            <a:endParaRPr lang="en-GB" sz="2800" dirty="0"/>
          </a:p>
          <a:p>
            <a:pPr lvl="1">
              <a:spcAft>
                <a:spcPts val="600"/>
              </a:spcAft>
              <a:buFont typeface="Arial"/>
              <a:buChar char="•"/>
            </a:pPr>
            <a:r>
              <a:rPr lang="en-US" sz="2800" dirty="0"/>
              <a:t> structured freedom; </a:t>
            </a:r>
            <a:endParaRPr lang="en-GB" sz="2800" dirty="0"/>
          </a:p>
          <a:p>
            <a:pPr lvl="1">
              <a:spcAft>
                <a:spcPts val="600"/>
              </a:spcAft>
              <a:buFont typeface="Arial"/>
              <a:buChar char="•"/>
            </a:pPr>
            <a:r>
              <a:rPr lang="en-US" sz="2800" dirty="0"/>
              <a:t> support structures and systems;</a:t>
            </a:r>
            <a:endParaRPr lang="en-GB" sz="2800" dirty="0"/>
          </a:p>
          <a:p>
            <a:pPr lvl="1">
              <a:spcAft>
                <a:spcPts val="600"/>
              </a:spcAft>
              <a:buFont typeface="Arial"/>
              <a:buChar char="•"/>
            </a:pPr>
            <a:r>
              <a:rPr lang="en-US" sz="2800" dirty="0"/>
              <a:t> assumed competence. </a:t>
            </a:r>
            <a:endParaRPr lang="en-GB" sz="2800" dirty="0"/>
          </a:p>
          <a:p>
            <a:pPr lvl="0">
              <a:spcAft>
                <a:spcPts val="1200"/>
              </a:spcAft>
            </a:pPr>
            <a:endParaRPr lang="en-GB" sz="2800" dirty="0"/>
          </a:p>
        </p:txBody>
      </p:sp>
    </p:spTree>
    <p:extLst>
      <p:ext uri="{BB962C8B-B14F-4D97-AF65-F5344CB8AC3E}">
        <p14:creationId xmlns:p14="http://schemas.microsoft.com/office/powerpoint/2010/main" val="39646825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71910"/>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58167" y="1484459"/>
            <a:ext cx="8478016" cy="5093703"/>
          </a:xfrm>
          <a:prstGeom prst="rect">
            <a:avLst/>
          </a:prstGeom>
        </p:spPr>
        <p:txBody>
          <a:bodyPr wrap="square">
            <a:spAutoFit/>
          </a:bodyPr>
          <a:lstStyle/>
          <a:p>
            <a:pPr>
              <a:spcAft>
                <a:spcPts val="1800"/>
              </a:spcAft>
              <a:buFont typeface="Arial"/>
              <a:buChar char="•"/>
            </a:pPr>
            <a:r>
              <a:rPr lang="en-US" sz="2800" dirty="0"/>
              <a:t> Climate is defined as the recurring patterns of </a:t>
            </a:r>
            <a:r>
              <a:rPr lang="en-US" sz="2800" dirty="0">
                <a:solidFill>
                  <a:schemeClr val="bg1">
                    <a:lumMod val="50000"/>
                  </a:schemeClr>
                </a:solidFill>
              </a:rPr>
              <a:t>behaviour, attitudes and feelings </a:t>
            </a:r>
            <a:r>
              <a:rPr lang="en-US" sz="2800" dirty="0"/>
              <a:t>that characterize life in the organization. </a:t>
            </a:r>
            <a:endParaRPr lang="en-GB" sz="2800" dirty="0"/>
          </a:p>
          <a:p>
            <a:pPr>
              <a:spcAft>
                <a:spcPts val="1800"/>
              </a:spcAft>
              <a:buFont typeface="Arial"/>
              <a:buChar char="•"/>
            </a:pPr>
            <a:r>
              <a:rPr lang="en-US" sz="2800" dirty="0"/>
              <a:t> Objectively shared perceptions that characterize life within a defined work unit or in the larger organization. </a:t>
            </a:r>
            <a:endParaRPr lang="en-GB" sz="2800" dirty="0"/>
          </a:p>
          <a:p>
            <a:pPr>
              <a:spcAft>
                <a:spcPts val="1800"/>
              </a:spcAft>
              <a:buFont typeface="Arial"/>
              <a:buChar char="•"/>
            </a:pPr>
            <a:r>
              <a:rPr lang="en-US" sz="2800" dirty="0"/>
              <a:t> </a:t>
            </a:r>
            <a:r>
              <a:rPr lang="en-US" sz="2800" dirty="0">
                <a:solidFill>
                  <a:schemeClr val="bg1">
                    <a:lumMod val="50000"/>
                  </a:schemeClr>
                </a:solidFill>
              </a:rPr>
              <a:t>Climate is distinct from culture </a:t>
            </a:r>
            <a:r>
              <a:rPr lang="en-US" sz="2800" dirty="0"/>
              <a:t>in that it is more observable at a surface level within the organization and more amenable to change and improvement efforts. </a:t>
            </a:r>
            <a:endParaRPr lang="en-GB" sz="2800" dirty="0"/>
          </a:p>
          <a:p>
            <a:pPr>
              <a:spcAft>
                <a:spcPts val="1800"/>
              </a:spcAft>
              <a:buFont typeface="Arial"/>
              <a:buChar char="•"/>
            </a:pPr>
            <a:r>
              <a:rPr lang="en-US" sz="2800" dirty="0"/>
              <a:t> Culture refers to the deeper and more enduring values, norms and beliefs within the organization.</a:t>
            </a:r>
            <a:endParaRPr lang="en-GB" sz="2800" dirty="0"/>
          </a:p>
        </p:txBody>
      </p:sp>
      <p:sp>
        <p:nvSpPr>
          <p:cNvPr id="6" name="Title 1"/>
          <p:cNvSpPr txBox="1">
            <a:spLocks/>
          </p:cNvSpPr>
          <p:nvPr/>
        </p:nvSpPr>
        <p:spPr>
          <a:xfrm>
            <a:off x="1331640" y="260648"/>
            <a:ext cx="6306671"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Context and climate </a:t>
            </a:r>
            <a:endParaRPr lang="en-GB" sz="3600" b="1" dirty="0">
              <a:solidFill>
                <a:srgbClr val="008000"/>
              </a:solidFill>
              <a:latin typeface="+mj-lt"/>
              <a:ea typeface="+mj-ea"/>
              <a:cs typeface="+mj-cs"/>
            </a:endParaRPr>
          </a:p>
        </p:txBody>
      </p:sp>
    </p:spTree>
    <p:extLst>
      <p:ext uri="{BB962C8B-B14F-4D97-AF65-F5344CB8AC3E}">
        <p14:creationId xmlns:p14="http://schemas.microsoft.com/office/powerpoint/2010/main" val="230476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2122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75656" y="332656"/>
            <a:ext cx="6035418"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Climate factors influencing innovation</a:t>
            </a:r>
            <a:endParaRPr lang="en-GB" sz="3600" b="1" dirty="0">
              <a:solidFill>
                <a:srgbClr val="008000"/>
              </a:solidFill>
              <a:latin typeface="+mj-lt"/>
              <a:ea typeface="+mj-ea"/>
              <a:cs typeface="+mj-cs"/>
            </a:endParaRPr>
          </a:p>
        </p:txBody>
      </p:sp>
      <p:graphicFrame>
        <p:nvGraphicFramePr>
          <p:cNvPr id="233474" name="Object 2"/>
          <p:cNvGraphicFramePr>
            <a:graphicFrameLocks noChangeAspect="1"/>
          </p:cNvGraphicFramePr>
          <p:nvPr/>
        </p:nvGraphicFramePr>
        <p:xfrm>
          <a:off x="690461" y="1750717"/>
          <a:ext cx="8245721" cy="3353484"/>
        </p:xfrm>
        <a:graphic>
          <a:graphicData uri="http://schemas.openxmlformats.org/presentationml/2006/ole">
            <mc:AlternateContent xmlns:mc="http://schemas.openxmlformats.org/markup-compatibility/2006">
              <mc:Choice xmlns:v="urn:schemas-microsoft-com:vml" Requires="v">
                <p:oleObj name="Document" r:id="rId2" imgW="22501587" imgH="8076190" progId="Word.Document.12">
                  <p:link updateAutomatic="1"/>
                </p:oleObj>
              </mc:Choice>
              <mc:Fallback>
                <p:oleObj name="Document" r:id="rId2" imgW="22501587" imgH="8076190" progId="Word.Document.12">
                  <p:link updateAutomatic="1"/>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461" y="1750717"/>
                        <a:ext cx="8245721" cy="33534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 name="Rectangle 1"/>
          <p:cNvSpPr/>
          <p:nvPr/>
        </p:nvSpPr>
        <p:spPr>
          <a:xfrm>
            <a:off x="690462" y="5257344"/>
            <a:ext cx="7948478" cy="646331"/>
          </a:xfrm>
          <a:prstGeom prst="rect">
            <a:avLst/>
          </a:prstGeom>
        </p:spPr>
        <p:txBody>
          <a:bodyPr wrap="square">
            <a:spAutoFit/>
          </a:bodyPr>
          <a:lstStyle/>
          <a:p>
            <a:r>
              <a:rPr lang="en-US" dirty="0"/>
              <a:t>Source: Derived for Scott Isaksen and Joe Tidd (2006) </a:t>
            </a:r>
            <a:r>
              <a:rPr lang="en-US" i="1" dirty="0"/>
              <a:t>Meeting the Innovation Challenge</a:t>
            </a:r>
            <a:r>
              <a:rPr lang="en-US" dirty="0"/>
              <a:t> (Wiley).</a:t>
            </a:r>
            <a:r>
              <a:rPr lang="en-GB" dirty="0"/>
              <a:t> </a:t>
            </a:r>
            <a:endParaRPr lang="en-US" dirty="0">
              <a:solidFill>
                <a:srgbClr val="FF0000"/>
              </a:solidFill>
            </a:endParaRPr>
          </a:p>
        </p:txBody>
      </p:sp>
    </p:spTree>
    <p:extLst>
      <p:ext uri="{BB962C8B-B14F-4D97-AF65-F5344CB8AC3E}">
        <p14:creationId xmlns:p14="http://schemas.microsoft.com/office/powerpoint/2010/main" val="14367468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D0716-7341-CF4E-D1A4-58E02770944F}"/>
              </a:ext>
            </a:extLst>
          </p:cNvPr>
          <p:cNvSpPr>
            <a:spLocks noGrp="1"/>
          </p:cNvSpPr>
          <p:nvPr>
            <p:ph type="title"/>
          </p:nvPr>
        </p:nvSpPr>
        <p:spPr/>
        <p:txBody>
          <a:bodyPr/>
          <a:lstStyle/>
          <a:p>
            <a:r>
              <a:rPr lang="en-US" dirty="0"/>
              <a:t>Climate factors and innovation</a:t>
            </a:r>
          </a:p>
        </p:txBody>
      </p:sp>
      <p:sp>
        <p:nvSpPr>
          <p:cNvPr id="3" name="Content Placeholder 2">
            <a:extLst>
              <a:ext uri="{FF2B5EF4-FFF2-40B4-BE49-F238E27FC236}">
                <a16:creationId xmlns:a16="http://schemas.microsoft.com/office/drawing/2014/main" id="{B0432636-9C9E-9E44-259F-7CF36A4DFC4E}"/>
              </a:ext>
            </a:extLst>
          </p:cNvPr>
          <p:cNvSpPr>
            <a:spLocks noGrp="1"/>
          </p:cNvSpPr>
          <p:nvPr>
            <p:ph idx="1"/>
          </p:nvPr>
        </p:nvSpPr>
        <p:spPr/>
        <p:txBody>
          <a:bodyPr/>
          <a:lstStyle/>
          <a:p>
            <a:endParaRPr lang="en-US"/>
          </a:p>
        </p:txBody>
      </p:sp>
      <p:pic>
        <p:nvPicPr>
          <p:cNvPr id="4" name="Picture 3" descr="A diagram of a climate factor&#10;&#10;Description automatically generated">
            <a:extLst>
              <a:ext uri="{FF2B5EF4-FFF2-40B4-BE49-F238E27FC236}">
                <a16:creationId xmlns:a16="http://schemas.microsoft.com/office/drawing/2014/main" id="{6BB72644-D0AF-0FB4-25A8-332C028810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30279"/>
            <a:ext cx="7772400" cy="3567824"/>
          </a:xfrm>
          <a:prstGeom prst="rect">
            <a:avLst/>
          </a:prstGeom>
        </p:spPr>
      </p:pic>
    </p:spTree>
    <p:extLst>
      <p:ext uri="{BB962C8B-B14F-4D97-AF65-F5344CB8AC3E}">
        <p14:creationId xmlns:p14="http://schemas.microsoft.com/office/powerpoint/2010/main" val="13486952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3355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187624" y="188640"/>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Summary</a:t>
            </a:r>
            <a:endParaRPr lang="en-GB" sz="3600" b="1" dirty="0">
              <a:solidFill>
                <a:srgbClr val="008000"/>
              </a:solidFill>
              <a:latin typeface="+mj-lt"/>
              <a:ea typeface="+mj-ea"/>
              <a:cs typeface="+mj-cs"/>
            </a:endParaRPr>
          </a:p>
        </p:txBody>
      </p:sp>
      <p:sp>
        <p:nvSpPr>
          <p:cNvPr id="9" name="Rectangle 8"/>
          <p:cNvSpPr/>
          <p:nvPr/>
        </p:nvSpPr>
        <p:spPr>
          <a:xfrm>
            <a:off x="458167" y="1809468"/>
            <a:ext cx="8478016" cy="2246769"/>
          </a:xfrm>
          <a:prstGeom prst="rect">
            <a:avLst/>
          </a:prstGeom>
        </p:spPr>
        <p:txBody>
          <a:bodyPr wrap="square">
            <a:spAutoFit/>
          </a:bodyPr>
          <a:lstStyle/>
          <a:p>
            <a:pPr>
              <a:spcAft>
                <a:spcPts val="2400"/>
              </a:spcAft>
            </a:pPr>
            <a:r>
              <a:rPr lang="en-US" sz="2800" dirty="0"/>
              <a:t>Leadership and organization of innovation is much more than a set of processes, tools and techniques, and the successful practice of innovation demands the interaction and integration of three different levels of management, individual, collective and climate.</a:t>
            </a:r>
            <a:r>
              <a:rPr lang="en-GB" sz="2800" dirty="0"/>
              <a:t> </a:t>
            </a:r>
          </a:p>
        </p:txBody>
      </p:sp>
    </p:spTree>
    <p:extLst>
      <p:ext uri="{BB962C8B-B14F-4D97-AF65-F5344CB8AC3E}">
        <p14:creationId xmlns:p14="http://schemas.microsoft.com/office/powerpoint/2010/main" val="35468371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3355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259632" y="188640"/>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Summary</a:t>
            </a:r>
            <a:endParaRPr lang="en-GB" sz="3600" b="1" dirty="0">
              <a:solidFill>
                <a:srgbClr val="008000"/>
              </a:solidFill>
              <a:latin typeface="+mj-lt"/>
              <a:ea typeface="+mj-ea"/>
              <a:cs typeface="+mj-cs"/>
            </a:endParaRPr>
          </a:p>
        </p:txBody>
      </p:sp>
      <p:sp>
        <p:nvSpPr>
          <p:cNvPr id="9" name="Rectangle 8"/>
          <p:cNvSpPr/>
          <p:nvPr/>
        </p:nvSpPr>
        <p:spPr>
          <a:xfrm>
            <a:off x="458167" y="1809468"/>
            <a:ext cx="8478016" cy="3108544"/>
          </a:xfrm>
          <a:prstGeom prst="rect">
            <a:avLst/>
          </a:prstGeom>
        </p:spPr>
        <p:txBody>
          <a:bodyPr wrap="square">
            <a:spAutoFit/>
          </a:bodyPr>
          <a:lstStyle/>
          <a:p>
            <a:pPr>
              <a:spcAft>
                <a:spcPts val="2400"/>
              </a:spcAft>
            </a:pPr>
            <a:r>
              <a:rPr lang="en-US" sz="2800" dirty="0"/>
              <a:t>At the personal or individual level, the key is to match the leadership styles with the task requirement and type of teams. General leadership requirements for innovative projects include expertise and experience relevant to the project, articulating a vision and inspirational communication, intellectual stimulation, and quality of leader-member exchange (LMX). </a:t>
            </a:r>
            <a:endParaRPr lang="en-GB" sz="2800" dirty="0"/>
          </a:p>
        </p:txBody>
      </p:sp>
    </p:spTree>
    <p:extLst>
      <p:ext uri="{BB962C8B-B14F-4D97-AF65-F5344CB8AC3E}">
        <p14:creationId xmlns:p14="http://schemas.microsoft.com/office/powerpoint/2010/main" val="16623783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3355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187624" y="188640"/>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Summary</a:t>
            </a:r>
            <a:endParaRPr lang="en-GB" sz="3600" b="1" dirty="0">
              <a:solidFill>
                <a:srgbClr val="008000"/>
              </a:solidFill>
              <a:latin typeface="+mj-lt"/>
              <a:ea typeface="+mj-ea"/>
              <a:cs typeface="+mj-cs"/>
            </a:endParaRPr>
          </a:p>
        </p:txBody>
      </p:sp>
      <p:sp>
        <p:nvSpPr>
          <p:cNvPr id="9" name="Rectangle 8"/>
          <p:cNvSpPr/>
          <p:nvPr/>
        </p:nvSpPr>
        <p:spPr>
          <a:xfrm>
            <a:off x="458167" y="1809468"/>
            <a:ext cx="8478016" cy="2246769"/>
          </a:xfrm>
          <a:prstGeom prst="rect">
            <a:avLst/>
          </a:prstGeom>
        </p:spPr>
        <p:txBody>
          <a:bodyPr wrap="square">
            <a:spAutoFit/>
          </a:bodyPr>
          <a:lstStyle/>
          <a:p>
            <a:pPr>
              <a:spcAft>
                <a:spcPts val="2400"/>
              </a:spcAft>
            </a:pPr>
            <a:r>
              <a:rPr lang="en-US" sz="2800" dirty="0"/>
              <a:t>At the collective or social level, there is no universal best-practice but successful teams require clear, common and elevating goals, unified commitment, cross-functional expertise, collaborative climate, external support and recognition and participation in decision making.</a:t>
            </a:r>
            <a:r>
              <a:rPr lang="en-GB" sz="2800" dirty="0"/>
              <a:t> </a:t>
            </a:r>
          </a:p>
        </p:txBody>
      </p:sp>
    </p:spTree>
    <p:extLst>
      <p:ext uri="{BB962C8B-B14F-4D97-AF65-F5344CB8AC3E}">
        <p14:creationId xmlns:p14="http://schemas.microsoft.com/office/powerpoint/2010/main" val="34500795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3355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187624" y="260648"/>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Summary</a:t>
            </a:r>
            <a:endParaRPr lang="en-GB" sz="3600" b="1" dirty="0">
              <a:solidFill>
                <a:srgbClr val="008000"/>
              </a:solidFill>
              <a:latin typeface="+mj-lt"/>
              <a:ea typeface="+mj-ea"/>
              <a:cs typeface="+mj-cs"/>
            </a:endParaRPr>
          </a:p>
        </p:txBody>
      </p:sp>
      <p:sp>
        <p:nvSpPr>
          <p:cNvPr id="9" name="Rectangle 8"/>
          <p:cNvSpPr/>
          <p:nvPr/>
        </p:nvSpPr>
        <p:spPr>
          <a:xfrm>
            <a:off x="458167" y="1809468"/>
            <a:ext cx="8478016" cy="2246769"/>
          </a:xfrm>
          <a:prstGeom prst="rect">
            <a:avLst/>
          </a:prstGeom>
        </p:spPr>
        <p:txBody>
          <a:bodyPr wrap="square">
            <a:spAutoFit/>
          </a:bodyPr>
          <a:lstStyle/>
          <a:p>
            <a:r>
              <a:rPr lang="en-US" sz="2800" dirty="0"/>
              <a:t>At the context or climate level, there is no “best innovation culture”, but innovation is promoted or hindered by a number of factors, including trust and openness, challenge and involvement, support and space for ideas, conflict and debate, risk-taking and freedom.</a:t>
            </a:r>
            <a:endParaRPr lang="en-GB" sz="2800" dirty="0"/>
          </a:p>
        </p:txBody>
      </p:sp>
    </p:spTree>
    <p:extLst>
      <p:ext uri="{BB962C8B-B14F-4D97-AF65-F5344CB8AC3E}">
        <p14:creationId xmlns:p14="http://schemas.microsoft.com/office/powerpoint/2010/main" val="5763159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50BCDA0-42BA-42AB-8E58-A25C965D01F9}"/>
              </a:ext>
            </a:extLst>
          </p:cNvPr>
          <p:cNvPicPr>
            <a:picLocks noChangeAspect="1"/>
          </p:cNvPicPr>
          <p:nvPr/>
        </p:nvPicPr>
        <p:blipFill rotWithShape="1">
          <a:blip r:embed="rId3"/>
          <a:srcRect l="19722" r="44833" b="-1"/>
          <a:stretch/>
        </p:blipFill>
        <p:spPr>
          <a:xfrm>
            <a:off x="-5524" y="10"/>
            <a:ext cx="3641692"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2" name="Title 1">
            <a:extLst>
              <a:ext uri="{FF2B5EF4-FFF2-40B4-BE49-F238E27FC236}">
                <a16:creationId xmlns:a16="http://schemas.microsoft.com/office/drawing/2014/main" id="{614D8143-9088-1A4A-858B-DB874C43BBC6}"/>
              </a:ext>
            </a:extLst>
          </p:cNvPr>
          <p:cNvSpPr>
            <a:spLocks noGrp="1"/>
          </p:cNvSpPr>
          <p:nvPr>
            <p:ph type="title"/>
          </p:nvPr>
        </p:nvSpPr>
        <p:spPr>
          <a:xfrm>
            <a:off x="4370286" y="407987"/>
            <a:ext cx="4291113" cy="1325563"/>
          </a:xfrm>
        </p:spPr>
        <p:txBody>
          <a:bodyPr>
            <a:normAutofit/>
          </a:bodyPr>
          <a:lstStyle/>
          <a:p>
            <a:r>
              <a:rPr lang="en-US" dirty="0"/>
              <a:t>Videos</a:t>
            </a:r>
          </a:p>
        </p:txBody>
      </p:sp>
      <p:sp>
        <p:nvSpPr>
          <p:cNvPr id="3" name="Content Placeholder 2">
            <a:extLst>
              <a:ext uri="{FF2B5EF4-FFF2-40B4-BE49-F238E27FC236}">
                <a16:creationId xmlns:a16="http://schemas.microsoft.com/office/drawing/2014/main" id="{49BFE31F-7315-164A-BF78-744336F5540D}"/>
              </a:ext>
            </a:extLst>
          </p:cNvPr>
          <p:cNvSpPr>
            <a:spLocks noGrp="1"/>
          </p:cNvSpPr>
          <p:nvPr>
            <p:ph idx="1"/>
          </p:nvPr>
        </p:nvSpPr>
        <p:spPr>
          <a:xfrm>
            <a:off x="4370286" y="1868487"/>
            <a:ext cx="4291113" cy="4351338"/>
          </a:xfrm>
        </p:spPr>
        <p:txBody>
          <a:bodyPr>
            <a:normAutofit lnSpcReduction="10000"/>
          </a:bodyPr>
          <a:lstStyle/>
          <a:p>
            <a:pPr>
              <a:lnSpc>
                <a:spcPct val="90000"/>
              </a:lnSpc>
            </a:pPr>
            <a:r>
              <a:rPr lang="en-US" sz="2000" dirty="0"/>
              <a:t>There are several videos which can help explore and present the key themes of the chapter:</a:t>
            </a:r>
          </a:p>
          <a:p>
            <a:pPr>
              <a:lnSpc>
                <a:spcPct val="90000"/>
              </a:lnSpc>
            </a:pPr>
            <a:r>
              <a:rPr lang="en-GB" sz="2000" u="sng" dirty="0">
                <a:hlinkClick r:id="rId4"/>
              </a:rPr>
              <a:t>Building the innovative organization part 1</a:t>
            </a:r>
            <a:r>
              <a:rPr lang="en-GB" sz="2000" dirty="0"/>
              <a:t> </a:t>
            </a:r>
          </a:p>
          <a:p>
            <a:pPr>
              <a:lnSpc>
                <a:spcPct val="90000"/>
              </a:lnSpc>
            </a:pPr>
            <a:r>
              <a:rPr lang="en-GB" sz="2000" u="sng" dirty="0">
                <a:hlinkClick r:id="rId5"/>
              </a:rPr>
              <a:t>Building the innovative organization part 2</a:t>
            </a:r>
            <a:r>
              <a:rPr lang="en-GB" sz="2000" dirty="0"/>
              <a:t> </a:t>
            </a:r>
          </a:p>
          <a:p>
            <a:pPr>
              <a:lnSpc>
                <a:spcPct val="90000"/>
              </a:lnSpc>
            </a:pPr>
            <a:r>
              <a:rPr lang="en-GB" sz="2000" u="sng" dirty="0">
                <a:hlinkClick r:id="rId6"/>
              </a:rPr>
              <a:t>Piers Ibbotson </a:t>
            </a:r>
            <a:r>
              <a:rPr lang="en-GB" sz="2000" u="sng" dirty="0"/>
              <a:t>talking about leadership</a:t>
            </a:r>
            <a:r>
              <a:rPr lang="en-GB" sz="2000" dirty="0"/>
              <a:t> </a:t>
            </a:r>
          </a:p>
          <a:p>
            <a:pPr>
              <a:lnSpc>
                <a:spcPct val="90000"/>
              </a:lnSpc>
            </a:pPr>
            <a:r>
              <a:rPr lang="en-GB" sz="2000" dirty="0">
                <a:hlinkClick r:id="rId7"/>
              </a:rPr>
              <a:t>Patrick McLoughlin </a:t>
            </a:r>
            <a:r>
              <a:rPr lang="en-GB" sz="2000" dirty="0"/>
              <a:t>on leadership</a:t>
            </a:r>
          </a:p>
          <a:p>
            <a:pPr>
              <a:lnSpc>
                <a:spcPct val="90000"/>
              </a:lnSpc>
            </a:pPr>
            <a:r>
              <a:rPr lang="en-GB" sz="2000" dirty="0">
                <a:hlinkClick r:id="rId8"/>
              </a:rPr>
              <a:t>Victor Cui </a:t>
            </a:r>
            <a:r>
              <a:rPr lang="en-GB" sz="2000" dirty="0"/>
              <a:t>on organizing a </a:t>
            </a:r>
            <a:r>
              <a:rPr lang="en-GB" sz="2000" dirty="0" err="1"/>
              <a:t>startup</a:t>
            </a:r>
            <a:endParaRPr lang="en-GB" sz="2000" dirty="0"/>
          </a:p>
          <a:p>
            <a:pPr>
              <a:lnSpc>
                <a:spcPct val="90000"/>
              </a:lnSpc>
            </a:pPr>
            <a:r>
              <a:rPr lang="en-GB" sz="2000" dirty="0" err="1">
                <a:hlinkClick r:id="rId9"/>
              </a:rPr>
              <a:t>Tidewave</a:t>
            </a:r>
            <a:r>
              <a:rPr lang="en-GB" sz="2000" dirty="0">
                <a:hlinkClick r:id="rId10"/>
              </a:rPr>
              <a:t> </a:t>
            </a:r>
            <a:r>
              <a:rPr lang="en-GB" sz="2000" dirty="0"/>
              <a:t>as a start-up organization</a:t>
            </a:r>
          </a:p>
          <a:p>
            <a:pPr>
              <a:lnSpc>
                <a:spcPct val="90000"/>
              </a:lnSpc>
            </a:pPr>
            <a:r>
              <a:rPr lang="en-GB" sz="2000" dirty="0">
                <a:hlinkClick r:id="rId8"/>
              </a:rPr>
              <a:t>Melissa Clark-Reynolds </a:t>
            </a:r>
            <a:r>
              <a:rPr lang="en-GB" sz="2000" dirty="0"/>
              <a:t>on her start-up</a:t>
            </a:r>
            <a:endParaRPr lang="en-US" sz="2000" dirty="0"/>
          </a:p>
        </p:txBody>
      </p:sp>
    </p:spTree>
    <p:extLst>
      <p:ext uri="{BB962C8B-B14F-4D97-AF65-F5344CB8AC3E}">
        <p14:creationId xmlns:p14="http://schemas.microsoft.com/office/powerpoint/2010/main" val="19871023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D2CCE7-93E4-0046-B2E8-C183BC27E840}"/>
              </a:ext>
            </a:extLst>
          </p:cNvPr>
          <p:cNvSpPr>
            <a:spLocks noGrp="1"/>
          </p:cNvSpPr>
          <p:nvPr>
            <p:ph type="title"/>
          </p:nvPr>
        </p:nvSpPr>
        <p:spPr>
          <a:xfrm>
            <a:off x="515125" y="1153572"/>
            <a:ext cx="2400300" cy="4461163"/>
          </a:xfrm>
        </p:spPr>
        <p:txBody>
          <a:bodyPr>
            <a:normAutofit/>
          </a:bodyPr>
          <a:lstStyle/>
          <a:p>
            <a:r>
              <a:rPr lang="en-US">
                <a:solidFill>
                  <a:srgbClr val="FFFFFF"/>
                </a:solidFill>
              </a:rPr>
              <a:t>Videos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DBCBE3A-682C-9C40-BC23-3E2EF9B5C143}"/>
              </a:ext>
            </a:extLst>
          </p:cNvPr>
          <p:cNvSpPr>
            <a:spLocks noGrp="1"/>
          </p:cNvSpPr>
          <p:nvPr>
            <p:ph idx="1"/>
          </p:nvPr>
        </p:nvSpPr>
        <p:spPr>
          <a:xfrm>
            <a:off x="3335481" y="591344"/>
            <a:ext cx="5179868" cy="5585619"/>
          </a:xfrm>
        </p:spPr>
        <p:txBody>
          <a:bodyPr anchor="ctr">
            <a:normAutofit/>
          </a:bodyPr>
          <a:lstStyle/>
          <a:p>
            <a:r>
              <a:rPr lang="en-GB" dirty="0">
                <a:hlinkClick r:id="rId2"/>
              </a:rPr>
              <a:t>Hugh Chapman, Managing Director of Veeder Root </a:t>
            </a:r>
            <a:r>
              <a:rPr lang="en-GB" dirty="0"/>
              <a:t>on innovation leadership</a:t>
            </a:r>
          </a:p>
          <a:p>
            <a:r>
              <a:rPr lang="en-GB" dirty="0">
                <a:hlinkClick r:id="rId3"/>
              </a:rPr>
              <a:t>Emma Taylor of Denso Systems </a:t>
            </a:r>
            <a:r>
              <a:rPr lang="en-GB" dirty="0"/>
              <a:t>on employee involvement</a:t>
            </a:r>
          </a:p>
          <a:p>
            <a:r>
              <a:rPr lang="en-GB" dirty="0">
                <a:hlinkClick r:id="rId3"/>
              </a:rPr>
              <a:t>Armin Rau, </a:t>
            </a:r>
            <a:r>
              <a:rPr lang="en-GB" dirty="0"/>
              <a:t>Strategy Partner of </a:t>
            </a:r>
            <a:r>
              <a:rPr lang="en-GB" dirty="0" err="1"/>
              <a:t>Sicap</a:t>
            </a:r>
            <a:r>
              <a:rPr lang="en-GB" dirty="0"/>
              <a:t>.</a:t>
            </a:r>
            <a:endParaRPr lang="en-US" dirty="0"/>
          </a:p>
        </p:txBody>
      </p:sp>
    </p:spTree>
    <p:extLst>
      <p:ext uri="{BB962C8B-B14F-4D97-AF65-F5344CB8AC3E}">
        <p14:creationId xmlns:p14="http://schemas.microsoft.com/office/powerpoint/2010/main" val="42361577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682E34-A78E-7742-A185-76368CEAE2D6}"/>
              </a:ext>
            </a:extLst>
          </p:cNvPr>
          <p:cNvSpPr>
            <a:spLocks noGrp="1"/>
          </p:cNvSpPr>
          <p:nvPr>
            <p:ph type="title"/>
          </p:nvPr>
        </p:nvSpPr>
        <p:spPr>
          <a:xfrm>
            <a:off x="515125" y="1153572"/>
            <a:ext cx="2400300" cy="4461163"/>
          </a:xfrm>
        </p:spPr>
        <p:txBody>
          <a:bodyPr>
            <a:normAutofit/>
          </a:bodyPr>
          <a:lstStyle/>
          <a:p>
            <a:r>
              <a:rPr lang="en-US">
                <a:solidFill>
                  <a:srgbClr val="FFFFFF"/>
                </a:solidFill>
              </a:rPr>
              <a:t>Videos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E4D5028-0284-9047-BB6A-11CA11B91A61}"/>
              </a:ext>
            </a:extLst>
          </p:cNvPr>
          <p:cNvSpPr>
            <a:spLocks noGrp="1"/>
          </p:cNvSpPr>
          <p:nvPr>
            <p:ph idx="1"/>
          </p:nvPr>
        </p:nvSpPr>
        <p:spPr>
          <a:xfrm>
            <a:off x="3335481" y="591344"/>
            <a:ext cx="5179868" cy="5585619"/>
          </a:xfrm>
        </p:spPr>
        <p:txBody>
          <a:bodyPr anchor="ctr">
            <a:normAutofit lnSpcReduction="10000"/>
          </a:bodyPr>
          <a:lstStyle/>
          <a:p>
            <a:r>
              <a:rPr lang="en-US" dirty="0">
                <a:hlinkClick r:id="rId2"/>
              </a:rPr>
              <a:t>Douglas Merril  of Google </a:t>
            </a:r>
            <a:r>
              <a:rPr lang="en-US" dirty="0"/>
              <a:t>who explains a little about how the organization supports innovation</a:t>
            </a:r>
          </a:p>
          <a:p>
            <a:r>
              <a:rPr lang="en-US" dirty="0"/>
              <a:t>Linda Hill’s TED Talk on collective creativity</a:t>
            </a:r>
          </a:p>
          <a:p>
            <a:r>
              <a:rPr lang="en-US" dirty="0">
                <a:hlinkClick r:id="rId3"/>
              </a:rPr>
              <a:t>https://www.ted.com/talks/linda_hill_how_to_manage_for_collective_creativity</a:t>
            </a:r>
            <a:endParaRPr lang="en-US" dirty="0"/>
          </a:p>
          <a:p>
            <a:r>
              <a:rPr lang="en-US" dirty="0">
                <a:hlinkClick r:id="rId4"/>
              </a:rPr>
              <a:t>Four cases of employee involvement </a:t>
            </a:r>
            <a:r>
              <a:rPr lang="en-US" dirty="0"/>
              <a:t>in innovation</a:t>
            </a:r>
          </a:p>
        </p:txBody>
      </p:sp>
    </p:spTree>
    <p:extLst>
      <p:ext uri="{BB962C8B-B14F-4D97-AF65-F5344CB8AC3E}">
        <p14:creationId xmlns:p14="http://schemas.microsoft.com/office/powerpoint/2010/main" val="42465654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987897-E368-6B40-A432-FCFC66E718D4}"/>
              </a:ext>
            </a:extLst>
          </p:cNvPr>
          <p:cNvSpPr>
            <a:spLocks noGrp="1"/>
          </p:cNvSpPr>
          <p:nvPr>
            <p:ph type="title"/>
          </p:nvPr>
        </p:nvSpPr>
        <p:spPr>
          <a:xfrm>
            <a:off x="515125" y="1153572"/>
            <a:ext cx="2400300" cy="4461163"/>
          </a:xfrm>
        </p:spPr>
        <p:txBody>
          <a:bodyPr>
            <a:normAutofit/>
          </a:bodyPr>
          <a:lstStyle/>
          <a:p>
            <a:r>
              <a:rPr lang="en-US">
                <a:solidFill>
                  <a:srgbClr val="FFFFFF"/>
                </a:solidFill>
              </a:rPr>
              <a:t>Blogs and podcasts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60F7953-C336-3B4A-8A1A-58F5A985ACE7}"/>
              </a:ext>
            </a:extLst>
          </p:cNvPr>
          <p:cNvSpPr>
            <a:spLocks noGrp="1"/>
          </p:cNvSpPr>
          <p:nvPr>
            <p:ph idx="1"/>
          </p:nvPr>
        </p:nvSpPr>
        <p:spPr>
          <a:xfrm>
            <a:off x="3335481" y="591344"/>
            <a:ext cx="5179868" cy="5585619"/>
          </a:xfrm>
        </p:spPr>
        <p:txBody>
          <a:bodyPr anchor="ctr">
            <a:normAutofit/>
          </a:bodyPr>
          <a:lstStyle/>
          <a:p>
            <a:r>
              <a:rPr lang="en-US" dirty="0"/>
              <a:t>There are </a:t>
            </a:r>
            <a:r>
              <a:rPr lang="en-US" dirty="0">
                <a:hlinkClick r:id="rId2"/>
              </a:rPr>
              <a:t>several podcasts </a:t>
            </a:r>
            <a:r>
              <a:rPr lang="en-US" dirty="0"/>
              <a:t>picking up key themes around managing innovation as a process and some of the key variables:</a:t>
            </a:r>
          </a:p>
        </p:txBody>
      </p:sp>
    </p:spTree>
    <p:extLst>
      <p:ext uri="{BB962C8B-B14F-4D97-AF65-F5344CB8AC3E}">
        <p14:creationId xmlns:p14="http://schemas.microsoft.com/office/powerpoint/2010/main" val="12745100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E829F1-84C0-044B-BBE4-ABFAD581D452}"/>
              </a:ext>
            </a:extLst>
          </p:cNvPr>
          <p:cNvSpPr>
            <a:spLocks noGrp="1"/>
          </p:cNvSpPr>
          <p:nvPr>
            <p:ph type="title"/>
          </p:nvPr>
        </p:nvSpPr>
        <p:spPr>
          <a:xfrm>
            <a:off x="515125" y="1153572"/>
            <a:ext cx="2400300" cy="4461163"/>
          </a:xfrm>
        </p:spPr>
        <p:txBody>
          <a:bodyPr>
            <a:normAutofit/>
          </a:bodyPr>
          <a:lstStyle/>
          <a:p>
            <a:r>
              <a:rPr lang="en-US">
                <a:solidFill>
                  <a:srgbClr val="FFFFFF"/>
                </a:solidFill>
              </a:rPr>
              <a:t>Activities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2B2D3D1-2581-F94B-9851-1F31823967E9}"/>
              </a:ext>
            </a:extLst>
          </p:cNvPr>
          <p:cNvSpPr>
            <a:spLocks noGrp="1"/>
          </p:cNvSpPr>
          <p:nvPr>
            <p:ph idx="1"/>
          </p:nvPr>
        </p:nvSpPr>
        <p:spPr>
          <a:xfrm>
            <a:off x="3335481" y="591344"/>
            <a:ext cx="5179868" cy="5585619"/>
          </a:xfrm>
        </p:spPr>
        <p:txBody>
          <a:bodyPr anchor="ctr">
            <a:normAutofit/>
          </a:bodyPr>
          <a:lstStyle/>
          <a:p>
            <a:r>
              <a:rPr lang="en-US" dirty="0"/>
              <a:t>There are a variety of activities (for both groups and individuals and for online as well as offline work.  These include:</a:t>
            </a:r>
          </a:p>
        </p:txBody>
      </p:sp>
    </p:spTree>
    <p:extLst>
      <p:ext uri="{BB962C8B-B14F-4D97-AF65-F5344CB8AC3E}">
        <p14:creationId xmlns:p14="http://schemas.microsoft.com/office/powerpoint/2010/main" val="22892404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58167" y="1494720"/>
            <a:ext cx="8009093" cy="5262979"/>
          </a:xfrm>
          <a:prstGeom prst="rect">
            <a:avLst/>
          </a:prstGeom>
        </p:spPr>
        <p:txBody>
          <a:bodyPr wrap="square">
            <a:spAutoFit/>
          </a:bodyPr>
          <a:lstStyle/>
          <a:p>
            <a:r>
              <a:rPr lang="en-US" sz="2400" dirty="0"/>
              <a:t>Ask students to search the web and find examples of innovation leaders and what they do, what they seem to focus on, how they lead? And what don’t they do?</a:t>
            </a:r>
          </a:p>
          <a:p>
            <a:endParaRPr lang="en-GB" sz="2400" dirty="0"/>
          </a:p>
          <a:p>
            <a:endParaRPr lang="en-US" sz="2400" dirty="0"/>
          </a:p>
          <a:p>
            <a:endParaRPr lang="en-US" sz="2400" dirty="0"/>
          </a:p>
          <a:p>
            <a:endParaRPr lang="en-US" sz="2400" dirty="0"/>
          </a:p>
          <a:p>
            <a:endParaRPr lang="en-US" sz="2400" dirty="0"/>
          </a:p>
          <a:p>
            <a:endParaRPr lang="en-US" sz="2400" dirty="0"/>
          </a:p>
          <a:p>
            <a:r>
              <a:rPr lang="en-US" sz="2400" dirty="0"/>
              <a:t>E.g. Steve Jobs an entrepreneur who revolutionized six industries: personal computers, animated movies, music, phones, tablet computing, and digital publishing; OR</a:t>
            </a:r>
            <a:endParaRPr lang="en-GB" sz="2400" dirty="0"/>
          </a:p>
          <a:p>
            <a:r>
              <a:rPr lang="en-US" sz="2400" dirty="0"/>
              <a:t>Larry Page (Google), Jeff Bezos (Amazon), Bill Gates (Microsoft), etc.</a:t>
            </a:r>
            <a:endParaRPr lang="en-GB" sz="2400" dirty="0"/>
          </a:p>
        </p:txBody>
      </p:sp>
      <p:sp>
        <p:nvSpPr>
          <p:cNvPr id="6" name="Title 1"/>
          <p:cNvSpPr txBox="1">
            <a:spLocks/>
          </p:cNvSpPr>
          <p:nvPr/>
        </p:nvSpPr>
        <p:spPr>
          <a:xfrm>
            <a:off x="1043608" y="332656"/>
            <a:ext cx="7043221" cy="917864"/>
          </a:xfrm>
          <a:prstGeom prst="rect">
            <a:avLst/>
          </a:prstGeom>
        </p:spPr>
        <p:txBody>
          <a:bodyPr vert="horz" lIns="91440" tIns="45720" rIns="91440" bIns="45720" rtlCol="0" anchor="ctr">
            <a:noAutofit/>
          </a:bodyPr>
          <a:lstStyle/>
          <a:p>
            <a:pPr lvl="0" algn="ctr">
              <a:spcBef>
                <a:spcPct val="0"/>
              </a:spcBef>
              <a:defRPr/>
            </a:pPr>
            <a:r>
              <a:rPr kumimoji="0" lang="en-GB" sz="3600" b="1" i="0" u="none" strike="noStrike" kern="1200" cap="none" spc="0" normalizeH="0" baseline="0" noProof="0" dirty="0">
                <a:ln>
                  <a:noFill/>
                </a:ln>
                <a:solidFill>
                  <a:srgbClr val="008000"/>
                </a:solidFill>
                <a:effectLst/>
                <a:uLnTx/>
                <a:uFillTx/>
                <a:latin typeface="+mj-lt"/>
                <a:ea typeface="+mj-ea"/>
                <a:cs typeface="+mj-cs"/>
              </a:rPr>
              <a:t>Activity</a:t>
            </a:r>
            <a:r>
              <a:rPr lang="en-GB" sz="3600" b="1" dirty="0">
                <a:solidFill>
                  <a:srgbClr val="008000"/>
                </a:solidFill>
                <a:latin typeface="+mj-lt"/>
                <a:ea typeface="+mj-ea"/>
                <a:cs typeface="+mj-cs"/>
              </a:rPr>
              <a:t>: Innovation leaders</a:t>
            </a:r>
          </a:p>
        </p:txBody>
      </p:sp>
      <p:pic>
        <p:nvPicPr>
          <p:cNvPr id="51202" name="Picture 2" descr="Image result for steve jobs"/>
          <p:cNvPicPr>
            <a:picLocks noChangeAspect="1" noChangeArrowheads="1"/>
          </p:cNvPicPr>
          <p:nvPr/>
        </p:nvPicPr>
        <p:blipFill>
          <a:blip r:embed="rId2" cstate="print"/>
          <a:srcRect/>
          <a:stretch>
            <a:fillRect/>
          </a:stretch>
        </p:blipFill>
        <p:spPr bwMode="auto">
          <a:xfrm>
            <a:off x="2771800" y="2924944"/>
            <a:ext cx="2592288" cy="1728192"/>
          </a:xfrm>
          <a:prstGeom prst="rect">
            <a:avLst/>
          </a:prstGeom>
          <a:noFill/>
        </p:spPr>
      </p:pic>
    </p:spTree>
    <p:extLst>
      <p:ext uri="{BB962C8B-B14F-4D97-AF65-F5344CB8AC3E}">
        <p14:creationId xmlns:p14="http://schemas.microsoft.com/office/powerpoint/2010/main" val="32103123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58167" y="1716642"/>
            <a:ext cx="8478016" cy="3539430"/>
          </a:xfrm>
          <a:prstGeom prst="rect">
            <a:avLst/>
          </a:prstGeom>
        </p:spPr>
        <p:txBody>
          <a:bodyPr wrap="square">
            <a:spAutoFit/>
          </a:bodyPr>
          <a:lstStyle/>
          <a:p>
            <a:r>
              <a:rPr lang="en-US" sz="2800" dirty="0">
                <a:hlinkClick r:id="rId2"/>
              </a:rPr>
              <a:t>Watch the excellent TED talk by Sir Ken Robinson </a:t>
            </a:r>
            <a:r>
              <a:rPr lang="en-US" sz="2800" dirty="0"/>
              <a:t>and try to distil the key points he makes about creativity and creative environments.  </a:t>
            </a:r>
          </a:p>
          <a:p>
            <a:endParaRPr lang="en-US" sz="2800" dirty="0"/>
          </a:p>
          <a:p>
            <a:r>
              <a:rPr lang="en-US" sz="2800" dirty="0"/>
              <a:t>How far do you agree or disagree?  </a:t>
            </a:r>
          </a:p>
          <a:p>
            <a:endParaRPr lang="en-US" sz="2800" dirty="0"/>
          </a:p>
          <a:p>
            <a:r>
              <a:rPr lang="en-US" sz="2800" dirty="0"/>
              <a:t>Give examples to support your arguments.</a:t>
            </a:r>
          </a:p>
          <a:p>
            <a:endParaRPr lang="en-US" sz="2800" dirty="0"/>
          </a:p>
        </p:txBody>
      </p:sp>
      <p:sp>
        <p:nvSpPr>
          <p:cNvPr id="6" name="Title 1"/>
          <p:cNvSpPr txBox="1">
            <a:spLocks/>
          </p:cNvSpPr>
          <p:nvPr/>
        </p:nvSpPr>
        <p:spPr>
          <a:xfrm>
            <a:off x="1043608" y="332656"/>
            <a:ext cx="7043221" cy="917864"/>
          </a:xfrm>
          <a:prstGeom prst="rect">
            <a:avLst/>
          </a:prstGeom>
        </p:spPr>
        <p:txBody>
          <a:bodyPr vert="horz" lIns="91440" tIns="45720" rIns="91440" bIns="45720" rtlCol="0" anchor="ctr">
            <a:noAutofit/>
          </a:bodyPr>
          <a:lstStyle/>
          <a:p>
            <a:pPr lvl="0" algn="ctr">
              <a:spcBef>
                <a:spcPct val="0"/>
              </a:spcBef>
              <a:defRPr/>
            </a:pPr>
            <a:r>
              <a:rPr kumimoji="0" lang="en-GB" sz="3600" b="1" i="0" u="none" strike="noStrike" kern="1200" cap="none" spc="0" normalizeH="0" baseline="0" noProof="0" dirty="0">
                <a:ln>
                  <a:noFill/>
                </a:ln>
                <a:solidFill>
                  <a:srgbClr val="008000"/>
                </a:solidFill>
                <a:effectLst/>
                <a:uLnTx/>
                <a:uFillTx/>
                <a:latin typeface="+mj-lt"/>
                <a:ea typeface="+mj-ea"/>
                <a:cs typeface="+mj-cs"/>
              </a:rPr>
              <a:t>Activity</a:t>
            </a:r>
            <a:r>
              <a:rPr lang="en-GB" sz="3600" b="1" dirty="0">
                <a:solidFill>
                  <a:srgbClr val="008000"/>
                </a:solidFill>
                <a:latin typeface="+mj-lt"/>
                <a:ea typeface="+mj-ea"/>
                <a:cs typeface="+mj-cs"/>
              </a:rPr>
              <a:t>: </a:t>
            </a:r>
            <a:r>
              <a:rPr lang="en-US" sz="3600" b="1" dirty="0">
                <a:solidFill>
                  <a:srgbClr val="008000"/>
                </a:solidFill>
                <a:latin typeface="+mj-lt"/>
                <a:ea typeface="+mj-ea"/>
                <a:cs typeface="+mj-cs"/>
              </a:rPr>
              <a:t>Ken Robinson</a:t>
            </a:r>
            <a:endParaRPr lang="en-GB" sz="3600" b="1" dirty="0">
              <a:solidFill>
                <a:srgbClr val="008000"/>
              </a:solidFill>
              <a:latin typeface="+mj-lt"/>
              <a:ea typeface="+mj-ea"/>
              <a:cs typeface="+mj-cs"/>
            </a:endParaRPr>
          </a:p>
        </p:txBody>
      </p:sp>
    </p:spTree>
    <p:extLst>
      <p:ext uri="{BB962C8B-B14F-4D97-AF65-F5344CB8AC3E}">
        <p14:creationId xmlns:p14="http://schemas.microsoft.com/office/powerpoint/2010/main" val="19798139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58167" y="1827603"/>
            <a:ext cx="8478016" cy="3108543"/>
          </a:xfrm>
          <a:prstGeom prst="rect">
            <a:avLst/>
          </a:prstGeom>
        </p:spPr>
        <p:txBody>
          <a:bodyPr wrap="square">
            <a:spAutoFit/>
          </a:bodyPr>
          <a:lstStyle/>
          <a:p>
            <a:r>
              <a:rPr lang="en-US" sz="2800" dirty="0"/>
              <a:t>Ask students to </a:t>
            </a:r>
            <a:r>
              <a:rPr lang="en-US" sz="2800" dirty="0">
                <a:hlinkClick r:id="rId2"/>
              </a:rPr>
              <a:t>complete </a:t>
            </a:r>
            <a:r>
              <a:rPr lang="en-US" sz="2800" dirty="0">
                <a:solidFill>
                  <a:srgbClr val="000000"/>
                </a:solidFill>
                <a:hlinkClick r:id="rId2"/>
              </a:rPr>
              <a:t>the questionnaire on the website here</a:t>
            </a:r>
            <a:r>
              <a:rPr lang="en-US" sz="2800" dirty="0">
                <a:solidFill>
                  <a:srgbClr val="000000"/>
                </a:solidFill>
              </a:rPr>
              <a:t>,</a:t>
            </a:r>
            <a:r>
              <a:rPr lang="en-US" sz="2800" dirty="0"/>
              <a:t> being as honest as possible. </a:t>
            </a:r>
          </a:p>
          <a:p>
            <a:endParaRPr lang="en-US" sz="2800" dirty="0"/>
          </a:p>
          <a:p>
            <a:endParaRPr lang="en-US" sz="2800" dirty="0"/>
          </a:p>
          <a:p>
            <a:r>
              <a:rPr lang="en-US" sz="2800" dirty="0"/>
              <a:t>Then calculate your score using the guide in the answer. </a:t>
            </a:r>
          </a:p>
          <a:p>
            <a:endParaRPr lang="en-US" sz="2800" dirty="0"/>
          </a:p>
          <a:p>
            <a:r>
              <a:rPr lang="en-US" sz="2800" dirty="0"/>
              <a:t>How innovative are you?</a:t>
            </a:r>
            <a:r>
              <a:rPr lang="en-GB" sz="2800" dirty="0"/>
              <a:t> </a:t>
            </a:r>
          </a:p>
        </p:txBody>
      </p:sp>
      <p:sp>
        <p:nvSpPr>
          <p:cNvPr id="6" name="Title 1"/>
          <p:cNvSpPr txBox="1">
            <a:spLocks/>
          </p:cNvSpPr>
          <p:nvPr/>
        </p:nvSpPr>
        <p:spPr>
          <a:xfrm>
            <a:off x="971600" y="332656"/>
            <a:ext cx="7043221" cy="917864"/>
          </a:xfrm>
          <a:prstGeom prst="rect">
            <a:avLst/>
          </a:prstGeom>
        </p:spPr>
        <p:txBody>
          <a:bodyPr vert="horz" lIns="91440" tIns="45720" rIns="91440" bIns="45720" rtlCol="0" anchor="ctr">
            <a:noAutofit/>
          </a:bodyPr>
          <a:lstStyle/>
          <a:p>
            <a:pPr lvl="0" algn="ctr">
              <a:spcBef>
                <a:spcPct val="0"/>
              </a:spcBef>
              <a:defRPr/>
            </a:pPr>
            <a:r>
              <a:rPr lang="en-GB" sz="3600" b="1" dirty="0">
                <a:solidFill>
                  <a:srgbClr val="008000"/>
                </a:solidFill>
                <a:latin typeface="+mj-lt"/>
                <a:ea typeface="+mj-ea"/>
                <a:cs typeface="+mj-cs"/>
              </a:rPr>
              <a:t>Activity: </a:t>
            </a:r>
            <a:r>
              <a:rPr lang="en-US" sz="3600" b="1" dirty="0">
                <a:solidFill>
                  <a:srgbClr val="008000"/>
                </a:solidFill>
                <a:latin typeface="+mj-lt"/>
                <a:ea typeface="+mj-ea"/>
                <a:cs typeface="+mj-cs"/>
              </a:rPr>
              <a:t>Self – assessment – how creative are you?</a:t>
            </a:r>
            <a:endParaRPr lang="en-GB" sz="3600" b="1" dirty="0">
              <a:solidFill>
                <a:srgbClr val="008000"/>
              </a:solidFill>
              <a:latin typeface="+mj-lt"/>
              <a:ea typeface="+mj-ea"/>
              <a:cs typeface="+mj-cs"/>
            </a:endParaRPr>
          </a:p>
        </p:txBody>
      </p:sp>
    </p:spTree>
    <p:extLst>
      <p:ext uri="{BB962C8B-B14F-4D97-AF65-F5344CB8AC3E}">
        <p14:creationId xmlns:p14="http://schemas.microsoft.com/office/powerpoint/2010/main" val="18764199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58167" y="1950893"/>
            <a:ext cx="8009093" cy="2246769"/>
          </a:xfrm>
          <a:prstGeom prst="rect">
            <a:avLst/>
          </a:prstGeom>
        </p:spPr>
        <p:txBody>
          <a:bodyPr wrap="square">
            <a:spAutoFit/>
          </a:bodyPr>
          <a:lstStyle/>
          <a:p>
            <a:r>
              <a:rPr lang="en-US" sz="2800" dirty="0">
                <a:solidFill>
                  <a:srgbClr val="000000"/>
                </a:solidFill>
                <a:hlinkClick r:id="rId2"/>
              </a:rPr>
              <a:t>This activity demonstrates the different contributions people can </a:t>
            </a:r>
            <a:r>
              <a:rPr lang="en-US" sz="2800" dirty="0">
                <a:hlinkClick r:id="rId2"/>
              </a:rPr>
              <a:t>make to creativity </a:t>
            </a:r>
            <a:r>
              <a:rPr lang="en-US" sz="2800" dirty="0"/>
              <a:t>and how groups can generate more ideas, more different ideas and stimulate each other.</a:t>
            </a:r>
            <a:endParaRPr lang="en-GB" sz="2800" dirty="0"/>
          </a:p>
          <a:p>
            <a:r>
              <a:rPr lang="en-US" sz="2800" dirty="0"/>
              <a:t> </a:t>
            </a:r>
            <a:endParaRPr lang="en-GB" sz="2800" dirty="0"/>
          </a:p>
        </p:txBody>
      </p:sp>
      <p:sp>
        <p:nvSpPr>
          <p:cNvPr id="6" name="Title 1"/>
          <p:cNvSpPr txBox="1">
            <a:spLocks/>
          </p:cNvSpPr>
          <p:nvPr/>
        </p:nvSpPr>
        <p:spPr>
          <a:xfrm>
            <a:off x="971600" y="332656"/>
            <a:ext cx="7043221" cy="917864"/>
          </a:xfrm>
          <a:prstGeom prst="rect">
            <a:avLst/>
          </a:prstGeom>
        </p:spPr>
        <p:txBody>
          <a:bodyPr vert="horz" lIns="91440" tIns="45720" rIns="91440" bIns="45720" rtlCol="0" anchor="ctr">
            <a:noAutofit/>
          </a:bodyPr>
          <a:lstStyle/>
          <a:p>
            <a:pPr lvl="0" algn="ctr">
              <a:spcBef>
                <a:spcPct val="0"/>
              </a:spcBef>
              <a:defRPr/>
            </a:pPr>
            <a:r>
              <a:rPr lang="en-GB" sz="3600" b="1" dirty="0">
                <a:solidFill>
                  <a:srgbClr val="008000"/>
                </a:solidFill>
                <a:latin typeface="+mj-lt"/>
                <a:ea typeface="+mj-ea"/>
                <a:cs typeface="+mj-cs"/>
              </a:rPr>
              <a:t>Activity: </a:t>
            </a:r>
            <a:r>
              <a:rPr lang="en-US" sz="3600" b="1" dirty="0">
                <a:solidFill>
                  <a:srgbClr val="008000"/>
                </a:solidFill>
                <a:latin typeface="+mj-lt"/>
                <a:ea typeface="+mj-ea"/>
                <a:cs typeface="+mj-cs"/>
              </a:rPr>
              <a:t>Uses for….</a:t>
            </a:r>
            <a:r>
              <a:rPr lang="en-GB" sz="3600" b="1" dirty="0">
                <a:solidFill>
                  <a:srgbClr val="008000"/>
                </a:solidFill>
                <a:latin typeface="+mj-lt"/>
                <a:ea typeface="+mj-ea"/>
                <a:cs typeface="+mj-cs"/>
              </a:rPr>
              <a:t> </a:t>
            </a:r>
          </a:p>
        </p:txBody>
      </p:sp>
    </p:spTree>
    <p:extLst>
      <p:ext uri="{BB962C8B-B14F-4D97-AF65-F5344CB8AC3E}">
        <p14:creationId xmlns:p14="http://schemas.microsoft.com/office/powerpoint/2010/main" val="42865033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F3E2-DE82-684F-AB96-D65AACA856AA}"/>
              </a:ext>
            </a:extLst>
          </p:cNvPr>
          <p:cNvSpPr>
            <a:spLocks noGrp="1"/>
          </p:cNvSpPr>
          <p:nvPr>
            <p:ph type="title"/>
          </p:nvPr>
        </p:nvSpPr>
        <p:spPr>
          <a:xfrm>
            <a:off x="515125" y="1153572"/>
            <a:ext cx="2400300" cy="4461163"/>
          </a:xfrm>
        </p:spPr>
        <p:txBody>
          <a:bodyPr>
            <a:normAutofit/>
          </a:bodyPr>
          <a:lstStyle/>
          <a:p>
            <a:r>
              <a:rPr lang="en-US">
                <a:solidFill>
                  <a:srgbClr val="FFFFFF"/>
                </a:solidFill>
              </a:rPr>
              <a:t>Cases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FC5492F-86A8-4E4C-88C3-DE87089A6DE2}"/>
              </a:ext>
            </a:extLst>
          </p:cNvPr>
          <p:cNvSpPr>
            <a:spLocks noGrp="1"/>
          </p:cNvSpPr>
          <p:nvPr>
            <p:ph idx="1"/>
          </p:nvPr>
        </p:nvSpPr>
        <p:spPr>
          <a:xfrm>
            <a:off x="3335481" y="591344"/>
            <a:ext cx="5179868" cy="5585619"/>
          </a:xfrm>
        </p:spPr>
        <p:txBody>
          <a:bodyPr anchor="ctr">
            <a:normAutofit fontScale="77500" lnSpcReduction="20000"/>
          </a:bodyPr>
          <a:lstStyle/>
          <a:p>
            <a:pPr marL="0" indent="0">
              <a:buNone/>
            </a:pPr>
            <a:r>
              <a:rPr lang="en-US" dirty="0">
                <a:hlinkClick r:id="rId2"/>
              </a:rPr>
              <a:t>There are several case studies on the website </a:t>
            </a:r>
            <a:r>
              <a:rPr lang="en-US" dirty="0"/>
              <a:t>which highlight key themes in the chapter, including:</a:t>
            </a:r>
          </a:p>
          <a:p>
            <a:r>
              <a:rPr lang="en-GB" dirty="0"/>
              <a:t>More detail on the emergence of mass production can be found in the case study of Model T Ford</a:t>
            </a:r>
          </a:p>
          <a:p>
            <a:r>
              <a:rPr lang="en-GB" dirty="0"/>
              <a:t>• The Cerulean case looks in more detail at the challenges of creating a climate for radical innovation</a:t>
            </a:r>
          </a:p>
          <a:p>
            <a:r>
              <a:rPr lang="en-GB" dirty="0"/>
              <a:t>• The Liberty Global and Lufthansa Systems cases look at attempts to build a high involvement culture using collaboration platforms</a:t>
            </a:r>
          </a:p>
          <a:p>
            <a:r>
              <a:rPr lang="en-GB" dirty="0"/>
              <a:t>The Philips Lighting case highlights the organizational challenges of changing the degree and direction of innovation strategy.</a:t>
            </a:r>
          </a:p>
          <a:p>
            <a:endParaRPr lang="en-US" dirty="0"/>
          </a:p>
        </p:txBody>
      </p:sp>
    </p:spTree>
    <p:extLst>
      <p:ext uri="{BB962C8B-B14F-4D97-AF65-F5344CB8AC3E}">
        <p14:creationId xmlns:p14="http://schemas.microsoft.com/office/powerpoint/2010/main" val="30781025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67544" y="1916832"/>
            <a:ext cx="8478016" cy="3046988"/>
          </a:xfrm>
          <a:prstGeom prst="rect">
            <a:avLst/>
          </a:prstGeom>
        </p:spPr>
        <p:txBody>
          <a:bodyPr wrap="square">
            <a:spAutoFit/>
          </a:bodyPr>
          <a:lstStyle/>
          <a:p>
            <a:r>
              <a:rPr lang="en-US" sz="2400" dirty="0"/>
              <a:t>On the Portal there is a case study of innovation within Philips Lighting which explores the issues of how does an organization jump the tracks? How can it switch off its immune system and open itself up to new – and potentially dangerous – inputs? How can it reframe, let go of its old ways of looking at the world and take on something which is very new – but by definition untried and risky?  </a:t>
            </a:r>
          </a:p>
          <a:p>
            <a:endParaRPr lang="en-US" sz="2400" dirty="0"/>
          </a:p>
        </p:txBody>
      </p:sp>
      <p:sp>
        <p:nvSpPr>
          <p:cNvPr id="6" name="Title 1"/>
          <p:cNvSpPr txBox="1">
            <a:spLocks/>
          </p:cNvSpPr>
          <p:nvPr/>
        </p:nvSpPr>
        <p:spPr>
          <a:xfrm>
            <a:off x="1165116" y="332094"/>
            <a:ext cx="6306671" cy="917864"/>
          </a:xfrm>
          <a:prstGeom prst="rect">
            <a:avLst/>
          </a:prstGeom>
        </p:spPr>
        <p:txBody>
          <a:bodyPr vert="horz" lIns="91440" tIns="45720" rIns="91440" bIns="45720" rtlCol="0" anchor="ctr">
            <a:noAutofit/>
          </a:bodyPr>
          <a:lstStyle/>
          <a:p>
            <a:pPr lvl="0" algn="ctr">
              <a:spcBef>
                <a:spcPct val="0"/>
              </a:spcBef>
              <a:defRPr/>
            </a:pPr>
            <a:r>
              <a:rPr kumimoji="0" lang="en-GB" sz="3600" b="1" i="0" u="none" strike="noStrike" kern="1200" cap="none" spc="0" normalizeH="0" baseline="0" noProof="0" dirty="0">
                <a:ln>
                  <a:noFill/>
                </a:ln>
                <a:solidFill>
                  <a:srgbClr val="008000"/>
                </a:solidFill>
                <a:effectLst/>
                <a:uLnTx/>
                <a:uFillTx/>
                <a:latin typeface="+mj-lt"/>
                <a:ea typeface="+mj-ea"/>
                <a:cs typeface="+mj-cs"/>
              </a:rPr>
              <a:t>Case</a:t>
            </a:r>
            <a:r>
              <a:rPr lang="en-GB" sz="3600" b="1" dirty="0">
                <a:solidFill>
                  <a:srgbClr val="008000"/>
                </a:solidFill>
                <a:latin typeface="+mj-lt"/>
                <a:ea typeface="+mj-ea"/>
                <a:cs typeface="+mj-cs"/>
              </a:rPr>
              <a:t>: </a:t>
            </a:r>
            <a:r>
              <a:rPr lang="en-US" sz="3600" b="1" dirty="0">
                <a:solidFill>
                  <a:srgbClr val="008000"/>
                </a:solidFill>
                <a:latin typeface="+mj-lt"/>
                <a:ea typeface="+mj-ea"/>
                <a:cs typeface="+mj-cs"/>
              </a:rPr>
              <a:t>Philips Lighting</a:t>
            </a:r>
            <a:endParaRPr lang="en-GB" sz="3600" b="1" dirty="0">
              <a:solidFill>
                <a:srgbClr val="008000"/>
              </a:solidFill>
              <a:latin typeface="+mj-lt"/>
              <a:ea typeface="+mj-ea"/>
              <a:cs typeface="+mj-cs"/>
            </a:endParaRPr>
          </a:p>
        </p:txBody>
      </p:sp>
    </p:spTree>
    <p:extLst>
      <p:ext uri="{BB962C8B-B14F-4D97-AF65-F5344CB8AC3E}">
        <p14:creationId xmlns:p14="http://schemas.microsoft.com/office/powerpoint/2010/main" val="5211495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67544" y="1916832"/>
            <a:ext cx="8478016" cy="2246769"/>
          </a:xfrm>
          <a:prstGeom prst="rect">
            <a:avLst/>
          </a:prstGeom>
        </p:spPr>
        <p:txBody>
          <a:bodyPr wrap="square">
            <a:spAutoFit/>
          </a:bodyPr>
          <a:lstStyle/>
          <a:p>
            <a:r>
              <a:rPr lang="en-US" sz="2800" dirty="0"/>
              <a:t>In this video Joe Tidd discusses innovation leadership, teams and culture in the case of Philips Lighting</a:t>
            </a:r>
          </a:p>
          <a:p>
            <a:endParaRPr lang="en-US" sz="2800" dirty="0"/>
          </a:p>
          <a:p>
            <a:r>
              <a:rPr lang="en-US" sz="2800" dirty="0">
                <a:hlinkClick r:id="rId2"/>
              </a:rPr>
              <a:t>https://www.youtube.com/watch?v=cuT2WuJwnLI</a:t>
            </a:r>
            <a:endParaRPr lang="en-US" sz="2800" dirty="0"/>
          </a:p>
          <a:p>
            <a:endParaRPr lang="en-GB" sz="2800" dirty="0"/>
          </a:p>
        </p:txBody>
      </p:sp>
      <p:sp>
        <p:nvSpPr>
          <p:cNvPr id="6" name="Title 1"/>
          <p:cNvSpPr txBox="1">
            <a:spLocks/>
          </p:cNvSpPr>
          <p:nvPr/>
        </p:nvSpPr>
        <p:spPr>
          <a:xfrm>
            <a:off x="1165116" y="332094"/>
            <a:ext cx="6306671" cy="917864"/>
          </a:xfrm>
          <a:prstGeom prst="rect">
            <a:avLst/>
          </a:prstGeom>
        </p:spPr>
        <p:txBody>
          <a:bodyPr vert="horz" lIns="91440" tIns="45720" rIns="91440" bIns="45720" rtlCol="0" anchor="ctr">
            <a:noAutofit/>
          </a:bodyPr>
          <a:lstStyle/>
          <a:p>
            <a:pPr lvl="0" algn="ctr">
              <a:spcBef>
                <a:spcPct val="0"/>
              </a:spcBef>
              <a:defRPr/>
            </a:pPr>
            <a:r>
              <a:rPr kumimoji="0" lang="en-GB" sz="3600" b="1" i="0" u="none" strike="noStrike" kern="1200" cap="none" spc="0" normalizeH="0" baseline="0" noProof="0" dirty="0">
                <a:ln>
                  <a:noFill/>
                </a:ln>
                <a:solidFill>
                  <a:srgbClr val="008000"/>
                </a:solidFill>
                <a:effectLst/>
                <a:uLnTx/>
                <a:uFillTx/>
                <a:latin typeface="+mj-lt"/>
                <a:ea typeface="+mj-ea"/>
                <a:cs typeface="+mj-cs"/>
              </a:rPr>
              <a:t>Case</a:t>
            </a:r>
            <a:r>
              <a:rPr lang="en-GB" sz="3600" b="1" dirty="0">
                <a:solidFill>
                  <a:srgbClr val="008000"/>
                </a:solidFill>
                <a:latin typeface="+mj-lt"/>
                <a:ea typeface="+mj-ea"/>
                <a:cs typeface="+mj-cs"/>
              </a:rPr>
              <a:t>: </a:t>
            </a:r>
            <a:r>
              <a:rPr lang="en-US" sz="3600" b="1" dirty="0">
                <a:solidFill>
                  <a:srgbClr val="008000"/>
                </a:solidFill>
                <a:latin typeface="+mj-lt"/>
                <a:ea typeface="+mj-ea"/>
                <a:cs typeface="+mj-cs"/>
              </a:rPr>
              <a:t>Philips Lighting</a:t>
            </a:r>
            <a:endParaRPr lang="en-GB" sz="3600" b="1" dirty="0">
              <a:solidFill>
                <a:srgbClr val="008000"/>
              </a:solidFill>
              <a:latin typeface="+mj-lt"/>
              <a:ea typeface="+mj-ea"/>
              <a:cs typeface="+mj-cs"/>
            </a:endParaRPr>
          </a:p>
        </p:txBody>
      </p:sp>
    </p:spTree>
    <p:extLst>
      <p:ext uri="{BB962C8B-B14F-4D97-AF65-F5344CB8AC3E}">
        <p14:creationId xmlns:p14="http://schemas.microsoft.com/office/powerpoint/2010/main" val="31649812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C1A7F2-A0B8-494D-9A0C-35E4B8D5BA3B}"/>
              </a:ext>
            </a:extLst>
          </p:cNvPr>
          <p:cNvSpPr>
            <a:spLocks noGrp="1"/>
          </p:cNvSpPr>
          <p:nvPr>
            <p:ph type="title"/>
          </p:nvPr>
        </p:nvSpPr>
        <p:spPr>
          <a:xfrm>
            <a:off x="515125" y="1153572"/>
            <a:ext cx="2400300" cy="4461163"/>
          </a:xfrm>
        </p:spPr>
        <p:txBody>
          <a:bodyPr>
            <a:normAutofit/>
          </a:bodyPr>
          <a:lstStyle/>
          <a:p>
            <a:r>
              <a:rPr lang="en-US">
                <a:solidFill>
                  <a:srgbClr val="FFFFFF"/>
                </a:solidFill>
              </a:rPr>
              <a:t>Tools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7683823-7285-4947-A1CB-D91EB3EC0E0F}"/>
              </a:ext>
            </a:extLst>
          </p:cNvPr>
          <p:cNvSpPr>
            <a:spLocks noGrp="1"/>
          </p:cNvSpPr>
          <p:nvPr>
            <p:ph idx="1"/>
          </p:nvPr>
        </p:nvSpPr>
        <p:spPr>
          <a:xfrm>
            <a:off x="3335481" y="591344"/>
            <a:ext cx="5179868" cy="5585619"/>
          </a:xfrm>
        </p:spPr>
        <p:txBody>
          <a:bodyPr anchor="ctr">
            <a:normAutofit fontScale="92500" lnSpcReduction="10000"/>
          </a:bodyPr>
          <a:lstStyle/>
          <a:p>
            <a:pPr marL="0" indent="0">
              <a:buNone/>
            </a:pPr>
            <a:r>
              <a:rPr lang="en-GB" dirty="0"/>
              <a:t>There are many tools to help work with themes raised in this chapter – </a:t>
            </a:r>
            <a:r>
              <a:rPr lang="en-GB" dirty="0">
                <a:hlinkClick r:id="rId2"/>
              </a:rPr>
              <a:t>you can find them here in the toolkit.  </a:t>
            </a:r>
            <a:endParaRPr lang="en-GB" dirty="0"/>
          </a:p>
          <a:p>
            <a:pPr marL="0" indent="0">
              <a:buNone/>
            </a:pPr>
            <a:r>
              <a:rPr lang="en-GB" dirty="0"/>
              <a:t>In particular:</a:t>
            </a:r>
          </a:p>
          <a:p>
            <a:r>
              <a:rPr lang="en-GB" dirty="0"/>
              <a:t>Change management</a:t>
            </a:r>
          </a:p>
          <a:p>
            <a:r>
              <a:rPr lang="en-GB" dirty="0"/>
              <a:t>Continuous improvement toolkit</a:t>
            </a:r>
          </a:p>
          <a:p>
            <a:r>
              <a:rPr lang="en-GB" dirty="0"/>
              <a:t>High involvement maturity model</a:t>
            </a:r>
          </a:p>
          <a:p>
            <a:r>
              <a:rPr lang="en-GB" dirty="0"/>
              <a:t>Process mapping</a:t>
            </a:r>
          </a:p>
          <a:p>
            <a:r>
              <a:rPr lang="en-GB" dirty="0"/>
              <a:t>Team building</a:t>
            </a:r>
          </a:p>
          <a:p>
            <a:endParaRPr lang="en-US" dirty="0"/>
          </a:p>
        </p:txBody>
      </p:sp>
    </p:spTree>
    <p:extLst>
      <p:ext uri="{BB962C8B-B14F-4D97-AF65-F5344CB8AC3E}">
        <p14:creationId xmlns:p14="http://schemas.microsoft.com/office/powerpoint/2010/main" val="17247064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187624" y="332656"/>
            <a:ext cx="6732006"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Tools: Belbin’s team roles</a:t>
            </a:r>
            <a:endParaRPr lang="en-GB" sz="3600" b="1" dirty="0">
              <a:solidFill>
                <a:srgbClr val="008000"/>
              </a:solidFill>
              <a:latin typeface="+mj-lt"/>
              <a:ea typeface="+mj-ea"/>
              <a:cs typeface="+mj-cs"/>
            </a:endParaRPr>
          </a:p>
        </p:txBody>
      </p:sp>
      <p:sp>
        <p:nvSpPr>
          <p:cNvPr id="8" name="Rectangle 7"/>
          <p:cNvSpPr/>
          <p:nvPr/>
        </p:nvSpPr>
        <p:spPr>
          <a:xfrm>
            <a:off x="458167" y="1681723"/>
            <a:ext cx="8478016" cy="3108543"/>
          </a:xfrm>
          <a:prstGeom prst="rect">
            <a:avLst/>
          </a:prstGeom>
        </p:spPr>
        <p:txBody>
          <a:bodyPr wrap="square">
            <a:spAutoFit/>
          </a:bodyPr>
          <a:lstStyle/>
          <a:p>
            <a:pPr lvl="0"/>
            <a:r>
              <a:rPr lang="en-US" sz="2800" dirty="0">
                <a:hlinkClick r:id="rId2"/>
              </a:rPr>
              <a:t>On the website there is a description for the tool – Belbin’s roles </a:t>
            </a:r>
            <a:r>
              <a:rPr lang="en-US" sz="2800" dirty="0"/>
              <a:t>– and this is a link to a questionnaire designed to identify your role type.</a:t>
            </a:r>
            <a:endParaRPr lang="en-GB" sz="2800" dirty="0"/>
          </a:p>
          <a:p>
            <a:r>
              <a:rPr lang="en-US" sz="2800" dirty="0"/>
              <a:t> </a:t>
            </a:r>
            <a:endParaRPr lang="en-GB" sz="2800" dirty="0">
              <a:solidFill>
                <a:srgbClr val="FF0000"/>
              </a:solidFill>
            </a:endParaRPr>
          </a:p>
          <a:p>
            <a:r>
              <a:rPr lang="en-GB" sz="2800" dirty="0">
                <a:solidFill>
                  <a:srgbClr val="FF0000"/>
                </a:solidFill>
                <a:hlinkClick r:id="rId3"/>
              </a:rPr>
              <a:t>http://stellarleadership.com/docs/Team%20Working/assessment/Team%20Roles%20Questionnaire.pdf</a:t>
            </a:r>
            <a:endParaRPr lang="en-GB" sz="2800" dirty="0">
              <a:solidFill>
                <a:srgbClr val="FF0000"/>
              </a:solidFill>
            </a:endParaRPr>
          </a:p>
          <a:p>
            <a:endParaRPr lang="en-GB" sz="2800" dirty="0">
              <a:solidFill>
                <a:srgbClr val="FF0000"/>
              </a:solidFill>
            </a:endParaRPr>
          </a:p>
        </p:txBody>
      </p:sp>
    </p:spTree>
    <p:extLst>
      <p:ext uri="{BB962C8B-B14F-4D97-AF65-F5344CB8AC3E}">
        <p14:creationId xmlns:p14="http://schemas.microsoft.com/office/powerpoint/2010/main" val="462546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9656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58167" y="1385827"/>
            <a:ext cx="8305013" cy="3108543"/>
          </a:xfrm>
          <a:prstGeom prst="rect">
            <a:avLst/>
          </a:prstGeom>
        </p:spPr>
        <p:txBody>
          <a:bodyPr wrap="square">
            <a:spAutoFit/>
          </a:bodyPr>
          <a:lstStyle/>
          <a:p>
            <a:r>
              <a:rPr lang="en-GB" sz="2800" dirty="0"/>
              <a:t>  </a:t>
            </a:r>
            <a:endParaRPr lang="en-US" sz="2800" dirty="0"/>
          </a:p>
          <a:p>
            <a:r>
              <a:rPr lang="en-US" sz="2800" dirty="0"/>
              <a:t>There is also a tool </a:t>
            </a:r>
            <a:r>
              <a:rPr lang="en-US" sz="2800" dirty="0">
                <a:hlinkClick r:id="rId2"/>
              </a:rPr>
              <a:t>(high involvement innovation audit) </a:t>
            </a:r>
            <a:r>
              <a:rPr lang="en-US" sz="2800" dirty="0"/>
              <a:t>which enables exploration and reflection around this issue</a:t>
            </a:r>
            <a:r>
              <a:rPr lang="en-GB" sz="2800" dirty="0"/>
              <a:t>:</a:t>
            </a:r>
          </a:p>
          <a:p>
            <a:endParaRPr lang="en-US" sz="2800" dirty="0">
              <a:solidFill>
                <a:srgbClr val="FF0000"/>
              </a:solidFill>
            </a:endParaRPr>
          </a:p>
          <a:p>
            <a:endParaRPr lang="en-US" sz="2800" dirty="0">
              <a:solidFill>
                <a:srgbClr val="FF0000"/>
              </a:solidFill>
            </a:endParaRPr>
          </a:p>
          <a:p>
            <a:endParaRPr lang="en-US" sz="2800" dirty="0">
              <a:solidFill>
                <a:srgbClr val="FF0000"/>
              </a:solidFill>
            </a:endParaRPr>
          </a:p>
        </p:txBody>
      </p:sp>
      <p:sp>
        <p:nvSpPr>
          <p:cNvPr id="6" name="Title 1"/>
          <p:cNvSpPr txBox="1">
            <a:spLocks/>
          </p:cNvSpPr>
          <p:nvPr/>
        </p:nvSpPr>
        <p:spPr>
          <a:xfrm>
            <a:off x="827584" y="260648"/>
            <a:ext cx="6963434"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Tool/activity: High involvement innovation </a:t>
            </a:r>
            <a:endParaRPr lang="en-GB" sz="3600" b="1" dirty="0">
              <a:solidFill>
                <a:srgbClr val="008000"/>
              </a:solidFill>
              <a:latin typeface="+mj-lt"/>
              <a:ea typeface="+mj-ea"/>
              <a:cs typeface="+mj-cs"/>
            </a:endParaRPr>
          </a:p>
        </p:txBody>
      </p:sp>
    </p:spTree>
    <p:extLst>
      <p:ext uri="{BB962C8B-B14F-4D97-AF65-F5344CB8AC3E}">
        <p14:creationId xmlns:p14="http://schemas.microsoft.com/office/powerpoint/2010/main" val="39356185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9656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827584" y="260648"/>
            <a:ext cx="6963434"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High involvement innovation </a:t>
            </a:r>
            <a:endParaRPr lang="en-GB" sz="3600" b="1" dirty="0">
              <a:solidFill>
                <a:srgbClr val="008000"/>
              </a:solidFill>
              <a:latin typeface="+mj-lt"/>
              <a:ea typeface="+mj-ea"/>
              <a:cs typeface="+mj-cs"/>
            </a:endParaRPr>
          </a:p>
        </p:txBody>
      </p:sp>
      <p:sp>
        <p:nvSpPr>
          <p:cNvPr id="5" name="TextBox 4"/>
          <p:cNvSpPr txBox="1"/>
          <p:nvPr/>
        </p:nvSpPr>
        <p:spPr>
          <a:xfrm>
            <a:off x="467544" y="1916832"/>
            <a:ext cx="8280920" cy="1200329"/>
          </a:xfrm>
          <a:prstGeom prst="rect">
            <a:avLst/>
          </a:prstGeom>
          <a:noFill/>
        </p:spPr>
        <p:txBody>
          <a:bodyPr wrap="square" rtlCol="0">
            <a:spAutoFit/>
          </a:bodyPr>
          <a:lstStyle/>
          <a:p>
            <a:r>
              <a:rPr lang="en-GB" dirty="0">
                <a:hlinkClick r:id="rId2"/>
              </a:rPr>
              <a:t>Follow the link below to hear an audio interview with David Overton, of Ordnance survey, discussing some of the issues around developing an open innovation strategy in a large public sector organization in the UK.</a:t>
            </a:r>
            <a:endParaRPr lang="en-GB" dirty="0"/>
          </a:p>
          <a:p>
            <a:endParaRPr lang="en-GB" dirty="0"/>
          </a:p>
        </p:txBody>
      </p:sp>
    </p:spTree>
    <p:extLst>
      <p:ext uri="{BB962C8B-B14F-4D97-AF65-F5344CB8AC3E}">
        <p14:creationId xmlns:p14="http://schemas.microsoft.com/office/powerpoint/2010/main" val="36360332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9656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827584" y="260648"/>
            <a:ext cx="6963434"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High involvement innovation </a:t>
            </a:r>
            <a:endParaRPr lang="en-GB" sz="3600" b="1" dirty="0">
              <a:solidFill>
                <a:srgbClr val="008000"/>
              </a:solidFill>
              <a:latin typeface="+mj-lt"/>
              <a:ea typeface="+mj-ea"/>
              <a:cs typeface="+mj-cs"/>
            </a:endParaRPr>
          </a:p>
        </p:txBody>
      </p:sp>
      <p:sp>
        <p:nvSpPr>
          <p:cNvPr id="5" name="TextBox 4"/>
          <p:cNvSpPr txBox="1"/>
          <p:nvPr/>
        </p:nvSpPr>
        <p:spPr>
          <a:xfrm>
            <a:off x="467544" y="1916832"/>
            <a:ext cx="8280920" cy="1200329"/>
          </a:xfrm>
          <a:prstGeom prst="rect">
            <a:avLst/>
          </a:prstGeom>
          <a:noFill/>
        </p:spPr>
        <p:txBody>
          <a:bodyPr wrap="square" rtlCol="0">
            <a:spAutoFit/>
          </a:bodyPr>
          <a:lstStyle/>
          <a:p>
            <a:r>
              <a:rPr lang="en-GB" dirty="0">
                <a:hlinkClick r:id="rId2"/>
              </a:rPr>
              <a:t>Follow the link below to hear an audio interview with Dr Tim Craft, a consultant anaesthetist and also user-innovator who founded a business, AMS Ltd, based on his experiences in hospitals.</a:t>
            </a:r>
            <a:endParaRPr lang="en-GB" dirty="0"/>
          </a:p>
          <a:p>
            <a:endParaRPr lang="en-GB" dirty="0"/>
          </a:p>
        </p:txBody>
      </p:sp>
    </p:spTree>
    <p:extLst>
      <p:ext uri="{BB962C8B-B14F-4D97-AF65-F5344CB8AC3E}">
        <p14:creationId xmlns:p14="http://schemas.microsoft.com/office/powerpoint/2010/main" val="38527932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62F87A-B1B7-FD4A-A39A-50818E83FC0B}"/>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300B727-214E-D140-B0D9-8DF9906E14FF}"/>
              </a:ext>
            </a:extLst>
          </p:cNvPr>
          <p:cNvSpPr>
            <a:spLocks noGrp="1"/>
          </p:cNvSpPr>
          <p:nvPr>
            <p:ph idx="1"/>
          </p:nvPr>
        </p:nvSpPr>
        <p:spPr>
          <a:xfrm>
            <a:off x="3335481" y="591344"/>
            <a:ext cx="5179868" cy="5585619"/>
          </a:xfrm>
        </p:spPr>
        <p:txBody>
          <a:bodyPr anchor="ctr">
            <a:normAutofit/>
          </a:bodyPr>
          <a:lstStyle/>
          <a:p>
            <a:r>
              <a:rPr lang="en-US" dirty="0"/>
              <a:t>The following slides offer some example assessment questions and discussion themes for individual or group activity</a:t>
            </a:r>
          </a:p>
          <a:p>
            <a:endParaRPr lang="en-US" dirty="0"/>
          </a:p>
        </p:txBody>
      </p:sp>
    </p:spTree>
    <p:extLst>
      <p:ext uri="{BB962C8B-B14F-4D97-AF65-F5344CB8AC3E}">
        <p14:creationId xmlns:p14="http://schemas.microsoft.com/office/powerpoint/2010/main" val="10971867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3355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24040" y="204072"/>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Assessment questions</a:t>
            </a:r>
            <a:endParaRPr lang="en-GB" sz="3600" b="1" dirty="0">
              <a:solidFill>
                <a:srgbClr val="008000"/>
              </a:solidFill>
              <a:latin typeface="+mj-lt"/>
              <a:ea typeface="+mj-ea"/>
              <a:cs typeface="+mj-cs"/>
            </a:endParaRPr>
          </a:p>
        </p:txBody>
      </p:sp>
      <p:sp>
        <p:nvSpPr>
          <p:cNvPr id="8" name="Rectangle 7"/>
          <p:cNvSpPr/>
          <p:nvPr/>
        </p:nvSpPr>
        <p:spPr>
          <a:xfrm>
            <a:off x="458167" y="1714500"/>
            <a:ext cx="8478016" cy="4401205"/>
          </a:xfrm>
          <a:prstGeom prst="rect">
            <a:avLst/>
          </a:prstGeom>
        </p:spPr>
        <p:txBody>
          <a:bodyPr wrap="square">
            <a:spAutoFit/>
          </a:bodyPr>
          <a:lstStyle/>
          <a:p>
            <a:pPr marL="514350" indent="-514350">
              <a:buAutoNum type="arabicPeriod"/>
            </a:pPr>
            <a:r>
              <a:rPr lang="en-GB" altLang="ja-JP" sz="2800" dirty="0"/>
              <a:t>What is innovation leadership</a:t>
            </a:r>
            <a:r>
              <a:rPr lang="en-GB" sz="2800" dirty="0"/>
              <a:t>? Will leadership </a:t>
            </a:r>
            <a:r>
              <a:rPr lang="en-US" sz="2800" dirty="0"/>
              <a:t>processes, tools, techniques, etc. </a:t>
            </a:r>
            <a:r>
              <a:rPr lang="en-GB" sz="2800" dirty="0"/>
              <a:t>differ in innovative organisations? </a:t>
            </a:r>
          </a:p>
          <a:p>
            <a:pPr marL="514350" indent="-514350"/>
            <a:endParaRPr lang="en-GB" sz="2800" dirty="0"/>
          </a:p>
          <a:p>
            <a:pPr marL="514350" indent="-514350"/>
            <a:r>
              <a:rPr lang="en-US" sz="2800" dirty="0"/>
              <a:t>2.	List characteristic traits of good (bad) leaders. Illustrate your argument with examples from business practice.  </a:t>
            </a:r>
            <a:endParaRPr lang="en-GB" sz="2800" dirty="0"/>
          </a:p>
          <a:p>
            <a:pPr marL="514350" indent="-514350">
              <a:buFontTx/>
              <a:buAutoNum type="arabicPeriod"/>
            </a:pPr>
            <a:endParaRPr lang="en-GB" sz="2800" dirty="0"/>
          </a:p>
          <a:p>
            <a:pPr marL="514350" indent="-514350">
              <a:buFontTx/>
              <a:buAutoNum type="arabicPeriod"/>
            </a:pPr>
            <a:endParaRPr lang="en-GB" sz="2800" dirty="0"/>
          </a:p>
          <a:p>
            <a:pPr marL="514350" indent="-514350">
              <a:buAutoNum type="arabicPeriod"/>
            </a:pPr>
            <a:endParaRPr lang="en-GB" sz="2800" dirty="0"/>
          </a:p>
        </p:txBody>
      </p:sp>
    </p:spTree>
    <p:extLst>
      <p:ext uri="{BB962C8B-B14F-4D97-AF65-F5344CB8AC3E}">
        <p14:creationId xmlns:p14="http://schemas.microsoft.com/office/powerpoint/2010/main" val="17811085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3355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24040" y="204072"/>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Assessment questions</a:t>
            </a:r>
            <a:endParaRPr lang="en-GB" sz="3600" b="1" dirty="0">
              <a:solidFill>
                <a:srgbClr val="008000"/>
              </a:solidFill>
              <a:latin typeface="+mj-lt"/>
              <a:ea typeface="+mj-ea"/>
              <a:cs typeface="+mj-cs"/>
            </a:endParaRPr>
          </a:p>
        </p:txBody>
      </p:sp>
      <p:sp>
        <p:nvSpPr>
          <p:cNvPr id="9" name="Rectangle 8"/>
          <p:cNvSpPr/>
          <p:nvPr/>
        </p:nvSpPr>
        <p:spPr>
          <a:xfrm>
            <a:off x="458167" y="1714500"/>
            <a:ext cx="8478016" cy="5262980"/>
          </a:xfrm>
          <a:prstGeom prst="rect">
            <a:avLst/>
          </a:prstGeom>
        </p:spPr>
        <p:txBody>
          <a:bodyPr wrap="square">
            <a:spAutoFit/>
          </a:bodyPr>
          <a:lstStyle/>
          <a:p>
            <a:pPr marL="514350" indent="-514350">
              <a:buAutoNum type="arabicPeriod" startAt="3"/>
            </a:pPr>
            <a:r>
              <a:rPr lang="en-US" sz="2800" dirty="0"/>
              <a:t>What are the key factors for leaders to focus on. How can you differentiate these factors for upper, middle, and lower management leaders? </a:t>
            </a:r>
            <a:endParaRPr lang="en-GB" sz="2800" dirty="0"/>
          </a:p>
          <a:p>
            <a:pPr marL="514350" indent="-514350"/>
            <a:endParaRPr lang="en-GB" sz="2800" dirty="0">
              <a:solidFill>
                <a:srgbClr val="FF0000"/>
              </a:solidFill>
            </a:endParaRPr>
          </a:p>
          <a:p>
            <a:pPr marL="514350" indent="-514350"/>
            <a:r>
              <a:rPr lang="en-GB" sz="2800" dirty="0"/>
              <a:t>4.	Imagine Nick Smith has just been promoted inside a big company and his new tasks are to create </a:t>
            </a:r>
            <a:r>
              <a:rPr lang="en-US" sz="2800" dirty="0"/>
              <a:t>high performing teams and organizational climate for innovation. Prepare the presentation of Nick’s programme that he has to propose. </a:t>
            </a:r>
            <a:endParaRPr lang="en-GB" sz="2800" dirty="0"/>
          </a:p>
          <a:p>
            <a:pPr marL="514350" indent="-514350">
              <a:buAutoNum type="arabicPeriod" startAt="3"/>
            </a:pPr>
            <a:endParaRPr lang="en-GB" sz="2800" dirty="0">
              <a:solidFill>
                <a:srgbClr val="FF0000"/>
              </a:solidFill>
            </a:endParaRPr>
          </a:p>
          <a:p>
            <a:pPr marL="514350" indent="-514350">
              <a:buFontTx/>
              <a:buAutoNum type="arabicPeriod"/>
            </a:pPr>
            <a:endParaRPr lang="en-GB" sz="2800" dirty="0"/>
          </a:p>
          <a:p>
            <a:pPr marL="514350" indent="-514350">
              <a:buAutoNum type="arabicPeriod"/>
            </a:pPr>
            <a:endParaRPr lang="en-GB" sz="2800" dirty="0"/>
          </a:p>
        </p:txBody>
      </p:sp>
    </p:spTree>
    <p:extLst>
      <p:ext uri="{BB962C8B-B14F-4D97-AF65-F5344CB8AC3E}">
        <p14:creationId xmlns:p14="http://schemas.microsoft.com/office/powerpoint/2010/main" val="32516859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3355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24040" y="204072"/>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Assessment questions</a:t>
            </a:r>
            <a:endParaRPr lang="en-GB" sz="3600" b="1" dirty="0">
              <a:solidFill>
                <a:srgbClr val="008000"/>
              </a:solidFill>
              <a:latin typeface="+mj-lt"/>
              <a:ea typeface="+mj-ea"/>
              <a:cs typeface="+mj-cs"/>
            </a:endParaRPr>
          </a:p>
        </p:txBody>
      </p:sp>
      <p:sp>
        <p:nvSpPr>
          <p:cNvPr id="9" name="Rectangle 8"/>
          <p:cNvSpPr/>
          <p:nvPr/>
        </p:nvSpPr>
        <p:spPr>
          <a:xfrm>
            <a:off x="458167" y="1714500"/>
            <a:ext cx="8478016" cy="6124754"/>
          </a:xfrm>
          <a:prstGeom prst="rect">
            <a:avLst/>
          </a:prstGeom>
        </p:spPr>
        <p:txBody>
          <a:bodyPr wrap="square">
            <a:spAutoFit/>
          </a:bodyPr>
          <a:lstStyle/>
          <a:p>
            <a:r>
              <a:rPr lang="en-US" sz="2800" dirty="0"/>
              <a:t>5. Why is the creative style of an individual more important than any assessment of absolute creativity?</a:t>
            </a:r>
            <a:endParaRPr lang="en-GB" sz="2800" dirty="0"/>
          </a:p>
          <a:p>
            <a:r>
              <a:rPr lang="en-US" sz="2800" dirty="0"/>
              <a:t> </a:t>
            </a:r>
            <a:endParaRPr lang="en-GB" sz="2800" dirty="0"/>
          </a:p>
          <a:p>
            <a:r>
              <a:rPr lang="en-US" sz="2800" dirty="0"/>
              <a:t>6. What are the relevant influences of an individual’s characteristics and their environment on entrepreneurship?   </a:t>
            </a:r>
            <a:endParaRPr lang="en-GB" sz="2800" dirty="0"/>
          </a:p>
          <a:p>
            <a:r>
              <a:rPr lang="en-US" sz="2800" dirty="0"/>
              <a:t> </a:t>
            </a:r>
            <a:endParaRPr lang="en-GB" sz="2800" dirty="0"/>
          </a:p>
          <a:p>
            <a:r>
              <a:rPr lang="en-US" sz="2800" dirty="0"/>
              <a:t>7. What is the difference between culture and climate, and why is this distinction critical for innovation and entrepreneurship?</a:t>
            </a:r>
            <a:endParaRPr lang="en-GB" sz="2800" dirty="0"/>
          </a:p>
          <a:p>
            <a:r>
              <a:rPr lang="en-US" sz="2800" dirty="0"/>
              <a:t> </a:t>
            </a:r>
            <a:endParaRPr lang="en-GB" sz="2800" dirty="0"/>
          </a:p>
          <a:p>
            <a:pPr marL="514350" indent="-514350">
              <a:buAutoNum type="arabicPeriod" startAt="3"/>
            </a:pPr>
            <a:endParaRPr lang="en-GB" sz="2800" dirty="0">
              <a:solidFill>
                <a:srgbClr val="FF0000"/>
              </a:solidFill>
            </a:endParaRPr>
          </a:p>
          <a:p>
            <a:pPr marL="514350" indent="-514350">
              <a:buFontTx/>
              <a:buAutoNum type="arabicPeriod"/>
            </a:pPr>
            <a:endParaRPr lang="en-GB" sz="2800" dirty="0"/>
          </a:p>
          <a:p>
            <a:pPr marL="514350" indent="-514350">
              <a:buAutoNum type="arabicPeriod"/>
            </a:pPr>
            <a:endParaRPr lang="en-GB" sz="2800" dirty="0"/>
          </a:p>
        </p:txBody>
      </p:sp>
    </p:spTree>
    <p:extLst>
      <p:ext uri="{BB962C8B-B14F-4D97-AF65-F5344CB8AC3E}">
        <p14:creationId xmlns:p14="http://schemas.microsoft.com/office/powerpoint/2010/main" val="7840765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3355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24040" y="204072"/>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Assessment questions</a:t>
            </a:r>
            <a:endParaRPr lang="en-GB" sz="3600" b="1" dirty="0">
              <a:solidFill>
                <a:srgbClr val="008000"/>
              </a:solidFill>
              <a:latin typeface="+mj-lt"/>
              <a:ea typeface="+mj-ea"/>
              <a:cs typeface="+mj-cs"/>
            </a:endParaRPr>
          </a:p>
        </p:txBody>
      </p:sp>
      <p:sp>
        <p:nvSpPr>
          <p:cNvPr id="9" name="Rectangle 8"/>
          <p:cNvSpPr/>
          <p:nvPr/>
        </p:nvSpPr>
        <p:spPr>
          <a:xfrm>
            <a:off x="458167" y="1714500"/>
            <a:ext cx="8478016" cy="4401205"/>
          </a:xfrm>
          <a:prstGeom prst="rect">
            <a:avLst/>
          </a:prstGeom>
        </p:spPr>
        <p:txBody>
          <a:bodyPr wrap="square">
            <a:spAutoFit/>
          </a:bodyPr>
          <a:lstStyle/>
          <a:p>
            <a:r>
              <a:rPr lang="en-US" sz="2800" dirty="0"/>
              <a:t>8. What factors contribute to the development of a creative climate – and what factors might block it? </a:t>
            </a:r>
          </a:p>
          <a:p>
            <a:endParaRPr lang="en-US" sz="2800" dirty="0"/>
          </a:p>
          <a:p>
            <a:r>
              <a:rPr lang="en-US" sz="2800" dirty="0"/>
              <a:t>9. A team is much more than a group of people brought together.  What factors contribute to effective teams and how might you go about building a high performing innovation team using this information?</a:t>
            </a:r>
            <a:endParaRPr lang="en-GB" sz="2800" dirty="0"/>
          </a:p>
          <a:p>
            <a:pPr marL="514350" indent="-514350">
              <a:buAutoNum type="arabicPeriod" startAt="3"/>
            </a:pPr>
            <a:endParaRPr lang="en-GB" sz="2800" dirty="0">
              <a:solidFill>
                <a:srgbClr val="FF0000"/>
              </a:solidFill>
            </a:endParaRPr>
          </a:p>
          <a:p>
            <a:pPr marL="514350" indent="-514350">
              <a:buFontTx/>
              <a:buAutoNum type="arabicPeriod"/>
            </a:pPr>
            <a:endParaRPr lang="en-GB" sz="2800" dirty="0"/>
          </a:p>
          <a:p>
            <a:pPr marL="514350" indent="-514350">
              <a:buAutoNum type="arabicPeriod"/>
            </a:pPr>
            <a:endParaRPr lang="en-GB" sz="2800" dirty="0"/>
          </a:p>
        </p:txBody>
      </p:sp>
    </p:spTree>
    <p:extLst>
      <p:ext uri="{BB962C8B-B14F-4D97-AF65-F5344CB8AC3E}">
        <p14:creationId xmlns:p14="http://schemas.microsoft.com/office/powerpoint/2010/main" val="39725771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1026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755576" y="188640"/>
            <a:ext cx="7820386" cy="971912"/>
          </a:xfrm>
          <a:prstGeom prst="rect">
            <a:avLst/>
          </a:prstGeom>
        </p:spPr>
        <p:txBody>
          <a:bodyPr vert="horz" lIns="91440" tIns="45720" rIns="91440" bIns="45720" rtlCol="0" anchor="ctr">
            <a:noAutofit/>
          </a:bodyPr>
          <a:lstStyle/>
          <a:p>
            <a:pPr algn="ctr">
              <a:spcBef>
                <a:spcPct val="0"/>
              </a:spcBef>
              <a:defRPr/>
            </a:pPr>
            <a:r>
              <a:rPr lang="en-US" sz="3400" b="1" dirty="0">
                <a:solidFill>
                  <a:srgbClr val="008000"/>
                </a:solidFill>
                <a:latin typeface="+mj-lt"/>
                <a:ea typeface="+mj-ea"/>
                <a:cs typeface="+mj-cs"/>
              </a:rPr>
              <a:t>Team project exercises</a:t>
            </a:r>
            <a:endParaRPr lang="en-GB" sz="3400" b="1" dirty="0">
              <a:solidFill>
                <a:srgbClr val="008000"/>
              </a:solidFill>
              <a:latin typeface="+mj-lt"/>
              <a:ea typeface="+mj-ea"/>
              <a:cs typeface="+mj-cs"/>
            </a:endParaRPr>
          </a:p>
        </p:txBody>
      </p:sp>
      <p:sp>
        <p:nvSpPr>
          <p:cNvPr id="8" name="Rectangle 7"/>
          <p:cNvSpPr/>
          <p:nvPr/>
        </p:nvSpPr>
        <p:spPr>
          <a:xfrm>
            <a:off x="467544" y="1556792"/>
            <a:ext cx="8478016" cy="4893647"/>
          </a:xfrm>
          <a:prstGeom prst="rect">
            <a:avLst/>
          </a:prstGeom>
        </p:spPr>
        <p:txBody>
          <a:bodyPr wrap="square">
            <a:spAutoFit/>
          </a:bodyPr>
          <a:lstStyle/>
          <a:p>
            <a:r>
              <a:rPr lang="en-US" sz="2400" dirty="0"/>
              <a:t>Ask students to get together and organize a workshop in groups:</a:t>
            </a:r>
          </a:p>
          <a:p>
            <a:endParaRPr lang="en-US" sz="2400" dirty="0"/>
          </a:p>
          <a:p>
            <a:r>
              <a:rPr lang="en-US" sz="2400" dirty="0"/>
              <a:t>Workshop 1:</a:t>
            </a:r>
          </a:p>
          <a:p>
            <a:r>
              <a:rPr lang="en-US" sz="2400" dirty="0"/>
              <a:t>Take characteristic traits of good leaders (slide 7) and continue the list. Think of as many traits that all good leaders must possess under all conditions and classify them. Prepare a presentation. </a:t>
            </a:r>
          </a:p>
          <a:p>
            <a:endParaRPr lang="en-US" sz="2400" dirty="0"/>
          </a:p>
          <a:p>
            <a:r>
              <a:rPr lang="en-US" sz="2400" dirty="0"/>
              <a:t>Workshop 2:</a:t>
            </a:r>
          </a:p>
          <a:p>
            <a:r>
              <a:rPr lang="en-US" sz="2400" dirty="0"/>
              <a:t>Think of personal and individual level of an environment that will support the ability to identify, assess and develop new ideas and concept. List conditions that will foster (hinder) the motivation to develop new ideas on an individual level inside organization. </a:t>
            </a:r>
          </a:p>
          <a:p>
            <a:endParaRPr lang="en-GB" sz="2400" dirty="0"/>
          </a:p>
        </p:txBody>
      </p:sp>
    </p:spTree>
    <p:extLst>
      <p:ext uri="{BB962C8B-B14F-4D97-AF65-F5344CB8AC3E}">
        <p14:creationId xmlns:p14="http://schemas.microsoft.com/office/powerpoint/2010/main" val="15515324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1026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539552" y="188640"/>
            <a:ext cx="7820386" cy="971912"/>
          </a:xfrm>
          <a:prstGeom prst="rect">
            <a:avLst/>
          </a:prstGeom>
        </p:spPr>
        <p:txBody>
          <a:bodyPr vert="horz" lIns="91440" tIns="45720" rIns="91440" bIns="45720" rtlCol="0" anchor="ctr">
            <a:noAutofit/>
          </a:bodyPr>
          <a:lstStyle/>
          <a:p>
            <a:pPr algn="ctr">
              <a:spcBef>
                <a:spcPct val="0"/>
              </a:spcBef>
              <a:defRPr/>
            </a:pPr>
            <a:r>
              <a:rPr lang="en-US" sz="3400" b="1" dirty="0">
                <a:solidFill>
                  <a:srgbClr val="008000"/>
                </a:solidFill>
                <a:latin typeface="+mj-lt"/>
                <a:ea typeface="+mj-ea"/>
                <a:cs typeface="+mj-cs"/>
              </a:rPr>
              <a:t>Team project exercises</a:t>
            </a:r>
            <a:endParaRPr lang="en-GB" sz="3400" b="1" dirty="0">
              <a:solidFill>
                <a:srgbClr val="008000"/>
              </a:solidFill>
              <a:latin typeface="+mj-lt"/>
              <a:ea typeface="+mj-ea"/>
              <a:cs typeface="+mj-cs"/>
            </a:endParaRPr>
          </a:p>
        </p:txBody>
      </p:sp>
      <p:sp>
        <p:nvSpPr>
          <p:cNvPr id="8" name="Rectangle 7"/>
          <p:cNvSpPr/>
          <p:nvPr/>
        </p:nvSpPr>
        <p:spPr>
          <a:xfrm>
            <a:off x="467544" y="1772816"/>
            <a:ext cx="8478016" cy="3416320"/>
          </a:xfrm>
          <a:prstGeom prst="rect">
            <a:avLst/>
          </a:prstGeom>
        </p:spPr>
        <p:txBody>
          <a:bodyPr wrap="square">
            <a:spAutoFit/>
          </a:bodyPr>
          <a:lstStyle/>
          <a:p>
            <a:r>
              <a:rPr lang="en-US" sz="2400" dirty="0"/>
              <a:t>Choose an organization and research how it has built up a culture to support innovation.  Use concepts from the chapter like leadership, team working, culture, climate, etc.  </a:t>
            </a:r>
          </a:p>
          <a:p>
            <a:endParaRPr lang="en-US" sz="2400" dirty="0"/>
          </a:p>
          <a:p>
            <a:r>
              <a:rPr lang="en-US" sz="2400" dirty="0"/>
              <a:t>Prepare a presentation drawing out the key success factors</a:t>
            </a:r>
          </a:p>
          <a:p>
            <a:endParaRPr lang="en-US" sz="2400" dirty="0"/>
          </a:p>
          <a:p>
            <a:r>
              <a:rPr lang="en-US" sz="2400" dirty="0"/>
              <a:t>(A good example would be 3M which is widely documented and has built up a clear approach to organizing innovation which maximizes employee creativity and channels it effectively).</a:t>
            </a:r>
            <a:endParaRPr lang="en-GB" sz="2400" dirty="0"/>
          </a:p>
        </p:txBody>
      </p:sp>
    </p:spTree>
    <p:extLst>
      <p:ext uri="{BB962C8B-B14F-4D97-AF65-F5344CB8AC3E}">
        <p14:creationId xmlns:p14="http://schemas.microsoft.com/office/powerpoint/2010/main" val="26791055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1026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467544" y="188640"/>
            <a:ext cx="7820386" cy="971912"/>
          </a:xfrm>
          <a:prstGeom prst="rect">
            <a:avLst/>
          </a:prstGeom>
        </p:spPr>
        <p:txBody>
          <a:bodyPr vert="horz" lIns="91440" tIns="45720" rIns="91440" bIns="45720" rtlCol="0" anchor="ctr">
            <a:noAutofit/>
          </a:bodyPr>
          <a:lstStyle/>
          <a:p>
            <a:pPr algn="ctr">
              <a:spcBef>
                <a:spcPct val="0"/>
              </a:spcBef>
              <a:defRPr/>
            </a:pPr>
            <a:r>
              <a:rPr lang="en-US" sz="3400" b="1" dirty="0">
                <a:solidFill>
                  <a:srgbClr val="008000"/>
                </a:solidFill>
                <a:latin typeface="+mj-lt"/>
                <a:ea typeface="+mj-ea"/>
                <a:cs typeface="+mj-cs"/>
              </a:rPr>
              <a:t>Team project exercises- Creativity</a:t>
            </a:r>
            <a:endParaRPr lang="en-GB" sz="3400" b="1" dirty="0">
              <a:solidFill>
                <a:srgbClr val="008000"/>
              </a:solidFill>
              <a:latin typeface="+mj-lt"/>
              <a:ea typeface="+mj-ea"/>
              <a:cs typeface="+mj-cs"/>
            </a:endParaRPr>
          </a:p>
        </p:txBody>
      </p:sp>
      <p:sp>
        <p:nvSpPr>
          <p:cNvPr id="8" name="Rectangle 7"/>
          <p:cNvSpPr/>
          <p:nvPr/>
        </p:nvSpPr>
        <p:spPr>
          <a:xfrm>
            <a:off x="458167" y="1311853"/>
            <a:ext cx="8478016" cy="5262979"/>
          </a:xfrm>
          <a:prstGeom prst="rect">
            <a:avLst/>
          </a:prstGeom>
        </p:spPr>
        <p:txBody>
          <a:bodyPr wrap="square">
            <a:spAutoFit/>
          </a:bodyPr>
          <a:lstStyle/>
          <a:p>
            <a:r>
              <a:rPr lang="en-US" sz="2400" dirty="0"/>
              <a:t>Propose some new services for mobile telephony. Use each of the following six methods to help to provoke alternatives:</a:t>
            </a:r>
            <a:endParaRPr lang="en-GB" sz="2400" dirty="0"/>
          </a:p>
          <a:p>
            <a:r>
              <a:rPr lang="en-US" sz="2400" dirty="0"/>
              <a:t> </a:t>
            </a:r>
            <a:endParaRPr lang="en-GB" sz="2400" dirty="0"/>
          </a:p>
          <a:p>
            <a:pPr marL="342900" lvl="0" indent="-342900">
              <a:buFont typeface="Arial"/>
              <a:buChar char="•"/>
            </a:pPr>
            <a:r>
              <a:rPr lang="en-GB" sz="2400" i="1" dirty="0"/>
              <a:t>Remove or suspend an assumption or goal </a:t>
            </a:r>
            <a:r>
              <a:rPr lang="en-GB" sz="2400" dirty="0"/>
              <a:t>– what could we do differently if we temporarily ignore a key objective or assumption?</a:t>
            </a:r>
          </a:p>
          <a:p>
            <a:pPr marL="342900" indent="-342900"/>
            <a:r>
              <a:rPr lang="en-US" sz="2400" dirty="0"/>
              <a:t> </a:t>
            </a:r>
            <a:endParaRPr lang="en-GB" sz="2400" dirty="0"/>
          </a:p>
          <a:p>
            <a:pPr marL="342900" lvl="0" indent="-342900">
              <a:buFont typeface="Arial"/>
              <a:buChar char="•"/>
            </a:pPr>
            <a:r>
              <a:rPr lang="en-US" sz="2400" i="1" dirty="0"/>
              <a:t>Reverse objectives or methods</a:t>
            </a:r>
            <a:r>
              <a:rPr lang="en-US" sz="2400" dirty="0"/>
              <a:t> – what would we do to achieve the exact opposite, and then reverse this?</a:t>
            </a:r>
            <a:endParaRPr lang="en-GB" sz="2400" dirty="0"/>
          </a:p>
          <a:p>
            <a:pPr marL="342900" indent="-342900"/>
            <a:r>
              <a:rPr lang="en-US" sz="2400" dirty="0"/>
              <a:t> </a:t>
            </a:r>
            <a:endParaRPr lang="en-GB" sz="2400" dirty="0"/>
          </a:p>
          <a:p>
            <a:pPr marL="342900" lvl="0" indent="-342900">
              <a:buFont typeface="Arial"/>
              <a:buChar char="•"/>
            </a:pPr>
            <a:r>
              <a:rPr lang="en-US" sz="2400" i="1" dirty="0"/>
              <a:t>Exaggerate the problem or goal</a:t>
            </a:r>
            <a:r>
              <a:rPr lang="en-US" sz="2400" dirty="0"/>
              <a:t> – what might we do if the goal or problem was much larger or smaller?</a:t>
            </a:r>
            <a:endParaRPr lang="en-GB" sz="2400" dirty="0"/>
          </a:p>
          <a:p>
            <a:r>
              <a:rPr lang="en-US" sz="2400" dirty="0"/>
              <a:t> </a:t>
            </a:r>
            <a:endParaRPr lang="en-GB" sz="2400" dirty="0"/>
          </a:p>
          <a:p>
            <a:endParaRPr lang="en-GB" sz="2400" dirty="0"/>
          </a:p>
        </p:txBody>
      </p:sp>
    </p:spTree>
    <p:extLst>
      <p:ext uri="{BB962C8B-B14F-4D97-AF65-F5344CB8AC3E}">
        <p14:creationId xmlns:p14="http://schemas.microsoft.com/office/powerpoint/2010/main" val="14303106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1026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611560" y="188640"/>
            <a:ext cx="7820386" cy="971912"/>
          </a:xfrm>
          <a:prstGeom prst="rect">
            <a:avLst/>
          </a:prstGeom>
        </p:spPr>
        <p:txBody>
          <a:bodyPr vert="horz" lIns="91440" tIns="45720" rIns="91440" bIns="45720" rtlCol="0" anchor="ctr">
            <a:noAutofit/>
          </a:bodyPr>
          <a:lstStyle/>
          <a:p>
            <a:pPr algn="ctr">
              <a:spcBef>
                <a:spcPct val="0"/>
              </a:spcBef>
              <a:defRPr/>
            </a:pPr>
            <a:r>
              <a:rPr lang="en-US" sz="3400" b="1" dirty="0">
                <a:solidFill>
                  <a:srgbClr val="008000"/>
                </a:solidFill>
                <a:latin typeface="+mj-lt"/>
                <a:ea typeface="+mj-ea"/>
                <a:cs typeface="+mj-cs"/>
              </a:rPr>
              <a:t>Creativity exercises (continued)</a:t>
            </a:r>
            <a:endParaRPr lang="en-GB" sz="3400" b="1" dirty="0">
              <a:solidFill>
                <a:srgbClr val="008000"/>
              </a:solidFill>
              <a:latin typeface="+mj-lt"/>
              <a:ea typeface="+mj-ea"/>
              <a:cs typeface="+mj-cs"/>
            </a:endParaRPr>
          </a:p>
        </p:txBody>
      </p:sp>
      <p:sp>
        <p:nvSpPr>
          <p:cNvPr id="8" name="Rectangle 7"/>
          <p:cNvSpPr/>
          <p:nvPr/>
        </p:nvSpPr>
        <p:spPr>
          <a:xfrm>
            <a:off x="395536" y="1772816"/>
            <a:ext cx="8478016" cy="3416320"/>
          </a:xfrm>
          <a:prstGeom prst="rect">
            <a:avLst/>
          </a:prstGeom>
        </p:spPr>
        <p:txBody>
          <a:bodyPr wrap="square">
            <a:spAutoFit/>
          </a:bodyPr>
          <a:lstStyle/>
          <a:p>
            <a:pPr marL="342900" lvl="0" indent="-342900">
              <a:buFont typeface="Arial"/>
              <a:buChar char="•"/>
            </a:pPr>
            <a:r>
              <a:rPr lang="en-US" sz="2400" i="1" dirty="0"/>
              <a:t>Distort the relationships or cause and effect</a:t>
            </a:r>
            <a:r>
              <a:rPr lang="en-US" sz="2400" dirty="0"/>
              <a:t> – what would the implications be?</a:t>
            </a:r>
            <a:endParaRPr lang="en-GB" sz="2400" dirty="0"/>
          </a:p>
          <a:p>
            <a:pPr marL="342900" indent="-342900"/>
            <a:endParaRPr lang="en-GB" sz="2400" dirty="0"/>
          </a:p>
          <a:p>
            <a:pPr marL="342900" lvl="0" indent="-342900">
              <a:buFont typeface="Arial"/>
              <a:buChar char="•"/>
            </a:pPr>
            <a:r>
              <a:rPr lang="en-US" sz="2400" i="1" dirty="0"/>
              <a:t>Generate random inputs</a:t>
            </a:r>
            <a:r>
              <a:rPr lang="en-US" sz="2400" dirty="0"/>
              <a:t> – what new ideas does the introduction of a random word help create? </a:t>
            </a:r>
            <a:endParaRPr lang="en-GB" sz="2400" dirty="0"/>
          </a:p>
          <a:p>
            <a:pPr marL="342900" indent="-342900"/>
            <a:endParaRPr lang="en-GB" sz="2400" dirty="0"/>
          </a:p>
          <a:p>
            <a:pPr marL="342900" lvl="0" indent="-342900">
              <a:buFont typeface="Arial"/>
              <a:buChar char="•"/>
            </a:pPr>
            <a:r>
              <a:rPr lang="en-US" sz="2400" i="1" dirty="0"/>
              <a:t>Use a metaphor or character</a:t>
            </a:r>
            <a:r>
              <a:rPr lang="en-US" sz="2400" dirty="0"/>
              <a:t> – what would a chosen famous character do in these circumstances? </a:t>
            </a:r>
            <a:endParaRPr lang="en-GB" sz="2400" dirty="0"/>
          </a:p>
          <a:p>
            <a:endParaRPr lang="en-GB" sz="2400" dirty="0"/>
          </a:p>
        </p:txBody>
      </p:sp>
    </p:spTree>
    <p:extLst>
      <p:ext uri="{BB962C8B-B14F-4D97-AF65-F5344CB8AC3E}">
        <p14:creationId xmlns:p14="http://schemas.microsoft.com/office/powerpoint/2010/main" val="25725208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1853</TotalTime>
  <Words>2706</Words>
  <Application>Microsoft Macintosh PowerPoint</Application>
  <PresentationFormat>On-screen Show (4:3)</PresentationFormat>
  <Paragraphs>258</Paragraphs>
  <Slides>55</Slides>
  <Notes>2</Notes>
  <HiddenSlides>0</HiddenSlides>
  <MMClips>0</MMClips>
  <ScaleCrop>false</ScaleCrop>
  <HeadingPairs>
    <vt:vector size="8" baseType="variant">
      <vt:variant>
        <vt:lpstr>Fonts Used</vt:lpstr>
      </vt:variant>
      <vt:variant>
        <vt:i4>2</vt:i4>
      </vt:variant>
      <vt:variant>
        <vt:lpstr>Theme</vt:lpstr>
      </vt:variant>
      <vt:variant>
        <vt:i4>1</vt:i4>
      </vt:variant>
      <vt:variant>
        <vt:lpstr>Links</vt:lpstr>
      </vt:variant>
      <vt:variant>
        <vt:i4>5</vt:i4>
      </vt:variant>
      <vt:variant>
        <vt:lpstr>Slide Titles</vt:lpstr>
      </vt:variant>
      <vt:variant>
        <vt:i4>55</vt:i4>
      </vt:variant>
    </vt:vector>
  </HeadingPairs>
  <TitlesOfParts>
    <vt:vector size="63" baseType="lpstr">
      <vt:lpstr>Arial</vt:lpstr>
      <vt:lpstr>Calibri</vt:lpstr>
      <vt:lpstr>Office Theme</vt:lpstr>
      <vt:lpstr>!OLE_LINK7</vt:lpstr>
      <vt:lpstr>!OLE_LINK8</vt:lpstr>
      <vt:lpstr>Macintosh%20HD:Users:annatrifilova:Documents:Teaching:wiley%20strategic%20innovation%20management:Wiley_Teaching_Guide:Lecturer_Guide:SIM%20Lecturer%20guide%20ch%20Leadership%20and%20organization.docx!OLE_LINK9</vt:lpstr>
      <vt:lpstr>!OLE_LINK1</vt:lpstr>
      <vt:lpstr>!OLE_LINK12</vt:lpstr>
      <vt:lpstr>Teaching Resources and Instructors’ Guidelines</vt:lpstr>
      <vt:lpstr>Chapter 5: Building the innovative organization</vt:lpstr>
      <vt:lpstr>Learning objectives</vt:lpstr>
      <vt:lpstr>Core themes and material from the book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High involvement innovation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Climate factors and innovation</vt:lpstr>
      <vt:lpstr>PowerPoint Presentation</vt:lpstr>
      <vt:lpstr>PowerPoint Presentation</vt:lpstr>
      <vt:lpstr>PowerPoint Presentation</vt:lpstr>
      <vt:lpstr>PowerPoint Presentation</vt:lpstr>
      <vt:lpstr>Videos</vt:lpstr>
      <vt:lpstr>Videos</vt:lpstr>
      <vt:lpstr>Videos</vt:lpstr>
      <vt:lpstr>Blogs and podcasts</vt:lpstr>
      <vt:lpstr>Activities</vt:lpstr>
      <vt:lpstr>PowerPoint Presentation</vt:lpstr>
      <vt:lpstr>PowerPoint Presentation</vt:lpstr>
      <vt:lpstr>PowerPoint Presentation</vt:lpstr>
      <vt:lpstr>PowerPoint Presentation</vt:lpstr>
      <vt:lpstr>Cases </vt:lpstr>
      <vt:lpstr>PowerPoint Presentation</vt:lpstr>
      <vt:lpstr>PowerPoint Presentation</vt:lpstr>
      <vt:lpstr>Tools</vt:lpstr>
      <vt:lpstr>PowerPoint Presentation</vt:lpstr>
      <vt:lpstr>PowerPoint Presentation</vt:lpstr>
      <vt:lpstr>PowerPoint Presentation</vt:lpstr>
      <vt:lpstr>PowerPoint Presentation</vt:lpstr>
      <vt:lpstr>Assessments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Resources and Instructors’ Guidelines</dc:title>
  <dc:creator>john bessant</dc:creator>
  <cp:lastModifiedBy>john bessant</cp:lastModifiedBy>
  <cp:revision>8</cp:revision>
  <dcterms:created xsi:type="dcterms:W3CDTF">2020-11-14T16:23:31Z</dcterms:created>
  <dcterms:modified xsi:type="dcterms:W3CDTF">2024-11-02T07:47:01Z</dcterms:modified>
</cp:coreProperties>
</file>