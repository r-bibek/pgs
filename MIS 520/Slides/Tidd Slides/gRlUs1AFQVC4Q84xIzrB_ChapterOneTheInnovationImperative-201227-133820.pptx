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257" r:id="rId3"/>
    <p:sldId id="360" r:id="rId4"/>
    <p:sldId id="318" r:id="rId5"/>
    <p:sldId id="371" r:id="rId6"/>
    <p:sldId id="258" r:id="rId7"/>
    <p:sldId id="370" r:id="rId8"/>
    <p:sldId id="345" r:id="rId9"/>
    <p:sldId id="276" r:id="rId10"/>
    <p:sldId id="277" r:id="rId11"/>
    <p:sldId id="278" r:id="rId12"/>
    <p:sldId id="372" r:id="rId13"/>
    <p:sldId id="373" r:id="rId14"/>
    <p:sldId id="374" r:id="rId15"/>
    <p:sldId id="290" r:id="rId16"/>
    <p:sldId id="303" r:id="rId17"/>
    <p:sldId id="348" r:id="rId18"/>
    <p:sldId id="294" r:id="rId19"/>
    <p:sldId id="295" r:id="rId20"/>
    <p:sldId id="296" r:id="rId21"/>
    <p:sldId id="297" r:id="rId22"/>
    <p:sldId id="298" r:id="rId23"/>
    <p:sldId id="375" r:id="rId24"/>
    <p:sldId id="301" r:id="rId25"/>
    <p:sldId id="349" r:id="rId26"/>
    <p:sldId id="351" r:id="rId27"/>
    <p:sldId id="353" r:id="rId28"/>
    <p:sldId id="354" r:id="rId29"/>
    <p:sldId id="376" r:id="rId30"/>
    <p:sldId id="377" r:id="rId31"/>
    <p:sldId id="378" r:id="rId32"/>
    <p:sldId id="379" r:id="rId33"/>
    <p:sldId id="356" r:id="rId34"/>
    <p:sldId id="323" r:id="rId35"/>
    <p:sldId id="325" r:id="rId36"/>
    <p:sldId id="324" r:id="rId37"/>
    <p:sldId id="326" r:id="rId38"/>
    <p:sldId id="386" r:id="rId39"/>
    <p:sldId id="355" r:id="rId40"/>
    <p:sldId id="341" r:id="rId41"/>
    <p:sldId id="340" r:id="rId42"/>
    <p:sldId id="320" r:id="rId43"/>
    <p:sldId id="382" r:id="rId44"/>
    <p:sldId id="322" r:id="rId45"/>
    <p:sldId id="387" r:id="rId46"/>
    <p:sldId id="384" r:id="rId47"/>
    <p:sldId id="381" r:id="rId48"/>
    <p:sldId id="394" r:id="rId49"/>
    <p:sldId id="395" r:id="rId50"/>
    <p:sldId id="396" r:id="rId51"/>
    <p:sldId id="397" r:id="rId52"/>
    <p:sldId id="271" r:id="rId53"/>
    <p:sldId id="398" r:id="rId54"/>
    <p:sldId id="347" r:id="rId55"/>
    <p:sldId id="388" r:id="rId56"/>
    <p:sldId id="350" r:id="rId57"/>
    <p:sldId id="389" r:id="rId58"/>
    <p:sldId id="390" r:id="rId59"/>
    <p:sldId id="391" r:id="rId60"/>
    <p:sldId id="392" r:id="rId61"/>
    <p:sldId id="393" r:id="rId62"/>
    <p:sldId id="399" r:id="rId63"/>
    <p:sldId id="402" r:id="rId64"/>
    <p:sldId id="411" r:id="rId65"/>
    <p:sldId id="403" r:id="rId66"/>
    <p:sldId id="412" r:id="rId67"/>
    <p:sldId id="404" r:id="rId68"/>
    <p:sldId id="307" r:id="rId69"/>
    <p:sldId id="405" r:id="rId70"/>
    <p:sldId id="406" r:id="rId71"/>
    <p:sldId id="410" r:id="rId72"/>
    <p:sldId id="407" r:id="rId73"/>
    <p:sldId id="408" r:id="rId74"/>
    <p:sldId id="409"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94610"/>
  </p:normalViewPr>
  <p:slideViewPr>
    <p:cSldViewPr>
      <p:cViewPr varScale="1">
        <p:scale>
          <a:sx n="116" d="100"/>
          <a:sy n="116" d="100"/>
        </p:scale>
        <p:origin x="704" y="176"/>
      </p:cViewPr>
      <p:guideLst>
        <p:guide orient="horz" pos="2160"/>
        <p:guide pos="2880"/>
      </p:guideLst>
    </p:cSldViewPr>
  </p:slideViewPr>
  <p:notesTextViewPr>
    <p:cViewPr>
      <p:scale>
        <a:sx n="100" d="100"/>
        <a:sy n="10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1" Type="http://schemas.openxmlformats.org/officeDocument/2006/relationships/hyperlink" Target="https://museumoffailure.com/" TargetMode="External"/></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1" Type="http://schemas.openxmlformats.org/officeDocument/2006/relationships/hyperlink" Target="https://museumoffailure.com/"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EE79AE-B575-4959-85D5-C6422CFC9BF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6F04F1C6-6303-456F-9C90-0ECB631ACE5D}">
      <dgm:prSet/>
      <dgm:spPr/>
      <dgm:t>
        <a:bodyPr/>
        <a:lstStyle/>
        <a:p>
          <a:r>
            <a:rPr lang="en-GB"/>
            <a:t>By the end of this chapter you will develop an understanding of:</a:t>
          </a:r>
          <a:endParaRPr lang="en-US"/>
        </a:p>
      </dgm:t>
    </dgm:pt>
    <dgm:pt modelId="{C2A0CE4B-C036-4761-997D-F9CBBD8584A6}" type="parTrans" cxnId="{02ADAE48-F288-4739-BEE7-478A492EE069}">
      <dgm:prSet/>
      <dgm:spPr/>
      <dgm:t>
        <a:bodyPr/>
        <a:lstStyle/>
        <a:p>
          <a:endParaRPr lang="en-US"/>
        </a:p>
      </dgm:t>
    </dgm:pt>
    <dgm:pt modelId="{A1187491-2799-4D20-AAC3-674CCA294DFB}" type="sibTrans" cxnId="{02ADAE48-F288-4739-BEE7-478A492EE069}">
      <dgm:prSet/>
      <dgm:spPr/>
      <dgm:t>
        <a:bodyPr/>
        <a:lstStyle/>
        <a:p>
          <a:endParaRPr lang="en-US"/>
        </a:p>
      </dgm:t>
    </dgm:pt>
    <dgm:pt modelId="{08C05AE4-752A-471E-893E-59CE560C29B9}">
      <dgm:prSet/>
      <dgm:spPr/>
      <dgm:t>
        <a:bodyPr/>
        <a:lstStyle/>
        <a:p>
          <a:r>
            <a:rPr lang="en-GB"/>
            <a:t>what ‘innovation’ and ‘entrepreneurship’ mean and how they are essential for survival and growth</a:t>
          </a:r>
          <a:endParaRPr lang="en-US"/>
        </a:p>
      </dgm:t>
    </dgm:pt>
    <dgm:pt modelId="{FB109BE9-7702-458D-9FF9-03D90C4A7560}" type="parTrans" cxnId="{77FE6D25-1CE5-4BBA-A449-469634ABBF6E}">
      <dgm:prSet/>
      <dgm:spPr/>
      <dgm:t>
        <a:bodyPr/>
        <a:lstStyle/>
        <a:p>
          <a:endParaRPr lang="en-US"/>
        </a:p>
      </dgm:t>
    </dgm:pt>
    <dgm:pt modelId="{95C86625-A6EE-4AB1-933F-BB540D3EB4D8}" type="sibTrans" cxnId="{77FE6D25-1CE5-4BBA-A449-469634ABBF6E}">
      <dgm:prSet/>
      <dgm:spPr/>
      <dgm:t>
        <a:bodyPr/>
        <a:lstStyle/>
        <a:p>
          <a:endParaRPr lang="en-US"/>
        </a:p>
      </dgm:t>
    </dgm:pt>
    <dgm:pt modelId="{F1A37C32-B45D-4C0D-ADE4-6A2EA1266E6B}">
      <dgm:prSet/>
      <dgm:spPr/>
      <dgm:t>
        <a:bodyPr/>
        <a:lstStyle/>
        <a:p>
          <a:r>
            <a:rPr lang="en-GB"/>
            <a:t>innovation as a process rather than a single flash of inspiration</a:t>
          </a:r>
          <a:endParaRPr lang="en-US"/>
        </a:p>
      </dgm:t>
    </dgm:pt>
    <dgm:pt modelId="{282CFBA9-C42C-4214-BB39-980B467B8664}" type="parTrans" cxnId="{054289B6-8E6A-4256-9D27-35E984E2C5B4}">
      <dgm:prSet/>
      <dgm:spPr/>
      <dgm:t>
        <a:bodyPr/>
        <a:lstStyle/>
        <a:p>
          <a:endParaRPr lang="en-US"/>
        </a:p>
      </dgm:t>
    </dgm:pt>
    <dgm:pt modelId="{FFACBB4D-2EDD-4295-B7B9-074E87F4CE1B}" type="sibTrans" cxnId="{054289B6-8E6A-4256-9D27-35E984E2C5B4}">
      <dgm:prSet/>
      <dgm:spPr/>
      <dgm:t>
        <a:bodyPr/>
        <a:lstStyle/>
        <a:p>
          <a:endParaRPr lang="en-US"/>
        </a:p>
      </dgm:t>
    </dgm:pt>
    <dgm:pt modelId="{64D9DD53-634A-4643-8E98-8C56D7D5E0EC}">
      <dgm:prSet/>
      <dgm:spPr/>
      <dgm:t>
        <a:bodyPr/>
        <a:lstStyle/>
        <a:p>
          <a:r>
            <a:rPr lang="en-GB"/>
            <a:t>the difficulties in managing what is an uncertain and risky process</a:t>
          </a:r>
          <a:endParaRPr lang="en-US"/>
        </a:p>
      </dgm:t>
    </dgm:pt>
    <dgm:pt modelId="{DA82C30F-B65E-4BBC-A7F5-64E8094D4B2B}" type="parTrans" cxnId="{CEBFF986-04C0-4D9A-B45B-C0491DE277C5}">
      <dgm:prSet/>
      <dgm:spPr/>
      <dgm:t>
        <a:bodyPr/>
        <a:lstStyle/>
        <a:p>
          <a:endParaRPr lang="en-US"/>
        </a:p>
      </dgm:t>
    </dgm:pt>
    <dgm:pt modelId="{090FEEFB-4726-4E1C-8231-7E308824CB77}" type="sibTrans" cxnId="{CEBFF986-04C0-4D9A-B45B-C0491DE277C5}">
      <dgm:prSet/>
      <dgm:spPr/>
      <dgm:t>
        <a:bodyPr/>
        <a:lstStyle/>
        <a:p>
          <a:endParaRPr lang="en-US"/>
        </a:p>
      </dgm:t>
    </dgm:pt>
    <dgm:pt modelId="{8EB74F00-52EB-4EF1-8869-E00C178E427F}">
      <dgm:prSet/>
      <dgm:spPr/>
      <dgm:t>
        <a:bodyPr/>
        <a:lstStyle/>
        <a:p>
          <a:r>
            <a:rPr lang="en-GB"/>
            <a:t>the key themes in thinking about how to manage this process effectively</a:t>
          </a:r>
          <a:endParaRPr lang="en-US"/>
        </a:p>
      </dgm:t>
    </dgm:pt>
    <dgm:pt modelId="{2CA10F60-0B70-47CB-8909-820B66FE2F98}" type="parTrans" cxnId="{FE11B244-988C-4D7E-89A1-D648D057A075}">
      <dgm:prSet/>
      <dgm:spPr/>
      <dgm:t>
        <a:bodyPr/>
        <a:lstStyle/>
        <a:p>
          <a:endParaRPr lang="en-US"/>
        </a:p>
      </dgm:t>
    </dgm:pt>
    <dgm:pt modelId="{9C2F01E7-73B8-4D66-B1DA-EF82CB4A10E6}" type="sibTrans" cxnId="{FE11B244-988C-4D7E-89A1-D648D057A075}">
      <dgm:prSet/>
      <dgm:spPr/>
      <dgm:t>
        <a:bodyPr/>
        <a:lstStyle/>
        <a:p>
          <a:endParaRPr lang="en-US"/>
        </a:p>
      </dgm:t>
    </dgm:pt>
    <dgm:pt modelId="{E9A7AC4A-02E9-8E4C-A754-3E59142FE584}" type="pres">
      <dgm:prSet presAssocID="{BFEE79AE-B575-4959-85D5-C6422CFC9BF8}" presName="linear" presStyleCnt="0">
        <dgm:presLayoutVars>
          <dgm:animLvl val="lvl"/>
          <dgm:resizeHandles val="exact"/>
        </dgm:presLayoutVars>
      </dgm:prSet>
      <dgm:spPr/>
    </dgm:pt>
    <dgm:pt modelId="{4FDD0260-4480-FB40-B840-7344807151FC}" type="pres">
      <dgm:prSet presAssocID="{6F04F1C6-6303-456F-9C90-0ECB631ACE5D}" presName="parentText" presStyleLbl="node1" presStyleIdx="0" presStyleCnt="5">
        <dgm:presLayoutVars>
          <dgm:chMax val="0"/>
          <dgm:bulletEnabled val="1"/>
        </dgm:presLayoutVars>
      </dgm:prSet>
      <dgm:spPr/>
    </dgm:pt>
    <dgm:pt modelId="{822AE269-FD40-4441-B3D5-B7EECEBF203F}" type="pres">
      <dgm:prSet presAssocID="{A1187491-2799-4D20-AAC3-674CCA294DFB}" presName="spacer" presStyleCnt="0"/>
      <dgm:spPr/>
    </dgm:pt>
    <dgm:pt modelId="{52A297A9-6A58-C54A-9AFD-858CE44827C3}" type="pres">
      <dgm:prSet presAssocID="{08C05AE4-752A-471E-893E-59CE560C29B9}" presName="parentText" presStyleLbl="node1" presStyleIdx="1" presStyleCnt="5">
        <dgm:presLayoutVars>
          <dgm:chMax val="0"/>
          <dgm:bulletEnabled val="1"/>
        </dgm:presLayoutVars>
      </dgm:prSet>
      <dgm:spPr/>
    </dgm:pt>
    <dgm:pt modelId="{EA0DB4B9-EF5C-2648-B504-24A3C1193A17}" type="pres">
      <dgm:prSet presAssocID="{95C86625-A6EE-4AB1-933F-BB540D3EB4D8}" presName="spacer" presStyleCnt="0"/>
      <dgm:spPr/>
    </dgm:pt>
    <dgm:pt modelId="{B35D4D9D-4787-FF48-A800-ADB68D0D667D}" type="pres">
      <dgm:prSet presAssocID="{F1A37C32-B45D-4C0D-ADE4-6A2EA1266E6B}" presName="parentText" presStyleLbl="node1" presStyleIdx="2" presStyleCnt="5">
        <dgm:presLayoutVars>
          <dgm:chMax val="0"/>
          <dgm:bulletEnabled val="1"/>
        </dgm:presLayoutVars>
      </dgm:prSet>
      <dgm:spPr/>
    </dgm:pt>
    <dgm:pt modelId="{3475E188-6FD6-5B4A-8233-76AD5409FA4F}" type="pres">
      <dgm:prSet presAssocID="{FFACBB4D-2EDD-4295-B7B9-074E87F4CE1B}" presName="spacer" presStyleCnt="0"/>
      <dgm:spPr/>
    </dgm:pt>
    <dgm:pt modelId="{749FA538-0750-2A45-97EB-E69656F5D88C}" type="pres">
      <dgm:prSet presAssocID="{64D9DD53-634A-4643-8E98-8C56D7D5E0EC}" presName="parentText" presStyleLbl="node1" presStyleIdx="3" presStyleCnt="5">
        <dgm:presLayoutVars>
          <dgm:chMax val="0"/>
          <dgm:bulletEnabled val="1"/>
        </dgm:presLayoutVars>
      </dgm:prSet>
      <dgm:spPr/>
    </dgm:pt>
    <dgm:pt modelId="{350360B8-C640-2642-920F-B7B544E0585B}" type="pres">
      <dgm:prSet presAssocID="{090FEEFB-4726-4E1C-8231-7E308824CB77}" presName="spacer" presStyleCnt="0"/>
      <dgm:spPr/>
    </dgm:pt>
    <dgm:pt modelId="{89C8B287-28A7-5B4B-BDA9-010B71968B9C}" type="pres">
      <dgm:prSet presAssocID="{8EB74F00-52EB-4EF1-8869-E00C178E427F}" presName="parentText" presStyleLbl="node1" presStyleIdx="4" presStyleCnt="5">
        <dgm:presLayoutVars>
          <dgm:chMax val="0"/>
          <dgm:bulletEnabled val="1"/>
        </dgm:presLayoutVars>
      </dgm:prSet>
      <dgm:spPr/>
    </dgm:pt>
  </dgm:ptLst>
  <dgm:cxnLst>
    <dgm:cxn modelId="{77FE6D25-1CE5-4BBA-A449-469634ABBF6E}" srcId="{BFEE79AE-B575-4959-85D5-C6422CFC9BF8}" destId="{08C05AE4-752A-471E-893E-59CE560C29B9}" srcOrd="1" destOrd="0" parTransId="{FB109BE9-7702-458D-9FF9-03D90C4A7560}" sibTransId="{95C86625-A6EE-4AB1-933F-BB540D3EB4D8}"/>
    <dgm:cxn modelId="{FE11B244-988C-4D7E-89A1-D648D057A075}" srcId="{BFEE79AE-B575-4959-85D5-C6422CFC9BF8}" destId="{8EB74F00-52EB-4EF1-8869-E00C178E427F}" srcOrd="4" destOrd="0" parTransId="{2CA10F60-0B70-47CB-8909-820B66FE2F98}" sibTransId="{9C2F01E7-73B8-4D66-B1DA-EF82CB4A10E6}"/>
    <dgm:cxn modelId="{02ADAE48-F288-4739-BEE7-478A492EE069}" srcId="{BFEE79AE-B575-4959-85D5-C6422CFC9BF8}" destId="{6F04F1C6-6303-456F-9C90-0ECB631ACE5D}" srcOrd="0" destOrd="0" parTransId="{C2A0CE4B-C036-4761-997D-F9CBBD8584A6}" sibTransId="{A1187491-2799-4D20-AAC3-674CCA294DFB}"/>
    <dgm:cxn modelId="{CB0EAE4D-4EFB-8843-A973-E3191885714B}" type="presOf" srcId="{8EB74F00-52EB-4EF1-8869-E00C178E427F}" destId="{89C8B287-28A7-5B4B-BDA9-010B71968B9C}" srcOrd="0" destOrd="0" presId="urn:microsoft.com/office/officeart/2005/8/layout/vList2"/>
    <dgm:cxn modelId="{1E2C427B-ACE0-1C49-8986-CF4F0FD2E6FA}" type="presOf" srcId="{F1A37C32-B45D-4C0D-ADE4-6A2EA1266E6B}" destId="{B35D4D9D-4787-FF48-A800-ADB68D0D667D}" srcOrd="0" destOrd="0" presId="urn:microsoft.com/office/officeart/2005/8/layout/vList2"/>
    <dgm:cxn modelId="{CEBFF986-04C0-4D9A-B45B-C0491DE277C5}" srcId="{BFEE79AE-B575-4959-85D5-C6422CFC9BF8}" destId="{64D9DD53-634A-4643-8E98-8C56D7D5E0EC}" srcOrd="3" destOrd="0" parTransId="{DA82C30F-B65E-4BBC-A7F5-64E8094D4B2B}" sibTransId="{090FEEFB-4726-4E1C-8231-7E308824CB77}"/>
    <dgm:cxn modelId="{B76AD290-B86C-564E-B724-B0B65E6047B6}" type="presOf" srcId="{64D9DD53-634A-4643-8E98-8C56D7D5E0EC}" destId="{749FA538-0750-2A45-97EB-E69656F5D88C}" srcOrd="0" destOrd="0" presId="urn:microsoft.com/office/officeart/2005/8/layout/vList2"/>
    <dgm:cxn modelId="{A03C5095-5105-F040-B548-79E30EEB7305}" type="presOf" srcId="{6F04F1C6-6303-456F-9C90-0ECB631ACE5D}" destId="{4FDD0260-4480-FB40-B840-7344807151FC}" srcOrd="0" destOrd="0" presId="urn:microsoft.com/office/officeart/2005/8/layout/vList2"/>
    <dgm:cxn modelId="{054289B6-8E6A-4256-9D27-35E984E2C5B4}" srcId="{BFEE79AE-B575-4959-85D5-C6422CFC9BF8}" destId="{F1A37C32-B45D-4C0D-ADE4-6A2EA1266E6B}" srcOrd="2" destOrd="0" parTransId="{282CFBA9-C42C-4214-BB39-980B467B8664}" sibTransId="{FFACBB4D-2EDD-4295-B7B9-074E87F4CE1B}"/>
    <dgm:cxn modelId="{C776C0D3-4BAD-3F45-97AB-2D8606762266}" type="presOf" srcId="{08C05AE4-752A-471E-893E-59CE560C29B9}" destId="{52A297A9-6A58-C54A-9AFD-858CE44827C3}" srcOrd="0" destOrd="0" presId="urn:microsoft.com/office/officeart/2005/8/layout/vList2"/>
    <dgm:cxn modelId="{612C5FDB-E391-D446-9D1D-5A32D2B5E942}" type="presOf" srcId="{BFEE79AE-B575-4959-85D5-C6422CFC9BF8}" destId="{E9A7AC4A-02E9-8E4C-A754-3E59142FE584}" srcOrd="0" destOrd="0" presId="urn:microsoft.com/office/officeart/2005/8/layout/vList2"/>
    <dgm:cxn modelId="{3EBB99EA-B37F-6D49-89FD-C43A3FA77CC3}" type="presParOf" srcId="{E9A7AC4A-02E9-8E4C-A754-3E59142FE584}" destId="{4FDD0260-4480-FB40-B840-7344807151FC}" srcOrd="0" destOrd="0" presId="urn:microsoft.com/office/officeart/2005/8/layout/vList2"/>
    <dgm:cxn modelId="{A2B13FBF-C727-9540-82F4-F623F550C60F}" type="presParOf" srcId="{E9A7AC4A-02E9-8E4C-A754-3E59142FE584}" destId="{822AE269-FD40-4441-B3D5-B7EECEBF203F}" srcOrd="1" destOrd="0" presId="urn:microsoft.com/office/officeart/2005/8/layout/vList2"/>
    <dgm:cxn modelId="{E69E1ED5-6237-9945-90F2-40D84DFD30CC}" type="presParOf" srcId="{E9A7AC4A-02E9-8E4C-A754-3E59142FE584}" destId="{52A297A9-6A58-C54A-9AFD-858CE44827C3}" srcOrd="2" destOrd="0" presId="urn:microsoft.com/office/officeart/2005/8/layout/vList2"/>
    <dgm:cxn modelId="{6159258C-7A4E-3246-B788-3001FCDA2EEF}" type="presParOf" srcId="{E9A7AC4A-02E9-8E4C-A754-3E59142FE584}" destId="{EA0DB4B9-EF5C-2648-B504-24A3C1193A17}" srcOrd="3" destOrd="0" presId="urn:microsoft.com/office/officeart/2005/8/layout/vList2"/>
    <dgm:cxn modelId="{438CEDEB-56F3-4149-82BB-C1A21F53233D}" type="presParOf" srcId="{E9A7AC4A-02E9-8E4C-A754-3E59142FE584}" destId="{B35D4D9D-4787-FF48-A800-ADB68D0D667D}" srcOrd="4" destOrd="0" presId="urn:microsoft.com/office/officeart/2005/8/layout/vList2"/>
    <dgm:cxn modelId="{5E38E3B3-5C1A-E945-9F1A-AF630F7ADB93}" type="presParOf" srcId="{E9A7AC4A-02E9-8E4C-A754-3E59142FE584}" destId="{3475E188-6FD6-5B4A-8233-76AD5409FA4F}" srcOrd="5" destOrd="0" presId="urn:microsoft.com/office/officeart/2005/8/layout/vList2"/>
    <dgm:cxn modelId="{DB8955E1-F34E-6943-891D-5B71DDB53195}" type="presParOf" srcId="{E9A7AC4A-02E9-8E4C-A754-3E59142FE584}" destId="{749FA538-0750-2A45-97EB-E69656F5D88C}" srcOrd="6" destOrd="0" presId="urn:microsoft.com/office/officeart/2005/8/layout/vList2"/>
    <dgm:cxn modelId="{3A57AF70-1262-FB44-AE96-71BC2758C13A}" type="presParOf" srcId="{E9A7AC4A-02E9-8E4C-A754-3E59142FE584}" destId="{350360B8-C640-2642-920F-B7B544E0585B}" srcOrd="7" destOrd="0" presId="urn:microsoft.com/office/officeart/2005/8/layout/vList2"/>
    <dgm:cxn modelId="{C624DDDF-9A74-F64C-A9C3-40558677E628}" type="presParOf" srcId="{E9A7AC4A-02E9-8E4C-A754-3E59142FE584}" destId="{89C8B287-28A7-5B4B-BDA9-010B71968B9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5B34FF-3AA8-4E9C-9F4B-8B64E8C21BDC}" type="doc">
      <dgm:prSet loTypeId="urn:microsoft.com/office/officeart/2018/2/layout/IconCircleList" loCatId="icon" qsTypeId="urn:microsoft.com/office/officeart/2005/8/quickstyle/simple1" qsCatId="simple" csTypeId="urn:microsoft.com/office/officeart/2018/5/colors/Iconchunking_neutralbg_accent5_2" csCatId="accent5" phldr="1"/>
      <dgm:spPr/>
      <dgm:t>
        <a:bodyPr/>
        <a:lstStyle/>
        <a:p>
          <a:endParaRPr lang="en-US"/>
        </a:p>
      </dgm:t>
    </dgm:pt>
    <dgm:pt modelId="{52E119DF-C1F7-4993-9BF4-2E92019A459C}">
      <dgm:prSet/>
      <dgm:spPr/>
      <dgm:t>
        <a:bodyPr/>
        <a:lstStyle/>
        <a:p>
          <a:r>
            <a:rPr lang="en-US"/>
            <a:t>Type I: Innovation that is identical or similar to activities that are measured by traditional indicators, but which is excluded from measurement</a:t>
          </a:r>
        </a:p>
      </dgm:t>
    </dgm:pt>
    <dgm:pt modelId="{0619753A-41D2-409B-88CE-B62206745146}" type="parTrans" cxnId="{E7D02B4E-D86C-44B4-B2FC-09EA1FE5446F}">
      <dgm:prSet/>
      <dgm:spPr/>
      <dgm:t>
        <a:bodyPr/>
        <a:lstStyle/>
        <a:p>
          <a:endParaRPr lang="en-US"/>
        </a:p>
      </dgm:t>
    </dgm:pt>
    <dgm:pt modelId="{481FF0C0-F98A-4D0B-BB77-AB6176265AFF}" type="sibTrans" cxnId="{E7D02B4E-D86C-44B4-B2FC-09EA1FE5446F}">
      <dgm:prSet/>
      <dgm:spPr/>
      <dgm:t>
        <a:bodyPr/>
        <a:lstStyle/>
        <a:p>
          <a:endParaRPr lang="en-US"/>
        </a:p>
      </dgm:t>
    </dgm:pt>
    <dgm:pt modelId="{74FDB082-E4C3-46B4-99D7-DE349061027F}">
      <dgm:prSet/>
      <dgm:spPr/>
      <dgm:t>
        <a:bodyPr/>
        <a:lstStyle/>
        <a:p>
          <a:r>
            <a:rPr lang="en-US"/>
            <a:t>Type II: Innovation without a major scientific and technological basis, such as innovation in organizational forms or business models. </a:t>
          </a:r>
        </a:p>
      </dgm:t>
    </dgm:pt>
    <dgm:pt modelId="{37AD8506-1A14-43AD-8D91-D2992AE8DFD7}" type="parTrans" cxnId="{85839C75-7CDA-4E8C-BE65-0AB32C9432F0}">
      <dgm:prSet/>
      <dgm:spPr/>
      <dgm:t>
        <a:bodyPr/>
        <a:lstStyle/>
        <a:p>
          <a:endParaRPr lang="en-US"/>
        </a:p>
      </dgm:t>
    </dgm:pt>
    <dgm:pt modelId="{77EC8561-261F-4413-8592-876EE8159E4B}" type="sibTrans" cxnId="{85839C75-7CDA-4E8C-BE65-0AB32C9432F0}">
      <dgm:prSet/>
      <dgm:spPr/>
      <dgm:t>
        <a:bodyPr/>
        <a:lstStyle/>
        <a:p>
          <a:endParaRPr lang="en-US"/>
        </a:p>
      </dgm:t>
    </dgm:pt>
    <dgm:pt modelId="{324B2EEC-4A30-4DCC-89A3-9F0092D2C585}">
      <dgm:prSet/>
      <dgm:spPr/>
      <dgm:t>
        <a:bodyPr/>
        <a:lstStyle/>
        <a:p>
          <a:r>
            <a:rPr lang="en-US"/>
            <a:t>Type III: Innovation created from the novel combination of existing technologies and processes. </a:t>
          </a:r>
        </a:p>
      </dgm:t>
    </dgm:pt>
    <dgm:pt modelId="{8AFEB920-DBCB-43CF-BF0B-C5B32AF1F4C7}" type="parTrans" cxnId="{0CA7CEA7-D55B-4086-A2C5-9D2C45829731}">
      <dgm:prSet/>
      <dgm:spPr/>
      <dgm:t>
        <a:bodyPr/>
        <a:lstStyle/>
        <a:p>
          <a:endParaRPr lang="en-US"/>
        </a:p>
      </dgm:t>
    </dgm:pt>
    <dgm:pt modelId="{44AB2235-D013-49CF-AEA7-9E869735D2BB}" type="sibTrans" cxnId="{0CA7CEA7-D55B-4086-A2C5-9D2C45829731}">
      <dgm:prSet/>
      <dgm:spPr/>
      <dgm:t>
        <a:bodyPr/>
        <a:lstStyle/>
        <a:p>
          <a:endParaRPr lang="en-US"/>
        </a:p>
      </dgm:t>
    </dgm:pt>
    <dgm:pt modelId="{2EAEF835-D700-4362-9AC1-E3CB744CE42D}">
      <dgm:prSet/>
      <dgm:spPr/>
      <dgm:t>
        <a:bodyPr/>
        <a:lstStyle/>
        <a:p>
          <a:r>
            <a:rPr lang="en-US"/>
            <a:t>Type IV: Locally-developed, small-scale innovations that take place ‘under the radar’, not only of traditional indicators but often also of many of the organizations and individuals working in a sector. </a:t>
          </a:r>
        </a:p>
      </dgm:t>
    </dgm:pt>
    <dgm:pt modelId="{2D1B9112-2C67-4218-88A2-06E7A818A094}" type="parTrans" cxnId="{7277CE8B-3818-4EFE-A1BB-B7125822A193}">
      <dgm:prSet/>
      <dgm:spPr/>
      <dgm:t>
        <a:bodyPr/>
        <a:lstStyle/>
        <a:p>
          <a:endParaRPr lang="en-US"/>
        </a:p>
      </dgm:t>
    </dgm:pt>
    <dgm:pt modelId="{B421622F-3152-4580-B2AB-8A5A500E26D3}" type="sibTrans" cxnId="{7277CE8B-3818-4EFE-A1BB-B7125822A193}">
      <dgm:prSet/>
      <dgm:spPr/>
      <dgm:t>
        <a:bodyPr/>
        <a:lstStyle/>
        <a:p>
          <a:endParaRPr lang="en-US"/>
        </a:p>
      </dgm:t>
    </dgm:pt>
    <dgm:pt modelId="{7B021F41-DCC7-45BD-94AC-6A7041542DD2}" type="pres">
      <dgm:prSet presAssocID="{705B34FF-3AA8-4E9C-9F4B-8B64E8C21BDC}" presName="root" presStyleCnt="0">
        <dgm:presLayoutVars>
          <dgm:dir/>
          <dgm:resizeHandles val="exact"/>
        </dgm:presLayoutVars>
      </dgm:prSet>
      <dgm:spPr/>
    </dgm:pt>
    <dgm:pt modelId="{371C2C9E-EFA4-495F-9A0D-00A6897E9C3F}" type="pres">
      <dgm:prSet presAssocID="{705B34FF-3AA8-4E9C-9F4B-8B64E8C21BDC}" presName="container" presStyleCnt="0">
        <dgm:presLayoutVars>
          <dgm:dir/>
          <dgm:resizeHandles val="exact"/>
        </dgm:presLayoutVars>
      </dgm:prSet>
      <dgm:spPr/>
    </dgm:pt>
    <dgm:pt modelId="{DF224E54-4242-45D5-AA9C-1C4B9350B529}" type="pres">
      <dgm:prSet presAssocID="{52E119DF-C1F7-4993-9BF4-2E92019A459C}" presName="compNode" presStyleCnt="0"/>
      <dgm:spPr/>
    </dgm:pt>
    <dgm:pt modelId="{D05D3EF7-221B-4E45-A9B8-1B4B69092055}" type="pres">
      <dgm:prSet presAssocID="{52E119DF-C1F7-4993-9BF4-2E92019A459C}" presName="iconBgRect" presStyleLbl="bgShp" presStyleIdx="0" presStyleCnt="4"/>
      <dgm:spPr/>
    </dgm:pt>
    <dgm:pt modelId="{D2B171B6-9A14-4884-AFE8-870AB7FBD553}" type="pres">
      <dgm:prSet presAssocID="{52E119DF-C1F7-4993-9BF4-2E92019A459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20C01ACE-6EB6-4325-A1A4-4FCB53FCA437}" type="pres">
      <dgm:prSet presAssocID="{52E119DF-C1F7-4993-9BF4-2E92019A459C}" presName="spaceRect" presStyleCnt="0"/>
      <dgm:spPr/>
    </dgm:pt>
    <dgm:pt modelId="{D53B2AFA-428B-465B-8A6E-0EE97C5583D4}" type="pres">
      <dgm:prSet presAssocID="{52E119DF-C1F7-4993-9BF4-2E92019A459C}" presName="textRect" presStyleLbl="revTx" presStyleIdx="0" presStyleCnt="4">
        <dgm:presLayoutVars>
          <dgm:chMax val="1"/>
          <dgm:chPref val="1"/>
        </dgm:presLayoutVars>
      </dgm:prSet>
      <dgm:spPr/>
    </dgm:pt>
    <dgm:pt modelId="{048429A0-C093-42F1-8807-73FACB13784B}" type="pres">
      <dgm:prSet presAssocID="{481FF0C0-F98A-4D0B-BB77-AB6176265AFF}" presName="sibTrans" presStyleLbl="sibTrans2D1" presStyleIdx="0" presStyleCnt="0"/>
      <dgm:spPr/>
    </dgm:pt>
    <dgm:pt modelId="{D3D702DB-3D14-48EE-9D33-E78AC819B764}" type="pres">
      <dgm:prSet presAssocID="{74FDB082-E4C3-46B4-99D7-DE349061027F}" presName="compNode" presStyleCnt="0"/>
      <dgm:spPr/>
    </dgm:pt>
    <dgm:pt modelId="{89E8C316-A853-4940-99A6-F255AFB38063}" type="pres">
      <dgm:prSet presAssocID="{74FDB082-E4C3-46B4-99D7-DE349061027F}" presName="iconBgRect" presStyleLbl="bgShp" presStyleIdx="1" presStyleCnt="4"/>
      <dgm:spPr/>
    </dgm:pt>
    <dgm:pt modelId="{3C80431C-030D-47D3-AB24-0DDAC8E65B03}" type="pres">
      <dgm:prSet presAssocID="{74FDB082-E4C3-46B4-99D7-DE349061027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tom"/>
        </a:ext>
      </dgm:extLst>
    </dgm:pt>
    <dgm:pt modelId="{E87F4BA5-6383-40C1-A6C9-3E62D434D08A}" type="pres">
      <dgm:prSet presAssocID="{74FDB082-E4C3-46B4-99D7-DE349061027F}" presName="spaceRect" presStyleCnt="0"/>
      <dgm:spPr/>
    </dgm:pt>
    <dgm:pt modelId="{4D944690-2590-44E4-86B6-F1EAC0E7AF3C}" type="pres">
      <dgm:prSet presAssocID="{74FDB082-E4C3-46B4-99D7-DE349061027F}" presName="textRect" presStyleLbl="revTx" presStyleIdx="1" presStyleCnt="4">
        <dgm:presLayoutVars>
          <dgm:chMax val="1"/>
          <dgm:chPref val="1"/>
        </dgm:presLayoutVars>
      </dgm:prSet>
      <dgm:spPr/>
    </dgm:pt>
    <dgm:pt modelId="{2BEDEF62-0132-4ABF-AC90-ABB8FE803A52}" type="pres">
      <dgm:prSet presAssocID="{77EC8561-261F-4413-8592-876EE8159E4B}" presName="sibTrans" presStyleLbl="sibTrans2D1" presStyleIdx="0" presStyleCnt="0"/>
      <dgm:spPr/>
    </dgm:pt>
    <dgm:pt modelId="{14B22E5F-1147-492C-9229-D0045A84DE9F}" type="pres">
      <dgm:prSet presAssocID="{324B2EEC-4A30-4DCC-89A3-9F0092D2C585}" presName="compNode" presStyleCnt="0"/>
      <dgm:spPr/>
    </dgm:pt>
    <dgm:pt modelId="{821BAB31-F8E1-40F1-BD84-4AF6BDA7E36C}" type="pres">
      <dgm:prSet presAssocID="{324B2EEC-4A30-4DCC-89A3-9F0092D2C585}" presName="iconBgRect" presStyleLbl="bgShp" presStyleIdx="2" presStyleCnt="4"/>
      <dgm:spPr/>
    </dgm:pt>
    <dgm:pt modelId="{A9D27191-F435-42D8-9FFE-134A00FDF17C}" type="pres">
      <dgm:prSet presAssocID="{324B2EEC-4A30-4DCC-89A3-9F0092D2C58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AF728E05-6874-474F-A93D-FD1496C1DDDE}" type="pres">
      <dgm:prSet presAssocID="{324B2EEC-4A30-4DCC-89A3-9F0092D2C585}" presName="spaceRect" presStyleCnt="0"/>
      <dgm:spPr/>
    </dgm:pt>
    <dgm:pt modelId="{58BF6D7E-86B1-4762-8563-EBB7073F4622}" type="pres">
      <dgm:prSet presAssocID="{324B2EEC-4A30-4DCC-89A3-9F0092D2C585}" presName="textRect" presStyleLbl="revTx" presStyleIdx="2" presStyleCnt="4">
        <dgm:presLayoutVars>
          <dgm:chMax val="1"/>
          <dgm:chPref val="1"/>
        </dgm:presLayoutVars>
      </dgm:prSet>
      <dgm:spPr/>
    </dgm:pt>
    <dgm:pt modelId="{F6FC751C-5B51-4B3F-934D-1E75D4D75CBB}" type="pres">
      <dgm:prSet presAssocID="{44AB2235-D013-49CF-AEA7-9E869735D2BB}" presName="sibTrans" presStyleLbl="sibTrans2D1" presStyleIdx="0" presStyleCnt="0"/>
      <dgm:spPr/>
    </dgm:pt>
    <dgm:pt modelId="{BE13DA7C-F7FB-42C7-B980-11223E3F3E7D}" type="pres">
      <dgm:prSet presAssocID="{2EAEF835-D700-4362-9AC1-E3CB744CE42D}" presName="compNode" presStyleCnt="0"/>
      <dgm:spPr/>
    </dgm:pt>
    <dgm:pt modelId="{C8041A3A-22AA-44DB-8AC9-6A369482C5F0}" type="pres">
      <dgm:prSet presAssocID="{2EAEF835-D700-4362-9AC1-E3CB744CE42D}" presName="iconBgRect" presStyleLbl="bgShp" presStyleIdx="3" presStyleCnt="4"/>
      <dgm:spPr/>
    </dgm:pt>
    <dgm:pt modelId="{3DD0672C-7DA5-4517-BA35-D3B58D8B4970}" type="pres">
      <dgm:prSet presAssocID="{2EAEF835-D700-4362-9AC1-E3CB744CE42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V"/>
        </a:ext>
      </dgm:extLst>
    </dgm:pt>
    <dgm:pt modelId="{7CCABD23-7287-4419-8A3B-5CF9BECD2B4D}" type="pres">
      <dgm:prSet presAssocID="{2EAEF835-D700-4362-9AC1-E3CB744CE42D}" presName="spaceRect" presStyleCnt="0"/>
      <dgm:spPr/>
    </dgm:pt>
    <dgm:pt modelId="{97E74602-9DF0-43DE-AAF6-225B1BD1C4DE}" type="pres">
      <dgm:prSet presAssocID="{2EAEF835-D700-4362-9AC1-E3CB744CE42D}" presName="textRect" presStyleLbl="revTx" presStyleIdx="3" presStyleCnt="4">
        <dgm:presLayoutVars>
          <dgm:chMax val="1"/>
          <dgm:chPref val="1"/>
        </dgm:presLayoutVars>
      </dgm:prSet>
      <dgm:spPr/>
    </dgm:pt>
  </dgm:ptLst>
  <dgm:cxnLst>
    <dgm:cxn modelId="{E7D02B4E-D86C-44B4-B2FC-09EA1FE5446F}" srcId="{705B34FF-3AA8-4E9C-9F4B-8B64E8C21BDC}" destId="{52E119DF-C1F7-4993-9BF4-2E92019A459C}" srcOrd="0" destOrd="0" parTransId="{0619753A-41D2-409B-88CE-B62206745146}" sibTransId="{481FF0C0-F98A-4D0B-BB77-AB6176265AFF}"/>
    <dgm:cxn modelId="{85839C75-7CDA-4E8C-BE65-0AB32C9432F0}" srcId="{705B34FF-3AA8-4E9C-9F4B-8B64E8C21BDC}" destId="{74FDB082-E4C3-46B4-99D7-DE349061027F}" srcOrd="1" destOrd="0" parTransId="{37AD8506-1A14-43AD-8D91-D2992AE8DFD7}" sibTransId="{77EC8561-261F-4413-8592-876EE8159E4B}"/>
    <dgm:cxn modelId="{D6AA5D7A-1076-455F-B618-A3095BB9AE33}" type="presOf" srcId="{324B2EEC-4A30-4DCC-89A3-9F0092D2C585}" destId="{58BF6D7E-86B1-4762-8563-EBB7073F4622}" srcOrd="0" destOrd="0" presId="urn:microsoft.com/office/officeart/2018/2/layout/IconCircleList"/>
    <dgm:cxn modelId="{7277CE8B-3818-4EFE-A1BB-B7125822A193}" srcId="{705B34FF-3AA8-4E9C-9F4B-8B64E8C21BDC}" destId="{2EAEF835-D700-4362-9AC1-E3CB744CE42D}" srcOrd="3" destOrd="0" parTransId="{2D1B9112-2C67-4218-88A2-06E7A818A094}" sibTransId="{B421622F-3152-4580-B2AB-8A5A500E26D3}"/>
    <dgm:cxn modelId="{FEA79890-873E-4B3A-B7CF-E70A043C997C}" type="presOf" srcId="{481FF0C0-F98A-4D0B-BB77-AB6176265AFF}" destId="{048429A0-C093-42F1-8807-73FACB13784B}" srcOrd="0" destOrd="0" presId="urn:microsoft.com/office/officeart/2018/2/layout/IconCircleList"/>
    <dgm:cxn modelId="{8DE040A0-07AA-4FD6-A3C8-2DB498BD90C8}" type="presOf" srcId="{705B34FF-3AA8-4E9C-9F4B-8B64E8C21BDC}" destId="{7B021F41-DCC7-45BD-94AC-6A7041542DD2}" srcOrd="0" destOrd="0" presId="urn:microsoft.com/office/officeart/2018/2/layout/IconCircleList"/>
    <dgm:cxn modelId="{0CA7CEA7-D55B-4086-A2C5-9D2C45829731}" srcId="{705B34FF-3AA8-4E9C-9F4B-8B64E8C21BDC}" destId="{324B2EEC-4A30-4DCC-89A3-9F0092D2C585}" srcOrd="2" destOrd="0" parTransId="{8AFEB920-DBCB-43CF-BF0B-C5B32AF1F4C7}" sibTransId="{44AB2235-D013-49CF-AEA7-9E869735D2BB}"/>
    <dgm:cxn modelId="{4D3275B9-5F42-4397-A350-6B50CD453211}" type="presOf" srcId="{44AB2235-D013-49CF-AEA7-9E869735D2BB}" destId="{F6FC751C-5B51-4B3F-934D-1E75D4D75CBB}" srcOrd="0" destOrd="0" presId="urn:microsoft.com/office/officeart/2018/2/layout/IconCircleList"/>
    <dgm:cxn modelId="{47D098B9-428F-46BD-86D3-FE95E36368EA}" type="presOf" srcId="{77EC8561-261F-4413-8592-876EE8159E4B}" destId="{2BEDEF62-0132-4ABF-AC90-ABB8FE803A52}" srcOrd="0" destOrd="0" presId="urn:microsoft.com/office/officeart/2018/2/layout/IconCircleList"/>
    <dgm:cxn modelId="{4CFBF6BA-937E-48E4-945B-D205705E28EA}" type="presOf" srcId="{2EAEF835-D700-4362-9AC1-E3CB744CE42D}" destId="{97E74602-9DF0-43DE-AAF6-225B1BD1C4DE}" srcOrd="0" destOrd="0" presId="urn:microsoft.com/office/officeart/2018/2/layout/IconCircleList"/>
    <dgm:cxn modelId="{B2A93ECF-609E-446C-80D0-7587D6CE3167}" type="presOf" srcId="{74FDB082-E4C3-46B4-99D7-DE349061027F}" destId="{4D944690-2590-44E4-86B6-F1EAC0E7AF3C}" srcOrd="0" destOrd="0" presId="urn:microsoft.com/office/officeart/2018/2/layout/IconCircleList"/>
    <dgm:cxn modelId="{05E499EB-454D-408D-BE14-BC86CD387043}" type="presOf" srcId="{52E119DF-C1F7-4993-9BF4-2E92019A459C}" destId="{D53B2AFA-428B-465B-8A6E-0EE97C5583D4}" srcOrd="0" destOrd="0" presId="urn:microsoft.com/office/officeart/2018/2/layout/IconCircleList"/>
    <dgm:cxn modelId="{0C36FAA8-3F36-4784-AE2C-E374FD8E6BC2}" type="presParOf" srcId="{7B021F41-DCC7-45BD-94AC-6A7041542DD2}" destId="{371C2C9E-EFA4-495F-9A0D-00A6897E9C3F}" srcOrd="0" destOrd="0" presId="urn:microsoft.com/office/officeart/2018/2/layout/IconCircleList"/>
    <dgm:cxn modelId="{77B6909C-3293-4D58-871A-D8AF857A137C}" type="presParOf" srcId="{371C2C9E-EFA4-495F-9A0D-00A6897E9C3F}" destId="{DF224E54-4242-45D5-AA9C-1C4B9350B529}" srcOrd="0" destOrd="0" presId="urn:microsoft.com/office/officeart/2018/2/layout/IconCircleList"/>
    <dgm:cxn modelId="{74B468BA-E3F2-41DC-8D84-28EE718CD729}" type="presParOf" srcId="{DF224E54-4242-45D5-AA9C-1C4B9350B529}" destId="{D05D3EF7-221B-4E45-A9B8-1B4B69092055}" srcOrd="0" destOrd="0" presId="urn:microsoft.com/office/officeart/2018/2/layout/IconCircleList"/>
    <dgm:cxn modelId="{A7BFA776-C413-4197-A620-D4C73B4E308D}" type="presParOf" srcId="{DF224E54-4242-45D5-AA9C-1C4B9350B529}" destId="{D2B171B6-9A14-4884-AFE8-870AB7FBD553}" srcOrd="1" destOrd="0" presId="urn:microsoft.com/office/officeart/2018/2/layout/IconCircleList"/>
    <dgm:cxn modelId="{97CDAE24-6F1E-4D02-91AA-1922C3AAB1E1}" type="presParOf" srcId="{DF224E54-4242-45D5-AA9C-1C4B9350B529}" destId="{20C01ACE-6EB6-4325-A1A4-4FCB53FCA437}" srcOrd="2" destOrd="0" presId="urn:microsoft.com/office/officeart/2018/2/layout/IconCircleList"/>
    <dgm:cxn modelId="{0599FF5C-01BF-4BCF-9FFF-15A3360586B0}" type="presParOf" srcId="{DF224E54-4242-45D5-AA9C-1C4B9350B529}" destId="{D53B2AFA-428B-465B-8A6E-0EE97C5583D4}" srcOrd="3" destOrd="0" presId="urn:microsoft.com/office/officeart/2018/2/layout/IconCircleList"/>
    <dgm:cxn modelId="{AE7A741F-8E04-4FF0-89E8-3A6F06B550EE}" type="presParOf" srcId="{371C2C9E-EFA4-495F-9A0D-00A6897E9C3F}" destId="{048429A0-C093-42F1-8807-73FACB13784B}" srcOrd="1" destOrd="0" presId="urn:microsoft.com/office/officeart/2018/2/layout/IconCircleList"/>
    <dgm:cxn modelId="{0708440C-3B2D-4307-9E7D-67EFB21A024D}" type="presParOf" srcId="{371C2C9E-EFA4-495F-9A0D-00A6897E9C3F}" destId="{D3D702DB-3D14-48EE-9D33-E78AC819B764}" srcOrd="2" destOrd="0" presId="urn:microsoft.com/office/officeart/2018/2/layout/IconCircleList"/>
    <dgm:cxn modelId="{BC304942-DCA1-4CB3-8A8E-717F35602198}" type="presParOf" srcId="{D3D702DB-3D14-48EE-9D33-E78AC819B764}" destId="{89E8C316-A853-4940-99A6-F255AFB38063}" srcOrd="0" destOrd="0" presId="urn:microsoft.com/office/officeart/2018/2/layout/IconCircleList"/>
    <dgm:cxn modelId="{E59802DC-E376-4B5B-B339-C90803FA8680}" type="presParOf" srcId="{D3D702DB-3D14-48EE-9D33-E78AC819B764}" destId="{3C80431C-030D-47D3-AB24-0DDAC8E65B03}" srcOrd="1" destOrd="0" presId="urn:microsoft.com/office/officeart/2018/2/layout/IconCircleList"/>
    <dgm:cxn modelId="{E3B9F7F0-BAC4-4E0C-9661-686286772E62}" type="presParOf" srcId="{D3D702DB-3D14-48EE-9D33-E78AC819B764}" destId="{E87F4BA5-6383-40C1-A6C9-3E62D434D08A}" srcOrd="2" destOrd="0" presId="urn:microsoft.com/office/officeart/2018/2/layout/IconCircleList"/>
    <dgm:cxn modelId="{E7569CDF-9945-47D4-8F96-BFF8EFD30521}" type="presParOf" srcId="{D3D702DB-3D14-48EE-9D33-E78AC819B764}" destId="{4D944690-2590-44E4-86B6-F1EAC0E7AF3C}" srcOrd="3" destOrd="0" presId="urn:microsoft.com/office/officeart/2018/2/layout/IconCircleList"/>
    <dgm:cxn modelId="{03603947-3548-4DED-B1C1-779A918887BF}" type="presParOf" srcId="{371C2C9E-EFA4-495F-9A0D-00A6897E9C3F}" destId="{2BEDEF62-0132-4ABF-AC90-ABB8FE803A52}" srcOrd="3" destOrd="0" presId="urn:microsoft.com/office/officeart/2018/2/layout/IconCircleList"/>
    <dgm:cxn modelId="{7394FC03-CA72-4974-BCC1-A00B496C3B04}" type="presParOf" srcId="{371C2C9E-EFA4-495F-9A0D-00A6897E9C3F}" destId="{14B22E5F-1147-492C-9229-D0045A84DE9F}" srcOrd="4" destOrd="0" presId="urn:microsoft.com/office/officeart/2018/2/layout/IconCircleList"/>
    <dgm:cxn modelId="{07485241-E59D-4E3A-8B45-D892739A2C8B}" type="presParOf" srcId="{14B22E5F-1147-492C-9229-D0045A84DE9F}" destId="{821BAB31-F8E1-40F1-BD84-4AF6BDA7E36C}" srcOrd="0" destOrd="0" presId="urn:microsoft.com/office/officeart/2018/2/layout/IconCircleList"/>
    <dgm:cxn modelId="{13BE591A-CF72-4D63-866F-562824AA8C82}" type="presParOf" srcId="{14B22E5F-1147-492C-9229-D0045A84DE9F}" destId="{A9D27191-F435-42D8-9FFE-134A00FDF17C}" srcOrd="1" destOrd="0" presId="urn:microsoft.com/office/officeart/2018/2/layout/IconCircleList"/>
    <dgm:cxn modelId="{1764DB63-77BE-4568-B98B-2CB58172216D}" type="presParOf" srcId="{14B22E5F-1147-492C-9229-D0045A84DE9F}" destId="{AF728E05-6874-474F-A93D-FD1496C1DDDE}" srcOrd="2" destOrd="0" presId="urn:microsoft.com/office/officeart/2018/2/layout/IconCircleList"/>
    <dgm:cxn modelId="{535AD916-CEA0-416E-A2D2-8AC30CCD5288}" type="presParOf" srcId="{14B22E5F-1147-492C-9229-D0045A84DE9F}" destId="{58BF6D7E-86B1-4762-8563-EBB7073F4622}" srcOrd="3" destOrd="0" presId="urn:microsoft.com/office/officeart/2018/2/layout/IconCircleList"/>
    <dgm:cxn modelId="{8FFF788E-0414-4888-AEF6-9216D2204C0F}" type="presParOf" srcId="{371C2C9E-EFA4-495F-9A0D-00A6897E9C3F}" destId="{F6FC751C-5B51-4B3F-934D-1E75D4D75CBB}" srcOrd="5" destOrd="0" presId="urn:microsoft.com/office/officeart/2018/2/layout/IconCircleList"/>
    <dgm:cxn modelId="{4700EDF2-DFF5-4993-B7D8-E334E528CD90}" type="presParOf" srcId="{371C2C9E-EFA4-495F-9A0D-00A6897E9C3F}" destId="{BE13DA7C-F7FB-42C7-B980-11223E3F3E7D}" srcOrd="6" destOrd="0" presId="urn:microsoft.com/office/officeart/2018/2/layout/IconCircleList"/>
    <dgm:cxn modelId="{D652DA58-2EE4-42FC-B206-C3BA31B68D06}" type="presParOf" srcId="{BE13DA7C-F7FB-42C7-B980-11223E3F3E7D}" destId="{C8041A3A-22AA-44DB-8AC9-6A369482C5F0}" srcOrd="0" destOrd="0" presId="urn:microsoft.com/office/officeart/2018/2/layout/IconCircleList"/>
    <dgm:cxn modelId="{EACEEBD1-B4F2-4B7B-8CF0-86EEE84AD7C0}" type="presParOf" srcId="{BE13DA7C-F7FB-42C7-B980-11223E3F3E7D}" destId="{3DD0672C-7DA5-4517-BA35-D3B58D8B4970}" srcOrd="1" destOrd="0" presId="urn:microsoft.com/office/officeart/2018/2/layout/IconCircleList"/>
    <dgm:cxn modelId="{5C46F473-C839-40EC-A193-F10E2A44D6C5}" type="presParOf" srcId="{BE13DA7C-F7FB-42C7-B980-11223E3F3E7D}" destId="{7CCABD23-7287-4419-8A3B-5CF9BECD2B4D}" srcOrd="2" destOrd="0" presId="urn:microsoft.com/office/officeart/2018/2/layout/IconCircleList"/>
    <dgm:cxn modelId="{822DF910-1B2F-4934-A986-00DB52F6F576}" type="presParOf" srcId="{BE13DA7C-F7FB-42C7-B980-11223E3F3E7D}" destId="{97E74602-9DF0-43DE-AAF6-225B1BD1C4D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95274B-91D6-4C5C-9C34-6B2D78CC1B0A}" type="doc">
      <dgm:prSet loTypeId="urn:microsoft.com/office/officeart/2016/7/layout/VerticalHollowActionList" loCatId="List" qsTypeId="urn:microsoft.com/office/officeart/2005/8/quickstyle/simple1" qsCatId="simple" csTypeId="urn:microsoft.com/office/officeart/2005/8/colors/colorful2" csCatId="colorful"/>
      <dgm:spPr/>
      <dgm:t>
        <a:bodyPr/>
        <a:lstStyle/>
        <a:p>
          <a:endParaRPr lang="en-US"/>
        </a:p>
      </dgm:t>
    </dgm:pt>
    <dgm:pt modelId="{47FD1174-DC7D-464A-B916-B04BD6899D58}">
      <dgm:prSet/>
      <dgm:spPr/>
      <dgm:t>
        <a:bodyPr/>
        <a:lstStyle/>
        <a:p>
          <a:r>
            <a:rPr lang="en-US"/>
            <a:t>Explore and understand</a:t>
          </a:r>
        </a:p>
      </dgm:t>
    </dgm:pt>
    <dgm:pt modelId="{3AB0EA76-D2B0-4C5C-9EEE-8C7AD24F49CA}" type="parTrans" cxnId="{8E7FAC1F-2A13-4B58-ADFD-7563102892D8}">
      <dgm:prSet/>
      <dgm:spPr/>
      <dgm:t>
        <a:bodyPr/>
        <a:lstStyle/>
        <a:p>
          <a:endParaRPr lang="en-US"/>
        </a:p>
      </dgm:t>
    </dgm:pt>
    <dgm:pt modelId="{80D65E3D-19FA-462F-B9B9-BC73F57FF481}" type="sibTrans" cxnId="{8E7FAC1F-2A13-4B58-ADFD-7563102892D8}">
      <dgm:prSet/>
      <dgm:spPr/>
      <dgm:t>
        <a:bodyPr/>
        <a:lstStyle/>
        <a:p>
          <a:endParaRPr lang="en-US"/>
        </a:p>
      </dgm:t>
    </dgm:pt>
    <dgm:pt modelId="{FCEE1EBE-B72D-4A09-83A9-546D18ED3523}">
      <dgm:prSet/>
      <dgm:spPr/>
      <dgm:t>
        <a:bodyPr/>
        <a:lstStyle/>
        <a:p>
          <a:r>
            <a:rPr lang="en-US"/>
            <a:t>explore and understand different dimensions of innovation (ways in which we can change things) </a:t>
          </a:r>
        </a:p>
      </dgm:t>
    </dgm:pt>
    <dgm:pt modelId="{FC558419-E9ED-420B-8E2F-78EF96150C76}" type="parTrans" cxnId="{910CC653-9C63-44D4-93DB-B7376B946C59}">
      <dgm:prSet/>
      <dgm:spPr/>
      <dgm:t>
        <a:bodyPr/>
        <a:lstStyle/>
        <a:p>
          <a:endParaRPr lang="en-US"/>
        </a:p>
      </dgm:t>
    </dgm:pt>
    <dgm:pt modelId="{5242FAE0-95A3-4279-9F3D-52548CF9402D}" type="sibTrans" cxnId="{910CC653-9C63-44D4-93DB-B7376B946C59}">
      <dgm:prSet/>
      <dgm:spPr/>
      <dgm:t>
        <a:bodyPr/>
        <a:lstStyle/>
        <a:p>
          <a:endParaRPr lang="en-US"/>
        </a:p>
      </dgm:t>
    </dgm:pt>
    <dgm:pt modelId="{F3693543-49C2-49A6-B42F-F0C3B89EDD80}">
      <dgm:prSet/>
      <dgm:spPr/>
      <dgm:t>
        <a:bodyPr/>
        <a:lstStyle/>
        <a:p>
          <a:r>
            <a:rPr lang="en-US"/>
            <a:t>Manage</a:t>
          </a:r>
        </a:p>
      </dgm:t>
    </dgm:pt>
    <dgm:pt modelId="{7F9CA482-A147-4F4C-B8E9-AD4C75BA3730}" type="parTrans" cxnId="{36A61BF8-887D-4CFF-A462-730A18785CF8}">
      <dgm:prSet/>
      <dgm:spPr/>
      <dgm:t>
        <a:bodyPr/>
        <a:lstStyle/>
        <a:p>
          <a:endParaRPr lang="en-US"/>
        </a:p>
      </dgm:t>
    </dgm:pt>
    <dgm:pt modelId="{9984750A-FF02-4A1D-AC44-44ECEA01D40E}" type="sibTrans" cxnId="{36A61BF8-887D-4CFF-A462-730A18785CF8}">
      <dgm:prSet/>
      <dgm:spPr/>
      <dgm:t>
        <a:bodyPr/>
        <a:lstStyle/>
        <a:p>
          <a:endParaRPr lang="en-US"/>
        </a:p>
      </dgm:t>
    </dgm:pt>
    <dgm:pt modelId="{A10B52B8-787D-4CDF-8B16-572CE90544DC}">
      <dgm:prSet/>
      <dgm:spPr/>
      <dgm:t>
        <a:bodyPr/>
        <a:lstStyle/>
        <a:p>
          <a:r>
            <a:rPr lang="en-US"/>
            <a:t>manage innovation as a process </a:t>
          </a:r>
        </a:p>
      </dgm:t>
    </dgm:pt>
    <dgm:pt modelId="{360CFCCA-3F52-4015-97B6-6F6E8F8010BC}" type="parTrans" cxnId="{6634DE68-CF60-4E64-A19D-57592157873D}">
      <dgm:prSet/>
      <dgm:spPr/>
      <dgm:t>
        <a:bodyPr/>
        <a:lstStyle/>
        <a:p>
          <a:endParaRPr lang="en-US"/>
        </a:p>
      </dgm:t>
    </dgm:pt>
    <dgm:pt modelId="{599808B8-6A2A-43F1-83EB-0B82E975E79B}" type="sibTrans" cxnId="{6634DE68-CF60-4E64-A19D-57592157873D}">
      <dgm:prSet/>
      <dgm:spPr/>
      <dgm:t>
        <a:bodyPr/>
        <a:lstStyle/>
        <a:p>
          <a:endParaRPr lang="en-US"/>
        </a:p>
      </dgm:t>
    </dgm:pt>
    <dgm:pt modelId="{0228D641-F824-4F61-8960-AD2AB994E800}">
      <dgm:prSet/>
      <dgm:spPr/>
      <dgm:t>
        <a:bodyPr/>
        <a:lstStyle/>
        <a:p>
          <a:r>
            <a:rPr lang="en-US"/>
            <a:t>Create</a:t>
          </a:r>
        </a:p>
      </dgm:t>
    </dgm:pt>
    <dgm:pt modelId="{DD78C1B2-70AB-4A6D-8727-F1FCDA2FC24B}" type="parTrans" cxnId="{C4D72859-C5C4-4A20-B78A-1C26D1ABCB92}">
      <dgm:prSet/>
      <dgm:spPr/>
      <dgm:t>
        <a:bodyPr/>
        <a:lstStyle/>
        <a:p>
          <a:endParaRPr lang="en-US"/>
        </a:p>
      </dgm:t>
    </dgm:pt>
    <dgm:pt modelId="{041CBBDF-7964-4EDC-A0CA-D27295BE1128}" type="sibTrans" cxnId="{C4D72859-C5C4-4A20-B78A-1C26D1ABCB92}">
      <dgm:prSet/>
      <dgm:spPr/>
      <dgm:t>
        <a:bodyPr/>
        <a:lstStyle/>
        <a:p>
          <a:endParaRPr lang="en-US"/>
        </a:p>
      </dgm:t>
    </dgm:pt>
    <dgm:pt modelId="{C258A384-86AF-4AF4-9FAC-30704D287B2F}">
      <dgm:prSet/>
      <dgm:spPr/>
      <dgm:t>
        <a:bodyPr/>
        <a:lstStyle/>
        <a:p>
          <a:r>
            <a:rPr lang="en-US"/>
            <a:t>create conditions to enable them to repeat the innovation trick (building capability) </a:t>
          </a:r>
        </a:p>
      </dgm:t>
    </dgm:pt>
    <dgm:pt modelId="{90A64231-5EA9-485C-BF10-C3773599CD58}" type="parTrans" cxnId="{13D3C5EB-DCAC-4E8E-8F16-FFD8CF5FC57E}">
      <dgm:prSet/>
      <dgm:spPr/>
      <dgm:t>
        <a:bodyPr/>
        <a:lstStyle/>
        <a:p>
          <a:endParaRPr lang="en-US"/>
        </a:p>
      </dgm:t>
    </dgm:pt>
    <dgm:pt modelId="{A6D255F5-FF4B-4A6C-9089-E7AD3E283DA4}" type="sibTrans" cxnId="{13D3C5EB-DCAC-4E8E-8F16-FFD8CF5FC57E}">
      <dgm:prSet/>
      <dgm:spPr/>
      <dgm:t>
        <a:bodyPr/>
        <a:lstStyle/>
        <a:p>
          <a:endParaRPr lang="en-US"/>
        </a:p>
      </dgm:t>
    </dgm:pt>
    <dgm:pt modelId="{A7D7009C-32BD-4C13-AEA7-6999B3929DC3}">
      <dgm:prSet/>
      <dgm:spPr/>
      <dgm:t>
        <a:bodyPr/>
        <a:lstStyle/>
        <a:p>
          <a:r>
            <a:rPr lang="en-US"/>
            <a:t>Focus</a:t>
          </a:r>
        </a:p>
      </dgm:t>
    </dgm:pt>
    <dgm:pt modelId="{3E33A043-7337-4625-A5F7-B042D9AD44FE}" type="parTrans" cxnId="{08BE9F76-9763-40C1-8E13-350854F46C56}">
      <dgm:prSet/>
      <dgm:spPr/>
      <dgm:t>
        <a:bodyPr/>
        <a:lstStyle/>
        <a:p>
          <a:endParaRPr lang="en-US"/>
        </a:p>
      </dgm:t>
    </dgm:pt>
    <dgm:pt modelId="{29F04E3E-3632-4BD2-AAA2-57B25A7B5203}" type="sibTrans" cxnId="{08BE9F76-9763-40C1-8E13-350854F46C56}">
      <dgm:prSet/>
      <dgm:spPr/>
      <dgm:t>
        <a:bodyPr/>
        <a:lstStyle/>
        <a:p>
          <a:endParaRPr lang="en-US"/>
        </a:p>
      </dgm:t>
    </dgm:pt>
    <dgm:pt modelId="{70FA3BCB-36FC-453C-9EA8-560B7AF4149F}">
      <dgm:prSet/>
      <dgm:spPr/>
      <dgm:t>
        <a:bodyPr/>
        <a:lstStyle/>
        <a:p>
          <a:r>
            <a:rPr lang="en-US"/>
            <a:t>focus this capability to move their organizations forward (innovation strategy) </a:t>
          </a:r>
        </a:p>
      </dgm:t>
    </dgm:pt>
    <dgm:pt modelId="{A393FA4C-00A2-4B84-AEFE-B3193C2C915C}" type="parTrans" cxnId="{616696B6-8CA5-4CF5-9D45-C8ED1DD2AFE1}">
      <dgm:prSet/>
      <dgm:spPr/>
      <dgm:t>
        <a:bodyPr/>
        <a:lstStyle/>
        <a:p>
          <a:endParaRPr lang="en-US"/>
        </a:p>
      </dgm:t>
    </dgm:pt>
    <dgm:pt modelId="{416908A3-82BA-44D3-B7AD-F8051F6A2036}" type="sibTrans" cxnId="{616696B6-8CA5-4CF5-9D45-C8ED1DD2AFE1}">
      <dgm:prSet/>
      <dgm:spPr/>
      <dgm:t>
        <a:bodyPr/>
        <a:lstStyle/>
        <a:p>
          <a:endParaRPr lang="en-US"/>
        </a:p>
      </dgm:t>
    </dgm:pt>
    <dgm:pt modelId="{785166FF-5D43-4341-BBD0-D3DCE35A5905}">
      <dgm:prSet/>
      <dgm:spPr/>
      <dgm:t>
        <a:bodyPr/>
        <a:lstStyle/>
        <a:p>
          <a:r>
            <a:rPr lang="en-US"/>
            <a:t>Build</a:t>
          </a:r>
        </a:p>
      </dgm:t>
    </dgm:pt>
    <dgm:pt modelId="{7DD87BCC-3330-4C1A-A3C4-824A810A4DD5}" type="parTrans" cxnId="{DF5193BE-851A-44B2-A316-12110FEB88A2}">
      <dgm:prSet/>
      <dgm:spPr/>
      <dgm:t>
        <a:bodyPr/>
        <a:lstStyle/>
        <a:p>
          <a:endParaRPr lang="en-US"/>
        </a:p>
      </dgm:t>
    </dgm:pt>
    <dgm:pt modelId="{D12DA28A-A040-4626-B288-1493ED75AFC0}" type="sibTrans" cxnId="{DF5193BE-851A-44B2-A316-12110FEB88A2}">
      <dgm:prSet/>
      <dgm:spPr/>
      <dgm:t>
        <a:bodyPr/>
        <a:lstStyle/>
        <a:p>
          <a:endParaRPr lang="en-US"/>
        </a:p>
      </dgm:t>
    </dgm:pt>
    <dgm:pt modelId="{4D936251-CE12-40C7-84CD-EECE253A50A9}">
      <dgm:prSet/>
      <dgm:spPr/>
      <dgm:t>
        <a:bodyPr/>
        <a:lstStyle/>
        <a:p>
          <a:r>
            <a:rPr lang="en-US"/>
            <a:t>build dynamic capability (the ability to rest and adapt their approaches in the face of a changing environment)</a:t>
          </a:r>
        </a:p>
      </dgm:t>
    </dgm:pt>
    <dgm:pt modelId="{52FD9DF3-D6B0-412F-B63C-84AD877AC190}" type="parTrans" cxnId="{3F38E132-7A53-4E95-9DE1-940DDA831CA8}">
      <dgm:prSet/>
      <dgm:spPr/>
      <dgm:t>
        <a:bodyPr/>
        <a:lstStyle/>
        <a:p>
          <a:endParaRPr lang="en-US"/>
        </a:p>
      </dgm:t>
    </dgm:pt>
    <dgm:pt modelId="{1589CE77-D6AA-4CC7-9FA9-C84DFE8588D4}" type="sibTrans" cxnId="{3F38E132-7A53-4E95-9DE1-940DDA831CA8}">
      <dgm:prSet/>
      <dgm:spPr/>
      <dgm:t>
        <a:bodyPr/>
        <a:lstStyle/>
        <a:p>
          <a:endParaRPr lang="en-US"/>
        </a:p>
      </dgm:t>
    </dgm:pt>
    <dgm:pt modelId="{195CCD56-6FDC-FB4B-B13B-8B05A9371ABC}" type="pres">
      <dgm:prSet presAssocID="{A295274B-91D6-4C5C-9C34-6B2D78CC1B0A}" presName="Name0" presStyleCnt="0">
        <dgm:presLayoutVars>
          <dgm:dir/>
          <dgm:animLvl val="lvl"/>
          <dgm:resizeHandles val="exact"/>
        </dgm:presLayoutVars>
      </dgm:prSet>
      <dgm:spPr/>
    </dgm:pt>
    <dgm:pt modelId="{8F709ADC-1C9C-DC49-9C5B-E18FB2EA6D65}" type="pres">
      <dgm:prSet presAssocID="{47FD1174-DC7D-464A-B916-B04BD6899D58}" presName="linNode" presStyleCnt="0"/>
      <dgm:spPr/>
    </dgm:pt>
    <dgm:pt modelId="{5937FE2A-ED92-BE4D-B053-750073C56F39}" type="pres">
      <dgm:prSet presAssocID="{47FD1174-DC7D-464A-B916-B04BD6899D58}" presName="parentText" presStyleLbl="solidFgAcc1" presStyleIdx="0" presStyleCnt="5">
        <dgm:presLayoutVars>
          <dgm:chMax val="1"/>
          <dgm:bulletEnabled/>
        </dgm:presLayoutVars>
      </dgm:prSet>
      <dgm:spPr/>
    </dgm:pt>
    <dgm:pt modelId="{4005E3D4-0FE0-7D49-A10E-4F1D5B45C900}" type="pres">
      <dgm:prSet presAssocID="{47FD1174-DC7D-464A-B916-B04BD6899D58}" presName="descendantText" presStyleLbl="alignNode1" presStyleIdx="0" presStyleCnt="5">
        <dgm:presLayoutVars>
          <dgm:bulletEnabled/>
        </dgm:presLayoutVars>
      </dgm:prSet>
      <dgm:spPr/>
    </dgm:pt>
    <dgm:pt modelId="{716CF5DF-FB5D-0649-BCD6-69AC8A93EEA9}" type="pres">
      <dgm:prSet presAssocID="{80D65E3D-19FA-462F-B9B9-BC73F57FF481}" presName="sp" presStyleCnt="0"/>
      <dgm:spPr/>
    </dgm:pt>
    <dgm:pt modelId="{839CA866-5B11-CB4E-84F2-9FF4518EA24E}" type="pres">
      <dgm:prSet presAssocID="{F3693543-49C2-49A6-B42F-F0C3B89EDD80}" presName="linNode" presStyleCnt="0"/>
      <dgm:spPr/>
    </dgm:pt>
    <dgm:pt modelId="{1D2B202E-021E-C645-AAC4-BBBB4B50794B}" type="pres">
      <dgm:prSet presAssocID="{F3693543-49C2-49A6-B42F-F0C3B89EDD80}" presName="parentText" presStyleLbl="solidFgAcc1" presStyleIdx="1" presStyleCnt="5">
        <dgm:presLayoutVars>
          <dgm:chMax val="1"/>
          <dgm:bulletEnabled/>
        </dgm:presLayoutVars>
      </dgm:prSet>
      <dgm:spPr/>
    </dgm:pt>
    <dgm:pt modelId="{7510BEFC-D05E-424F-9F94-1FF767A8E349}" type="pres">
      <dgm:prSet presAssocID="{F3693543-49C2-49A6-B42F-F0C3B89EDD80}" presName="descendantText" presStyleLbl="alignNode1" presStyleIdx="1" presStyleCnt="5">
        <dgm:presLayoutVars>
          <dgm:bulletEnabled/>
        </dgm:presLayoutVars>
      </dgm:prSet>
      <dgm:spPr/>
    </dgm:pt>
    <dgm:pt modelId="{0279600A-CD83-154E-AD1E-809B98EFF21A}" type="pres">
      <dgm:prSet presAssocID="{9984750A-FF02-4A1D-AC44-44ECEA01D40E}" presName="sp" presStyleCnt="0"/>
      <dgm:spPr/>
    </dgm:pt>
    <dgm:pt modelId="{2D029E79-B712-4A49-BC94-F9E36A6EB00C}" type="pres">
      <dgm:prSet presAssocID="{0228D641-F824-4F61-8960-AD2AB994E800}" presName="linNode" presStyleCnt="0"/>
      <dgm:spPr/>
    </dgm:pt>
    <dgm:pt modelId="{1786DD83-C0C3-D944-8549-FE5FA4B5C147}" type="pres">
      <dgm:prSet presAssocID="{0228D641-F824-4F61-8960-AD2AB994E800}" presName="parentText" presStyleLbl="solidFgAcc1" presStyleIdx="2" presStyleCnt="5">
        <dgm:presLayoutVars>
          <dgm:chMax val="1"/>
          <dgm:bulletEnabled/>
        </dgm:presLayoutVars>
      </dgm:prSet>
      <dgm:spPr/>
    </dgm:pt>
    <dgm:pt modelId="{93289A06-B93D-AA4B-805D-AAE22CF4CC7F}" type="pres">
      <dgm:prSet presAssocID="{0228D641-F824-4F61-8960-AD2AB994E800}" presName="descendantText" presStyleLbl="alignNode1" presStyleIdx="2" presStyleCnt="5">
        <dgm:presLayoutVars>
          <dgm:bulletEnabled/>
        </dgm:presLayoutVars>
      </dgm:prSet>
      <dgm:spPr/>
    </dgm:pt>
    <dgm:pt modelId="{1F4D3B96-F690-3E44-B7E2-250EB9172BA9}" type="pres">
      <dgm:prSet presAssocID="{041CBBDF-7964-4EDC-A0CA-D27295BE1128}" presName="sp" presStyleCnt="0"/>
      <dgm:spPr/>
    </dgm:pt>
    <dgm:pt modelId="{BC68A098-7158-9F4E-A356-D63074886945}" type="pres">
      <dgm:prSet presAssocID="{A7D7009C-32BD-4C13-AEA7-6999B3929DC3}" presName="linNode" presStyleCnt="0"/>
      <dgm:spPr/>
    </dgm:pt>
    <dgm:pt modelId="{B81D4D9D-E6E5-B148-976D-B012FD1DA612}" type="pres">
      <dgm:prSet presAssocID="{A7D7009C-32BD-4C13-AEA7-6999B3929DC3}" presName="parentText" presStyleLbl="solidFgAcc1" presStyleIdx="3" presStyleCnt="5">
        <dgm:presLayoutVars>
          <dgm:chMax val="1"/>
          <dgm:bulletEnabled/>
        </dgm:presLayoutVars>
      </dgm:prSet>
      <dgm:spPr/>
    </dgm:pt>
    <dgm:pt modelId="{F92210E8-677C-2244-93F8-8F0B1F6C545A}" type="pres">
      <dgm:prSet presAssocID="{A7D7009C-32BD-4C13-AEA7-6999B3929DC3}" presName="descendantText" presStyleLbl="alignNode1" presStyleIdx="3" presStyleCnt="5">
        <dgm:presLayoutVars>
          <dgm:bulletEnabled/>
        </dgm:presLayoutVars>
      </dgm:prSet>
      <dgm:spPr/>
    </dgm:pt>
    <dgm:pt modelId="{819B917D-DDE1-4646-AF83-2F41EF87A9E1}" type="pres">
      <dgm:prSet presAssocID="{29F04E3E-3632-4BD2-AAA2-57B25A7B5203}" presName="sp" presStyleCnt="0"/>
      <dgm:spPr/>
    </dgm:pt>
    <dgm:pt modelId="{3D028E83-62DB-0D4A-ABF9-5C6736F1196A}" type="pres">
      <dgm:prSet presAssocID="{785166FF-5D43-4341-BBD0-D3DCE35A5905}" presName="linNode" presStyleCnt="0"/>
      <dgm:spPr/>
    </dgm:pt>
    <dgm:pt modelId="{54BD5904-4803-EF48-8863-E1C9AD2C07A2}" type="pres">
      <dgm:prSet presAssocID="{785166FF-5D43-4341-BBD0-D3DCE35A5905}" presName="parentText" presStyleLbl="solidFgAcc1" presStyleIdx="4" presStyleCnt="5">
        <dgm:presLayoutVars>
          <dgm:chMax val="1"/>
          <dgm:bulletEnabled/>
        </dgm:presLayoutVars>
      </dgm:prSet>
      <dgm:spPr/>
    </dgm:pt>
    <dgm:pt modelId="{38AC81FC-C5AF-3648-A18E-BDA8BE8AF1BF}" type="pres">
      <dgm:prSet presAssocID="{785166FF-5D43-4341-BBD0-D3DCE35A5905}" presName="descendantText" presStyleLbl="alignNode1" presStyleIdx="4" presStyleCnt="5">
        <dgm:presLayoutVars>
          <dgm:bulletEnabled/>
        </dgm:presLayoutVars>
      </dgm:prSet>
      <dgm:spPr/>
    </dgm:pt>
  </dgm:ptLst>
  <dgm:cxnLst>
    <dgm:cxn modelId="{2813B808-49D9-6D47-A979-2CABF7CB5620}" type="presOf" srcId="{A295274B-91D6-4C5C-9C34-6B2D78CC1B0A}" destId="{195CCD56-6FDC-FB4B-B13B-8B05A9371ABC}" srcOrd="0" destOrd="0" presId="urn:microsoft.com/office/officeart/2016/7/layout/VerticalHollowActionList"/>
    <dgm:cxn modelId="{8E7FAC1F-2A13-4B58-ADFD-7563102892D8}" srcId="{A295274B-91D6-4C5C-9C34-6B2D78CC1B0A}" destId="{47FD1174-DC7D-464A-B916-B04BD6899D58}" srcOrd="0" destOrd="0" parTransId="{3AB0EA76-D2B0-4C5C-9EEE-8C7AD24F49CA}" sibTransId="{80D65E3D-19FA-462F-B9B9-BC73F57FF481}"/>
    <dgm:cxn modelId="{6D885323-6A9A-8946-A82B-ED79C90AA9DF}" type="presOf" srcId="{47FD1174-DC7D-464A-B916-B04BD6899D58}" destId="{5937FE2A-ED92-BE4D-B053-750073C56F39}" srcOrd="0" destOrd="0" presId="urn:microsoft.com/office/officeart/2016/7/layout/VerticalHollowActionList"/>
    <dgm:cxn modelId="{3F38E132-7A53-4E95-9DE1-940DDA831CA8}" srcId="{785166FF-5D43-4341-BBD0-D3DCE35A5905}" destId="{4D936251-CE12-40C7-84CD-EECE253A50A9}" srcOrd="0" destOrd="0" parTransId="{52FD9DF3-D6B0-412F-B63C-84AD877AC190}" sibTransId="{1589CE77-D6AA-4CC7-9FA9-C84DFE8588D4}"/>
    <dgm:cxn modelId="{24226B3D-1F55-0E4A-9565-80F552F6A24E}" type="presOf" srcId="{785166FF-5D43-4341-BBD0-D3DCE35A5905}" destId="{54BD5904-4803-EF48-8863-E1C9AD2C07A2}" srcOrd="0" destOrd="0" presId="urn:microsoft.com/office/officeart/2016/7/layout/VerticalHollowActionList"/>
    <dgm:cxn modelId="{5737A23E-7DEC-114E-A7C5-56B86ED50C58}" type="presOf" srcId="{FCEE1EBE-B72D-4A09-83A9-546D18ED3523}" destId="{4005E3D4-0FE0-7D49-A10E-4F1D5B45C900}" srcOrd="0" destOrd="0" presId="urn:microsoft.com/office/officeart/2016/7/layout/VerticalHollowActionList"/>
    <dgm:cxn modelId="{268AE84A-4F1D-184C-9C17-4C7AF9D466A3}" type="presOf" srcId="{4D936251-CE12-40C7-84CD-EECE253A50A9}" destId="{38AC81FC-C5AF-3648-A18E-BDA8BE8AF1BF}" srcOrd="0" destOrd="0" presId="urn:microsoft.com/office/officeart/2016/7/layout/VerticalHollowActionList"/>
    <dgm:cxn modelId="{4C83684F-3713-E74D-9315-CF9D364F2880}" type="presOf" srcId="{F3693543-49C2-49A6-B42F-F0C3B89EDD80}" destId="{1D2B202E-021E-C645-AAC4-BBBB4B50794B}" srcOrd="0" destOrd="0" presId="urn:microsoft.com/office/officeart/2016/7/layout/VerticalHollowActionList"/>
    <dgm:cxn modelId="{329A0052-2FA8-9241-99C9-674534A9041B}" type="presOf" srcId="{C258A384-86AF-4AF4-9FAC-30704D287B2F}" destId="{93289A06-B93D-AA4B-805D-AAE22CF4CC7F}" srcOrd="0" destOrd="0" presId="urn:microsoft.com/office/officeart/2016/7/layout/VerticalHollowActionList"/>
    <dgm:cxn modelId="{910CC653-9C63-44D4-93DB-B7376B946C59}" srcId="{47FD1174-DC7D-464A-B916-B04BD6899D58}" destId="{FCEE1EBE-B72D-4A09-83A9-546D18ED3523}" srcOrd="0" destOrd="0" parTransId="{FC558419-E9ED-420B-8E2F-78EF96150C76}" sibTransId="{5242FAE0-95A3-4279-9F3D-52548CF9402D}"/>
    <dgm:cxn modelId="{C4D72859-C5C4-4A20-B78A-1C26D1ABCB92}" srcId="{A295274B-91D6-4C5C-9C34-6B2D78CC1B0A}" destId="{0228D641-F824-4F61-8960-AD2AB994E800}" srcOrd="2" destOrd="0" parTransId="{DD78C1B2-70AB-4A6D-8727-F1FCDA2FC24B}" sibTransId="{041CBBDF-7964-4EDC-A0CA-D27295BE1128}"/>
    <dgm:cxn modelId="{6634DE68-CF60-4E64-A19D-57592157873D}" srcId="{F3693543-49C2-49A6-B42F-F0C3B89EDD80}" destId="{A10B52B8-787D-4CDF-8B16-572CE90544DC}" srcOrd="0" destOrd="0" parTransId="{360CFCCA-3F52-4015-97B6-6F6E8F8010BC}" sibTransId="{599808B8-6A2A-43F1-83EB-0B82E975E79B}"/>
    <dgm:cxn modelId="{08BE9F76-9763-40C1-8E13-350854F46C56}" srcId="{A295274B-91D6-4C5C-9C34-6B2D78CC1B0A}" destId="{A7D7009C-32BD-4C13-AEA7-6999B3929DC3}" srcOrd="3" destOrd="0" parTransId="{3E33A043-7337-4625-A5F7-B042D9AD44FE}" sibTransId="{29F04E3E-3632-4BD2-AAA2-57B25A7B5203}"/>
    <dgm:cxn modelId="{AFB81E87-8568-444A-81E6-5EDAAC741710}" type="presOf" srcId="{A7D7009C-32BD-4C13-AEA7-6999B3929DC3}" destId="{B81D4D9D-E6E5-B148-976D-B012FD1DA612}" srcOrd="0" destOrd="0" presId="urn:microsoft.com/office/officeart/2016/7/layout/VerticalHollowActionList"/>
    <dgm:cxn modelId="{E24B3E9A-C52A-5144-9DE2-A31CDC0BFA9D}" type="presOf" srcId="{0228D641-F824-4F61-8960-AD2AB994E800}" destId="{1786DD83-C0C3-D944-8549-FE5FA4B5C147}" srcOrd="0" destOrd="0" presId="urn:microsoft.com/office/officeart/2016/7/layout/VerticalHollowActionList"/>
    <dgm:cxn modelId="{616696B6-8CA5-4CF5-9D45-C8ED1DD2AFE1}" srcId="{A7D7009C-32BD-4C13-AEA7-6999B3929DC3}" destId="{70FA3BCB-36FC-453C-9EA8-560B7AF4149F}" srcOrd="0" destOrd="0" parTransId="{A393FA4C-00A2-4B84-AEFE-B3193C2C915C}" sibTransId="{416908A3-82BA-44D3-B7AD-F8051F6A2036}"/>
    <dgm:cxn modelId="{DF5193BE-851A-44B2-A316-12110FEB88A2}" srcId="{A295274B-91D6-4C5C-9C34-6B2D78CC1B0A}" destId="{785166FF-5D43-4341-BBD0-D3DCE35A5905}" srcOrd="4" destOrd="0" parTransId="{7DD87BCC-3330-4C1A-A3C4-824A810A4DD5}" sibTransId="{D12DA28A-A040-4626-B288-1493ED75AFC0}"/>
    <dgm:cxn modelId="{565513D3-5239-9E48-AE23-11A74D16B27A}" type="presOf" srcId="{A10B52B8-787D-4CDF-8B16-572CE90544DC}" destId="{7510BEFC-D05E-424F-9F94-1FF767A8E349}" srcOrd="0" destOrd="0" presId="urn:microsoft.com/office/officeart/2016/7/layout/VerticalHollowActionList"/>
    <dgm:cxn modelId="{12E065DF-CD75-CA40-99B7-873FC5AA2C5F}" type="presOf" srcId="{70FA3BCB-36FC-453C-9EA8-560B7AF4149F}" destId="{F92210E8-677C-2244-93F8-8F0B1F6C545A}" srcOrd="0" destOrd="0" presId="urn:microsoft.com/office/officeart/2016/7/layout/VerticalHollowActionList"/>
    <dgm:cxn modelId="{13D3C5EB-DCAC-4E8E-8F16-FFD8CF5FC57E}" srcId="{0228D641-F824-4F61-8960-AD2AB994E800}" destId="{C258A384-86AF-4AF4-9FAC-30704D287B2F}" srcOrd="0" destOrd="0" parTransId="{90A64231-5EA9-485C-BF10-C3773599CD58}" sibTransId="{A6D255F5-FF4B-4A6C-9089-E7AD3E283DA4}"/>
    <dgm:cxn modelId="{36A61BF8-887D-4CFF-A462-730A18785CF8}" srcId="{A295274B-91D6-4C5C-9C34-6B2D78CC1B0A}" destId="{F3693543-49C2-49A6-B42F-F0C3B89EDD80}" srcOrd="1" destOrd="0" parTransId="{7F9CA482-A147-4F4C-B8E9-AD4C75BA3730}" sibTransId="{9984750A-FF02-4A1D-AC44-44ECEA01D40E}"/>
    <dgm:cxn modelId="{E481DB68-89F0-7549-AC96-FA56815E2461}" type="presParOf" srcId="{195CCD56-6FDC-FB4B-B13B-8B05A9371ABC}" destId="{8F709ADC-1C9C-DC49-9C5B-E18FB2EA6D65}" srcOrd="0" destOrd="0" presId="urn:microsoft.com/office/officeart/2016/7/layout/VerticalHollowActionList"/>
    <dgm:cxn modelId="{B9CFBFB2-0B7B-C148-A03E-6A89337FE6FB}" type="presParOf" srcId="{8F709ADC-1C9C-DC49-9C5B-E18FB2EA6D65}" destId="{5937FE2A-ED92-BE4D-B053-750073C56F39}" srcOrd="0" destOrd="0" presId="urn:microsoft.com/office/officeart/2016/7/layout/VerticalHollowActionList"/>
    <dgm:cxn modelId="{DD8E20F8-DBAE-6D4F-9276-6D7413D979AF}" type="presParOf" srcId="{8F709ADC-1C9C-DC49-9C5B-E18FB2EA6D65}" destId="{4005E3D4-0FE0-7D49-A10E-4F1D5B45C900}" srcOrd="1" destOrd="0" presId="urn:microsoft.com/office/officeart/2016/7/layout/VerticalHollowActionList"/>
    <dgm:cxn modelId="{A8F3191B-54B4-E543-AA53-EAA58C50266A}" type="presParOf" srcId="{195CCD56-6FDC-FB4B-B13B-8B05A9371ABC}" destId="{716CF5DF-FB5D-0649-BCD6-69AC8A93EEA9}" srcOrd="1" destOrd="0" presId="urn:microsoft.com/office/officeart/2016/7/layout/VerticalHollowActionList"/>
    <dgm:cxn modelId="{94C336A8-1B79-034F-8BCD-86FEB8D0B1F7}" type="presParOf" srcId="{195CCD56-6FDC-FB4B-B13B-8B05A9371ABC}" destId="{839CA866-5B11-CB4E-84F2-9FF4518EA24E}" srcOrd="2" destOrd="0" presId="urn:microsoft.com/office/officeart/2016/7/layout/VerticalHollowActionList"/>
    <dgm:cxn modelId="{DA953D3C-6311-534E-9F8F-845E8C5BABFC}" type="presParOf" srcId="{839CA866-5B11-CB4E-84F2-9FF4518EA24E}" destId="{1D2B202E-021E-C645-AAC4-BBBB4B50794B}" srcOrd="0" destOrd="0" presId="urn:microsoft.com/office/officeart/2016/7/layout/VerticalHollowActionList"/>
    <dgm:cxn modelId="{07FEEC56-09EE-B247-9462-77DBF7D1D423}" type="presParOf" srcId="{839CA866-5B11-CB4E-84F2-9FF4518EA24E}" destId="{7510BEFC-D05E-424F-9F94-1FF767A8E349}" srcOrd="1" destOrd="0" presId="urn:microsoft.com/office/officeart/2016/7/layout/VerticalHollowActionList"/>
    <dgm:cxn modelId="{4BAAC5DA-8D64-5344-AF89-09F502127CFE}" type="presParOf" srcId="{195CCD56-6FDC-FB4B-B13B-8B05A9371ABC}" destId="{0279600A-CD83-154E-AD1E-809B98EFF21A}" srcOrd="3" destOrd="0" presId="urn:microsoft.com/office/officeart/2016/7/layout/VerticalHollowActionList"/>
    <dgm:cxn modelId="{231613FC-9248-E942-8367-BC191DA506BD}" type="presParOf" srcId="{195CCD56-6FDC-FB4B-B13B-8B05A9371ABC}" destId="{2D029E79-B712-4A49-BC94-F9E36A6EB00C}" srcOrd="4" destOrd="0" presId="urn:microsoft.com/office/officeart/2016/7/layout/VerticalHollowActionList"/>
    <dgm:cxn modelId="{725C722D-EAC0-4648-9202-0D9ADA5B6A56}" type="presParOf" srcId="{2D029E79-B712-4A49-BC94-F9E36A6EB00C}" destId="{1786DD83-C0C3-D944-8549-FE5FA4B5C147}" srcOrd="0" destOrd="0" presId="urn:microsoft.com/office/officeart/2016/7/layout/VerticalHollowActionList"/>
    <dgm:cxn modelId="{32C4AEAD-6C36-A64C-AC90-EDEC7F245ACF}" type="presParOf" srcId="{2D029E79-B712-4A49-BC94-F9E36A6EB00C}" destId="{93289A06-B93D-AA4B-805D-AAE22CF4CC7F}" srcOrd="1" destOrd="0" presId="urn:microsoft.com/office/officeart/2016/7/layout/VerticalHollowActionList"/>
    <dgm:cxn modelId="{492B8014-2528-D94B-8A9E-E5EE45AD8BEA}" type="presParOf" srcId="{195CCD56-6FDC-FB4B-B13B-8B05A9371ABC}" destId="{1F4D3B96-F690-3E44-B7E2-250EB9172BA9}" srcOrd="5" destOrd="0" presId="urn:microsoft.com/office/officeart/2016/7/layout/VerticalHollowActionList"/>
    <dgm:cxn modelId="{7F426D65-C9EC-0E45-85C1-6D587920EB25}" type="presParOf" srcId="{195CCD56-6FDC-FB4B-B13B-8B05A9371ABC}" destId="{BC68A098-7158-9F4E-A356-D63074886945}" srcOrd="6" destOrd="0" presId="urn:microsoft.com/office/officeart/2016/7/layout/VerticalHollowActionList"/>
    <dgm:cxn modelId="{267C1900-F4D7-1440-98C0-AB3094695461}" type="presParOf" srcId="{BC68A098-7158-9F4E-A356-D63074886945}" destId="{B81D4D9D-E6E5-B148-976D-B012FD1DA612}" srcOrd="0" destOrd="0" presId="urn:microsoft.com/office/officeart/2016/7/layout/VerticalHollowActionList"/>
    <dgm:cxn modelId="{34A043F5-8DCC-B448-A555-AC43465178F7}" type="presParOf" srcId="{BC68A098-7158-9F4E-A356-D63074886945}" destId="{F92210E8-677C-2244-93F8-8F0B1F6C545A}" srcOrd="1" destOrd="0" presId="urn:microsoft.com/office/officeart/2016/7/layout/VerticalHollowActionList"/>
    <dgm:cxn modelId="{7FC8D351-BC71-194C-A5CB-4C52CB5E731D}" type="presParOf" srcId="{195CCD56-6FDC-FB4B-B13B-8B05A9371ABC}" destId="{819B917D-DDE1-4646-AF83-2F41EF87A9E1}" srcOrd="7" destOrd="0" presId="urn:microsoft.com/office/officeart/2016/7/layout/VerticalHollowActionList"/>
    <dgm:cxn modelId="{50F3105B-ABF2-CE4B-AF44-D291F3C3E925}" type="presParOf" srcId="{195CCD56-6FDC-FB4B-B13B-8B05A9371ABC}" destId="{3D028E83-62DB-0D4A-ABF9-5C6736F1196A}" srcOrd="8" destOrd="0" presId="urn:microsoft.com/office/officeart/2016/7/layout/VerticalHollowActionList"/>
    <dgm:cxn modelId="{1E8C5362-D378-ED46-A777-53174518DBD8}" type="presParOf" srcId="{3D028E83-62DB-0D4A-ABF9-5C6736F1196A}" destId="{54BD5904-4803-EF48-8863-E1C9AD2C07A2}" srcOrd="0" destOrd="0" presId="urn:microsoft.com/office/officeart/2016/7/layout/VerticalHollowActionList"/>
    <dgm:cxn modelId="{36431249-B682-B74A-9E62-81F880D9A6C7}" type="presParOf" srcId="{3D028E83-62DB-0D4A-ABF9-5C6736F1196A}" destId="{38AC81FC-C5AF-3648-A18E-BDA8BE8AF1BF}"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4F3E84-0DC4-4C01-B68E-A5C62179F3C2}"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B2EA63A-4424-406E-89D1-BD1B914FDBA8}">
      <dgm:prSet/>
      <dgm:spPr/>
      <dgm:t>
        <a:bodyPr/>
        <a:lstStyle/>
        <a:p>
          <a:r>
            <a:rPr lang="en-US"/>
            <a:t>Incremental </a:t>
          </a:r>
          <a:r>
            <a:rPr lang="en-US">
              <a:sym typeface="Wingdings" panose="05000000000000000000" pitchFamily="2" charset="2"/>
            </a:rPr>
            <a:t></a:t>
          </a:r>
          <a:r>
            <a:rPr lang="en-US"/>
            <a:t>-</a:t>
          </a:r>
          <a:r>
            <a:rPr lang="en-US">
              <a:sym typeface="Wingdings" panose="05000000000000000000" pitchFamily="2" charset="2"/>
            </a:rPr>
            <a:t></a:t>
          </a:r>
          <a:r>
            <a:rPr lang="en-US"/>
            <a:t> Radical</a:t>
          </a:r>
        </a:p>
      </dgm:t>
    </dgm:pt>
    <dgm:pt modelId="{4BA9BF9D-2384-4745-B886-2361364BDDA3}" type="parTrans" cxnId="{3F3B0F9B-EA6E-4CF2-9F47-94D63BBD6A6D}">
      <dgm:prSet/>
      <dgm:spPr/>
      <dgm:t>
        <a:bodyPr/>
        <a:lstStyle/>
        <a:p>
          <a:endParaRPr lang="en-US"/>
        </a:p>
      </dgm:t>
    </dgm:pt>
    <dgm:pt modelId="{58CAB2D7-E0B3-4E96-BF41-5A3F2F562527}" type="sibTrans" cxnId="{3F3B0F9B-EA6E-4CF2-9F47-94D63BBD6A6D}">
      <dgm:prSet/>
      <dgm:spPr/>
      <dgm:t>
        <a:bodyPr/>
        <a:lstStyle/>
        <a:p>
          <a:endParaRPr lang="en-US"/>
        </a:p>
      </dgm:t>
    </dgm:pt>
    <dgm:pt modelId="{45D004BD-10F2-48FD-AD8D-66506CABDE48}">
      <dgm:prSet/>
      <dgm:spPr/>
      <dgm:t>
        <a:bodyPr/>
        <a:lstStyle/>
        <a:p>
          <a:r>
            <a:rPr lang="en-US"/>
            <a:t>Component and system</a:t>
          </a:r>
        </a:p>
      </dgm:t>
    </dgm:pt>
    <dgm:pt modelId="{120FDC61-6C24-4C65-A35F-33429F60C28F}" type="parTrans" cxnId="{9BAF04D0-4BE4-4841-81FB-F97B2AB3FB7F}">
      <dgm:prSet/>
      <dgm:spPr/>
      <dgm:t>
        <a:bodyPr/>
        <a:lstStyle/>
        <a:p>
          <a:endParaRPr lang="en-US"/>
        </a:p>
      </dgm:t>
    </dgm:pt>
    <dgm:pt modelId="{A575D3B8-618D-4B91-8C4A-0B40C973E869}" type="sibTrans" cxnId="{9BAF04D0-4BE4-4841-81FB-F97B2AB3FB7F}">
      <dgm:prSet/>
      <dgm:spPr/>
      <dgm:t>
        <a:bodyPr/>
        <a:lstStyle/>
        <a:p>
          <a:endParaRPr lang="en-US"/>
        </a:p>
      </dgm:t>
    </dgm:pt>
    <dgm:pt modelId="{29C399FC-0301-4FFA-932D-A4F11E2E44E8}">
      <dgm:prSet/>
      <dgm:spPr/>
      <dgm:t>
        <a:bodyPr/>
        <a:lstStyle/>
        <a:p>
          <a:r>
            <a:rPr lang="en-US"/>
            <a:t>Architectures, platforms and systems</a:t>
          </a:r>
        </a:p>
      </dgm:t>
    </dgm:pt>
    <dgm:pt modelId="{247A6891-C075-47E5-866C-8B64510595E9}" type="parTrans" cxnId="{1E606FD1-F1D6-4A79-9062-23C07E01EDED}">
      <dgm:prSet/>
      <dgm:spPr/>
      <dgm:t>
        <a:bodyPr/>
        <a:lstStyle/>
        <a:p>
          <a:endParaRPr lang="en-US"/>
        </a:p>
      </dgm:t>
    </dgm:pt>
    <dgm:pt modelId="{72947D47-74FB-4272-9B92-55F4DAE7585E}" type="sibTrans" cxnId="{1E606FD1-F1D6-4A79-9062-23C07E01EDED}">
      <dgm:prSet/>
      <dgm:spPr/>
      <dgm:t>
        <a:bodyPr/>
        <a:lstStyle/>
        <a:p>
          <a:endParaRPr lang="en-US"/>
        </a:p>
      </dgm:t>
    </dgm:pt>
    <dgm:pt modelId="{1C6F9DDE-2ED4-234D-9441-FC72463FDD02}" type="pres">
      <dgm:prSet presAssocID="{DE4F3E84-0DC4-4C01-B68E-A5C62179F3C2}" presName="linear" presStyleCnt="0">
        <dgm:presLayoutVars>
          <dgm:animLvl val="lvl"/>
          <dgm:resizeHandles val="exact"/>
        </dgm:presLayoutVars>
      </dgm:prSet>
      <dgm:spPr/>
    </dgm:pt>
    <dgm:pt modelId="{3DEA40B2-38DA-9640-BD85-B2E0CFE0ADC0}" type="pres">
      <dgm:prSet presAssocID="{AB2EA63A-4424-406E-89D1-BD1B914FDBA8}" presName="parentText" presStyleLbl="node1" presStyleIdx="0" presStyleCnt="3">
        <dgm:presLayoutVars>
          <dgm:chMax val="0"/>
          <dgm:bulletEnabled val="1"/>
        </dgm:presLayoutVars>
      </dgm:prSet>
      <dgm:spPr/>
    </dgm:pt>
    <dgm:pt modelId="{90E66197-5AE0-3C46-94A3-803F6FCDBB08}" type="pres">
      <dgm:prSet presAssocID="{58CAB2D7-E0B3-4E96-BF41-5A3F2F562527}" presName="spacer" presStyleCnt="0"/>
      <dgm:spPr/>
    </dgm:pt>
    <dgm:pt modelId="{709DC920-B22E-BB4C-9DE4-F05E2B1DF3F0}" type="pres">
      <dgm:prSet presAssocID="{45D004BD-10F2-48FD-AD8D-66506CABDE48}" presName="parentText" presStyleLbl="node1" presStyleIdx="1" presStyleCnt="3">
        <dgm:presLayoutVars>
          <dgm:chMax val="0"/>
          <dgm:bulletEnabled val="1"/>
        </dgm:presLayoutVars>
      </dgm:prSet>
      <dgm:spPr/>
    </dgm:pt>
    <dgm:pt modelId="{95499CFF-2EA3-7B4B-8D99-1976D2BAAB4E}" type="pres">
      <dgm:prSet presAssocID="{A575D3B8-618D-4B91-8C4A-0B40C973E869}" presName="spacer" presStyleCnt="0"/>
      <dgm:spPr/>
    </dgm:pt>
    <dgm:pt modelId="{7B8CBB4B-048A-E74A-BB50-F8DAD60584B6}" type="pres">
      <dgm:prSet presAssocID="{29C399FC-0301-4FFA-932D-A4F11E2E44E8}" presName="parentText" presStyleLbl="node1" presStyleIdx="2" presStyleCnt="3">
        <dgm:presLayoutVars>
          <dgm:chMax val="0"/>
          <dgm:bulletEnabled val="1"/>
        </dgm:presLayoutVars>
      </dgm:prSet>
      <dgm:spPr/>
    </dgm:pt>
  </dgm:ptLst>
  <dgm:cxnLst>
    <dgm:cxn modelId="{A50FED43-7C1C-5D40-BF99-5A02F791924A}" type="presOf" srcId="{AB2EA63A-4424-406E-89D1-BD1B914FDBA8}" destId="{3DEA40B2-38DA-9640-BD85-B2E0CFE0ADC0}" srcOrd="0" destOrd="0" presId="urn:microsoft.com/office/officeart/2005/8/layout/vList2"/>
    <dgm:cxn modelId="{DB068461-61B3-C44F-BE62-15E35BA69D42}" type="presOf" srcId="{45D004BD-10F2-48FD-AD8D-66506CABDE48}" destId="{709DC920-B22E-BB4C-9DE4-F05E2B1DF3F0}" srcOrd="0" destOrd="0" presId="urn:microsoft.com/office/officeart/2005/8/layout/vList2"/>
    <dgm:cxn modelId="{254A437D-975A-434C-A1D6-B2184304C6BD}" type="presOf" srcId="{29C399FC-0301-4FFA-932D-A4F11E2E44E8}" destId="{7B8CBB4B-048A-E74A-BB50-F8DAD60584B6}" srcOrd="0" destOrd="0" presId="urn:microsoft.com/office/officeart/2005/8/layout/vList2"/>
    <dgm:cxn modelId="{3F3B0F9B-EA6E-4CF2-9F47-94D63BBD6A6D}" srcId="{DE4F3E84-0DC4-4C01-B68E-A5C62179F3C2}" destId="{AB2EA63A-4424-406E-89D1-BD1B914FDBA8}" srcOrd="0" destOrd="0" parTransId="{4BA9BF9D-2384-4745-B886-2361364BDDA3}" sibTransId="{58CAB2D7-E0B3-4E96-BF41-5A3F2F562527}"/>
    <dgm:cxn modelId="{64BF3BC9-2342-DE4D-B518-DB54AD511476}" type="presOf" srcId="{DE4F3E84-0DC4-4C01-B68E-A5C62179F3C2}" destId="{1C6F9DDE-2ED4-234D-9441-FC72463FDD02}" srcOrd="0" destOrd="0" presId="urn:microsoft.com/office/officeart/2005/8/layout/vList2"/>
    <dgm:cxn modelId="{9BAF04D0-4BE4-4841-81FB-F97B2AB3FB7F}" srcId="{DE4F3E84-0DC4-4C01-B68E-A5C62179F3C2}" destId="{45D004BD-10F2-48FD-AD8D-66506CABDE48}" srcOrd="1" destOrd="0" parTransId="{120FDC61-6C24-4C65-A35F-33429F60C28F}" sibTransId="{A575D3B8-618D-4B91-8C4A-0B40C973E869}"/>
    <dgm:cxn modelId="{1E606FD1-F1D6-4A79-9062-23C07E01EDED}" srcId="{DE4F3E84-0DC4-4C01-B68E-A5C62179F3C2}" destId="{29C399FC-0301-4FFA-932D-A4F11E2E44E8}" srcOrd="2" destOrd="0" parTransId="{247A6891-C075-47E5-866C-8B64510595E9}" sibTransId="{72947D47-74FB-4272-9B92-55F4DAE7585E}"/>
    <dgm:cxn modelId="{D4E97A2B-B2A7-414E-94C2-EE6DEC7654FD}" type="presParOf" srcId="{1C6F9DDE-2ED4-234D-9441-FC72463FDD02}" destId="{3DEA40B2-38DA-9640-BD85-B2E0CFE0ADC0}" srcOrd="0" destOrd="0" presId="urn:microsoft.com/office/officeart/2005/8/layout/vList2"/>
    <dgm:cxn modelId="{CCB7684B-F26D-9549-B4B0-C3DE3DC66689}" type="presParOf" srcId="{1C6F9DDE-2ED4-234D-9441-FC72463FDD02}" destId="{90E66197-5AE0-3C46-94A3-803F6FCDBB08}" srcOrd="1" destOrd="0" presId="urn:microsoft.com/office/officeart/2005/8/layout/vList2"/>
    <dgm:cxn modelId="{95743645-DDB0-4E47-BC12-815A026ED89E}" type="presParOf" srcId="{1C6F9DDE-2ED4-234D-9441-FC72463FDD02}" destId="{709DC920-B22E-BB4C-9DE4-F05E2B1DF3F0}" srcOrd="2" destOrd="0" presId="urn:microsoft.com/office/officeart/2005/8/layout/vList2"/>
    <dgm:cxn modelId="{192B4234-D5F2-F04E-A376-8F58B409754F}" type="presParOf" srcId="{1C6F9DDE-2ED4-234D-9441-FC72463FDD02}" destId="{95499CFF-2EA3-7B4B-8D99-1976D2BAAB4E}" srcOrd="3" destOrd="0" presId="urn:microsoft.com/office/officeart/2005/8/layout/vList2"/>
    <dgm:cxn modelId="{6BA2EAB7-9D51-7943-A1A1-A82B26D7F360}" type="presParOf" srcId="{1C6F9DDE-2ED4-234D-9441-FC72463FDD02}" destId="{7B8CBB4B-048A-E74A-BB50-F8DAD60584B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AB3ED6-3694-465E-B4BD-D9FCC5F6614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3AF55F0-49FC-4AF4-B0B5-72FA76349240}">
      <dgm:prSet/>
      <dgm:spPr/>
      <dgm:t>
        <a:bodyPr/>
        <a:lstStyle/>
        <a:p>
          <a:r>
            <a:rPr lang="en-US"/>
            <a:t>The Museum of Failure gives a wide range of examples of innovations which have failed, including many coming from some of the world’s biggest business names.  Invite students to explore the site and distil a list of the many ways in which good ideas can fail:</a:t>
          </a:r>
        </a:p>
      </dgm:t>
    </dgm:pt>
    <dgm:pt modelId="{FC578FE4-8F3F-4C8C-9D4D-77D2BADC0F40}" type="parTrans" cxnId="{D9BE268A-3872-4220-8574-C91DF9F94286}">
      <dgm:prSet/>
      <dgm:spPr/>
      <dgm:t>
        <a:bodyPr/>
        <a:lstStyle/>
        <a:p>
          <a:endParaRPr lang="en-US"/>
        </a:p>
      </dgm:t>
    </dgm:pt>
    <dgm:pt modelId="{FFA5C08F-759A-45A9-A126-44A1C2A41FC5}" type="sibTrans" cxnId="{D9BE268A-3872-4220-8574-C91DF9F94286}">
      <dgm:prSet/>
      <dgm:spPr/>
      <dgm:t>
        <a:bodyPr/>
        <a:lstStyle/>
        <a:p>
          <a:endParaRPr lang="en-US"/>
        </a:p>
      </dgm:t>
    </dgm:pt>
    <dgm:pt modelId="{04434E8F-8ADD-4F89-A25C-1DEF7E391E1C}">
      <dgm:prSet/>
      <dgm:spPr/>
      <dgm:t>
        <a:bodyPr/>
        <a:lstStyle/>
        <a:p>
          <a:r>
            <a:rPr lang="en-US">
              <a:hlinkClick xmlns:r="http://schemas.openxmlformats.org/officeDocument/2006/relationships" r:id="rId1"/>
            </a:rPr>
            <a:t>https://museumoffailure.com/</a:t>
          </a:r>
          <a:endParaRPr lang="en-US"/>
        </a:p>
      </dgm:t>
    </dgm:pt>
    <dgm:pt modelId="{F9E6884D-D122-4810-89CB-B9BE139F8619}" type="parTrans" cxnId="{EC302AA4-B4D8-436F-9200-7AD425F78059}">
      <dgm:prSet/>
      <dgm:spPr/>
      <dgm:t>
        <a:bodyPr/>
        <a:lstStyle/>
        <a:p>
          <a:endParaRPr lang="en-US"/>
        </a:p>
      </dgm:t>
    </dgm:pt>
    <dgm:pt modelId="{5B147ED3-6151-41F5-8C5C-A58B5362A9B5}" type="sibTrans" cxnId="{EC302AA4-B4D8-436F-9200-7AD425F78059}">
      <dgm:prSet/>
      <dgm:spPr/>
      <dgm:t>
        <a:bodyPr/>
        <a:lstStyle/>
        <a:p>
          <a:endParaRPr lang="en-US"/>
        </a:p>
      </dgm:t>
    </dgm:pt>
    <dgm:pt modelId="{34E10B80-A89B-D54A-B118-100068A4AC38}" type="pres">
      <dgm:prSet presAssocID="{3FAB3ED6-3694-465E-B4BD-D9FCC5F66145}" presName="linear" presStyleCnt="0">
        <dgm:presLayoutVars>
          <dgm:animLvl val="lvl"/>
          <dgm:resizeHandles val="exact"/>
        </dgm:presLayoutVars>
      </dgm:prSet>
      <dgm:spPr/>
    </dgm:pt>
    <dgm:pt modelId="{95631D2A-C2C9-C641-A659-270FA9289E6A}" type="pres">
      <dgm:prSet presAssocID="{73AF55F0-49FC-4AF4-B0B5-72FA76349240}" presName="parentText" presStyleLbl="node1" presStyleIdx="0" presStyleCnt="2">
        <dgm:presLayoutVars>
          <dgm:chMax val="0"/>
          <dgm:bulletEnabled val="1"/>
        </dgm:presLayoutVars>
      </dgm:prSet>
      <dgm:spPr/>
    </dgm:pt>
    <dgm:pt modelId="{12ED0ACF-20C3-2349-934E-9A35E4111CD8}" type="pres">
      <dgm:prSet presAssocID="{FFA5C08F-759A-45A9-A126-44A1C2A41FC5}" presName="spacer" presStyleCnt="0"/>
      <dgm:spPr/>
    </dgm:pt>
    <dgm:pt modelId="{36C0C3AE-BD6A-364E-BC67-9E34E2D683F5}" type="pres">
      <dgm:prSet presAssocID="{04434E8F-8ADD-4F89-A25C-1DEF7E391E1C}" presName="parentText" presStyleLbl="node1" presStyleIdx="1" presStyleCnt="2">
        <dgm:presLayoutVars>
          <dgm:chMax val="0"/>
          <dgm:bulletEnabled val="1"/>
        </dgm:presLayoutVars>
      </dgm:prSet>
      <dgm:spPr/>
    </dgm:pt>
  </dgm:ptLst>
  <dgm:cxnLst>
    <dgm:cxn modelId="{E12B7436-930D-FE41-BBE3-FB2B47E8A663}" type="presOf" srcId="{73AF55F0-49FC-4AF4-B0B5-72FA76349240}" destId="{95631D2A-C2C9-C641-A659-270FA9289E6A}" srcOrd="0" destOrd="0" presId="urn:microsoft.com/office/officeart/2005/8/layout/vList2"/>
    <dgm:cxn modelId="{CDC18375-5364-7944-B7A8-70E8BF8B3FD3}" type="presOf" srcId="{3FAB3ED6-3694-465E-B4BD-D9FCC5F66145}" destId="{34E10B80-A89B-D54A-B118-100068A4AC38}" srcOrd="0" destOrd="0" presId="urn:microsoft.com/office/officeart/2005/8/layout/vList2"/>
    <dgm:cxn modelId="{D9BE268A-3872-4220-8574-C91DF9F94286}" srcId="{3FAB3ED6-3694-465E-B4BD-D9FCC5F66145}" destId="{73AF55F0-49FC-4AF4-B0B5-72FA76349240}" srcOrd="0" destOrd="0" parTransId="{FC578FE4-8F3F-4C8C-9D4D-77D2BADC0F40}" sibTransId="{FFA5C08F-759A-45A9-A126-44A1C2A41FC5}"/>
    <dgm:cxn modelId="{2722B1A0-260A-B149-A595-76217911FF51}" type="presOf" srcId="{04434E8F-8ADD-4F89-A25C-1DEF7E391E1C}" destId="{36C0C3AE-BD6A-364E-BC67-9E34E2D683F5}" srcOrd="0" destOrd="0" presId="urn:microsoft.com/office/officeart/2005/8/layout/vList2"/>
    <dgm:cxn modelId="{EC302AA4-B4D8-436F-9200-7AD425F78059}" srcId="{3FAB3ED6-3694-465E-B4BD-D9FCC5F66145}" destId="{04434E8F-8ADD-4F89-A25C-1DEF7E391E1C}" srcOrd="1" destOrd="0" parTransId="{F9E6884D-D122-4810-89CB-B9BE139F8619}" sibTransId="{5B147ED3-6151-41F5-8C5C-A58B5362A9B5}"/>
    <dgm:cxn modelId="{D73B121C-B9D9-FD4E-A35D-21C7C3D98A0B}" type="presParOf" srcId="{34E10B80-A89B-D54A-B118-100068A4AC38}" destId="{95631D2A-C2C9-C641-A659-270FA9289E6A}" srcOrd="0" destOrd="0" presId="urn:microsoft.com/office/officeart/2005/8/layout/vList2"/>
    <dgm:cxn modelId="{6641977F-A85B-BA4E-B857-40D004BA72D4}" type="presParOf" srcId="{34E10B80-A89B-D54A-B118-100068A4AC38}" destId="{12ED0ACF-20C3-2349-934E-9A35E4111CD8}" srcOrd="1" destOrd="0" presId="urn:microsoft.com/office/officeart/2005/8/layout/vList2"/>
    <dgm:cxn modelId="{5D7D7D36-CE06-6E4B-BB8F-05CD0C586A2C}" type="presParOf" srcId="{34E10B80-A89B-D54A-B118-100068A4AC38}" destId="{36C0C3AE-BD6A-364E-BC67-9E34E2D683F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D0260-4480-FB40-B840-7344807151FC}">
      <dsp:nvSpPr>
        <dsp:cNvPr id="0" name=""/>
        <dsp:cNvSpPr/>
      </dsp:nvSpPr>
      <dsp:spPr>
        <a:xfrm>
          <a:off x="0" y="131335"/>
          <a:ext cx="3943350" cy="100693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By the end of this chapter you will develop an understanding of:</a:t>
          </a:r>
          <a:endParaRPr lang="en-US" sz="1800" kern="1200"/>
        </a:p>
      </dsp:txBody>
      <dsp:txXfrm>
        <a:off x="49154" y="180489"/>
        <a:ext cx="3845042" cy="908623"/>
      </dsp:txXfrm>
    </dsp:sp>
    <dsp:sp modelId="{52A297A9-6A58-C54A-9AFD-858CE44827C3}">
      <dsp:nvSpPr>
        <dsp:cNvPr id="0" name=""/>
        <dsp:cNvSpPr/>
      </dsp:nvSpPr>
      <dsp:spPr>
        <a:xfrm>
          <a:off x="0" y="1190107"/>
          <a:ext cx="3943350" cy="1006931"/>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what ‘innovation’ and ‘entrepreneurship’ mean and how they are essential for survival and growth</a:t>
          </a:r>
          <a:endParaRPr lang="en-US" sz="1800" kern="1200"/>
        </a:p>
      </dsp:txBody>
      <dsp:txXfrm>
        <a:off x="49154" y="1239261"/>
        <a:ext cx="3845042" cy="908623"/>
      </dsp:txXfrm>
    </dsp:sp>
    <dsp:sp modelId="{B35D4D9D-4787-FF48-A800-ADB68D0D667D}">
      <dsp:nvSpPr>
        <dsp:cNvPr id="0" name=""/>
        <dsp:cNvSpPr/>
      </dsp:nvSpPr>
      <dsp:spPr>
        <a:xfrm>
          <a:off x="0" y="2248878"/>
          <a:ext cx="3943350" cy="1006931"/>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innovation as a process rather than a single flash of inspiration</a:t>
          </a:r>
          <a:endParaRPr lang="en-US" sz="1800" kern="1200"/>
        </a:p>
      </dsp:txBody>
      <dsp:txXfrm>
        <a:off x="49154" y="2298032"/>
        <a:ext cx="3845042" cy="908623"/>
      </dsp:txXfrm>
    </dsp:sp>
    <dsp:sp modelId="{749FA538-0750-2A45-97EB-E69656F5D88C}">
      <dsp:nvSpPr>
        <dsp:cNvPr id="0" name=""/>
        <dsp:cNvSpPr/>
      </dsp:nvSpPr>
      <dsp:spPr>
        <a:xfrm>
          <a:off x="0" y="3307649"/>
          <a:ext cx="3943350" cy="1006931"/>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the difficulties in managing what is an uncertain and risky process</a:t>
          </a:r>
          <a:endParaRPr lang="en-US" sz="1800" kern="1200"/>
        </a:p>
      </dsp:txBody>
      <dsp:txXfrm>
        <a:off x="49154" y="3356803"/>
        <a:ext cx="3845042" cy="908623"/>
      </dsp:txXfrm>
    </dsp:sp>
    <dsp:sp modelId="{89C8B287-28A7-5B4B-BDA9-010B71968B9C}">
      <dsp:nvSpPr>
        <dsp:cNvPr id="0" name=""/>
        <dsp:cNvSpPr/>
      </dsp:nvSpPr>
      <dsp:spPr>
        <a:xfrm>
          <a:off x="0" y="4366420"/>
          <a:ext cx="3943350" cy="1006931"/>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the key themes in thinking about how to manage this process effectively</a:t>
          </a:r>
          <a:endParaRPr lang="en-US" sz="1800" kern="1200"/>
        </a:p>
      </dsp:txBody>
      <dsp:txXfrm>
        <a:off x="49154" y="4415574"/>
        <a:ext cx="3845042" cy="9086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5D3EF7-221B-4E45-A9B8-1B4B69092055}">
      <dsp:nvSpPr>
        <dsp:cNvPr id="0" name=""/>
        <dsp:cNvSpPr/>
      </dsp:nvSpPr>
      <dsp:spPr>
        <a:xfrm>
          <a:off x="145153"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B171B6-9A14-4884-AFE8-870AB7FBD553}">
      <dsp:nvSpPr>
        <dsp:cNvPr id="0" name=""/>
        <dsp:cNvSpPr/>
      </dsp:nvSpPr>
      <dsp:spPr>
        <a:xfrm>
          <a:off x="356344" y="1011326"/>
          <a:ext cx="583288" cy="583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3B2AFA-428B-465B-8A6E-0EE97C5583D4}">
      <dsp:nvSpPr>
        <dsp:cNvPr id="0" name=""/>
        <dsp:cNvSpPr/>
      </dsp:nvSpPr>
      <dsp:spPr>
        <a:xfrm>
          <a:off x="1366323"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Type I: Innovation that is identical or similar to activities that are measured by traditional indicators, but which is excluded from measurement</a:t>
          </a:r>
        </a:p>
      </dsp:txBody>
      <dsp:txXfrm>
        <a:off x="1366323" y="800136"/>
        <a:ext cx="2370505" cy="1005669"/>
      </dsp:txXfrm>
    </dsp:sp>
    <dsp:sp modelId="{89E8C316-A853-4940-99A6-F255AFB38063}">
      <dsp:nvSpPr>
        <dsp:cNvPr id="0" name=""/>
        <dsp:cNvSpPr/>
      </dsp:nvSpPr>
      <dsp:spPr>
        <a:xfrm>
          <a:off x="4149871"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80431C-030D-47D3-AB24-0DDAC8E65B03}">
      <dsp:nvSpPr>
        <dsp:cNvPr id="0" name=""/>
        <dsp:cNvSpPr/>
      </dsp:nvSpPr>
      <dsp:spPr>
        <a:xfrm>
          <a:off x="4361061" y="1011326"/>
          <a:ext cx="583288" cy="5832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944690-2590-44E4-86B6-F1EAC0E7AF3C}">
      <dsp:nvSpPr>
        <dsp:cNvPr id="0" name=""/>
        <dsp:cNvSpPr/>
      </dsp:nvSpPr>
      <dsp:spPr>
        <a:xfrm>
          <a:off x="5371040"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Type II: Innovation without a major scientific and technological basis, such as innovation in organizational forms or business models. </a:t>
          </a:r>
        </a:p>
      </dsp:txBody>
      <dsp:txXfrm>
        <a:off x="5371040" y="800136"/>
        <a:ext cx="2370505" cy="1005669"/>
      </dsp:txXfrm>
    </dsp:sp>
    <dsp:sp modelId="{821BAB31-F8E1-40F1-BD84-4AF6BDA7E36C}">
      <dsp:nvSpPr>
        <dsp:cNvPr id="0" name=""/>
        <dsp:cNvSpPr/>
      </dsp:nvSpPr>
      <dsp:spPr>
        <a:xfrm>
          <a:off x="145153"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D27191-F435-42D8-9FFE-134A00FDF17C}">
      <dsp:nvSpPr>
        <dsp:cNvPr id="0" name=""/>
        <dsp:cNvSpPr/>
      </dsp:nvSpPr>
      <dsp:spPr>
        <a:xfrm>
          <a:off x="356344" y="2756723"/>
          <a:ext cx="583288" cy="5832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BF6D7E-86B1-4762-8563-EBB7073F4622}">
      <dsp:nvSpPr>
        <dsp:cNvPr id="0" name=""/>
        <dsp:cNvSpPr/>
      </dsp:nvSpPr>
      <dsp:spPr>
        <a:xfrm>
          <a:off x="1366323"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Type III: Innovation created from the novel combination of existing technologies and processes. </a:t>
          </a:r>
        </a:p>
      </dsp:txBody>
      <dsp:txXfrm>
        <a:off x="1366323" y="2545532"/>
        <a:ext cx="2370505" cy="1005669"/>
      </dsp:txXfrm>
    </dsp:sp>
    <dsp:sp modelId="{C8041A3A-22AA-44DB-8AC9-6A369482C5F0}">
      <dsp:nvSpPr>
        <dsp:cNvPr id="0" name=""/>
        <dsp:cNvSpPr/>
      </dsp:nvSpPr>
      <dsp:spPr>
        <a:xfrm>
          <a:off x="4149871"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D0672C-7DA5-4517-BA35-D3B58D8B4970}">
      <dsp:nvSpPr>
        <dsp:cNvPr id="0" name=""/>
        <dsp:cNvSpPr/>
      </dsp:nvSpPr>
      <dsp:spPr>
        <a:xfrm>
          <a:off x="4361061" y="2756723"/>
          <a:ext cx="583288" cy="5832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E74602-9DF0-43DE-AAF6-225B1BD1C4DE}">
      <dsp:nvSpPr>
        <dsp:cNvPr id="0" name=""/>
        <dsp:cNvSpPr/>
      </dsp:nvSpPr>
      <dsp:spPr>
        <a:xfrm>
          <a:off x="5371040"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Type IV: Locally-developed, small-scale innovations that take place ‘under the radar’, not only of traditional indicators but often also of many of the organizations and individuals working in a sector. </a:t>
          </a:r>
        </a:p>
      </dsp:txBody>
      <dsp:txXfrm>
        <a:off x="5371040" y="2545532"/>
        <a:ext cx="2370505" cy="10056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05E3D4-0FE0-7D49-A10E-4F1D5B45C900}">
      <dsp:nvSpPr>
        <dsp:cNvPr id="0" name=""/>
        <dsp:cNvSpPr/>
      </dsp:nvSpPr>
      <dsp:spPr>
        <a:xfrm>
          <a:off x="1577340" y="1890"/>
          <a:ext cx="6309360" cy="829686"/>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explore and understand different dimensions of innovation (ways in which we can change things) </a:t>
          </a:r>
        </a:p>
      </dsp:txBody>
      <dsp:txXfrm>
        <a:off x="1577340" y="1890"/>
        <a:ext cx="6309360" cy="829686"/>
      </dsp:txXfrm>
    </dsp:sp>
    <dsp:sp modelId="{5937FE2A-ED92-BE4D-B053-750073C56F39}">
      <dsp:nvSpPr>
        <dsp:cNvPr id="0" name=""/>
        <dsp:cNvSpPr/>
      </dsp:nvSpPr>
      <dsp:spPr>
        <a:xfrm>
          <a:off x="0" y="1890"/>
          <a:ext cx="1577340" cy="829686"/>
        </a:xfrm>
        <a:prstGeom prst="rect">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Explore and understand</a:t>
          </a:r>
        </a:p>
      </dsp:txBody>
      <dsp:txXfrm>
        <a:off x="0" y="1890"/>
        <a:ext cx="1577340" cy="829686"/>
      </dsp:txXfrm>
    </dsp:sp>
    <dsp:sp modelId="{7510BEFC-D05E-424F-9F94-1FF767A8E349}">
      <dsp:nvSpPr>
        <dsp:cNvPr id="0" name=""/>
        <dsp:cNvSpPr/>
      </dsp:nvSpPr>
      <dsp:spPr>
        <a:xfrm>
          <a:off x="1577340" y="881358"/>
          <a:ext cx="6309360" cy="829686"/>
        </a:xfrm>
        <a:prstGeom prst="rect">
          <a:avLst/>
        </a:prstGeom>
        <a:solidFill>
          <a:schemeClr val="accent2">
            <a:hueOff val="1170380"/>
            <a:satOff val="-1460"/>
            <a:lumOff val="343"/>
            <a:alphaOff val="0"/>
          </a:schemeClr>
        </a:solidFill>
        <a:ln w="25400" cap="flat" cmpd="sng" algn="ctr">
          <a:solidFill>
            <a:schemeClr val="accent2">
              <a:hueOff val="1170380"/>
              <a:satOff val="-1460"/>
              <a:lumOff val="34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manage innovation as a process </a:t>
          </a:r>
        </a:p>
      </dsp:txBody>
      <dsp:txXfrm>
        <a:off x="1577340" y="881358"/>
        <a:ext cx="6309360" cy="829686"/>
      </dsp:txXfrm>
    </dsp:sp>
    <dsp:sp modelId="{1D2B202E-021E-C645-AAC4-BBBB4B50794B}">
      <dsp:nvSpPr>
        <dsp:cNvPr id="0" name=""/>
        <dsp:cNvSpPr/>
      </dsp:nvSpPr>
      <dsp:spPr>
        <a:xfrm>
          <a:off x="0" y="881358"/>
          <a:ext cx="1577340" cy="829686"/>
        </a:xfrm>
        <a:prstGeom prst="rect">
          <a:avLst/>
        </a:prstGeom>
        <a:solidFill>
          <a:schemeClr val="lt1">
            <a:hueOff val="0"/>
            <a:satOff val="0"/>
            <a:lumOff val="0"/>
            <a:alphaOff val="0"/>
          </a:schemeClr>
        </a:solidFill>
        <a:ln w="25400" cap="flat" cmpd="sng" algn="ctr">
          <a:solidFill>
            <a:schemeClr val="accent2">
              <a:hueOff val="1170380"/>
              <a:satOff val="-1460"/>
              <a:lumOff val="34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Manage</a:t>
          </a:r>
        </a:p>
      </dsp:txBody>
      <dsp:txXfrm>
        <a:off x="0" y="881358"/>
        <a:ext cx="1577340" cy="829686"/>
      </dsp:txXfrm>
    </dsp:sp>
    <dsp:sp modelId="{93289A06-B93D-AA4B-805D-AAE22CF4CC7F}">
      <dsp:nvSpPr>
        <dsp:cNvPr id="0" name=""/>
        <dsp:cNvSpPr/>
      </dsp:nvSpPr>
      <dsp:spPr>
        <a:xfrm>
          <a:off x="1577340" y="1760825"/>
          <a:ext cx="6309360" cy="829686"/>
        </a:xfrm>
        <a:prstGeom prst="rect">
          <a:avLst/>
        </a:prstGeom>
        <a:solidFill>
          <a:schemeClr val="accent2">
            <a:hueOff val="2340759"/>
            <a:satOff val="-2919"/>
            <a:lumOff val="686"/>
            <a:alphaOff val="0"/>
          </a:schemeClr>
        </a:solidFill>
        <a:ln w="25400" cap="flat" cmpd="sng" algn="ctr">
          <a:solidFill>
            <a:schemeClr val="accent2">
              <a:hueOff val="2340759"/>
              <a:satOff val="-2919"/>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create conditions to enable them to repeat the innovation trick (building capability) </a:t>
          </a:r>
        </a:p>
      </dsp:txBody>
      <dsp:txXfrm>
        <a:off x="1577340" y="1760825"/>
        <a:ext cx="6309360" cy="829686"/>
      </dsp:txXfrm>
    </dsp:sp>
    <dsp:sp modelId="{1786DD83-C0C3-D944-8549-FE5FA4B5C147}">
      <dsp:nvSpPr>
        <dsp:cNvPr id="0" name=""/>
        <dsp:cNvSpPr/>
      </dsp:nvSpPr>
      <dsp:spPr>
        <a:xfrm>
          <a:off x="0" y="1760825"/>
          <a:ext cx="1577340" cy="829686"/>
        </a:xfrm>
        <a:prstGeom prst="rect">
          <a:avLst/>
        </a:prstGeom>
        <a:solidFill>
          <a:schemeClr val="lt1">
            <a:hueOff val="0"/>
            <a:satOff val="0"/>
            <a:lumOff val="0"/>
            <a:alphaOff val="0"/>
          </a:schemeClr>
        </a:solidFill>
        <a:ln w="25400" cap="flat" cmpd="sng" algn="ctr">
          <a:solidFill>
            <a:schemeClr val="accent2">
              <a:hueOff val="2340759"/>
              <a:satOff val="-2919"/>
              <a:lumOff val="68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Create</a:t>
          </a:r>
        </a:p>
      </dsp:txBody>
      <dsp:txXfrm>
        <a:off x="0" y="1760825"/>
        <a:ext cx="1577340" cy="829686"/>
      </dsp:txXfrm>
    </dsp:sp>
    <dsp:sp modelId="{F92210E8-677C-2244-93F8-8F0B1F6C545A}">
      <dsp:nvSpPr>
        <dsp:cNvPr id="0" name=""/>
        <dsp:cNvSpPr/>
      </dsp:nvSpPr>
      <dsp:spPr>
        <a:xfrm>
          <a:off x="1577340" y="2640293"/>
          <a:ext cx="6309360" cy="829686"/>
        </a:xfrm>
        <a:prstGeom prst="rect">
          <a:avLst/>
        </a:prstGeom>
        <a:solidFill>
          <a:schemeClr val="accent2">
            <a:hueOff val="3511139"/>
            <a:satOff val="-4379"/>
            <a:lumOff val="1030"/>
            <a:alphaOff val="0"/>
          </a:schemeClr>
        </a:solidFill>
        <a:ln w="25400" cap="flat" cmpd="sng" algn="ctr">
          <a:solidFill>
            <a:schemeClr val="accent2">
              <a:hueOff val="3511139"/>
              <a:satOff val="-4379"/>
              <a:lumOff val="10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focus this capability to move their organizations forward (innovation strategy) </a:t>
          </a:r>
        </a:p>
      </dsp:txBody>
      <dsp:txXfrm>
        <a:off x="1577340" y="2640293"/>
        <a:ext cx="6309360" cy="829686"/>
      </dsp:txXfrm>
    </dsp:sp>
    <dsp:sp modelId="{B81D4D9D-E6E5-B148-976D-B012FD1DA612}">
      <dsp:nvSpPr>
        <dsp:cNvPr id="0" name=""/>
        <dsp:cNvSpPr/>
      </dsp:nvSpPr>
      <dsp:spPr>
        <a:xfrm>
          <a:off x="0" y="2640293"/>
          <a:ext cx="1577340" cy="829686"/>
        </a:xfrm>
        <a:prstGeom prst="rect">
          <a:avLst/>
        </a:prstGeom>
        <a:solidFill>
          <a:schemeClr val="lt1">
            <a:hueOff val="0"/>
            <a:satOff val="0"/>
            <a:lumOff val="0"/>
            <a:alphaOff val="0"/>
          </a:schemeClr>
        </a:solidFill>
        <a:ln w="25400" cap="flat" cmpd="sng" algn="ctr">
          <a:solidFill>
            <a:schemeClr val="accent2">
              <a:hueOff val="3511139"/>
              <a:satOff val="-4379"/>
              <a:lumOff val="10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Focus</a:t>
          </a:r>
        </a:p>
      </dsp:txBody>
      <dsp:txXfrm>
        <a:off x="0" y="2640293"/>
        <a:ext cx="1577340" cy="829686"/>
      </dsp:txXfrm>
    </dsp:sp>
    <dsp:sp modelId="{38AC81FC-C5AF-3648-A18E-BDA8BE8AF1BF}">
      <dsp:nvSpPr>
        <dsp:cNvPr id="0" name=""/>
        <dsp:cNvSpPr/>
      </dsp:nvSpPr>
      <dsp:spPr>
        <a:xfrm>
          <a:off x="1577340" y="3519760"/>
          <a:ext cx="6309360" cy="829686"/>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419" tIns="210740" rIns="122419" bIns="210740" numCol="1" spcCol="1270" anchor="ctr" anchorCtr="0">
          <a:noAutofit/>
        </a:bodyPr>
        <a:lstStyle/>
        <a:p>
          <a:pPr marL="0" lvl="0" indent="0" algn="l" defTabSz="622300">
            <a:lnSpc>
              <a:spcPct val="90000"/>
            </a:lnSpc>
            <a:spcBef>
              <a:spcPct val="0"/>
            </a:spcBef>
            <a:spcAft>
              <a:spcPct val="35000"/>
            </a:spcAft>
            <a:buNone/>
          </a:pPr>
          <a:r>
            <a:rPr lang="en-US" sz="1400" kern="1200"/>
            <a:t>build dynamic capability (the ability to rest and adapt their approaches in the face of a changing environment)</a:t>
          </a:r>
        </a:p>
      </dsp:txBody>
      <dsp:txXfrm>
        <a:off x="1577340" y="3519760"/>
        <a:ext cx="6309360" cy="829686"/>
      </dsp:txXfrm>
    </dsp:sp>
    <dsp:sp modelId="{54BD5904-4803-EF48-8863-E1C9AD2C07A2}">
      <dsp:nvSpPr>
        <dsp:cNvPr id="0" name=""/>
        <dsp:cNvSpPr/>
      </dsp:nvSpPr>
      <dsp:spPr>
        <a:xfrm>
          <a:off x="0" y="3519760"/>
          <a:ext cx="1577340" cy="829686"/>
        </a:xfrm>
        <a:prstGeom prst="rect">
          <a:avLst/>
        </a:prstGeom>
        <a:solidFill>
          <a:schemeClr val="lt1">
            <a:hueOff val="0"/>
            <a:satOff val="0"/>
            <a:lumOff val="0"/>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468" tIns="81955" rIns="83468" bIns="81955" numCol="1" spcCol="1270" anchor="ctr" anchorCtr="0">
          <a:noAutofit/>
        </a:bodyPr>
        <a:lstStyle/>
        <a:p>
          <a:pPr marL="0" lvl="0" indent="0" algn="ctr" defTabSz="755650">
            <a:lnSpc>
              <a:spcPct val="90000"/>
            </a:lnSpc>
            <a:spcBef>
              <a:spcPct val="0"/>
            </a:spcBef>
            <a:spcAft>
              <a:spcPct val="35000"/>
            </a:spcAft>
            <a:buNone/>
          </a:pPr>
          <a:r>
            <a:rPr lang="en-US" sz="1700" kern="1200"/>
            <a:t>Build</a:t>
          </a:r>
        </a:p>
      </dsp:txBody>
      <dsp:txXfrm>
        <a:off x="0" y="3519760"/>
        <a:ext cx="1577340" cy="8296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A40B2-38DA-9640-BD85-B2E0CFE0ADC0}">
      <dsp:nvSpPr>
        <dsp:cNvPr id="0" name=""/>
        <dsp:cNvSpPr/>
      </dsp:nvSpPr>
      <dsp:spPr>
        <a:xfrm>
          <a:off x="0" y="382969"/>
          <a:ext cx="4945856" cy="15116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Incremental </a:t>
          </a:r>
          <a:r>
            <a:rPr lang="en-US" sz="3800" kern="1200">
              <a:sym typeface="Wingdings" panose="05000000000000000000" pitchFamily="2" charset="2"/>
            </a:rPr>
            <a:t></a:t>
          </a:r>
          <a:r>
            <a:rPr lang="en-US" sz="3800" kern="1200"/>
            <a:t>-</a:t>
          </a:r>
          <a:r>
            <a:rPr lang="en-US" sz="3800" kern="1200">
              <a:sym typeface="Wingdings" panose="05000000000000000000" pitchFamily="2" charset="2"/>
            </a:rPr>
            <a:t></a:t>
          </a:r>
          <a:r>
            <a:rPr lang="en-US" sz="3800" kern="1200"/>
            <a:t> Radical</a:t>
          </a:r>
        </a:p>
      </dsp:txBody>
      <dsp:txXfrm>
        <a:off x="73792" y="456761"/>
        <a:ext cx="4798272" cy="1364056"/>
      </dsp:txXfrm>
    </dsp:sp>
    <dsp:sp modelId="{709DC920-B22E-BB4C-9DE4-F05E2B1DF3F0}">
      <dsp:nvSpPr>
        <dsp:cNvPr id="0" name=""/>
        <dsp:cNvSpPr/>
      </dsp:nvSpPr>
      <dsp:spPr>
        <a:xfrm>
          <a:off x="0" y="2004049"/>
          <a:ext cx="4945856" cy="1511640"/>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Component and system</a:t>
          </a:r>
        </a:p>
      </dsp:txBody>
      <dsp:txXfrm>
        <a:off x="73792" y="2077841"/>
        <a:ext cx="4798272" cy="1364056"/>
      </dsp:txXfrm>
    </dsp:sp>
    <dsp:sp modelId="{7B8CBB4B-048A-E74A-BB50-F8DAD60584B6}">
      <dsp:nvSpPr>
        <dsp:cNvPr id="0" name=""/>
        <dsp:cNvSpPr/>
      </dsp:nvSpPr>
      <dsp:spPr>
        <a:xfrm>
          <a:off x="0" y="3625129"/>
          <a:ext cx="4945856" cy="151164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Architectures, platforms and systems</a:t>
          </a:r>
        </a:p>
      </dsp:txBody>
      <dsp:txXfrm>
        <a:off x="73792" y="3698921"/>
        <a:ext cx="4798272" cy="13640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31D2A-C2C9-C641-A659-270FA9289E6A}">
      <dsp:nvSpPr>
        <dsp:cNvPr id="0" name=""/>
        <dsp:cNvSpPr/>
      </dsp:nvSpPr>
      <dsp:spPr>
        <a:xfrm>
          <a:off x="0" y="13509"/>
          <a:ext cx="4939867" cy="185328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Museum of Failure gives a wide range of examples of innovations which have failed, including many coming from some of the world’s biggest business names.  Invite students to explore the site and distil a list of the many ways in which good ideas can fail:</a:t>
          </a:r>
        </a:p>
      </dsp:txBody>
      <dsp:txXfrm>
        <a:off x="90470" y="103979"/>
        <a:ext cx="4758927" cy="1672340"/>
      </dsp:txXfrm>
    </dsp:sp>
    <dsp:sp modelId="{36C0C3AE-BD6A-364E-BC67-9E34E2D683F5}">
      <dsp:nvSpPr>
        <dsp:cNvPr id="0" name=""/>
        <dsp:cNvSpPr/>
      </dsp:nvSpPr>
      <dsp:spPr>
        <a:xfrm>
          <a:off x="0" y="1918629"/>
          <a:ext cx="4939867" cy="185328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hlinkClick xmlns:r="http://schemas.openxmlformats.org/officeDocument/2006/relationships" r:id="rId1"/>
            </a:rPr>
            <a:t>https://museumoffailure.com/</a:t>
          </a:r>
          <a:endParaRPr lang="en-US" sz="1800" kern="1200"/>
        </a:p>
      </dsp:txBody>
      <dsp:txXfrm>
        <a:off x="90470" y="2009099"/>
        <a:ext cx="4758927" cy="16723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C040E6-9381-4A2A-B61B-FE05E5398A94}" type="datetimeFigureOut">
              <a:rPr lang="en-GB" smtClean="0"/>
              <a:pPr/>
              <a:t>03/11/2024</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01EBDD-A084-4B17-AB89-C014AE392DC4}" type="slidenum">
              <a:rPr lang="en-GB" smtClean="0"/>
              <a:pPr/>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37</a:t>
            </a:fld>
            <a:endParaRPr lang="en-GB"/>
          </a:p>
        </p:txBody>
      </p:sp>
    </p:spTree>
    <p:extLst>
      <p:ext uri="{BB962C8B-B14F-4D97-AF65-F5344CB8AC3E}">
        <p14:creationId xmlns:p14="http://schemas.microsoft.com/office/powerpoint/2010/main" val="1949687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38</a:t>
            </a:fld>
            <a:endParaRPr lang="en-GB"/>
          </a:p>
        </p:txBody>
      </p:sp>
    </p:spTree>
    <p:extLst>
      <p:ext uri="{BB962C8B-B14F-4D97-AF65-F5344CB8AC3E}">
        <p14:creationId xmlns:p14="http://schemas.microsoft.com/office/powerpoint/2010/main" val="1086493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14143DC-8B2E-4686-A46A-B65D7AB56E24}"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FB86B06-1ACC-426A-94DC-D1C520DE46D6}"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4143DC-8B2E-4686-A46A-B65D7AB56E24}" type="datetimeFigureOut">
              <a:rPr lang="en-GB" smtClean="0"/>
              <a:pPr/>
              <a:t>03/11/2024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B86B06-1ACC-426A-94DC-D1C520DE46D6}"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oleObject" Target="Macintosh%20HD:Users:annatrifilova:Documents:Teaching:wiley%20strategic%20innovation%20management:Final%20MS%20August%204:SIM%20chapter%201.docx!OLE_LINK3"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youtu.be/TF6cVCs8e3k" TargetMode="External"/><Relationship Id="rId3" Type="http://schemas.openxmlformats.org/officeDocument/2006/relationships/hyperlink" Target="https://youtu.be/_XcFVl6mjWI" TargetMode="External"/><Relationship Id="rId7" Type="http://schemas.openxmlformats.org/officeDocument/2006/relationships/hyperlink" Target="https://youtu.be/mPwnI0jLfG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youtu.be/n8DytP5o4ZE" TargetMode="External"/><Relationship Id="rId5" Type="http://schemas.openxmlformats.org/officeDocument/2006/relationships/hyperlink" Target="https://youtu.be/rmvqOLsirFI" TargetMode="External"/><Relationship Id="rId4" Type="http://schemas.openxmlformats.org/officeDocument/2006/relationships/hyperlink" Target="https://youtu.be/eE-KbK6JlFQ" TargetMode="External"/><Relationship Id="rId9" Type="http://schemas.openxmlformats.org/officeDocument/2006/relationships/image" Target="../media/image24.jpeg"/></Relationships>
</file>

<file path=ppt/slides/_rels/slide38.xml.rels><?xml version="1.0" encoding="UTF-8" standalone="yes"?>
<Relationships xmlns="http://schemas.openxmlformats.org/package/2006/relationships"><Relationship Id="rId3" Type="http://schemas.openxmlformats.org/officeDocument/2006/relationships/hyperlink" Target="https://youtu.be/QVuFr7oKDoo"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hyperlink" Target="https://www.youtube.com/watch?v=n9txlwMjcCI" TargetMode="External"/><Relationship Id="rId4" Type="http://schemas.openxmlformats.org/officeDocument/2006/relationships/hyperlink" Target="https://youtu.be/IrCqZb0VjN8" TargetMode="External"/></Relationships>
</file>

<file path=ppt/slides/_rels/slide39.xml.rels><?xml version="1.0" encoding="UTF-8" standalone="yes"?>
<Relationships xmlns="http://schemas.openxmlformats.org/package/2006/relationships"><Relationship Id="rId2" Type="http://schemas.openxmlformats.org/officeDocument/2006/relationships/hyperlink" Target="https://www.johnbessant.org/_files/ugd/6ba33a_e3b3e554a8ca41be8852cf5603784a66.pd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hyperlink" Target="https://www.youtube.com/watch?v=lJjILQu2xM8"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s://www.youtube.com/watch?v=hxQHSyk5oyc"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johnbessant.org/feed" TargetMode="External"/><Relationship Id="rId2" Type="http://schemas.openxmlformats.org/officeDocument/2006/relationships/hyperlink" Target="https://podcasters.spotify.com/pod/show/john-bessant"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johnbessant.org/activitie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youtu.be/WHvTSAk3X60" TargetMode="Externa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hyperlink" Target="https://www.johnbessant.org/_files/ugd/f6594a_b07174c35b1f42e68131b67e68602993.pdf"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5.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www.johnbessant.org/post/platform-innovation"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johnbessant.org/_files/ugd/6ba33a_8b47342b45da4ce8a9ef86f05d4fcdeb.pdf"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johnbessant.org/_files/ugd/f6594a_64268a2920f242f7bea4750a6410d952.pdf" TargetMode="External"/><Relationship Id="rId2" Type="http://schemas.openxmlformats.org/officeDocument/2006/relationships/hyperlink" Target="https://youtu.be/K8NBSFxdDHU" TargetMode="External"/><Relationship Id="rId1" Type="http://schemas.openxmlformats.org/officeDocument/2006/relationships/slideLayout" Target="../slideLayouts/slideLayout2.xml"/><Relationship Id="rId4" Type="http://schemas.openxmlformats.org/officeDocument/2006/relationships/hyperlink" Target="https://vimeo.com/160130228" TargetMode="External"/></Relationships>
</file>

<file path=ppt/slides/_rels/slide59.xml.rels><?xml version="1.0" encoding="UTF-8" standalone="yes"?>
<Relationships xmlns="http://schemas.openxmlformats.org/package/2006/relationships"><Relationship Id="rId2" Type="http://schemas.openxmlformats.org/officeDocument/2006/relationships/hyperlink" Target="https://www.johnbessant.org/_files/ugd/f6594a_3733ff17c09e481f8e33515c16bd3eb6.pdf"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www.youtube.com/playlist?list=PLTvfzVZrr2xS0QXh7s4kItfJd1fX6Mv5B" TargetMode="External"/><Relationship Id="rId2" Type="http://schemas.openxmlformats.org/officeDocument/2006/relationships/hyperlink" Target="https://www.johnbessant.org/feed"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www.johnbessant.org/_files/ugd/6ba33a_677c64af9eb74f4e9afb4ce3a2523c6b.pdf"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johnbessant.org/_files/ugd/6ba33a_adf6259194c04f4a94359be0e64ece14.pdf"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johnbessant.org/_files/ugd/6ba33a_c5653027b28a4bcd88e8a96e0f10bd57.pdf"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www.johnbessant.org/cases" TargetMode="External"/><Relationship Id="rId2" Type="http://schemas.openxmlformats.org/officeDocument/2006/relationships/hyperlink" Target="https://www.johnbessant.org/_files/ugd/6ba33a_ee4c5277ceb8498699f94373563a2c13.pdf"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www.johnbessant.org/_files/ugd/f6594a_edfb69ae5bf3425fba72843ba97b3e25.pdf"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johnbessant.org/activitiespr" TargetMode="Externa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hyperlink" Target="https://www.johnbessant.org/_files/ugd/f6594a_4bd7edf13db044d682a00e5bc00665de.pdf"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www.johnbessant.org/_files/ugd/f6594a_0f708aeaa75e431eb3f366f04714a801.pdf" TargetMode="External"/><Relationship Id="rId2" Type="http://schemas.openxmlformats.org/officeDocument/2006/relationships/hyperlink" Target="https://www.johnbessant.org/_files/ugd/6ba33a_c5653027b28a4bcd88e8a96e0f10bd57.pdf"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8" name="Rectangle 7"/>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1: The innovation imperative</a:t>
            </a:r>
          </a:p>
        </p:txBody>
      </p:sp>
      <p:pic>
        <p:nvPicPr>
          <p:cNvPr id="3" name="Picture 2">
            <a:extLst>
              <a:ext uri="{FF2B5EF4-FFF2-40B4-BE49-F238E27FC236}">
                <a16:creationId xmlns:a16="http://schemas.microsoft.com/office/drawing/2014/main" id="{384F756B-ACD8-2EC6-FA09-D6CFD1E85B38}"/>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Title 1"/>
          <p:cNvSpPr txBox="1">
            <a:spLocks/>
          </p:cNvSpPr>
          <p:nvPr/>
        </p:nvSpPr>
        <p:spPr>
          <a:xfrm>
            <a:off x="480059" y="2053641"/>
            <a:ext cx="2751871" cy="2760098"/>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kumimoji="0" lang="en-US" sz="4400" b="1" i="0" u="none" strike="noStrike" kern="1200" cap="none" spc="0" normalizeH="0" baseline="0" noProof="0">
                <a:ln>
                  <a:noFill/>
                </a:ln>
                <a:solidFill>
                  <a:srgbClr val="FFFFFF"/>
                </a:solidFill>
                <a:effectLst/>
                <a:uLnTx/>
                <a:uFillTx/>
                <a:latin typeface="+mj-lt"/>
                <a:ea typeface="+mj-ea"/>
                <a:cs typeface="+mj-cs"/>
              </a:rPr>
              <a:t>Chapter 1: </a:t>
            </a:r>
            <a:r>
              <a:rPr kumimoji="0" lang="en-US" sz="4400" b="0" i="0" u="none" strike="noStrike" kern="1200" cap="none" spc="0" normalizeH="0" baseline="0" noProof="0">
                <a:ln>
                  <a:noFill/>
                </a:ln>
                <a:solidFill>
                  <a:srgbClr val="FFFFFF"/>
                </a:solidFill>
                <a:effectLst/>
                <a:uLnTx/>
                <a:uFillTx/>
                <a:latin typeface="+mj-lt"/>
                <a:ea typeface="+mj-ea"/>
                <a:cs typeface="+mj-cs"/>
              </a:rPr>
              <a:t>The innovation imperative</a:t>
            </a:r>
          </a:p>
        </p:txBody>
      </p:sp>
      <p:sp>
        <p:nvSpPr>
          <p:cNvPr id="5" name="Title 1"/>
          <p:cNvSpPr txBox="1">
            <a:spLocks/>
          </p:cNvSpPr>
          <p:nvPr/>
        </p:nvSpPr>
        <p:spPr>
          <a:xfrm>
            <a:off x="4549684" y="1340768"/>
            <a:ext cx="3979563" cy="5230634"/>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sz="1900" b="1" u="none" strike="noStrike" cap="none" spc="0" normalizeH="0" baseline="0" noProof="0" dirty="0">
              <a:ln>
                <a:noFill/>
              </a:ln>
              <a:solidFill>
                <a:srgbClr val="000000"/>
              </a:solidFill>
              <a:effectLst/>
              <a:uLnTx/>
              <a:uFillTx/>
            </a:endParaRPr>
          </a:p>
          <a:p>
            <a:pPr indent="-228600">
              <a:lnSpc>
                <a:spcPct val="90000"/>
              </a:lnSpc>
              <a:spcAft>
                <a:spcPts val="600"/>
              </a:spcAft>
              <a:buFont typeface="Arial" panose="020B0604020202020204" pitchFamily="34" charset="0"/>
              <a:buChar char="•"/>
            </a:pPr>
            <a:r>
              <a:rPr lang="en-US" sz="1900" i="1" dirty="0">
                <a:solidFill>
                  <a:srgbClr val="000000"/>
                </a:solidFill>
              </a:rPr>
              <a:t> In the following PowerPoint slides you will find the key headings from </a:t>
            </a:r>
            <a:r>
              <a:rPr lang="en-US" sz="1900" b="1" dirty="0">
                <a:solidFill>
                  <a:srgbClr val="000000"/>
                </a:solidFill>
              </a:rPr>
              <a:t>CHAPTER 1</a:t>
            </a:r>
            <a:r>
              <a:rPr lang="en-US" sz="1900" i="1" dirty="0">
                <a:solidFill>
                  <a:srgbClr val="000000"/>
                </a:solidFill>
              </a:rPr>
              <a:t> together with the main illustrations, tables, etc.  </a:t>
            </a:r>
          </a:p>
          <a:p>
            <a:pPr indent="-228600">
              <a:lnSpc>
                <a:spcPct val="90000"/>
              </a:lnSpc>
              <a:spcAft>
                <a:spcPts val="600"/>
              </a:spcAft>
              <a:buFont typeface="Arial" panose="020B0604020202020204" pitchFamily="34" charset="0"/>
              <a:buChar char="•"/>
            </a:pPr>
            <a:endParaRPr lang="en-US" sz="1900" i="1" dirty="0">
              <a:solidFill>
                <a:srgbClr val="000000"/>
              </a:solidFill>
            </a:endParaRPr>
          </a:p>
          <a:p>
            <a:pPr indent="-228600">
              <a:lnSpc>
                <a:spcPct val="90000"/>
              </a:lnSpc>
              <a:spcAft>
                <a:spcPts val="600"/>
              </a:spcAft>
              <a:buFont typeface="Arial" panose="020B0604020202020204" pitchFamily="34" charset="0"/>
              <a:buChar char="•"/>
            </a:pPr>
            <a:r>
              <a:rPr lang="en-US" sz="1900" i="1" dirty="0">
                <a:solidFill>
                  <a:srgbClr val="000000"/>
                </a:solidFill>
              </a:rPr>
              <a:t>There are also slides summarizing the key messages in bullet-point fashion, links to videos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sz="1900" i="1" dirty="0">
              <a:solidFill>
                <a:srgbClr val="000000"/>
              </a:solidFill>
            </a:endParaRPr>
          </a:p>
          <a:p>
            <a:pPr indent="-228600">
              <a:lnSpc>
                <a:spcPct val="90000"/>
              </a:lnSpc>
              <a:spcAft>
                <a:spcPts val="600"/>
              </a:spcAft>
              <a:buFont typeface="Arial" panose="020B0604020202020204" pitchFamily="34" charset="0"/>
              <a:buChar char="•"/>
            </a:pPr>
            <a:r>
              <a:rPr lang="en-US" sz="1900" i="1" dirty="0">
                <a:solidFill>
                  <a:srgbClr val="000000"/>
                </a:solidFill>
              </a:rPr>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sz="1900" i="1" dirty="0">
              <a:solidFill>
                <a:srgbClr val="000000"/>
              </a:solidFill>
            </a:endParaRPr>
          </a:p>
        </p:txBody>
      </p:sp>
      <p:cxnSp>
        <p:nvCxnSpPr>
          <p:cNvPr id="6" name="Straight Connector 5"/>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2B8F5-7EC7-B548-B3AB-0810CD9C1AA7}"/>
              </a:ext>
            </a:extLst>
          </p:cNvPr>
          <p:cNvSpPr>
            <a:spLocks noGrp="1"/>
          </p:cNvSpPr>
          <p:nvPr>
            <p:ph type="title"/>
          </p:nvPr>
        </p:nvSpPr>
        <p:spPr>
          <a:xfrm>
            <a:off x="389658" y="621792"/>
            <a:ext cx="3886128" cy="5504688"/>
          </a:xfrm>
        </p:spPr>
        <p:txBody>
          <a:bodyPr>
            <a:normAutofit/>
          </a:bodyPr>
          <a:lstStyle/>
          <a:p>
            <a:r>
              <a:rPr lang="en-US" sz="4200"/>
              <a:t>Learning objectives</a:t>
            </a:r>
          </a:p>
        </p:txBody>
      </p:sp>
      <p:sp>
        <p:nvSpPr>
          <p:cNvPr id="9" name="Rectangle 8">
            <a:extLst>
              <a:ext uri="{FF2B5EF4-FFF2-40B4-BE49-F238E27FC236}">
                <a16:creationId xmlns:a16="http://schemas.microsoft.com/office/drawing/2014/main" id="{2F56F8EA-3356-4455-9899-320874F6E4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4593"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B3AF78B7-8CE0-4941-A273-6B38AB0DE0AA}"/>
              </a:ext>
            </a:extLst>
          </p:cNvPr>
          <p:cNvGraphicFramePr>
            <a:graphicFrameLocks noGrp="1"/>
          </p:cNvGraphicFramePr>
          <p:nvPr>
            <p:ph idx="1"/>
            <p:extLst>
              <p:ext uri="{D42A27DB-BD31-4B8C-83A1-F6EECF244321}">
                <p14:modId xmlns:p14="http://schemas.microsoft.com/office/powerpoint/2010/main" val="4155101614"/>
              </p:ext>
            </p:extLst>
          </p:nvPr>
        </p:nvGraphicFramePr>
        <p:xfrm>
          <a:off x="4574286" y="621792"/>
          <a:ext cx="394335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2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3584754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DCED15-A34C-FA42-BCD0-80D491B60459}"/>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A94BDB9-7628-9A42-991E-0A478A7A24B4}"/>
              </a:ext>
            </a:extLst>
          </p:cNvPr>
          <p:cNvSpPr>
            <a:spLocks noGrp="1"/>
          </p:cNvSpPr>
          <p:nvPr>
            <p:ph idx="1"/>
          </p:nvPr>
        </p:nvSpPr>
        <p:spPr>
          <a:xfrm>
            <a:off x="3335481" y="591344"/>
            <a:ext cx="5179868" cy="5585619"/>
          </a:xfrm>
        </p:spPr>
        <p:txBody>
          <a:bodyPr anchor="ctr">
            <a:normAutofit/>
          </a:bodyPr>
          <a:lstStyle/>
          <a:p>
            <a:r>
              <a:rPr lang="en-US" dirty="0"/>
              <a:t>The word ‘innovation’ comes from the Latin, </a:t>
            </a:r>
            <a:r>
              <a:rPr lang="en-US" i="1" dirty="0" err="1"/>
              <a:t>innovare</a:t>
            </a:r>
            <a:r>
              <a:rPr lang="en-US" dirty="0"/>
              <a:t>, and is all about </a:t>
            </a:r>
            <a:r>
              <a:rPr lang="en-US" b="1" dirty="0"/>
              <a:t>change</a:t>
            </a:r>
            <a:r>
              <a:rPr lang="en-US" dirty="0"/>
              <a:t>.</a:t>
            </a:r>
          </a:p>
          <a:p>
            <a:endParaRPr lang="en-GB" dirty="0"/>
          </a:p>
          <a:p>
            <a:r>
              <a:rPr lang="en-US" dirty="0"/>
              <a:t>Perhaps a more helpful definition of innovation is:</a:t>
            </a:r>
          </a:p>
          <a:p>
            <a:pPr marL="0" indent="0">
              <a:buNone/>
            </a:pPr>
            <a:r>
              <a:rPr lang="en-US" i="1" dirty="0"/>
              <a:t>‘</a:t>
            </a:r>
            <a:r>
              <a:rPr lang="en-US" b="1" i="1" dirty="0"/>
              <a:t>the process of creating value from ideas</a:t>
            </a:r>
            <a:r>
              <a:rPr lang="en-US" i="1" dirty="0"/>
              <a:t>’</a:t>
            </a:r>
          </a:p>
          <a:p>
            <a:endParaRPr lang="en-US" dirty="0"/>
          </a:p>
        </p:txBody>
      </p:sp>
      <p:pic>
        <p:nvPicPr>
          <p:cNvPr id="7" name="Picture 4" descr="Image result for ideas">
            <a:extLst>
              <a:ext uri="{FF2B5EF4-FFF2-40B4-BE49-F238E27FC236}">
                <a16:creationId xmlns:a16="http://schemas.microsoft.com/office/drawing/2014/main" id="{F8B3EC79-E89A-724D-9F0F-1E68C7B87092}"/>
              </a:ext>
            </a:extLst>
          </p:cNvPr>
          <p:cNvPicPr>
            <a:picLocks noChangeAspect="1" noChangeArrowheads="1"/>
          </p:cNvPicPr>
          <p:nvPr/>
        </p:nvPicPr>
        <p:blipFill>
          <a:blip r:embed="rId2" cstate="print"/>
          <a:srcRect/>
          <a:stretch>
            <a:fillRect/>
          </a:stretch>
        </p:blipFill>
        <p:spPr bwMode="auto">
          <a:xfrm>
            <a:off x="5814529" y="5177742"/>
            <a:ext cx="2096392" cy="1680258"/>
          </a:xfrm>
          <a:prstGeom prst="rect">
            <a:avLst/>
          </a:prstGeom>
          <a:noFill/>
        </p:spPr>
      </p:pic>
    </p:spTree>
    <p:extLst>
      <p:ext uri="{BB962C8B-B14F-4D97-AF65-F5344CB8AC3E}">
        <p14:creationId xmlns:p14="http://schemas.microsoft.com/office/powerpoint/2010/main" val="1235358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The innovation imperative</a:t>
            </a:r>
          </a:p>
        </p:txBody>
      </p:sp>
      <p:cxnSp>
        <p:nvCxnSpPr>
          <p:cNvPr id="3" name="Straight Connector 2"/>
          <p:cNvCxnSpPr/>
          <p:nvPr/>
        </p:nvCxnSpPr>
        <p:spPr>
          <a:xfrm>
            <a:off x="458167" y="1433555"/>
            <a:ext cx="8478016" cy="1588"/>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283968" y="1772816"/>
            <a:ext cx="4497090" cy="4524315"/>
          </a:xfrm>
          <a:prstGeom prst="rect">
            <a:avLst/>
          </a:prstGeom>
        </p:spPr>
        <p:txBody>
          <a:bodyPr wrap="square">
            <a:spAutoFit/>
          </a:bodyPr>
          <a:lstStyle/>
          <a:p>
            <a:endParaRPr lang="en-US" sz="3600" baseline="30000" dirty="0"/>
          </a:p>
          <a:p>
            <a:r>
              <a:rPr lang="en-US" sz="3600" i="1" baseline="30000" dirty="0"/>
              <a:t>‘A slow sort of country’ said the Red Queen. ‘Now here, you see, it takes all the running you can do to keep in the same place. If you want to get somewhere else, you must run at least twice as fast as that!’</a:t>
            </a:r>
          </a:p>
          <a:p>
            <a:endParaRPr lang="en-US" sz="3600" baseline="30000" dirty="0"/>
          </a:p>
          <a:p>
            <a:endParaRPr lang="en-US" sz="3600" baseline="30000" dirty="0"/>
          </a:p>
          <a:p>
            <a:r>
              <a:rPr lang="en-US" sz="3600" baseline="30000" dirty="0"/>
              <a:t>(Lewis Carroll, Alice through the Looking Glass)</a:t>
            </a:r>
          </a:p>
        </p:txBody>
      </p:sp>
      <p:pic>
        <p:nvPicPr>
          <p:cNvPr id="8194" name="Picture 2" descr="Image result for alice in wonderland the red queen illustration"/>
          <p:cNvPicPr>
            <a:picLocks noChangeAspect="1" noChangeArrowheads="1"/>
          </p:cNvPicPr>
          <p:nvPr/>
        </p:nvPicPr>
        <p:blipFill>
          <a:blip r:embed="rId2" cstate="print"/>
          <a:srcRect/>
          <a:stretch>
            <a:fillRect/>
          </a:stretch>
        </p:blipFill>
        <p:spPr bwMode="auto">
          <a:xfrm>
            <a:off x="323528" y="1916832"/>
            <a:ext cx="3888432" cy="4357531"/>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6E3FF-7884-CD42-B2A8-36BC4F9E0419}"/>
              </a:ext>
            </a:extLst>
          </p:cNvPr>
          <p:cNvSpPr>
            <a:spLocks noGrp="1"/>
          </p:cNvSpPr>
          <p:nvPr>
            <p:ph type="title"/>
          </p:nvPr>
        </p:nvSpPr>
        <p:spPr/>
        <p:txBody>
          <a:bodyPr/>
          <a:lstStyle/>
          <a:p>
            <a:r>
              <a:rPr lang="en-US" dirty="0"/>
              <a:t>Global R&amp;D spend</a:t>
            </a:r>
          </a:p>
        </p:txBody>
      </p:sp>
      <p:pic>
        <p:nvPicPr>
          <p:cNvPr id="5" name="Picture 4" descr="A picture containing application, table&#10;&#10;Description automatically generated">
            <a:extLst>
              <a:ext uri="{FF2B5EF4-FFF2-40B4-BE49-F238E27FC236}">
                <a16:creationId xmlns:a16="http://schemas.microsoft.com/office/drawing/2014/main" id="{617E7F0F-579D-E246-9995-A92A3B1CB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56792"/>
            <a:ext cx="9144000" cy="4840941"/>
          </a:xfrm>
          <a:prstGeom prst="rect">
            <a:avLst/>
          </a:prstGeom>
        </p:spPr>
      </p:pic>
    </p:spTree>
    <p:extLst>
      <p:ext uri="{BB962C8B-B14F-4D97-AF65-F5344CB8AC3E}">
        <p14:creationId xmlns:p14="http://schemas.microsoft.com/office/powerpoint/2010/main" val="1357315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B5F5F-7A4F-CD4A-AC9C-A89B2FD1DDF2}"/>
              </a:ext>
            </a:extLst>
          </p:cNvPr>
          <p:cNvSpPr>
            <a:spLocks noGrp="1"/>
          </p:cNvSpPr>
          <p:nvPr>
            <p:ph type="title"/>
          </p:nvPr>
        </p:nvSpPr>
        <p:spPr>
          <a:xfrm>
            <a:off x="3724072" y="629268"/>
            <a:ext cx="4939868" cy="1286160"/>
          </a:xfrm>
        </p:spPr>
        <p:txBody>
          <a:bodyPr anchor="b">
            <a:normAutofit/>
          </a:bodyPr>
          <a:lstStyle/>
          <a:p>
            <a:pPr>
              <a:lnSpc>
                <a:spcPct val="90000"/>
              </a:lnSpc>
            </a:pPr>
            <a:r>
              <a:rPr lang="en-US" sz="4100"/>
              <a:t>Innovation and entrepreneurship</a:t>
            </a:r>
          </a:p>
        </p:txBody>
      </p:sp>
      <p:sp>
        <p:nvSpPr>
          <p:cNvPr id="3" name="Content Placeholder 2">
            <a:extLst>
              <a:ext uri="{FF2B5EF4-FFF2-40B4-BE49-F238E27FC236}">
                <a16:creationId xmlns:a16="http://schemas.microsoft.com/office/drawing/2014/main" id="{08C9E543-9097-F942-A9D5-0361C581D93F}"/>
              </a:ext>
            </a:extLst>
          </p:cNvPr>
          <p:cNvSpPr>
            <a:spLocks noGrp="1"/>
          </p:cNvSpPr>
          <p:nvPr>
            <p:ph idx="1"/>
          </p:nvPr>
        </p:nvSpPr>
        <p:spPr>
          <a:xfrm>
            <a:off x="3724073" y="2438400"/>
            <a:ext cx="4939867" cy="3785419"/>
          </a:xfrm>
        </p:spPr>
        <p:txBody>
          <a:bodyPr>
            <a:normAutofit/>
          </a:bodyPr>
          <a:lstStyle/>
          <a:p>
            <a:pPr marL="0" indent="0">
              <a:buNone/>
            </a:pPr>
            <a:r>
              <a:rPr lang="en-GB" sz="1700" i="1" dirty="0"/>
              <a:t>‘Innovation is the specific tool of entrepreneurs, the means by which they exploit change as an opportunity for a different business or service. It is capable of being presented as a discipline, capable of being </a:t>
            </a:r>
            <a:r>
              <a:rPr lang="en-GB" sz="1700" i="1" dirty="0" err="1"/>
              <a:t>learned,capable</a:t>
            </a:r>
            <a:r>
              <a:rPr lang="en-GB" sz="1700" i="1" dirty="0"/>
              <a:t> of being practised’</a:t>
            </a:r>
          </a:p>
          <a:p>
            <a:endParaRPr lang="en-US" sz="1700" dirty="0"/>
          </a:p>
          <a:p>
            <a:pPr marL="0" indent="0">
              <a:buNone/>
            </a:pPr>
            <a:r>
              <a:rPr lang="en-US" sz="1700" dirty="0"/>
              <a:t>(Peter Drucker)</a:t>
            </a:r>
          </a:p>
        </p:txBody>
      </p:sp>
      <p:pic>
        <p:nvPicPr>
          <p:cNvPr id="5" name="Picture 4">
            <a:extLst>
              <a:ext uri="{FF2B5EF4-FFF2-40B4-BE49-F238E27FC236}">
                <a16:creationId xmlns:a16="http://schemas.microsoft.com/office/drawing/2014/main" id="{F9B2EA39-6005-4AFB-A2F1-EB04CA59C9EB}"/>
              </a:ext>
            </a:extLst>
          </p:cNvPr>
          <p:cNvPicPr>
            <a:picLocks noChangeAspect="1"/>
          </p:cNvPicPr>
          <p:nvPr/>
        </p:nvPicPr>
        <p:blipFill rotWithShape="1">
          <a:blip r:embed="rId2"/>
          <a:srcRect l="56540" r="12282"/>
          <a:stretch/>
        </p:blipFill>
        <p:spPr>
          <a:xfrm>
            <a:off x="20" y="10"/>
            <a:ext cx="3476673"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F5E83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851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9656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8" y="221133"/>
            <a:ext cx="6187350" cy="917864"/>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Innovation &amp; Entrepreneurship</a:t>
            </a:r>
          </a:p>
        </p:txBody>
      </p:sp>
      <p:sp>
        <p:nvSpPr>
          <p:cNvPr id="8" name="Rectangle 7"/>
          <p:cNvSpPr/>
          <p:nvPr/>
        </p:nvSpPr>
        <p:spPr>
          <a:xfrm>
            <a:off x="458167" y="1578881"/>
            <a:ext cx="8478016" cy="2215991"/>
          </a:xfrm>
          <a:prstGeom prst="rect">
            <a:avLst/>
          </a:prstGeom>
        </p:spPr>
        <p:txBody>
          <a:bodyPr wrap="square">
            <a:spAutoFit/>
          </a:bodyPr>
          <a:lstStyle/>
          <a:p>
            <a:endParaRPr lang="en-US" sz="2800" i="1" dirty="0">
              <a:solidFill>
                <a:srgbClr val="000090"/>
              </a:solidFill>
            </a:endParaRPr>
          </a:p>
          <a:p>
            <a:endParaRPr lang="en-US" sz="2800" dirty="0">
              <a:solidFill>
                <a:srgbClr val="000090"/>
              </a:solidFill>
            </a:endParaRPr>
          </a:p>
          <a:p>
            <a:pPr lvl="0"/>
            <a:endParaRPr lang="en-GB" sz="2600" dirty="0"/>
          </a:p>
          <a:p>
            <a:r>
              <a:rPr lang="en-GB" sz="2800" dirty="0"/>
              <a:t> </a:t>
            </a:r>
          </a:p>
          <a:p>
            <a:endParaRPr lang="en-GB" sz="2800" dirty="0"/>
          </a:p>
        </p:txBody>
      </p:sp>
      <p:graphicFrame>
        <p:nvGraphicFramePr>
          <p:cNvPr id="39938" name="Object 2"/>
          <p:cNvGraphicFramePr>
            <a:graphicFrameLocks noChangeAspect="1"/>
          </p:cNvGraphicFramePr>
          <p:nvPr/>
        </p:nvGraphicFramePr>
        <p:xfrm>
          <a:off x="359527" y="1522144"/>
          <a:ext cx="8478016" cy="5024288"/>
        </p:xfrm>
        <a:graphic>
          <a:graphicData uri="http://schemas.openxmlformats.org/presentationml/2006/ole">
            <mc:AlternateContent xmlns:mc="http://schemas.openxmlformats.org/markup-compatibility/2006">
              <mc:Choice xmlns:v="urn:schemas-microsoft-com:vml" Requires="v">
                <p:oleObj name="Document" r:id="rId2" imgW="0" imgH="0" progId="Word.Document.12">
                  <p:link updateAutomatic="1"/>
                </p:oleObj>
              </mc:Choice>
              <mc:Fallback>
                <p:oleObj name="Document" r:id="rId2" imgW="0" imgH="0" progId="Word.Document.12">
                  <p:link updateAutomatic="1"/>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59527" y="1522144"/>
                        <a:ext cx="8478016" cy="5024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9" name="Table 8"/>
          <p:cNvGraphicFramePr>
            <a:graphicFrameLocks noGrp="1"/>
          </p:cNvGraphicFramePr>
          <p:nvPr/>
        </p:nvGraphicFramePr>
        <p:xfrm>
          <a:off x="458167" y="1536893"/>
          <a:ext cx="8161119" cy="4571588"/>
        </p:xfrm>
        <a:graphic>
          <a:graphicData uri="http://schemas.openxmlformats.org/drawingml/2006/table">
            <a:tbl>
              <a:tblPr/>
              <a:tblGrid>
                <a:gridCol w="1575468">
                  <a:extLst>
                    <a:ext uri="{9D8B030D-6E8A-4147-A177-3AD203B41FA5}">
                      <a16:colId xmlns:a16="http://schemas.microsoft.com/office/drawing/2014/main" val="20000"/>
                    </a:ext>
                  </a:extLst>
                </a:gridCol>
                <a:gridCol w="1575468">
                  <a:extLst>
                    <a:ext uri="{9D8B030D-6E8A-4147-A177-3AD203B41FA5}">
                      <a16:colId xmlns:a16="http://schemas.microsoft.com/office/drawing/2014/main" val="20001"/>
                    </a:ext>
                  </a:extLst>
                </a:gridCol>
                <a:gridCol w="1853910">
                  <a:extLst>
                    <a:ext uri="{9D8B030D-6E8A-4147-A177-3AD203B41FA5}">
                      <a16:colId xmlns:a16="http://schemas.microsoft.com/office/drawing/2014/main" val="20002"/>
                    </a:ext>
                  </a:extLst>
                </a:gridCol>
                <a:gridCol w="1579916">
                  <a:extLst>
                    <a:ext uri="{9D8B030D-6E8A-4147-A177-3AD203B41FA5}">
                      <a16:colId xmlns:a16="http://schemas.microsoft.com/office/drawing/2014/main" val="20003"/>
                    </a:ext>
                  </a:extLst>
                </a:gridCol>
                <a:gridCol w="1576357">
                  <a:extLst>
                    <a:ext uri="{9D8B030D-6E8A-4147-A177-3AD203B41FA5}">
                      <a16:colId xmlns:a16="http://schemas.microsoft.com/office/drawing/2014/main" val="20004"/>
                    </a:ext>
                  </a:extLst>
                </a:gridCol>
              </a:tblGrid>
              <a:tr h="460260">
                <a:tc>
                  <a:txBody>
                    <a:bodyPr/>
                    <a:lstStyle/>
                    <a:p>
                      <a:r>
                        <a:rPr lang="en-GB" sz="1600" b="1" i="1" dirty="0">
                          <a:solidFill>
                            <a:srgbClr val="000000"/>
                          </a:solidFill>
                          <a:latin typeface="Calibri"/>
                          <a:ea typeface="Arial"/>
                          <a:cs typeface="Arial"/>
                        </a:rPr>
                        <a:t>Stage in life cycle </a:t>
                      </a:r>
                      <a:endParaRPr lang="en-GB" sz="16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1C374"/>
                    </a:solidFill>
                  </a:tcPr>
                </a:tc>
                <a:tc>
                  <a:txBody>
                    <a:bodyPr/>
                    <a:lstStyle/>
                    <a:p>
                      <a:r>
                        <a:rPr lang="en-GB" sz="1600" b="1" i="1" dirty="0">
                          <a:solidFill>
                            <a:srgbClr val="000000"/>
                          </a:solidFill>
                          <a:latin typeface="Calibri"/>
                          <a:ea typeface="Arial"/>
                          <a:cs typeface="Arial"/>
                        </a:rPr>
                        <a:t>Start-up</a:t>
                      </a:r>
                      <a:endParaRPr lang="en-GB" sz="16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1C374"/>
                    </a:solidFill>
                  </a:tcPr>
                </a:tc>
                <a:tc>
                  <a:txBody>
                    <a:bodyPr/>
                    <a:lstStyle/>
                    <a:p>
                      <a:r>
                        <a:rPr lang="en-GB" sz="1600" b="1" i="1" dirty="0">
                          <a:solidFill>
                            <a:srgbClr val="000000"/>
                          </a:solidFill>
                          <a:latin typeface="Calibri"/>
                          <a:ea typeface="Arial"/>
                          <a:cs typeface="Arial"/>
                        </a:rPr>
                        <a:t>Growth</a:t>
                      </a:r>
                      <a:endParaRPr lang="en-GB" sz="16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1C374"/>
                    </a:solidFill>
                  </a:tcPr>
                </a:tc>
                <a:tc>
                  <a:txBody>
                    <a:bodyPr/>
                    <a:lstStyle/>
                    <a:p>
                      <a:r>
                        <a:rPr lang="en-GB" sz="1600" b="1" i="1" dirty="0">
                          <a:solidFill>
                            <a:srgbClr val="000000"/>
                          </a:solidFill>
                          <a:latin typeface="Calibri"/>
                          <a:ea typeface="Arial"/>
                          <a:cs typeface="Arial"/>
                        </a:rPr>
                        <a:t>Sustain/scale</a:t>
                      </a:r>
                      <a:endParaRPr lang="en-GB" sz="16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1C374"/>
                    </a:solidFill>
                  </a:tcPr>
                </a:tc>
                <a:tc>
                  <a:txBody>
                    <a:bodyPr/>
                    <a:lstStyle/>
                    <a:p>
                      <a:r>
                        <a:rPr lang="en-GB" sz="1600" b="1" i="1" dirty="0">
                          <a:solidFill>
                            <a:srgbClr val="000000"/>
                          </a:solidFill>
                          <a:latin typeface="Calibri"/>
                          <a:ea typeface="Arial"/>
                          <a:cs typeface="Arial"/>
                        </a:rPr>
                        <a:t>Renew</a:t>
                      </a:r>
                      <a:endParaRPr lang="en-GB" sz="16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1C374"/>
                    </a:solidFill>
                  </a:tcPr>
                </a:tc>
                <a:extLst>
                  <a:ext uri="{0D108BD9-81ED-4DB2-BD59-A6C34878D82A}">
                    <a16:rowId xmlns:a16="http://schemas.microsoft.com/office/drawing/2014/main" val="10000"/>
                  </a:ext>
                </a:extLst>
              </a:tr>
              <a:tr h="1812275">
                <a:tc>
                  <a:txBody>
                    <a:bodyPr/>
                    <a:lstStyle/>
                    <a:p>
                      <a:r>
                        <a:rPr lang="en-GB" sz="1600" b="1" i="1" dirty="0">
                          <a:solidFill>
                            <a:srgbClr val="000000"/>
                          </a:solidFill>
                          <a:latin typeface="Calibri"/>
                          <a:ea typeface="Arial"/>
                          <a:cs typeface="Arial"/>
                        </a:rPr>
                        <a:t>Creating wealth</a:t>
                      </a:r>
                      <a:endParaRPr lang="en-GB" sz="16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1C374"/>
                    </a:solidFill>
                  </a:tcPr>
                </a:tc>
                <a:tc>
                  <a:txBody>
                    <a:bodyPr/>
                    <a:lstStyle/>
                    <a:p>
                      <a:r>
                        <a:rPr lang="en-GB" sz="1400" dirty="0">
                          <a:solidFill>
                            <a:srgbClr val="000000"/>
                          </a:solidFill>
                          <a:latin typeface="Calibri"/>
                          <a:ea typeface="Arial"/>
                          <a:cs typeface="Arial"/>
                        </a:rPr>
                        <a:t>Individual entrepreneur exploiting new technology or market opportunity</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GB" sz="1400" dirty="0">
                          <a:solidFill>
                            <a:srgbClr val="000000"/>
                          </a:solidFill>
                          <a:latin typeface="Calibri"/>
                          <a:ea typeface="Arial"/>
                          <a:cs typeface="Arial"/>
                        </a:rPr>
                        <a:t>Growing the business through adding new products/services or moving into new markets</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GB" sz="1400" dirty="0">
                          <a:solidFill>
                            <a:srgbClr val="000000"/>
                          </a:solidFill>
                          <a:latin typeface="Calibri"/>
                          <a:ea typeface="Arial"/>
                          <a:cs typeface="Arial"/>
                        </a:rPr>
                        <a:t>Building a portfolio of incremental and radical innovation to sustain the business and/or spread its influence into new markets</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GB" sz="1400" dirty="0">
                          <a:solidFill>
                            <a:srgbClr val="000000"/>
                          </a:solidFill>
                          <a:latin typeface="Calibri"/>
                          <a:ea typeface="Arial"/>
                          <a:cs typeface="Arial"/>
                        </a:rPr>
                        <a:t>Returning to the radical frame-breaking kind of innovation which began the business and enables it to move forward as something very different</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63668">
                <a:tc>
                  <a:txBody>
                    <a:bodyPr/>
                    <a:lstStyle/>
                    <a:p>
                      <a:r>
                        <a:rPr lang="en-GB" sz="1600" b="1" i="1" dirty="0">
                          <a:solidFill>
                            <a:srgbClr val="000000"/>
                          </a:solidFill>
                          <a:latin typeface="Calibri"/>
                          <a:ea typeface="Arial"/>
                          <a:cs typeface="Arial"/>
                        </a:rPr>
                        <a:t>Creating social value</a:t>
                      </a:r>
                      <a:endParaRPr lang="en-GB" sz="16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1C374"/>
                    </a:solidFill>
                  </a:tcPr>
                </a:tc>
                <a:tc>
                  <a:txBody>
                    <a:bodyPr/>
                    <a:lstStyle/>
                    <a:p>
                      <a:r>
                        <a:rPr lang="en-GB" sz="1400" dirty="0">
                          <a:solidFill>
                            <a:srgbClr val="000000"/>
                          </a:solidFill>
                          <a:latin typeface="Calibri"/>
                          <a:ea typeface="Arial"/>
                          <a:cs typeface="Arial"/>
                        </a:rPr>
                        <a:t>Social entrepreneur, passionately concerned to improve or change something in their immediate environment</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GB" sz="1400" dirty="0">
                          <a:solidFill>
                            <a:srgbClr val="000000"/>
                          </a:solidFill>
                          <a:latin typeface="Calibri"/>
                          <a:ea typeface="Arial"/>
                          <a:cs typeface="Arial"/>
                        </a:rPr>
                        <a:t>Developing the ideas and engaging others in a network for change – perhaps in a region or around a key issue</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GB" sz="1400" dirty="0">
                          <a:solidFill>
                            <a:srgbClr val="000000"/>
                          </a:solidFill>
                          <a:latin typeface="Calibri"/>
                          <a:ea typeface="Arial"/>
                          <a:cs typeface="Arial"/>
                        </a:rPr>
                        <a:t>Spreading the idea widely, diffusing it to other communities of social entrepreneurs, engaging links with mainstream players like public sector agencies</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en-GB" sz="1400" dirty="0">
                          <a:solidFill>
                            <a:srgbClr val="000000"/>
                          </a:solidFill>
                          <a:latin typeface="Calibri"/>
                          <a:ea typeface="Arial"/>
                          <a:cs typeface="Arial"/>
                        </a:rPr>
                        <a:t>Changing the system - and then acting as agent for next wave of change</a:t>
                      </a:r>
                      <a:endParaRPr lang="en-GB" sz="1400" dirty="0">
                        <a:latin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34846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28650" y="556995"/>
            <a:ext cx="7886700" cy="1133693"/>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kumimoji="0" lang="en-US" sz="4500" b="1" i="0" u="none" strike="noStrike" kern="1200" cap="none" spc="0" normalizeH="0" baseline="0" noProof="0">
                <a:ln>
                  <a:noFill/>
                </a:ln>
                <a:solidFill>
                  <a:schemeClr val="tx1"/>
                </a:solidFill>
                <a:effectLst/>
                <a:uLnTx/>
                <a:uFillTx/>
                <a:latin typeface="+mj-lt"/>
                <a:ea typeface="+mj-ea"/>
                <a:cs typeface="+mj-cs"/>
              </a:rPr>
              <a:t>Hidden innovation</a:t>
            </a:r>
          </a:p>
        </p:txBody>
      </p:sp>
      <p:cxnSp>
        <p:nvCxnSpPr>
          <p:cNvPr id="5" name="Straight Connector 4"/>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9" name="Content Placeholder 2">
            <a:extLst>
              <a:ext uri="{FF2B5EF4-FFF2-40B4-BE49-F238E27FC236}">
                <a16:creationId xmlns:a16="http://schemas.microsoft.com/office/drawing/2014/main" id="{C8F423CC-D84E-4DFB-A0A2-307F0217C6FA}"/>
              </a:ext>
            </a:extLst>
          </p:cNvPr>
          <p:cNvGraphicFramePr>
            <a:graphicFrameLocks noGrp="1"/>
          </p:cNvGraphicFramePr>
          <p:nvPr>
            <p:ph idx="1"/>
            <p:extLst>
              <p:ext uri="{D42A27DB-BD31-4B8C-83A1-F6EECF244321}">
                <p14:modId xmlns:p14="http://schemas.microsoft.com/office/powerpoint/2010/main" val="136586748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3184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207818" y="1153572"/>
            <a:ext cx="2917636" cy="4461163"/>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4400" b="1" kern="1200" dirty="0">
                <a:solidFill>
                  <a:srgbClr val="FFFFFF"/>
                </a:solidFill>
                <a:latin typeface="+mj-lt"/>
                <a:ea typeface="+mj-ea"/>
                <a:cs typeface="+mj-cs"/>
              </a:rPr>
              <a:t>Examples of ‘h</a:t>
            </a:r>
            <a:r>
              <a:rPr kumimoji="0" lang="en-US" sz="4400" b="1" i="0" u="none" strike="noStrike" kern="1200" cap="none" spc="0" normalizeH="0" baseline="0" noProof="0" dirty="0" err="1">
                <a:ln>
                  <a:noFill/>
                </a:ln>
                <a:solidFill>
                  <a:srgbClr val="FFFFFF"/>
                </a:solidFill>
                <a:effectLst/>
                <a:uLnTx/>
                <a:uFillTx/>
                <a:latin typeface="+mj-lt"/>
                <a:ea typeface="+mj-ea"/>
                <a:cs typeface="+mj-cs"/>
              </a:rPr>
              <a:t>idden</a:t>
            </a:r>
            <a:r>
              <a:rPr kumimoji="0" lang="en-US" sz="4400" b="1" i="0" u="none" strike="noStrike" kern="1200" cap="none" spc="0" normalizeH="0" baseline="0" noProof="0" dirty="0">
                <a:ln>
                  <a:noFill/>
                </a:ln>
                <a:solidFill>
                  <a:srgbClr val="FFFFFF"/>
                </a:solidFill>
                <a:effectLst/>
                <a:uLnTx/>
                <a:uFillTx/>
                <a:latin typeface="+mj-lt"/>
                <a:ea typeface="+mj-ea"/>
                <a:cs typeface="+mj-cs"/>
              </a:rPr>
              <a:t>’ innovation</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endParaRPr lang="en-US" sz="2200"/>
          </a:p>
          <a:p>
            <a:pPr indent="-228600">
              <a:lnSpc>
                <a:spcPct val="90000"/>
              </a:lnSpc>
            </a:pPr>
            <a:r>
              <a:rPr lang="en-US" sz="2200"/>
              <a:t> Type I: the development of new technologies in oil exploration. </a:t>
            </a:r>
          </a:p>
          <a:p>
            <a:pPr indent="-228600">
              <a:lnSpc>
                <a:spcPct val="90000"/>
              </a:lnSpc>
            </a:pPr>
            <a:r>
              <a:rPr lang="en-US" sz="2200"/>
              <a:t>Type II: the development of new contractual relationships between suppliers and clients on major construction projects. </a:t>
            </a:r>
          </a:p>
          <a:p>
            <a:pPr indent="-228600">
              <a:lnSpc>
                <a:spcPct val="90000"/>
              </a:lnSpc>
            </a:pPr>
            <a:r>
              <a:rPr lang="en-US" sz="2200"/>
              <a:t>Type III: the way in which banks have integrated their various back office IT systems to deliver innovative customer services such as Internet banking. </a:t>
            </a:r>
          </a:p>
          <a:p>
            <a:pPr indent="-228600">
              <a:lnSpc>
                <a:spcPct val="90000"/>
              </a:lnSpc>
            </a:pPr>
            <a:r>
              <a:rPr lang="en-US" sz="2200"/>
              <a:t>Type IV: the everyday innovation that occurs in classrooms and multidisciplinary construction teams</a:t>
            </a:r>
          </a:p>
          <a:p>
            <a:pPr indent="-228600">
              <a:lnSpc>
                <a:spcPct val="90000"/>
              </a:lnSpc>
            </a:pPr>
            <a:endParaRPr lang="en-US" sz="2200"/>
          </a:p>
        </p:txBody>
      </p:sp>
      <p:cxnSp>
        <p:nvCxnSpPr>
          <p:cNvPr id="5" name="Straight Connector 4"/>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2399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AC795-0E85-6E49-8B50-D0254283CAD5}"/>
              </a:ext>
            </a:extLst>
          </p:cNvPr>
          <p:cNvSpPr>
            <a:spLocks noGrp="1"/>
          </p:cNvSpPr>
          <p:nvPr>
            <p:ph type="title"/>
          </p:nvPr>
        </p:nvSpPr>
        <p:spPr/>
        <p:txBody>
          <a:bodyPr/>
          <a:lstStyle/>
          <a:p>
            <a:r>
              <a:rPr lang="en-US" dirty="0"/>
              <a:t>Investments in innovation</a:t>
            </a:r>
          </a:p>
        </p:txBody>
      </p:sp>
      <p:pic>
        <p:nvPicPr>
          <p:cNvPr id="5" name="Picture 4" descr="Chart, line chart&#10;&#10;Description automatically generated">
            <a:extLst>
              <a:ext uri="{FF2B5EF4-FFF2-40B4-BE49-F238E27FC236}">
                <a16:creationId xmlns:a16="http://schemas.microsoft.com/office/drawing/2014/main" id="{A8A4E2DA-2F47-3341-A983-1546831CA3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350" y="1417638"/>
            <a:ext cx="8623300" cy="5410200"/>
          </a:xfrm>
          <a:prstGeom prst="rect">
            <a:avLst/>
          </a:prstGeom>
        </p:spPr>
      </p:pic>
    </p:spTree>
    <p:extLst>
      <p:ext uri="{BB962C8B-B14F-4D97-AF65-F5344CB8AC3E}">
        <p14:creationId xmlns:p14="http://schemas.microsoft.com/office/powerpoint/2010/main" val="2400820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2CDE7B-1BE1-7543-80CC-532FD51CE137}"/>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Challenges on the innovation horizon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89ACF1D-E80A-6947-A165-94B9CB01FF38}"/>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a:t>Accelerating knowledge production</a:t>
            </a:r>
          </a:p>
          <a:p>
            <a:pPr>
              <a:lnSpc>
                <a:spcPct val="90000"/>
              </a:lnSpc>
            </a:pPr>
            <a:r>
              <a:rPr lang="en-US" sz="2500" err="1"/>
              <a:t>Globalisation</a:t>
            </a:r>
            <a:r>
              <a:rPr lang="en-US" sz="2500"/>
              <a:t> of knowledge production</a:t>
            </a:r>
          </a:p>
          <a:p>
            <a:pPr>
              <a:lnSpc>
                <a:spcPct val="90000"/>
              </a:lnSpc>
            </a:pPr>
            <a:r>
              <a:rPr lang="en-US" sz="2500"/>
              <a:t>Market expansion – now &lt;7billion people</a:t>
            </a:r>
          </a:p>
          <a:p>
            <a:pPr>
              <a:lnSpc>
                <a:spcPct val="90000"/>
              </a:lnSpc>
            </a:pPr>
            <a:r>
              <a:rPr lang="en-US" sz="2500"/>
              <a:t>Market globalization and fragmentation</a:t>
            </a:r>
          </a:p>
          <a:p>
            <a:pPr>
              <a:lnSpc>
                <a:spcPct val="90000"/>
              </a:lnSpc>
            </a:pPr>
            <a:r>
              <a:rPr lang="en-US" sz="2500"/>
              <a:t>Market virtualization</a:t>
            </a:r>
          </a:p>
          <a:p>
            <a:pPr>
              <a:lnSpc>
                <a:spcPct val="90000"/>
              </a:lnSpc>
            </a:pPr>
            <a:r>
              <a:rPr lang="en-US" sz="2500"/>
              <a:t>Rise of active users/demand for customization</a:t>
            </a:r>
          </a:p>
          <a:p>
            <a:pPr>
              <a:lnSpc>
                <a:spcPct val="90000"/>
              </a:lnSpc>
            </a:pPr>
            <a:r>
              <a:rPr lang="en-US" sz="2500"/>
              <a:t>Growing concern with sustainability challenges</a:t>
            </a:r>
          </a:p>
          <a:p>
            <a:pPr>
              <a:lnSpc>
                <a:spcPct val="90000"/>
              </a:lnSpc>
            </a:pPr>
            <a:r>
              <a:rPr lang="en-US" sz="2500"/>
              <a:t>Shifting technological and social infrastructures</a:t>
            </a:r>
          </a:p>
          <a:p>
            <a:pPr>
              <a:lnSpc>
                <a:spcPct val="90000"/>
              </a:lnSpc>
            </a:pPr>
            <a:endParaRPr lang="en-US" sz="2500"/>
          </a:p>
          <a:p>
            <a:pPr>
              <a:lnSpc>
                <a:spcPct val="90000"/>
              </a:lnSpc>
            </a:pPr>
            <a:endParaRPr lang="en-US" sz="2500"/>
          </a:p>
        </p:txBody>
      </p:sp>
    </p:spTree>
    <p:extLst>
      <p:ext uri="{BB962C8B-B14F-4D97-AF65-F5344CB8AC3E}">
        <p14:creationId xmlns:p14="http://schemas.microsoft.com/office/powerpoint/2010/main" val="3208175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BE13B5-CF50-2F47-8BC3-8DBE4C07D0E7}"/>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Innovation isn’t easy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0FE145A-9A28-D043-976D-8B1259AEF01F}"/>
              </a:ext>
            </a:extLst>
          </p:cNvPr>
          <p:cNvSpPr>
            <a:spLocks noGrp="1"/>
          </p:cNvSpPr>
          <p:nvPr>
            <p:ph idx="1"/>
          </p:nvPr>
        </p:nvSpPr>
        <p:spPr>
          <a:xfrm>
            <a:off x="3335481" y="591344"/>
            <a:ext cx="5179868" cy="5585619"/>
          </a:xfrm>
        </p:spPr>
        <p:txBody>
          <a:bodyPr anchor="ctr">
            <a:normAutofit/>
          </a:bodyPr>
          <a:lstStyle/>
          <a:p>
            <a:pPr marL="0" indent="0">
              <a:buNone/>
            </a:pPr>
            <a:r>
              <a:rPr lang="en-US" sz="2400" dirty="0"/>
              <a:t>Barriers to innovation include:</a:t>
            </a:r>
            <a:endParaRPr lang="en-GB" sz="2400" dirty="0"/>
          </a:p>
          <a:p>
            <a:endParaRPr lang="en-GB" sz="2400" dirty="0"/>
          </a:p>
          <a:p>
            <a:pPr lvl="1">
              <a:buFont typeface="Arial"/>
              <a:buChar char="•"/>
            </a:pPr>
            <a:r>
              <a:rPr lang="en-US" sz="2400" dirty="0"/>
              <a:t> Seeing innovation as ideas, not managing the whole journey;</a:t>
            </a:r>
            <a:endParaRPr lang="en-GB" sz="2400" dirty="0"/>
          </a:p>
          <a:p>
            <a:pPr lvl="1">
              <a:buFont typeface="Arial"/>
              <a:buChar char="•"/>
            </a:pPr>
            <a:r>
              <a:rPr lang="en-US" sz="2400" dirty="0"/>
              <a:t> Not recognizing the need for change;</a:t>
            </a:r>
            <a:endParaRPr lang="en-GB" sz="2400" dirty="0"/>
          </a:p>
          <a:p>
            <a:pPr lvl="1">
              <a:buFont typeface="Arial"/>
              <a:buChar char="•"/>
            </a:pPr>
            <a:r>
              <a:rPr lang="en-US" sz="2400" dirty="0"/>
              <a:t> Mindset and complacency – core competence becomes core rigidity;</a:t>
            </a:r>
            <a:endParaRPr lang="en-GB" sz="2400" dirty="0"/>
          </a:p>
          <a:p>
            <a:pPr lvl="1">
              <a:buFont typeface="Arial"/>
              <a:buChar char="•"/>
            </a:pPr>
            <a:r>
              <a:rPr lang="en-US" sz="2400" dirty="0"/>
              <a:t> Closed information network, insulated from new ideas.</a:t>
            </a:r>
            <a:endParaRPr lang="en-GB" sz="2400" dirty="0"/>
          </a:p>
          <a:p>
            <a:endParaRPr lang="en-US" sz="1700" dirty="0"/>
          </a:p>
        </p:txBody>
      </p:sp>
    </p:spTree>
    <p:extLst>
      <p:ext uri="{BB962C8B-B14F-4D97-AF65-F5344CB8AC3E}">
        <p14:creationId xmlns:p14="http://schemas.microsoft.com/office/powerpoint/2010/main" val="48041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c 13">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6131316" y="457951"/>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1"/>
          <p:cNvSpPr txBox="1">
            <a:spLocks/>
          </p:cNvSpPr>
          <p:nvPr/>
        </p:nvSpPr>
        <p:spPr>
          <a:xfrm>
            <a:off x="628650" y="365125"/>
            <a:ext cx="7886700" cy="1325563"/>
          </a:xfrm>
          <a:prstGeom prst="rect">
            <a:avLst/>
          </a:prstGeom>
        </p:spPr>
        <p:txBody>
          <a:bodyPr vert="horz" lIns="91440" tIns="45720" rIns="91440" bIns="45720" rtlCol="0" anchor="ctr">
            <a:normAutofit/>
          </a:bodyPr>
          <a:lstStyle/>
          <a:p>
            <a:pPr lvl="0" algn="ctr">
              <a:lnSpc>
                <a:spcPct val="90000"/>
              </a:lnSpc>
              <a:spcBef>
                <a:spcPct val="0"/>
              </a:spcBef>
              <a:spcAft>
                <a:spcPts val="600"/>
              </a:spcAft>
              <a:defRPr/>
            </a:pPr>
            <a:r>
              <a:rPr lang="en-US" sz="4400" b="1" kern="1200">
                <a:solidFill>
                  <a:schemeClr val="tx1"/>
                </a:solidFill>
                <a:latin typeface="+mj-lt"/>
                <a:ea typeface="+mj-ea"/>
                <a:cs typeface="+mj-cs"/>
              </a:rPr>
              <a:t>Successful innovators...</a:t>
            </a:r>
          </a:p>
        </p:txBody>
      </p:sp>
      <p:cxnSp>
        <p:nvCxnSpPr>
          <p:cNvPr id="6" name="Straight Connector 5"/>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51A34385-9750-4D3D-8384-C7DD6B43E701}"/>
              </a:ext>
            </a:extLst>
          </p:cNvPr>
          <p:cNvGraphicFramePr>
            <a:graphicFrameLocks noGrp="1"/>
          </p:cNvGraphicFramePr>
          <p:nvPr>
            <p:ph idx="1"/>
            <p:extLst>
              <p:ext uri="{D42A27DB-BD31-4B8C-83A1-F6EECF244321}">
                <p14:modId xmlns:p14="http://schemas.microsoft.com/office/powerpoint/2010/main" val="313276693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9680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763688" y="332656"/>
            <a:ext cx="5439574" cy="917864"/>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en-GB" sz="3600" b="1" dirty="0">
                <a:solidFill>
                  <a:srgbClr val="008000"/>
                </a:solidFill>
                <a:latin typeface="+mj-lt"/>
                <a:ea typeface="+mj-ea"/>
                <a:cs typeface="+mj-cs"/>
              </a:rPr>
              <a:t>A process model for innovation</a:t>
            </a:r>
            <a:endParaRPr kumimoji="0" lang="en-GB" sz="3600" b="1" i="0" u="none" strike="noStrike" kern="1200" cap="none" spc="0" normalizeH="0" baseline="0" noProof="0" dirty="0">
              <a:ln>
                <a:noFill/>
              </a:ln>
              <a:solidFill>
                <a:srgbClr val="008000"/>
              </a:solidFill>
              <a:effectLst/>
              <a:uLnTx/>
              <a:uFillTx/>
              <a:latin typeface="+mj-lt"/>
              <a:ea typeface="+mj-ea"/>
              <a:cs typeface="+mj-cs"/>
            </a:endParaRPr>
          </a:p>
        </p:txBody>
      </p:sp>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3" name="Picture 2" descr="A picture containing timeline&#10;&#10;Description automatically generated">
            <a:extLst>
              <a:ext uri="{FF2B5EF4-FFF2-40B4-BE49-F238E27FC236}">
                <a16:creationId xmlns:a16="http://schemas.microsoft.com/office/drawing/2014/main" id="{0C11BBA4-B419-F947-A1E6-BF96D68A3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8178"/>
            <a:ext cx="9144000" cy="5162939"/>
          </a:xfrm>
          <a:prstGeom prst="rect">
            <a:avLst/>
          </a:prstGeom>
        </p:spPr>
      </p:pic>
    </p:spTree>
    <p:extLst>
      <p:ext uri="{BB962C8B-B14F-4D97-AF65-F5344CB8AC3E}">
        <p14:creationId xmlns:p14="http://schemas.microsoft.com/office/powerpoint/2010/main" val="2963130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B3EC-6D6B-5049-A499-C5419E3D8816}"/>
              </a:ext>
            </a:extLst>
          </p:cNvPr>
          <p:cNvSpPr>
            <a:spLocks noGrp="1"/>
          </p:cNvSpPr>
          <p:nvPr>
            <p:ph type="title"/>
          </p:nvPr>
        </p:nvSpPr>
        <p:spPr/>
        <p:txBody>
          <a:bodyPr/>
          <a:lstStyle/>
          <a:p>
            <a:r>
              <a:rPr lang="en-US" dirty="0"/>
              <a:t>Scope for innovation</a:t>
            </a:r>
          </a:p>
        </p:txBody>
      </p:sp>
      <p:pic>
        <p:nvPicPr>
          <p:cNvPr id="5" name="Picture 4" descr="Chart, diagram&#10;&#10;Description automatically generated">
            <a:extLst>
              <a:ext uri="{FF2B5EF4-FFF2-40B4-BE49-F238E27FC236}">
                <a16:creationId xmlns:a16="http://schemas.microsoft.com/office/drawing/2014/main" id="{AA695217-69DF-1440-A8C8-5511E39BB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628800"/>
            <a:ext cx="5550227" cy="4653136"/>
          </a:xfrm>
          <a:prstGeom prst="rect">
            <a:avLst/>
          </a:prstGeom>
        </p:spPr>
      </p:pic>
    </p:spTree>
    <p:extLst>
      <p:ext uri="{BB962C8B-B14F-4D97-AF65-F5344CB8AC3E}">
        <p14:creationId xmlns:p14="http://schemas.microsoft.com/office/powerpoint/2010/main" val="3936335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58167" y="1818661"/>
          <a:ext cx="8471552" cy="4331453"/>
        </p:xfrm>
        <a:graphic>
          <a:graphicData uri="http://schemas.openxmlformats.org/drawingml/2006/table">
            <a:tbl>
              <a:tblPr/>
              <a:tblGrid>
                <a:gridCol w="4235776">
                  <a:extLst>
                    <a:ext uri="{9D8B030D-6E8A-4147-A177-3AD203B41FA5}">
                      <a16:colId xmlns:a16="http://schemas.microsoft.com/office/drawing/2014/main" val="20000"/>
                    </a:ext>
                  </a:extLst>
                </a:gridCol>
                <a:gridCol w="4235776">
                  <a:extLst>
                    <a:ext uri="{9D8B030D-6E8A-4147-A177-3AD203B41FA5}">
                      <a16:colId xmlns:a16="http://schemas.microsoft.com/office/drawing/2014/main" val="20001"/>
                    </a:ext>
                  </a:extLst>
                </a:gridCol>
              </a:tblGrid>
              <a:tr h="481273">
                <a:tc>
                  <a:txBody>
                    <a:bodyPr/>
                    <a:lstStyle/>
                    <a:p>
                      <a:r>
                        <a:rPr lang="en-GB" sz="2400" b="1" dirty="0">
                          <a:solidFill>
                            <a:srgbClr val="000000"/>
                          </a:solidFill>
                          <a:latin typeface="Calibri"/>
                          <a:ea typeface="Arial"/>
                          <a:cs typeface="Arial"/>
                        </a:rPr>
                        <a:t>Dimension</a:t>
                      </a:r>
                      <a:endParaRPr lang="en-GB" sz="2400" b="1" dirty="0">
                        <a:latin typeface="Cambria"/>
                        <a:ea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tc>
                  <a:txBody>
                    <a:bodyPr/>
                    <a:lstStyle/>
                    <a:p>
                      <a:r>
                        <a:rPr lang="en-GB" sz="2400" b="1" dirty="0">
                          <a:solidFill>
                            <a:srgbClr val="000000"/>
                          </a:solidFill>
                          <a:latin typeface="Calibri"/>
                          <a:ea typeface="Arial"/>
                          <a:cs typeface="Arial"/>
                        </a:rPr>
                        <a:t>Type of change</a:t>
                      </a:r>
                      <a:endParaRPr lang="en-GB" sz="2400" b="1" dirty="0">
                        <a:latin typeface="Cambria"/>
                        <a:ea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extLst>
                  <a:ext uri="{0D108BD9-81ED-4DB2-BD59-A6C34878D82A}">
                    <a16:rowId xmlns:a16="http://schemas.microsoft.com/office/drawing/2014/main" val="10000"/>
                  </a:ext>
                </a:extLst>
              </a:tr>
              <a:tr h="962545">
                <a:tc>
                  <a:txBody>
                    <a:bodyPr/>
                    <a:lstStyle/>
                    <a:p>
                      <a:r>
                        <a:rPr lang="en-GB" sz="4400" dirty="0">
                          <a:solidFill>
                            <a:srgbClr val="000000"/>
                          </a:solidFill>
                          <a:latin typeface="Calibri"/>
                          <a:ea typeface="Arial"/>
                          <a:cs typeface="Arial"/>
                        </a:rPr>
                        <a:t>‘Product’ </a:t>
                      </a:r>
                      <a:endParaRPr lang="en-GB" sz="4400" dirty="0">
                        <a:latin typeface="Cambria"/>
                        <a:ea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tc>
                  <a:txBody>
                    <a:bodyPr/>
                    <a:lstStyle/>
                    <a:p>
                      <a:r>
                        <a:rPr lang="en-GB" sz="2000" dirty="0">
                          <a:solidFill>
                            <a:srgbClr val="000000"/>
                          </a:solidFill>
                          <a:latin typeface="Calibri"/>
                          <a:ea typeface="Arial"/>
                          <a:cs typeface="Arial"/>
                        </a:rPr>
                        <a:t>Changes in the things (products/services) which an organization offers</a:t>
                      </a:r>
                      <a:endParaRPr lang="en-GB" sz="2000" dirty="0">
                        <a:latin typeface="Cambria"/>
                        <a:ea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extLst>
                  <a:ext uri="{0D108BD9-81ED-4DB2-BD59-A6C34878D82A}">
                    <a16:rowId xmlns:a16="http://schemas.microsoft.com/office/drawing/2014/main" val="10001"/>
                  </a:ext>
                </a:extLst>
              </a:tr>
              <a:tr h="962545">
                <a:tc>
                  <a:txBody>
                    <a:bodyPr/>
                    <a:lstStyle/>
                    <a:p>
                      <a:r>
                        <a:rPr lang="en-GB" sz="4400" dirty="0">
                          <a:solidFill>
                            <a:srgbClr val="000000"/>
                          </a:solidFill>
                          <a:latin typeface="Calibri"/>
                          <a:ea typeface="Arial"/>
                          <a:cs typeface="Arial"/>
                        </a:rPr>
                        <a:t>‘Process’</a:t>
                      </a:r>
                      <a:endParaRPr lang="en-GB" sz="4400" dirty="0">
                        <a:latin typeface="Cambria"/>
                        <a:ea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tc>
                  <a:txBody>
                    <a:bodyPr/>
                    <a:lstStyle/>
                    <a:p>
                      <a:r>
                        <a:rPr lang="en-GB" sz="2000" dirty="0">
                          <a:solidFill>
                            <a:srgbClr val="000000"/>
                          </a:solidFill>
                          <a:latin typeface="Calibri"/>
                          <a:ea typeface="Arial"/>
                          <a:cs typeface="Arial"/>
                        </a:rPr>
                        <a:t>Changes in the ways in which these offerings are created and delivered</a:t>
                      </a:r>
                      <a:endParaRPr lang="en-GB" sz="2000" dirty="0">
                        <a:latin typeface="Cambria"/>
                        <a:ea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extLst>
                  <a:ext uri="{0D108BD9-81ED-4DB2-BD59-A6C34878D82A}">
                    <a16:rowId xmlns:a16="http://schemas.microsoft.com/office/drawing/2014/main" val="10002"/>
                  </a:ext>
                </a:extLst>
              </a:tr>
              <a:tr h="962545">
                <a:tc>
                  <a:txBody>
                    <a:bodyPr/>
                    <a:lstStyle/>
                    <a:p>
                      <a:pPr>
                        <a:spcAft>
                          <a:spcPts val="0"/>
                        </a:spcAft>
                      </a:pPr>
                      <a:r>
                        <a:rPr lang="en-GB" sz="4400" dirty="0">
                          <a:solidFill>
                            <a:srgbClr val="000000"/>
                          </a:solidFill>
                          <a:latin typeface="Calibri"/>
                          <a:ea typeface="Arial"/>
                          <a:cs typeface="Arial"/>
                        </a:rPr>
                        <a:t>‘Position’</a:t>
                      </a:r>
                      <a:endParaRPr lang="en-GB" sz="44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tc>
                  <a:txBody>
                    <a:bodyPr/>
                    <a:lstStyle/>
                    <a:p>
                      <a:pPr>
                        <a:spcAft>
                          <a:spcPts val="0"/>
                        </a:spcAft>
                      </a:pPr>
                      <a:r>
                        <a:rPr lang="en-GB" sz="2000" dirty="0">
                          <a:solidFill>
                            <a:srgbClr val="000000"/>
                          </a:solidFill>
                          <a:latin typeface="Calibri"/>
                          <a:ea typeface="Arial"/>
                          <a:cs typeface="Arial"/>
                        </a:rPr>
                        <a:t>Changes in the context into which the products/services are introduced </a:t>
                      </a:r>
                      <a:endParaRPr lang="en-GB"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extLst>
                  <a:ext uri="{0D108BD9-81ED-4DB2-BD59-A6C34878D82A}">
                    <a16:rowId xmlns:a16="http://schemas.microsoft.com/office/drawing/2014/main" val="10003"/>
                  </a:ext>
                </a:extLst>
              </a:tr>
              <a:tr h="962545">
                <a:tc>
                  <a:txBody>
                    <a:bodyPr/>
                    <a:lstStyle/>
                    <a:p>
                      <a:pPr>
                        <a:spcAft>
                          <a:spcPts val="0"/>
                        </a:spcAft>
                      </a:pPr>
                      <a:r>
                        <a:rPr lang="en-GB" sz="4400" dirty="0">
                          <a:solidFill>
                            <a:srgbClr val="000000"/>
                          </a:solidFill>
                          <a:latin typeface="Calibri"/>
                          <a:ea typeface="Arial"/>
                          <a:cs typeface="Arial"/>
                        </a:rPr>
                        <a:t>‘Paradigm’</a:t>
                      </a:r>
                      <a:endParaRPr lang="en-GB" sz="44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tc>
                  <a:txBody>
                    <a:bodyPr/>
                    <a:lstStyle/>
                    <a:p>
                      <a:r>
                        <a:rPr lang="en-GB" sz="2000" dirty="0">
                          <a:solidFill>
                            <a:srgbClr val="000000"/>
                          </a:solidFill>
                          <a:latin typeface="Calibri"/>
                          <a:ea typeface="Arial"/>
                          <a:cs typeface="Arial"/>
                        </a:rPr>
                        <a:t>Changes in the underlying mental models which frame what the organization does </a:t>
                      </a:r>
                      <a:endParaRPr lang="en-GB" sz="2000" dirty="0">
                        <a:latin typeface="Cambria"/>
                        <a:ea typeface="Cambri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4EED0"/>
                    </a:solidFill>
                  </a:tcPr>
                </a:tc>
                <a:extLst>
                  <a:ext uri="{0D108BD9-81ED-4DB2-BD59-A6C34878D82A}">
                    <a16:rowId xmlns:a16="http://schemas.microsoft.com/office/drawing/2014/main" val="10004"/>
                  </a:ext>
                </a:extLst>
              </a:tr>
            </a:tbl>
          </a:graphicData>
        </a:graphic>
      </p:graphicFrame>
      <p:sp>
        <p:nvSpPr>
          <p:cNvPr id="4" name="Title 1"/>
          <p:cNvSpPr txBox="1">
            <a:spLocks/>
          </p:cNvSpPr>
          <p:nvPr/>
        </p:nvSpPr>
        <p:spPr>
          <a:xfrm>
            <a:off x="899592" y="188640"/>
            <a:ext cx="7413503"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Dimensions of innovation – what can we change?</a:t>
            </a:r>
          </a:p>
        </p:txBody>
      </p:sp>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4509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476672"/>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Examples of the 4Ps model: Product</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11" name="Table 10"/>
          <p:cNvGraphicFramePr>
            <a:graphicFrameLocks noGrp="1"/>
          </p:cNvGraphicFramePr>
          <p:nvPr/>
        </p:nvGraphicFramePr>
        <p:xfrm>
          <a:off x="207445" y="2414514"/>
          <a:ext cx="8715436" cy="2939151"/>
        </p:xfrm>
        <a:graphic>
          <a:graphicData uri="http://schemas.openxmlformats.org/drawingml/2006/table">
            <a:tbl>
              <a:tblPr/>
              <a:tblGrid>
                <a:gridCol w="1852268">
                  <a:extLst>
                    <a:ext uri="{9D8B030D-6E8A-4147-A177-3AD203B41FA5}">
                      <a16:colId xmlns:a16="http://schemas.microsoft.com/office/drawing/2014/main" val="20000"/>
                    </a:ext>
                  </a:extLst>
                </a:gridCol>
                <a:gridCol w="3364651">
                  <a:extLst>
                    <a:ext uri="{9D8B030D-6E8A-4147-A177-3AD203B41FA5}">
                      <a16:colId xmlns:a16="http://schemas.microsoft.com/office/drawing/2014/main" val="20001"/>
                    </a:ext>
                  </a:extLst>
                </a:gridCol>
                <a:gridCol w="3498517">
                  <a:extLst>
                    <a:ext uri="{9D8B030D-6E8A-4147-A177-3AD203B41FA5}">
                      <a16:colId xmlns:a16="http://schemas.microsoft.com/office/drawing/2014/main" val="20002"/>
                    </a:ext>
                  </a:extLst>
                </a:gridCol>
              </a:tblGrid>
              <a:tr h="2939151">
                <a:tc>
                  <a:txBody>
                    <a:bodyPr/>
                    <a:lstStyle/>
                    <a:p>
                      <a:pPr>
                        <a:spcAft>
                          <a:spcPts val="0"/>
                        </a:spcAft>
                      </a:pPr>
                      <a:r>
                        <a:rPr lang="en-US" sz="1800" b="1" dirty="0">
                          <a:solidFill>
                            <a:schemeClr val="tx1"/>
                          </a:solidFill>
                          <a:latin typeface="Calibri"/>
                          <a:ea typeface="ＭＳ 明朝"/>
                          <a:cs typeface="Times New Roman"/>
                        </a:rPr>
                        <a:t>‘Product’ </a:t>
                      </a:r>
                    </a:p>
                    <a:p>
                      <a:pPr>
                        <a:spcAft>
                          <a:spcPts val="0"/>
                        </a:spcAft>
                      </a:pPr>
                      <a:endParaRPr lang="en-US" sz="1800" b="1" dirty="0">
                        <a:solidFill>
                          <a:schemeClr val="tx1"/>
                        </a:solidFill>
                        <a:latin typeface="Calibri"/>
                        <a:ea typeface="ＭＳ 明朝"/>
                        <a:cs typeface="Times New Roman"/>
                      </a:endParaRPr>
                    </a:p>
                    <a:p>
                      <a:pPr>
                        <a:spcAft>
                          <a:spcPts val="0"/>
                        </a:spcAft>
                      </a:pPr>
                      <a:r>
                        <a:rPr lang="en-US" sz="1800" b="1" dirty="0">
                          <a:solidFill>
                            <a:schemeClr val="tx1"/>
                          </a:solidFill>
                          <a:latin typeface="Calibri"/>
                          <a:ea typeface="ＭＳ 明朝"/>
                          <a:cs typeface="Times New Roman"/>
                        </a:rPr>
                        <a:t>– what we offer the world</a:t>
                      </a:r>
                      <a:endParaRPr lang="en-GB" sz="1800" dirty="0">
                        <a:solidFill>
                          <a:schemeClr val="tx1"/>
                        </a:solidFill>
                        <a:latin typeface="Cambria"/>
                        <a:ea typeface="ＭＳ 明朝"/>
                        <a:cs typeface="Times New Roman"/>
                      </a:endParaRPr>
                    </a:p>
                  </a:txBody>
                  <a:tcPr marL="29980" marR="299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400" dirty="0">
                          <a:solidFill>
                            <a:schemeClr val="tx1"/>
                          </a:solidFill>
                          <a:latin typeface="Calibri"/>
                          <a:ea typeface="ＭＳ 明朝"/>
                          <a:cs typeface="Times New Roman"/>
                        </a:rPr>
                        <a:t>Windows 7 and 8 replacing Vista and XP – essentially improving on existing software idea</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New versions of established car models – e.g. the VW Golf essentially improving on established car design</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Improved performance - incandescent light bulbs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CDs replacing vinyl records – essentially improving on the storage technology</a:t>
                      </a:r>
                      <a:endParaRPr lang="en-GB" sz="1400" dirty="0">
                        <a:solidFill>
                          <a:schemeClr val="tx1"/>
                        </a:solidFill>
                        <a:latin typeface="Cambria"/>
                        <a:ea typeface="ＭＳ 明朝"/>
                        <a:cs typeface="Times New Roman"/>
                      </a:endParaRPr>
                    </a:p>
                  </a:txBody>
                  <a:tcPr marL="29980" marR="299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400" dirty="0">
                          <a:solidFill>
                            <a:schemeClr val="tx1"/>
                          </a:solidFill>
                          <a:latin typeface="Calibri"/>
                          <a:ea typeface="ＭＳ 明朝"/>
                          <a:cs typeface="Times New Roman"/>
                        </a:rPr>
                        <a:t>New to the world software – for example the first speech recognition program</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Toyota Prius – bringing a new concept – hybrid engines. Tesla – high performance electric car.</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LED-based lighting, using completely different and more energy efficient principles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Spotify and other music streaming services – changing the pattern from owning your own collection to renting a vast library of music</a:t>
                      </a:r>
                      <a:endParaRPr lang="en-GB" sz="1400" dirty="0">
                        <a:solidFill>
                          <a:schemeClr val="tx1"/>
                        </a:solidFill>
                        <a:latin typeface="Cambria"/>
                        <a:ea typeface="ＭＳ 明朝"/>
                        <a:cs typeface="Times New Roman"/>
                      </a:endParaRPr>
                    </a:p>
                  </a:txBody>
                  <a:tcPr marL="29980" marR="299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271188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07704" y="548680"/>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Examples of the 4Ps model: Process</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8" name="Table 7"/>
          <p:cNvGraphicFramePr>
            <a:graphicFrameLocks noGrp="1"/>
          </p:cNvGraphicFramePr>
          <p:nvPr/>
        </p:nvGraphicFramePr>
        <p:xfrm>
          <a:off x="220747" y="2795342"/>
          <a:ext cx="8715436" cy="2204361"/>
        </p:xfrm>
        <a:graphic>
          <a:graphicData uri="http://schemas.openxmlformats.org/drawingml/2006/table">
            <a:tbl>
              <a:tblPr/>
              <a:tblGrid>
                <a:gridCol w="1852268">
                  <a:extLst>
                    <a:ext uri="{9D8B030D-6E8A-4147-A177-3AD203B41FA5}">
                      <a16:colId xmlns:a16="http://schemas.microsoft.com/office/drawing/2014/main" val="20000"/>
                    </a:ext>
                  </a:extLst>
                </a:gridCol>
                <a:gridCol w="3364651">
                  <a:extLst>
                    <a:ext uri="{9D8B030D-6E8A-4147-A177-3AD203B41FA5}">
                      <a16:colId xmlns:a16="http://schemas.microsoft.com/office/drawing/2014/main" val="20001"/>
                    </a:ext>
                  </a:extLst>
                </a:gridCol>
                <a:gridCol w="3498517">
                  <a:extLst>
                    <a:ext uri="{9D8B030D-6E8A-4147-A177-3AD203B41FA5}">
                      <a16:colId xmlns:a16="http://schemas.microsoft.com/office/drawing/2014/main" val="20002"/>
                    </a:ext>
                  </a:extLst>
                </a:gridCol>
              </a:tblGrid>
              <a:tr h="2204361">
                <a:tc>
                  <a:txBody>
                    <a:bodyPr/>
                    <a:lstStyle/>
                    <a:p>
                      <a:pPr>
                        <a:spcAft>
                          <a:spcPts val="0"/>
                        </a:spcAft>
                      </a:pPr>
                      <a:r>
                        <a:rPr lang="en-US" sz="1800" b="1" dirty="0">
                          <a:solidFill>
                            <a:schemeClr val="tx1"/>
                          </a:solidFill>
                          <a:latin typeface="Calibri"/>
                          <a:ea typeface="ＭＳ 明朝"/>
                          <a:cs typeface="Times New Roman"/>
                        </a:rPr>
                        <a:t>‘Process’</a:t>
                      </a:r>
                    </a:p>
                    <a:p>
                      <a:pPr>
                        <a:spcAft>
                          <a:spcPts val="0"/>
                        </a:spcAft>
                      </a:pPr>
                      <a:endParaRPr lang="en-US" sz="1800" b="1" dirty="0">
                        <a:solidFill>
                          <a:schemeClr val="tx1"/>
                        </a:solidFill>
                        <a:latin typeface="Calibri"/>
                        <a:ea typeface="ＭＳ 明朝"/>
                        <a:cs typeface="Times New Roman"/>
                      </a:endParaRPr>
                    </a:p>
                    <a:p>
                      <a:pPr>
                        <a:spcAft>
                          <a:spcPts val="0"/>
                        </a:spcAft>
                      </a:pPr>
                      <a:r>
                        <a:rPr lang="en-US" sz="1800" b="1" dirty="0">
                          <a:solidFill>
                            <a:schemeClr val="tx1"/>
                          </a:solidFill>
                          <a:latin typeface="Calibri"/>
                          <a:ea typeface="ＭＳ 明朝"/>
                          <a:cs typeface="Times New Roman"/>
                        </a:rPr>
                        <a:t>- how we create and deliver that offering</a:t>
                      </a:r>
                      <a:endParaRPr lang="en-GB" sz="1800" dirty="0">
                        <a:solidFill>
                          <a:schemeClr val="tx1"/>
                        </a:solidFill>
                        <a:latin typeface="Cambria"/>
                        <a:ea typeface="ＭＳ 明朝"/>
                        <a:cs typeface="Times New Roman"/>
                      </a:endParaRPr>
                    </a:p>
                  </a:txBody>
                  <a:tcPr marL="29980" marR="299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400" dirty="0">
                          <a:solidFill>
                            <a:schemeClr val="tx1"/>
                          </a:solidFill>
                          <a:latin typeface="Calibri"/>
                          <a:ea typeface="ＭＳ 明朝"/>
                          <a:cs typeface="Times New Roman"/>
                        </a:rPr>
                        <a:t>Improved fixed line telephone services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Extended range of stock broking services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Improved auction house operations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Improved factory operations efficiency through upgraded equipment</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Improved range of banking services delivered at branch banks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Improved retailing logistics </a:t>
                      </a:r>
                      <a:endParaRPr lang="en-GB" sz="1400" dirty="0">
                        <a:solidFill>
                          <a:schemeClr val="tx1"/>
                        </a:solidFill>
                        <a:latin typeface="Cambria"/>
                        <a:ea typeface="ＭＳ 明朝"/>
                        <a:cs typeface="Times New Roman"/>
                      </a:endParaRPr>
                    </a:p>
                  </a:txBody>
                  <a:tcPr marL="29980" marR="299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400" dirty="0">
                          <a:solidFill>
                            <a:schemeClr val="tx1"/>
                          </a:solidFill>
                          <a:latin typeface="Calibri"/>
                          <a:ea typeface="ＭＳ 明朝"/>
                          <a:cs typeface="Times New Roman"/>
                        </a:rPr>
                        <a:t>Skype and other VOIP systems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On-line share trading</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eBay</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Toyota Production System and other ‘lean’ approaches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Online banking and now mobile banking in Kenya, Philippines – using phones as an alternative to banking systems</a:t>
                      </a:r>
                      <a:endParaRPr lang="en-GB" sz="1400" dirty="0">
                        <a:solidFill>
                          <a:schemeClr val="tx1"/>
                        </a:solidFill>
                        <a:latin typeface="Cambria"/>
                        <a:ea typeface="ＭＳ 明朝"/>
                        <a:cs typeface="Times New Roman"/>
                      </a:endParaRPr>
                    </a:p>
                    <a:p>
                      <a:pPr>
                        <a:spcAft>
                          <a:spcPts val="0"/>
                        </a:spcAft>
                      </a:pPr>
                      <a:r>
                        <a:rPr lang="en-US" sz="1400" dirty="0">
                          <a:solidFill>
                            <a:schemeClr val="tx1"/>
                          </a:solidFill>
                          <a:latin typeface="Calibri"/>
                          <a:ea typeface="ＭＳ 明朝"/>
                          <a:cs typeface="Times New Roman"/>
                        </a:rPr>
                        <a:t>On line shopping</a:t>
                      </a:r>
                      <a:endParaRPr lang="en-GB" sz="1400" dirty="0">
                        <a:solidFill>
                          <a:schemeClr val="tx1"/>
                        </a:solidFill>
                        <a:latin typeface="Cambria"/>
                        <a:ea typeface="ＭＳ 明朝"/>
                        <a:cs typeface="Times New Roman"/>
                      </a:endParaRPr>
                    </a:p>
                  </a:txBody>
                  <a:tcPr marL="29980" marR="299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06258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90529" y="591253"/>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Examples of the 4Ps model: Position</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8" name="Table 7"/>
          <p:cNvGraphicFramePr>
            <a:graphicFrameLocks noGrp="1"/>
          </p:cNvGraphicFramePr>
          <p:nvPr/>
        </p:nvGraphicFramePr>
        <p:xfrm>
          <a:off x="220746" y="2429368"/>
          <a:ext cx="8715437" cy="3189767"/>
        </p:xfrm>
        <a:graphic>
          <a:graphicData uri="http://schemas.openxmlformats.org/drawingml/2006/table">
            <a:tbl>
              <a:tblPr/>
              <a:tblGrid>
                <a:gridCol w="1852267">
                  <a:extLst>
                    <a:ext uri="{9D8B030D-6E8A-4147-A177-3AD203B41FA5}">
                      <a16:colId xmlns:a16="http://schemas.microsoft.com/office/drawing/2014/main" val="20000"/>
                    </a:ext>
                  </a:extLst>
                </a:gridCol>
                <a:gridCol w="3364652">
                  <a:extLst>
                    <a:ext uri="{9D8B030D-6E8A-4147-A177-3AD203B41FA5}">
                      <a16:colId xmlns:a16="http://schemas.microsoft.com/office/drawing/2014/main" val="20001"/>
                    </a:ext>
                  </a:extLst>
                </a:gridCol>
                <a:gridCol w="3498518">
                  <a:extLst>
                    <a:ext uri="{9D8B030D-6E8A-4147-A177-3AD203B41FA5}">
                      <a16:colId xmlns:a16="http://schemas.microsoft.com/office/drawing/2014/main" val="20002"/>
                    </a:ext>
                  </a:extLst>
                </a:gridCol>
              </a:tblGrid>
              <a:tr h="3189767">
                <a:tc>
                  <a:txBody>
                    <a:bodyPr/>
                    <a:lstStyle/>
                    <a:p>
                      <a:pPr>
                        <a:spcAft>
                          <a:spcPts val="0"/>
                        </a:spcAft>
                      </a:pPr>
                      <a:r>
                        <a:rPr lang="en-US" sz="1800" b="1" dirty="0">
                          <a:solidFill>
                            <a:schemeClr val="tx1"/>
                          </a:solidFill>
                          <a:latin typeface="Calibri"/>
                          <a:ea typeface="ＭＳ 明朝"/>
                          <a:cs typeface="Times New Roman"/>
                        </a:rPr>
                        <a:t>‘Position’ </a:t>
                      </a:r>
                    </a:p>
                    <a:p>
                      <a:pPr>
                        <a:spcAft>
                          <a:spcPts val="0"/>
                        </a:spcAft>
                      </a:pPr>
                      <a:endParaRPr lang="en-US" sz="1800" b="1" dirty="0">
                        <a:solidFill>
                          <a:schemeClr val="tx1"/>
                        </a:solidFill>
                        <a:latin typeface="Calibri"/>
                        <a:ea typeface="ＭＳ 明朝"/>
                        <a:cs typeface="Times New Roman"/>
                      </a:endParaRPr>
                    </a:p>
                    <a:p>
                      <a:pPr>
                        <a:spcAft>
                          <a:spcPts val="0"/>
                        </a:spcAft>
                      </a:pPr>
                      <a:r>
                        <a:rPr lang="en-US" sz="1800" b="1" dirty="0">
                          <a:solidFill>
                            <a:schemeClr val="tx1"/>
                          </a:solidFill>
                          <a:latin typeface="Calibri"/>
                          <a:ea typeface="ＭＳ 明朝"/>
                          <a:cs typeface="Times New Roman"/>
                        </a:rPr>
                        <a:t>– where we target that offering and the story we tell about it</a:t>
                      </a:r>
                      <a:endParaRPr lang="en-GB" sz="1800" dirty="0">
                        <a:solidFill>
                          <a:schemeClr val="tx1"/>
                        </a:solidFill>
                        <a:latin typeface="Cambria"/>
                        <a:ea typeface="ＭＳ 明朝"/>
                        <a:cs typeface="Times New Roman"/>
                      </a:endParaRPr>
                    </a:p>
                  </a:txBody>
                  <a:tcPr marL="38100" marR="381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200" dirty="0">
                          <a:solidFill>
                            <a:schemeClr val="tx1"/>
                          </a:solidFill>
                          <a:latin typeface="Calibri"/>
                          <a:ea typeface="ＭＳ 明朝"/>
                          <a:cs typeface="Times New Roman"/>
                        </a:rPr>
                        <a:t>HaagenDazs changing the target market for ice cream from children to consenting adults</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Airlines segmenting service offering for different passenger groups – Virgin Upper Class, BA Premium Economy, etc.</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Dell and others segmenting and customizing computer configuration for individual users</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On line support for traditional higher education courses</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Banking services targeted at key segments – students, retired people, etc.</a:t>
                      </a:r>
                      <a:endParaRPr lang="en-GB" sz="1200" dirty="0">
                        <a:solidFill>
                          <a:schemeClr val="tx1"/>
                        </a:solidFill>
                        <a:latin typeface="Cambria"/>
                        <a:ea typeface="ＭＳ 明朝"/>
                        <a:cs typeface="Times New Roman"/>
                      </a:endParaRPr>
                    </a:p>
                  </a:txBody>
                  <a:tcPr marL="38100" marR="381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200" dirty="0">
                          <a:solidFill>
                            <a:schemeClr val="tx1"/>
                          </a:solidFill>
                          <a:latin typeface="Calibri"/>
                          <a:ea typeface="ＭＳ 明朝"/>
                          <a:cs typeface="Times New Roman"/>
                        </a:rPr>
                        <a:t>Addressing underserved markets – for example the Tata Nano aimed at emerging but relatively poor Indian market with car priced around $2000. </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Low cost airlines opening up air travel to those previously unable to afford it – create new market and also disrupt existing one</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Variations on the ‘One laptop per child’ project – e.g. Indian government $20 computer for schools</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University of Phoenix and others, building large education businesses via online approaches to reach different markets</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‘Bottom of the pyramid’ approaches using a similar principle but tapping into huge and very different high volume/low margin markets – Aravind eye care, Cemex construction products</a:t>
                      </a:r>
                      <a:endParaRPr lang="en-GB" sz="1200" dirty="0">
                        <a:solidFill>
                          <a:schemeClr val="tx1"/>
                        </a:solidFill>
                        <a:latin typeface="Cambria"/>
                        <a:ea typeface="ＭＳ 明朝"/>
                        <a:cs typeface="Times New Roman"/>
                      </a:endParaRPr>
                    </a:p>
                  </a:txBody>
                  <a:tcPr marL="38100" marR="381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99000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90529" y="591253"/>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Examples of the 4Ps model: Paradigm</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8" name="Table 7"/>
          <p:cNvGraphicFramePr>
            <a:graphicFrameLocks noGrp="1"/>
          </p:cNvGraphicFramePr>
          <p:nvPr/>
        </p:nvGraphicFramePr>
        <p:xfrm>
          <a:off x="220746" y="2201625"/>
          <a:ext cx="8715437" cy="3668233"/>
        </p:xfrm>
        <a:graphic>
          <a:graphicData uri="http://schemas.openxmlformats.org/drawingml/2006/table">
            <a:tbl>
              <a:tblPr/>
              <a:tblGrid>
                <a:gridCol w="1852267">
                  <a:extLst>
                    <a:ext uri="{9D8B030D-6E8A-4147-A177-3AD203B41FA5}">
                      <a16:colId xmlns:a16="http://schemas.microsoft.com/office/drawing/2014/main" val="20000"/>
                    </a:ext>
                  </a:extLst>
                </a:gridCol>
                <a:gridCol w="3364652">
                  <a:extLst>
                    <a:ext uri="{9D8B030D-6E8A-4147-A177-3AD203B41FA5}">
                      <a16:colId xmlns:a16="http://schemas.microsoft.com/office/drawing/2014/main" val="20001"/>
                    </a:ext>
                  </a:extLst>
                </a:gridCol>
                <a:gridCol w="3498518">
                  <a:extLst>
                    <a:ext uri="{9D8B030D-6E8A-4147-A177-3AD203B41FA5}">
                      <a16:colId xmlns:a16="http://schemas.microsoft.com/office/drawing/2014/main" val="20002"/>
                    </a:ext>
                  </a:extLst>
                </a:gridCol>
              </a:tblGrid>
              <a:tr h="3668233">
                <a:tc>
                  <a:txBody>
                    <a:bodyPr/>
                    <a:lstStyle/>
                    <a:p>
                      <a:pPr>
                        <a:spcAft>
                          <a:spcPts val="0"/>
                        </a:spcAft>
                      </a:pPr>
                      <a:r>
                        <a:rPr lang="en-US" sz="1800" b="1" dirty="0">
                          <a:solidFill>
                            <a:schemeClr val="tx1"/>
                          </a:solidFill>
                          <a:latin typeface="Calibri"/>
                          <a:ea typeface="ＭＳ 明朝"/>
                          <a:cs typeface="Times New Roman"/>
                        </a:rPr>
                        <a:t>‘Paradigm’</a:t>
                      </a:r>
                    </a:p>
                    <a:p>
                      <a:pPr>
                        <a:spcAft>
                          <a:spcPts val="0"/>
                        </a:spcAft>
                      </a:pPr>
                      <a:endParaRPr lang="en-US" sz="1800" b="1" dirty="0">
                        <a:solidFill>
                          <a:schemeClr val="tx1"/>
                        </a:solidFill>
                        <a:latin typeface="Calibri"/>
                        <a:ea typeface="ＭＳ 明朝"/>
                        <a:cs typeface="Times New Roman"/>
                      </a:endParaRPr>
                    </a:p>
                    <a:p>
                      <a:pPr>
                        <a:spcAft>
                          <a:spcPts val="0"/>
                        </a:spcAft>
                      </a:pPr>
                      <a:r>
                        <a:rPr lang="en-US" sz="1800" b="1" dirty="0">
                          <a:solidFill>
                            <a:schemeClr val="tx1"/>
                          </a:solidFill>
                          <a:latin typeface="Calibri"/>
                          <a:ea typeface="ＭＳ 明朝"/>
                          <a:cs typeface="Times New Roman"/>
                        </a:rPr>
                        <a:t>– how we frame what we do</a:t>
                      </a:r>
                      <a:endParaRPr lang="en-GB" sz="1800" dirty="0">
                        <a:solidFill>
                          <a:schemeClr val="tx1"/>
                        </a:solidFill>
                        <a:latin typeface="Cambria"/>
                        <a:ea typeface="ＭＳ 明朝"/>
                        <a:cs typeface="Times New Roman"/>
                      </a:endParaRPr>
                    </a:p>
                  </a:txBody>
                  <a:tcPr marL="38100" marR="381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200" dirty="0">
                          <a:solidFill>
                            <a:schemeClr val="tx1"/>
                          </a:solidFill>
                          <a:latin typeface="Calibri"/>
                          <a:ea typeface="ＭＳ 明朝"/>
                          <a:cs typeface="Times New Roman"/>
                        </a:rPr>
                        <a:t>Bausch and Lomb – moved from ‘eye wear’ to ‘eye care’ as their business model, effectively letting go of the old business of spectacles, sunglasses (Raybans) and contact lenses all of which were becoming commodity businesses.  Instead they moved into newer high tech fields like laser surgery equipment, specialist optical devices and research in artificial eyesight</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Dyson redefining the home appliance market in terms of high performance engineered products</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Rolls Royce – from high quality aero engines to becoming a service company offering ‘power by the hour’</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IBM from being a machine maker to a service and solution company – selling off its computer making and building up its consultancy and service side. </a:t>
                      </a:r>
                      <a:endParaRPr lang="en-GB" sz="1200" dirty="0">
                        <a:solidFill>
                          <a:schemeClr val="tx1"/>
                        </a:solidFill>
                        <a:latin typeface="Cambria"/>
                        <a:ea typeface="ＭＳ 明朝"/>
                        <a:cs typeface="Times New Roman"/>
                      </a:endParaRPr>
                    </a:p>
                  </a:txBody>
                  <a:tcPr marL="38100" marR="381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tc>
                  <a:txBody>
                    <a:bodyPr/>
                    <a:lstStyle/>
                    <a:p>
                      <a:pPr>
                        <a:spcAft>
                          <a:spcPts val="0"/>
                        </a:spcAft>
                      </a:pPr>
                      <a:r>
                        <a:rPr lang="en-US" sz="1200" dirty="0">
                          <a:solidFill>
                            <a:schemeClr val="tx1"/>
                          </a:solidFill>
                          <a:latin typeface="Calibri"/>
                          <a:ea typeface="ＭＳ 明朝"/>
                          <a:cs typeface="Times New Roman"/>
                        </a:rPr>
                        <a:t>Grameen Bank and other microfinance models – rethinking the assumptions about credit and the poor</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iTunes platform – a complete system of personalized entertainment</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Cirque de Soleil – redefining the circus experience</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Amazon, Google, Skype – redefining industries like retailing, advertising and telecoms through online models</a:t>
                      </a:r>
                      <a:endParaRPr lang="en-GB" sz="1200" dirty="0">
                        <a:solidFill>
                          <a:schemeClr val="tx1"/>
                        </a:solidFill>
                        <a:latin typeface="Cambria"/>
                        <a:ea typeface="ＭＳ 明朝"/>
                        <a:cs typeface="Times New Roman"/>
                      </a:endParaRPr>
                    </a:p>
                    <a:p>
                      <a:pPr>
                        <a:spcAft>
                          <a:spcPts val="0"/>
                        </a:spcAft>
                      </a:pPr>
                      <a:r>
                        <a:rPr lang="en-US" sz="1200" dirty="0">
                          <a:solidFill>
                            <a:schemeClr val="tx1"/>
                          </a:solidFill>
                          <a:latin typeface="Calibri"/>
                          <a:ea typeface="ＭＳ 明朝"/>
                          <a:cs typeface="Times New Roman"/>
                        </a:rPr>
                        <a:t>Linux, Mozilla, Apache – moving from passive users to active communities</a:t>
                      </a:r>
                      <a:r>
                        <a:rPr lang="en-US" sz="1200" baseline="0" dirty="0">
                          <a:solidFill>
                            <a:schemeClr val="tx1"/>
                          </a:solidFill>
                          <a:latin typeface="Calibri"/>
                          <a:ea typeface="ＭＳ 明朝"/>
                          <a:cs typeface="Times New Roman"/>
                        </a:rPr>
                        <a:t> </a:t>
                      </a:r>
                      <a:r>
                        <a:rPr lang="en-US" sz="1200" dirty="0">
                          <a:solidFill>
                            <a:schemeClr val="tx1"/>
                          </a:solidFill>
                          <a:latin typeface="Calibri"/>
                          <a:ea typeface="ＭＳ 明朝"/>
                          <a:cs typeface="Times New Roman"/>
                        </a:rPr>
                        <a:t>of users co-creating new products and services</a:t>
                      </a:r>
                      <a:endParaRPr lang="en-GB" sz="1200" dirty="0">
                        <a:solidFill>
                          <a:schemeClr val="tx1"/>
                        </a:solidFill>
                        <a:latin typeface="Cambria"/>
                        <a:ea typeface="ＭＳ 明朝"/>
                        <a:cs typeface="Times New Roman"/>
                      </a:endParaRPr>
                    </a:p>
                  </a:txBody>
                  <a:tcPr marL="38100" marR="3810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A4EED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72840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60" y="321731"/>
            <a:ext cx="3106572" cy="6213425"/>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65CE13-83A5-A24B-888C-ECBA444CAA6A}"/>
              </a:ext>
            </a:extLst>
          </p:cNvPr>
          <p:cNvSpPr>
            <a:spLocks noGrp="1"/>
          </p:cNvSpPr>
          <p:nvPr>
            <p:ph type="title"/>
          </p:nvPr>
        </p:nvSpPr>
        <p:spPr>
          <a:xfrm>
            <a:off x="393192" y="583616"/>
            <a:ext cx="2791605" cy="5520579"/>
          </a:xfrm>
        </p:spPr>
        <p:txBody>
          <a:bodyPr>
            <a:normAutofit/>
          </a:bodyPr>
          <a:lstStyle/>
          <a:p>
            <a:r>
              <a:rPr lang="en-US" sz="4100" dirty="0">
                <a:solidFill>
                  <a:srgbClr val="FFFFFF"/>
                </a:solidFill>
              </a:rPr>
              <a:t>Dimensions of innovation</a:t>
            </a:r>
          </a:p>
        </p:txBody>
      </p:sp>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2127" y="321732"/>
            <a:ext cx="5430574"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0025D812-A296-4FA4-B0D9-56CA92218CEF}"/>
              </a:ext>
            </a:extLst>
          </p:cNvPr>
          <p:cNvGraphicFramePr>
            <a:graphicFrameLocks noGrp="1"/>
          </p:cNvGraphicFramePr>
          <p:nvPr>
            <p:ph idx="1"/>
            <p:extLst>
              <p:ext uri="{D42A27DB-BD31-4B8C-83A1-F6EECF244321}">
                <p14:modId xmlns:p14="http://schemas.microsoft.com/office/powerpoint/2010/main" val="2385404928"/>
              </p:ext>
            </p:extLst>
          </p:nvPr>
        </p:nvGraphicFramePr>
        <p:xfrm>
          <a:off x="3700462" y="584200"/>
          <a:ext cx="4945856" cy="5519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2182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7924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35696" y="332656"/>
            <a:ext cx="5439574" cy="917864"/>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Types of Innovation</a:t>
            </a:r>
          </a:p>
        </p:txBody>
      </p:sp>
      <p:sp>
        <p:nvSpPr>
          <p:cNvPr id="13" name="Rectangle 12"/>
          <p:cNvSpPr/>
          <p:nvPr/>
        </p:nvSpPr>
        <p:spPr>
          <a:xfrm>
            <a:off x="165297" y="6037159"/>
            <a:ext cx="8813406" cy="738664"/>
          </a:xfrm>
          <a:prstGeom prst="rect">
            <a:avLst/>
          </a:prstGeom>
        </p:spPr>
        <p:txBody>
          <a:bodyPr wrap="square">
            <a:spAutoFit/>
          </a:bodyPr>
          <a:lstStyle/>
          <a:p>
            <a:r>
              <a:rPr lang="en-US" sz="1400" dirty="0"/>
              <a:t>Figure 1.8 of the book illustrates the range of choices, highlighting the point that change can Ask the students to provide more examples and to populate the matrix.  You can divide the students into groups and ask them to think of more examples of (i) radical, (ii) incremental, (iii) product, and/or (iv) service innovation</a:t>
            </a:r>
          </a:p>
        </p:txBody>
      </p:sp>
      <p:pic>
        <p:nvPicPr>
          <p:cNvPr id="4" name="Picture 3" descr="A picture containing timeline&#10;&#10;Description automatically generated">
            <a:extLst>
              <a:ext uri="{FF2B5EF4-FFF2-40B4-BE49-F238E27FC236}">
                <a16:creationId xmlns:a16="http://schemas.microsoft.com/office/drawing/2014/main" id="{08E11CC7-CC37-6F43-B876-1A54DD6067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509566"/>
            <a:ext cx="6768752" cy="4527593"/>
          </a:xfrm>
          <a:prstGeom prst="rect">
            <a:avLst/>
          </a:prstGeom>
        </p:spPr>
      </p:pic>
    </p:spTree>
    <p:extLst>
      <p:ext uri="{BB962C8B-B14F-4D97-AF65-F5344CB8AC3E}">
        <p14:creationId xmlns:p14="http://schemas.microsoft.com/office/powerpoint/2010/main" val="1069594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CB305-9E06-1943-A656-C48CF31E224D}"/>
              </a:ext>
            </a:extLst>
          </p:cNvPr>
          <p:cNvSpPr>
            <a:spLocks noGrp="1"/>
          </p:cNvSpPr>
          <p:nvPr>
            <p:ph type="title"/>
          </p:nvPr>
        </p:nvSpPr>
        <p:spPr/>
        <p:txBody>
          <a:bodyPr>
            <a:normAutofit fontScale="90000"/>
          </a:bodyPr>
          <a:lstStyle/>
          <a:p>
            <a:r>
              <a:rPr lang="en-US" dirty="0"/>
              <a:t>Knowledge architectures and innovation</a:t>
            </a:r>
          </a:p>
        </p:txBody>
      </p:sp>
      <p:pic>
        <p:nvPicPr>
          <p:cNvPr id="5" name="Picture 4" descr="A picture containing treemap chart&#10;&#10;Description automatically generated">
            <a:extLst>
              <a:ext uri="{FF2B5EF4-FFF2-40B4-BE49-F238E27FC236}">
                <a16:creationId xmlns:a16="http://schemas.microsoft.com/office/drawing/2014/main" id="{F80D25B3-32F1-4C42-9849-9165621AFF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650" y="1450430"/>
            <a:ext cx="7378700" cy="5283200"/>
          </a:xfrm>
          <a:prstGeom prst="rect">
            <a:avLst/>
          </a:prstGeom>
        </p:spPr>
      </p:pic>
    </p:spTree>
    <p:extLst>
      <p:ext uri="{BB962C8B-B14F-4D97-AF65-F5344CB8AC3E}">
        <p14:creationId xmlns:p14="http://schemas.microsoft.com/office/powerpoint/2010/main" val="1385087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0B8F-A5CD-C241-B780-DA63C8B7CE7C}"/>
              </a:ext>
            </a:extLst>
          </p:cNvPr>
          <p:cNvSpPr>
            <a:spLocks noGrp="1"/>
          </p:cNvSpPr>
          <p:nvPr>
            <p:ph type="title"/>
          </p:nvPr>
        </p:nvSpPr>
        <p:spPr/>
        <p:txBody>
          <a:bodyPr/>
          <a:lstStyle/>
          <a:p>
            <a:r>
              <a:rPr lang="en-US" dirty="0"/>
              <a:t>The innovation life cycle</a:t>
            </a:r>
          </a:p>
        </p:txBody>
      </p:sp>
      <p:pic>
        <p:nvPicPr>
          <p:cNvPr id="5" name="Picture 4" descr="Diagram&#10;&#10;Description automatically generated">
            <a:extLst>
              <a:ext uri="{FF2B5EF4-FFF2-40B4-BE49-F238E27FC236}">
                <a16:creationId xmlns:a16="http://schemas.microsoft.com/office/drawing/2014/main" id="{D361B53A-6DE6-B04D-91E2-CFE374193B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628800"/>
            <a:ext cx="6972300" cy="4495800"/>
          </a:xfrm>
          <a:prstGeom prst="rect">
            <a:avLst/>
          </a:prstGeom>
        </p:spPr>
      </p:pic>
    </p:spTree>
    <p:extLst>
      <p:ext uri="{BB962C8B-B14F-4D97-AF65-F5344CB8AC3E}">
        <p14:creationId xmlns:p14="http://schemas.microsoft.com/office/powerpoint/2010/main" val="2308166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9FD29-7574-6448-B15B-B99B99428590}"/>
              </a:ext>
            </a:extLst>
          </p:cNvPr>
          <p:cNvSpPr>
            <a:spLocks noGrp="1"/>
          </p:cNvSpPr>
          <p:nvPr>
            <p:ph type="title"/>
          </p:nvPr>
        </p:nvSpPr>
        <p:spPr/>
        <p:txBody>
          <a:bodyPr/>
          <a:lstStyle/>
          <a:p>
            <a:r>
              <a:rPr lang="en-US" dirty="0"/>
              <a:t>Stages in the life cycle </a:t>
            </a:r>
          </a:p>
        </p:txBody>
      </p:sp>
      <p:pic>
        <p:nvPicPr>
          <p:cNvPr id="6" name="Picture 5" descr="Graphical user interface, text, email&#10;&#10;Description automatically generated">
            <a:extLst>
              <a:ext uri="{FF2B5EF4-FFF2-40B4-BE49-F238E27FC236}">
                <a16:creationId xmlns:a16="http://schemas.microsoft.com/office/drawing/2014/main" id="{615522B6-F0E4-C048-9148-D78B959FA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767677"/>
            <a:ext cx="9144000" cy="4815685"/>
          </a:xfrm>
          <a:prstGeom prst="rect">
            <a:avLst/>
          </a:prstGeom>
        </p:spPr>
      </p:pic>
    </p:spTree>
    <p:extLst>
      <p:ext uri="{BB962C8B-B14F-4D97-AF65-F5344CB8AC3E}">
        <p14:creationId xmlns:p14="http://schemas.microsoft.com/office/powerpoint/2010/main" val="4031506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D4314B-1A7D-4B4F-B553-189C073B541E}"/>
              </a:ext>
            </a:extLst>
          </p:cNvPr>
          <p:cNvSpPr>
            <a:spLocks noGrp="1"/>
          </p:cNvSpPr>
          <p:nvPr>
            <p:ph type="title"/>
          </p:nvPr>
        </p:nvSpPr>
        <p:spPr>
          <a:xfrm>
            <a:off x="515125" y="1153572"/>
            <a:ext cx="2400300" cy="4461163"/>
          </a:xfrm>
        </p:spPr>
        <p:txBody>
          <a:bodyPr>
            <a:normAutofit/>
          </a:bodyPr>
          <a:lstStyle/>
          <a:p>
            <a:r>
              <a:rPr lang="en-US" sz="2800" dirty="0">
                <a:solidFill>
                  <a:srgbClr val="FFFFFF"/>
                </a:solidFill>
              </a:rPr>
              <a:t>Discontinuous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82394DD-1367-3348-B8D9-07BE237682B4}"/>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500"/>
              <a:t>Triggers for discontinuity include:</a:t>
            </a:r>
          </a:p>
          <a:p>
            <a:pPr>
              <a:lnSpc>
                <a:spcPct val="90000"/>
              </a:lnSpc>
            </a:pPr>
            <a:r>
              <a:rPr lang="en-US" sz="2500"/>
              <a:t>New market emerges</a:t>
            </a:r>
          </a:p>
          <a:p>
            <a:pPr>
              <a:lnSpc>
                <a:spcPct val="90000"/>
              </a:lnSpc>
            </a:pPr>
            <a:r>
              <a:rPr lang="en-US" sz="2500"/>
              <a:t>New technology emerges</a:t>
            </a:r>
          </a:p>
          <a:p>
            <a:pPr>
              <a:lnSpc>
                <a:spcPct val="90000"/>
              </a:lnSpc>
            </a:pPr>
            <a:r>
              <a:rPr lang="en-US" sz="2500"/>
              <a:t>New political rules emerge</a:t>
            </a:r>
          </a:p>
          <a:p>
            <a:pPr>
              <a:lnSpc>
                <a:spcPct val="90000"/>
              </a:lnSpc>
            </a:pPr>
            <a:r>
              <a:rPr lang="en-US" sz="2500"/>
              <a:t>Running out of road</a:t>
            </a:r>
          </a:p>
          <a:p>
            <a:pPr>
              <a:lnSpc>
                <a:spcPct val="90000"/>
              </a:lnSpc>
            </a:pPr>
            <a:r>
              <a:rPr lang="en-US" sz="2500"/>
              <a:t>Sea change in values and public opinion</a:t>
            </a:r>
          </a:p>
          <a:p>
            <a:pPr>
              <a:lnSpc>
                <a:spcPct val="90000"/>
              </a:lnSpc>
            </a:pPr>
            <a:r>
              <a:rPr lang="en-US" sz="2500"/>
              <a:t>Changes in regulatory context</a:t>
            </a:r>
          </a:p>
          <a:p>
            <a:pPr>
              <a:lnSpc>
                <a:spcPct val="90000"/>
              </a:lnSpc>
            </a:pPr>
            <a:r>
              <a:rPr lang="en-US" sz="2500"/>
              <a:t>Fractures along ‘fault lines’</a:t>
            </a:r>
          </a:p>
          <a:p>
            <a:pPr>
              <a:lnSpc>
                <a:spcPct val="90000"/>
              </a:lnSpc>
            </a:pPr>
            <a:r>
              <a:rPr lang="en-US" sz="2500"/>
              <a:t>Architectural innovation/ business model innovation</a:t>
            </a:r>
          </a:p>
          <a:p>
            <a:pPr>
              <a:lnSpc>
                <a:spcPct val="90000"/>
              </a:lnSpc>
            </a:pPr>
            <a:r>
              <a:rPr lang="en-US" sz="2500"/>
              <a:t>Unthinkable events</a:t>
            </a:r>
          </a:p>
          <a:p>
            <a:pPr>
              <a:lnSpc>
                <a:spcPct val="90000"/>
              </a:lnSpc>
            </a:pPr>
            <a:r>
              <a:rPr lang="en-US" sz="2500"/>
              <a:t>Etc.</a:t>
            </a:r>
          </a:p>
          <a:p>
            <a:pPr>
              <a:lnSpc>
                <a:spcPct val="90000"/>
              </a:lnSpc>
            </a:pPr>
            <a:endParaRPr lang="en-US" sz="2500"/>
          </a:p>
          <a:p>
            <a:pPr>
              <a:lnSpc>
                <a:spcPct val="90000"/>
              </a:lnSpc>
            </a:pPr>
            <a:endParaRPr lang="en-US" sz="2500"/>
          </a:p>
        </p:txBody>
      </p:sp>
    </p:spTree>
    <p:extLst>
      <p:ext uri="{BB962C8B-B14F-4D97-AF65-F5344CB8AC3E}">
        <p14:creationId xmlns:p14="http://schemas.microsoft.com/office/powerpoint/2010/main" val="877557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218FE9-94B6-5445-AF52-F76CC897DF96}"/>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D3D268A-ABBC-7541-BBE2-43B4324D01B8}"/>
              </a:ext>
            </a:extLst>
          </p:cNvPr>
          <p:cNvSpPr>
            <a:spLocks noGrp="1"/>
          </p:cNvSpPr>
          <p:nvPr>
            <p:ph idx="1"/>
          </p:nvPr>
        </p:nvSpPr>
        <p:spPr>
          <a:xfrm>
            <a:off x="3335481" y="591344"/>
            <a:ext cx="5179868" cy="5585619"/>
          </a:xfrm>
        </p:spPr>
        <p:txBody>
          <a:bodyPr anchor="ctr">
            <a:normAutofit/>
          </a:bodyPr>
          <a:lstStyle/>
          <a:p>
            <a:pPr>
              <a:lnSpc>
                <a:spcPct val="90000"/>
              </a:lnSpc>
            </a:pPr>
            <a:r>
              <a:rPr lang="en-GB" dirty="0"/>
              <a:t>Innovation is about growth – about recognising opportunities for doing something new and implementing those ideas to create some kind of value. It could be business growth, it could be social change. But at its heart it is the creative human spirit, the urge to make change in our environment.</a:t>
            </a:r>
            <a:endParaRPr lang="en-GB"/>
          </a:p>
          <a:p>
            <a:pPr>
              <a:lnSpc>
                <a:spcPct val="90000"/>
              </a:lnSpc>
            </a:pPr>
            <a:endParaRPr lang="en-US"/>
          </a:p>
        </p:txBody>
      </p:sp>
    </p:spTree>
    <p:extLst>
      <p:ext uri="{BB962C8B-B14F-4D97-AF65-F5344CB8AC3E}">
        <p14:creationId xmlns:p14="http://schemas.microsoft.com/office/powerpoint/2010/main" val="3381040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4B856D-FA6B-E241-AEEC-74C5F4C469B7}"/>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75DA0EC-71A5-EA42-8D4C-3816F5348987}"/>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a:t>Innovation is also a survival imperative.  If an organization doesn't change what it offers the world and the ways in which it creates and delivers those offerings it could well be in trouble.  </a:t>
            </a:r>
          </a:p>
          <a:p>
            <a:pPr>
              <a:lnSpc>
                <a:spcPct val="90000"/>
              </a:lnSpc>
            </a:pPr>
            <a:r>
              <a:rPr lang="en-US" sz="2200"/>
              <a:t>And innovation contributes to competitive success in many different ways – it’s a </a:t>
            </a:r>
            <a:r>
              <a:rPr lang="en-US" sz="2200" i="1"/>
              <a:t>strategic</a:t>
            </a:r>
            <a:r>
              <a:rPr lang="en-US" sz="2200"/>
              <a:t> resource - helping to get the organization where it is trying to go, whether it is delivering shareholder value for private sector firms, or providing better public services, or enabling the start-up and growth of new enterprises.</a:t>
            </a:r>
            <a:endParaRPr lang="en-GB" sz="2200"/>
          </a:p>
          <a:p>
            <a:pPr>
              <a:lnSpc>
                <a:spcPct val="90000"/>
              </a:lnSpc>
            </a:pPr>
            <a:endParaRPr lang="en-US" sz="2200"/>
          </a:p>
        </p:txBody>
      </p:sp>
    </p:spTree>
    <p:extLst>
      <p:ext uri="{BB962C8B-B14F-4D97-AF65-F5344CB8AC3E}">
        <p14:creationId xmlns:p14="http://schemas.microsoft.com/office/powerpoint/2010/main" val="4121571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D7BB42-DE9C-E744-ABA0-2973B035B8CC}"/>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6DB392F-504A-A74B-BA7C-12183A63CE42}"/>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Innovation doesn’t just happen – it is driven by </a:t>
            </a:r>
            <a:r>
              <a:rPr lang="en-US" sz="2700" i="1" dirty="0"/>
              <a:t>entrepreneurship.</a:t>
            </a:r>
            <a:r>
              <a:rPr lang="en-US" sz="2700" dirty="0"/>
              <a:t> This powerful mixture of energy, vision, passion, commitment, judgement and risk-taking – provides the engine behind the innovation process.  </a:t>
            </a:r>
          </a:p>
          <a:p>
            <a:pPr>
              <a:lnSpc>
                <a:spcPct val="90000"/>
              </a:lnSpc>
            </a:pPr>
            <a:r>
              <a:rPr lang="en-US" sz="2700" dirty="0"/>
              <a:t>It’s the same whether we are talking about a solo start-up venture or a key group within an established organization trying to renew its products or services.</a:t>
            </a:r>
            <a:endParaRPr lang="en-GB" sz="2700" dirty="0"/>
          </a:p>
          <a:p>
            <a:pPr>
              <a:lnSpc>
                <a:spcPct val="90000"/>
              </a:lnSpc>
            </a:pPr>
            <a:endParaRPr lang="en-US" sz="2700" dirty="0"/>
          </a:p>
        </p:txBody>
      </p:sp>
    </p:spTree>
    <p:extLst>
      <p:ext uri="{BB962C8B-B14F-4D97-AF65-F5344CB8AC3E}">
        <p14:creationId xmlns:p14="http://schemas.microsoft.com/office/powerpoint/2010/main" val="1838210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4159CB-A919-E142-881B-379F666DFAC3}"/>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21B5730-0E54-074B-8DD1-ECE4F462AC3A}"/>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Innovation doesn’t happen simply because we hope it will – it’s a complex process which carries risks and needs careful and systematic </a:t>
            </a:r>
            <a:r>
              <a:rPr lang="en-US" sz="3000" i="1" dirty="0"/>
              <a:t>management</a:t>
            </a:r>
            <a:r>
              <a:rPr lang="en-US" sz="3000" dirty="0"/>
              <a:t>.  Innovation isn’t a single event, like the light bulb going off above a cartoon character’s head. It’s an extended process of picking up on ideas for change and turning them through into effective reality. </a:t>
            </a:r>
            <a:endParaRPr lang="en-GB" sz="3000" dirty="0"/>
          </a:p>
          <a:p>
            <a:pPr>
              <a:lnSpc>
                <a:spcPct val="90000"/>
              </a:lnSpc>
            </a:pPr>
            <a:endParaRPr lang="en-US" sz="3000" dirty="0"/>
          </a:p>
        </p:txBody>
      </p:sp>
    </p:spTree>
    <p:extLst>
      <p:ext uri="{BB962C8B-B14F-4D97-AF65-F5344CB8AC3E}">
        <p14:creationId xmlns:p14="http://schemas.microsoft.com/office/powerpoint/2010/main" val="1983340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D5741-5C8A-BA4F-AC0A-99143A9C8178}"/>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679CEB5-322A-AB45-B1CA-24D68B878B31}"/>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000"/>
              <a:t>We need to:</a:t>
            </a:r>
          </a:p>
          <a:p>
            <a:pPr>
              <a:lnSpc>
                <a:spcPct val="90000"/>
              </a:lnSpc>
            </a:pPr>
            <a:r>
              <a:rPr lang="en-GB" sz="2000"/>
              <a:t>Understand what we are trying to manage – the better our mental models, the more likely what we do</a:t>
            </a:r>
          </a:p>
          <a:p>
            <a:pPr>
              <a:lnSpc>
                <a:spcPct val="90000"/>
              </a:lnSpc>
            </a:pPr>
            <a:r>
              <a:rPr lang="en-GB" sz="2000"/>
              <a:t>with them in the way of building and running organizations and processes will work;</a:t>
            </a:r>
          </a:p>
          <a:p>
            <a:pPr>
              <a:lnSpc>
                <a:spcPct val="90000"/>
              </a:lnSpc>
            </a:pPr>
            <a:r>
              <a:rPr lang="en-GB" sz="2000"/>
              <a:t>• Understand the how – creating the conditions (and adapting/configuring them) to make it happen;</a:t>
            </a:r>
          </a:p>
          <a:p>
            <a:pPr>
              <a:lnSpc>
                <a:spcPct val="90000"/>
              </a:lnSpc>
            </a:pPr>
            <a:r>
              <a:rPr lang="en-GB" sz="2000"/>
              <a:t>• Understand the what, why and when of innovation activity – strategy shaping the innovation work</a:t>
            </a:r>
          </a:p>
          <a:p>
            <a:pPr>
              <a:lnSpc>
                <a:spcPct val="90000"/>
              </a:lnSpc>
            </a:pPr>
            <a:r>
              <a:rPr lang="en-GB" sz="2000"/>
              <a:t>that we do;</a:t>
            </a:r>
          </a:p>
          <a:p>
            <a:pPr>
              <a:lnSpc>
                <a:spcPct val="90000"/>
              </a:lnSpc>
            </a:pPr>
            <a:r>
              <a:rPr lang="en-GB" sz="2000"/>
              <a:t>• Understand that it is a moving target – managing innovation is about building a dynamic capability.</a:t>
            </a:r>
          </a:p>
          <a:p>
            <a:pPr>
              <a:lnSpc>
                <a:spcPct val="90000"/>
              </a:lnSpc>
            </a:pPr>
            <a:endParaRPr lang="en-US" sz="2000"/>
          </a:p>
        </p:txBody>
      </p:sp>
    </p:spTree>
    <p:extLst>
      <p:ext uri="{BB962C8B-B14F-4D97-AF65-F5344CB8AC3E}">
        <p14:creationId xmlns:p14="http://schemas.microsoft.com/office/powerpoint/2010/main" val="2956341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a:spLocks/>
          </p:cNvSpPr>
          <p:nvPr/>
        </p:nvSpPr>
        <p:spPr>
          <a:xfrm>
            <a:off x="515125" y="1153572"/>
            <a:ext cx="2400300"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a:solidFill>
                  <a:srgbClr val="FFFFFF"/>
                </a:solidFill>
                <a:latin typeface="+mj-lt"/>
                <a:ea typeface="+mj-ea"/>
                <a:cs typeface="+mj-cs"/>
              </a:rPr>
              <a:t>Summary</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marL="0" indent="0">
              <a:lnSpc>
                <a:spcPct val="90000"/>
              </a:lnSpc>
              <a:buNone/>
            </a:pPr>
            <a:r>
              <a:rPr lang="en-US" sz="2200" dirty="0"/>
              <a:t>Innovation can take many forms, but they can be reduced to four directions of change:</a:t>
            </a:r>
          </a:p>
          <a:p>
            <a:pPr indent="-228600">
              <a:lnSpc>
                <a:spcPct val="90000"/>
              </a:lnSpc>
            </a:pPr>
            <a:r>
              <a:rPr lang="en-US" sz="2200" dirty="0"/>
              <a:t>• ‘product innovation’ – changes in the things (products/services) that an organization offers;</a:t>
            </a:r>
          </a:p>
          <a:p>
            <a:pPr indent="-228600">
              <a:lnSpc>
                <a:spcPct val="90000"/>
              </a:lnSpc>
            </a:pPr>
            <a:r>
              <a:rPr lang="en-US" sz="2200" dirty="0"/>
              <a:t>• ‘process innovation’ – changes in the ways in which they are created and delivered;</a:t>
            </a:r>
          </a:p>
          <a:p>
            <a:pPr indent="-228600">
              <a:lnSpc>
                <a:spcPct val="90000"/>
              </a:lnSpc>
            </a:pPr>
            <a:r>
              <a:rPr lang="en-US" sz="2200" dirty="0"/>
              <a:t>• ‘position innovation’ – changes in the context in which the products/services are introduced;</a:t>
            </a:r>
          </a:p>
          <a:p>
            <a:pPr indent="-228600">
              <a:lnSpc>
                <a:spcPct val="90000"/>
              </a:lnSpc>
            </a:pPr>
            <a:r>
              <a:rPr lang="en-US" sz="2200" dirty="0"/>
              <a:t>• ‘paradigm innovation’ – changes in the underlying mental models that frame what the organization</a:t>
            </a:r>
          </a:p>
          <a:p>
            <a:pPr indent="-228600">
              <a:lnSpc>
                <a:spcPct val="90000"/>
              </a:lnSpc>
            </a:pPr>
            <a:r>
              <a:rPr lang="en-US" sz="2200" dirty="0"/>
              <a:t>does.</a:t>
            </a:r>
          </a:p>
          <a:p>
            <a:pPr indent="-228600">
              <a:lnSpc>
                <a:spcPct val="90000"/>
              </a:lnSpc>
            </a:pPr>
            <a:endParaRPr lang="en-US" sz="2200" dirty="0"/>
          </a:p>
        </p:txBody>
      </p:sp>
      <p:cxnSp>
        <p:nvCxnSpPr>
          <p:cNvPr id="6" name="Straight Connector 5"/>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427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txBox="1">
            <a:spLocks/>
          </p:cNvSpPr>
          <p:nvPr/>
        </p:nvSpPr>
        <p:spPr>
          <a:xfrm>
            <a:off x="515125" y="1153572"/>
            <a:ext cx="2400300"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a:solidFill>
                  <a:srgbClr val="FFFFFF"/>
                </a:solidFill>
                <a:latin typeface="+mj-lt"/>
                <a:ea typeface="+mj-ea"/>
                <a:cs typeface="+mj-cs"/>
              </a:rPr>
              <a:t>Summary</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marL="0" indent="0">
              <a:lnSpc>
                <a:spcPct val="90000"/>
              </a:lnSpc>
              <a:buNone/>
            </a:pPr>
            <a:r>
              <a:rPr lang="en-US" sz="2200" dirty="0"/>
              <a:t>Research repeatedly suggests that if we want to succeed in managing innovation we need to: </a:t>
            </a:r>
          </a:p>
          <a:p>
            <a:pPr indent="-228600">
              <a:lnSpc>
                <a:spcPct val="90000"/>
              </a:lnSpc>
            </a:pPr>
            <a:r>
              <a:rPr lang="en-US" sz="2200" dirty="0"/>
              <a:t>explore and understand different dimensions of innovation (ways in which we can change things)</a:t>
            </a:r>
          </a:p>
          <a:p>
            <a:pPr indent="-228600">
              <a:lnSpc>
                <a:spcPct val="90000"/>
              </a:lnSpc>
            </a:pPr>
            <a:r>
              <a:rPr lang="en-US" sz="2200" dirty="0"/>
              <a:t>manage innovation as a </a:t>
            </a:r>
            <a:r>
              <a:rPr lang="en-US" sz="2200" i="1" dirty="0"/>
              <a:t>process </a:t>
            </a:r>
            <a:endParaRPr lang="en-US" sz="2200" dirty="0"/>
          </a:p>
          <a:p>
            <a:pPr indent="-228600">
              <a:lnSpc>
                <a:spcPct val="90000"/>
              </a:lnSpc>
            </a:pPr>
            <a:r>
              <a:rPr lang="en-US" sz="2200" dirty="0"/>
              <a:t>create enabling conditions to enable them to repeat the innovation trick (building capability)</a:t>
            </a:r>
          </a:p>
          <a:p>
            <a:pPr indent="-228600">
              <a:lnSpc>
                <a:spcPct val="90000"/>
              </a:lnSpc>
            </a:pPr>
            <a:r>
              <a:rPr lang="en-US" sz="2200" dirty="0"/>
              <a:t>focus this capability to move their organizations forward (innovation strategy) </a:t>
            </a:r>
          </a:p>
          <a:p>
            <a:pPr indent="-228600">
              <a:lnSpc>
                <a:spcPct val="90000"/>
              </a:lnSpc>
            </a:pPr>
            <a:r>
              <a:rPr lang="en-US" sz="2200" dirty="0"/>
              <a:t>build </a:t>
            </a:r>
            <a:r>
              <a:rPr lang="en-US" sz="2200" i="1" dirty="0"/>
              <a:t>dynamic capability </a:t>
            </a:r>
            <a:r>
              <a:rPr lang="en-US" sz="2200" dirty="0"/>
              <a:t>(the ability to reset and adapt their approaches in the face of a changing environment).</a:t>
            </a:r>
          </a:p>
          <a:p>
            <a:pPr indent="-228600">
              <a:lnSpc>
                <a:spcPct val="90000"/>
              </a:lnSpc>
            </a:pPr>
            <a:endParaRPr lang="en-US" sz="2200" dirty="0"/>
          </a:p>
        </p:txBody>
      </p:sp>
      <p:cxnSp>
        <p:nvCxnSpPr>
          <p:cNvPr id="6" name="Straight Connector 5"/>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47978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a:spLocks/>
          </p:cNvSpPr>
          <p:nvPr/>
        </p:nvSpPr>
        <p:spPr>
          <a:xfrm>
            <a:off x="515125" y="1153572"/>
            <a:ext cx="2400300"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a:solidFill>
                  <a:srgbClr val="FFFFFF"/>
                </a:solidFill>
                <a:latin typeface="+mj-lt"/>
                <a:ea typeface="+mj-ea"/>
                <a:cs typeface="+mj-cs"/>
              </a:rPr>
              <a:t>Summary</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marL="0" indent="0">
              <a:lnSpc>
                <a:spcPct val="90000"/>
              </a:lnSpc>
              <a:buNone/>
            </a:pPr>
            <a:r>
              <a:rPr lang="en-US" sz="2200" dirty="0"/>
              <a:t>Any organization can get lucky once, but the real skill in innovation management is being able to repeat the trick. So if we want to manage innovation, we ought to ask ourselves the following check questions:</a:t>
            </a:r>
          </a:p>
          <a:p>
            <a:pPr marL="0" indent="0">
              <a:lnSpc>
                <a:spcPct val="90000"/>
              </a:lnSpc>
              <a:buNone/>
            </a:pPr>
            <a:endParaRPr lang="en-US" sz="2200" dirty="0"/>
          </a:p>
          <a:p>
            <a:pPr indent="-228600">
              <a:lnSpc>
                <a:spcPct val="90000"/>
              </a:lnSpc>
            </a:pPr>
            <a:r>
              <a:rPr lang="en-US" sz="2200" dirty="0"/>
              <a:t>• Do we have effective enabling mechanisms for the core process?</a:t>
            </a:r>
          </a:p>
          <a:p>
            <a:pPr indent="-228600">
              <a:lnSpc>
                <a:spcPct val="90000"/>
              </a:lnSpc>
            </a:pPr>
            <a:r>
              <a:rPr lang="en-US" sz="2200" dirty="0"/>
              <a:t>• Do we have strategic direction and commitment for innovation?</a:t>
            </a:r>
          </a:p>
          <a:p>
            <a:pPr indent="-228600">
              <a:lnSpc>
                <a:spcPct val="90000"/>
              </a:lnSpc>
            </a:pPr>
            <a:r>
              <a:rPr lang="en-US" sz="2200" dirty="0"/>
              <a:t>• Do we have an innovative organization?</a:t>
            </a:r>
          </a:p>
          <a:p>
            <a:pPr indent="-228600">
              <a:lnSpc>
                <a:spcPct val="90000"/>
              </a:lnSpc>
            </a:pPr>
            <a:r>
              <a:rPr lang="en-US" sz="2200" dirty="0"/>
              <a:t>• Do we build rich proactive links?</a:t>
            </a:r>
          </a:p>
          <a:p>
            <a:pPr indent="-228600">
              <a:lnSpc>
                <a:spcPct val="90000"/>
              </a:lnSpc>
            </a:pPr>
            <a:r>
              <a:rPr lang="en-US" sz="2200" dirty="0"/>
              <a:t>• Do we learn and develop our innovation capability?</a:t>
            </a:r>
          </a:p>
          <a:p>
            <a:pPr indent="-228600">
              <a:lnSpc>
                <a:spcPct val="90000"/>
              </a:lnSpc>
            </a:pPr>
            <a:endParaRPr lang="en-US" sz="2200" dirty="0"/>
          </a:p>
        </p:txBody>
      </p:sp>
      <p:cxnSp>
        <p:nvCxnSpPr>
          <p:cNvPr id="6" name="Straight Connector 5"/>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336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3724072" y="629268"/>
            <a:ext cx="4939868" cy="1286160"/>
          </a:xfrm>
        </p:spPr>
        <p:txBody>
          <a:bodyPr anchor="b">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3724073" y="2438400"/>
            <a:ext cx="4939867" cy="3785419"/>
          </a:xfrm>
        </p:spPr>
        <p:txBody>
          <a:bodyPr>
            <a:normAutofit/>
          </a:bodyPr>
          <a:lstStyle/>
          <a:p>
            <a:r>
              <a:rPr lang="en-US" sz="1700" dirty="0"/>
              <a:t>There are several short videos which can help explore and present the key themes of the chapter:</a:t>
            </a:r>
          </a:p>
          <a:p>
            <a:r>
              <a:rPr lang="en-GB" sz="1700" u="sng" dirty="0">
                <a:hlinkClick r:id="rId3"/>
              </a:rPr>
              <a:t>What is innovation?</a:t>
            </a:r>
            <a:r>
              <a:rPr lang="en-GB" sz="1700" dirty="0"/>
              <a:t> </a:t>
            </a:r>
          </a:p>
          <a:p>
            <a:r>
              <a:rPr lang="en-GB" sz="1700" u="sng" dirty="0">
                <a:hlinkClick r:id="rId4"/>
              </a:rPr>
              <a:t>Why does innovation matter?</a:t>
            </a:r>
            <a:r>
              <a:rPr lang="en-GB" sz="1700" dirty="0"/>
              <a:t> </a:t>
            </a:r>
            <a:endParaRPr lang="en-US" sz="1700" dirty="0"/>
          </a:p>
          <a:p>
            <a:r>
              <a:rPr lang="en-GB" sz="1700" u="sng" dirty="0">
                <a:hlinkClick r:id="rId5"/>
              </a:rPr>
              <a:t>The innovation imperative</a:t>
            </a:r>
            <a:r>
              <a:rPr lang="en-GB" sz="1700" dirty="0"/>
              <a:t> </a:t>
            </a:r>
          </a:p>
          <a:p>
            <a:r>
              <a:rPr lang="en-GB" sz="1700" u="sng" dirty="0">
                <a:hlinkClick r:id="rId6"/>
              </a:rPr>
              <a:t>Innovation model innovation</a:t>
            </a:r>
            <a:r>
              <a:rPr lang="en-GB" sz="1700" dirty="0"/>
              <a:t> </a:t>
            </a:r>
            <a:r>
              <a:rPr lang="en-US" sz="1700" dirty="0"/>
              <a:t>’</a:t>
            </a:r>
          </a:p>
          <a:p>
            <a:r>
              <a:rPr lang="en-GB" sz="1700" u="sng" dirty="0">
                <a:hlinkClick r:id="rId7"/>
              </a:rPr>
              <a:t>The language of innovation</a:t>
            </a:r>
            <a:r>
              <a:rPr lang="en-GB" sz="1700" dirty="0"/>
              <a:t> </a:t>
            </a:r>
          </a:p>
          <a:p>
            <a:r>
              <a:rPr lang="en-GB" sz="1700" u="sng" dirty="0">
                <a:hlinkClick r:id="rId8"/>
              </a:rPr>
              <a:t>Innovation management </a:t>
            </a:r>
            <a:endParaRPr lang="en-US" sz="1700" dirty="0"/>
          </a:p>
        </p:txBody>
      </p:sp>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9"/>
          <a:srcRect l="20689" r="45471" b="-1"/>
          <a:stretch/>
        </p:blipFill>
        <p:spPr>
          <a:xfrm>
            <a:off x="20" y="10"/>
            <a:ext cx="3476673" cy="6857990"/>
          </a:xfrm>
          <a:prstGeom prst="rect">
            <a:avLst/>
          </a:prstGeom>
          <a:effectLst/>
        </p:spPr>
      </p:pic>
      <p:cxnSp>
        <p:nvCxnSpPr>
          <p:cNvPr id="15" name="Straight Connector 1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5CA0E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549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3724072" y="629268"/>
            <a:ext cx="4939868" cy="1286160"/>
          </a:xfrm>
        </p:spPr>
        <p:txBody>
          <a:bodyPr anchor="b">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3724073" y="2438400"/>
            <a:ext cx="4939867" cy="3785419"/>
          </a:xfrm>
        </p:spPr>
        <p:txBody>
          <a:bodyPr>
            <a:normAutofit/>
          </a:bodyPr>
          <a:lstStyle/>
          <a:p>
            <a:r>
              <a:rPr lang="en-GB" sz="1700" dirty="0"/>
              <a:t>You can also watch longer films covering key themes:</a:t>
            </a:r>
          </a:p>
          <a:p>
            <a:r>
              <a:rPr lang="en-GB" sz="1700" dirty="0"/>
              <a:t>John Bessant explaining the challenge of </a:t>
            </a:r>
            <a:r>
              <a:rPr lang="en-GB" sz="1700" u="sng" dirty="0">
                <a:hlinkClick r:id="rId3"/>
              </a:rPr>
              <a:t>Strategic innovation management</a:t>
            </a:r>
            <a:r>
              <a:rPr lang="en-GB" sz="1700" dirty="0"/>
              <a:t> </a:t>
            </a:r>
          </a:p>
          <a:p>
            <a:r>
              <a:rPr lang="en-GB" sz="1700" dirty="0"/>
              <a:t>John Bessant explain the 4Ps model -</a:t>
            </a:r>
            <a:r>
              <a:rPr lang="en-GB" sz="1700" u="sng" dirty="0">
                <a:hlinkClick r:id="rId4"/>
              </a:rPr>
              <a:t> Exploring innovation space </a:t>
            </a:r>
            <a:endParaRPr lang="en-GB" sz="1700" u="sng" dirty="0"/>
          </a:p>
          <a:p>
            <a:r>
              <a:rPr lang="en-US" sz="1800" dirty="0"/>
              <a:t>Joe Tidd </a:t>
            </a:r>
            <a:r>
              <a:rPr lang="en-US" sz="1800" dirty="0">
                <a:hlinkClick r:id="rId5"/>
              </a:rPr>
              <a:t>discussing the question ‘Why innovate?’</a:t>
            </a:r>
            <a:endParaRPr lang="en-GB" sz="1700" u="sng" dirty="0"/>
          </a:p>
          <a:p>
            <a:endParaRPr lang="en-GB" sz="1700" dirty="0"/>
          </a:p>
          <a:p>
            <a:endParaRPr lang="en-US" sz="1700" dirty="0"/>
          </a:p>
        </p:txBody>
      </p:sp>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6"/>
          <a:srcRect l="20689" r="45471" b="-1"/>
          <a:stretch/>
        </p:blipFill>
        <p:spPr>
          <a:xfrm>
            <a:off x="20" y="10"/>
            <a:ext cx="3476673" cy="6857990"/>
          </a:xfrm>
          <a:prstGeom prst="rect">
            <a:avLst/>
          </a:prstGeom>
          <a:effectLst/>
        </p:spPr>
      </p:pic>
      <p:cxnSp>
        <p:nvCxnSpPr>
          <p:cNvPr id="15" name="Straight Connector 1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5CA0E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7406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63019-479B-E446-AE62-82D7097F6166}"/>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Innovation managers in their own words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C12632B-BC10-EB48-AC73-460415B112BE}"/>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On the website there are </a:t>
            </a:r>
            <a:r>
              <a:rPr lang="en-US" sz="3000" dirty="0">
                <a:hlinkClick r:id="rId2"/>
              </a:rPr>
              <a:t>several interviews with </a:t>
            </a:r>
            <a:r>
              <a:rPr lang="en-US" sz="3000" dirty="0" err="1">
                <a:hlinkClick r:id="rId2"/>
              </a:rPr>
              <a:t>practising</a:t>
            </a:r>
            <a:r>
              <a:rPr lang="en-US" sz="3000" dirty="0">
                <a:hlinkClick r:id="rId2"/>
              </a:rPr>
              <a:t> innovation managers </a:t>
            </a:r>
            <a:r>
              <a:rPr lang="en-US" sz="3000" dirty="0"/>
              <a:t>which give an idea of the wide range of challenges in the field and the different areas (commercial and not-for-profit) in which innovation is playing a key role:</a:t>
            </a:r>
          </a:p>
          <a:p>
            <a:pPr>
              <a:lnSpc>
                <a:spcPct val="90000"/>
              </a:lnSpc>
            </a:pPr>
            <a:endParaRPr lang="en-US" sz="3000" dirty="0"/>
          </a:p>
        </p:txBody>
      </p:sp>
    </p:spTree>
    <p:extLst>
      <p:ext uri="{BB962C8B-B14F-4D97-AF65-F5344CB8AC3E}">
        <p14:creationId xmlns:p14="http://schemas.microsoft.com/office/powerpoint/2010/main" val="160457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4582123" y="908344"/>
            <a:ext cx="3933226" cy="1538130"/>
          </a:xfrm>
        </p:spPr>
        <p:txBody>
          <a:bodyPr vert="horz" lIns="91440" tIns="45720" rIns="91440" bIns="45720" rtlCol="0" anchor="ctr">
            <a:normAutofit/>
          </a:bodyPr>
          <a:lstStyle/>
          <a:p>
            <a:pPr lvl="0" algn="l">
              <a:lnSpc>
                <a:spcPct val="90000"/>
              </a:lnSpc>
              <a:defRPr/>
            </a:pPr>
            <a:r>
              <a:rPr lang="en-US" b="1" dirty="0"/>
              <a:t>Creating v</a:t>
            </a:r>
            <a:r>
              <a:rPr lang="en-US" b="1" kern="1200" dirty="0">
                <a:solidFill>
                  <a:schemeClr val="tx1"/>
                </a:solidFill>
                <a:latin typeface="+mj-lt"/>
                <a:ea typeface="+mj-ea"/>
                <a:cs typeface="+mj-cs"/>
              </a:rPr>
              <a:t>alue from ideas</a:t>
            </a:r>
          </a:p>
        </p:txBody>
      </p:sp>
      <p:sp>
        <p:nvSpPr>
          <p:cNvPr id="15" name="Freeform 6">
            <a:extLst>
              <a:ext uri="{FF2B5EF4-FFF2-40B4-BE49-F238E27FC236}">
                <a16:creationId xmlns:a16="http://schemas.microsoft.com/office/drawing/2014/main" id="{B6C29DB0-17E9-42FF-986E-0B7F493F4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649688" y="1685652"/>
            <a:ext cx="2456259"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4C4C4C"/>
          </a:solidFill>
          <a:ln w="0">
            <a:no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6">
            <a:extLst>
              <a:ext uri="{FF2B5EF4-FFF2-40B4-BE49-F238E27FC236}">
                <a16:creationId xmlns:a16="http://schemas.microsoft.com/office/drawing/2014/main" id="{115AD956-A5B6-4760-B8B2-11E2DF6B0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4643" y="744469"/>
            <a:ext cx="2456751"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4C4C4C"/>
          </a:solidFill>
          <a:ln w="0">
            <a:noFill/>
            <a:prstDash val="solid"/>
            <a:round/>
            <a:headEnd/>
            <a:tailEnd/>
          </a:ln>
        </p:spPr>
      </p:sp>
      <p:pic>
        <p:nvPicPr>
          <p:cNvPr id="10" name="Graphic 9" descr="Group Brainstorm">
            <a:extLst>
              <a:ext uri="{FF2B5EF4-FFF2-40B4-BE49-F238E27FC236}">
                <a16:creationId xmlns:a16="http://schemas.microsoft.com/office/drawing/2014/main" id="{0F7BA532-9D2C-4FC8-BD2E-1BF69C3EE8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0129" y="2199225"/>
            <a:ext cx="2450957" cy="2450957"/>
          </a:xfrm>
          <a:prstGeom prst="rect">
            <a:avLst/>
          </a:prstGeom>
        </p:spPr>
      </p:pic>
      <p:sp>
        <p:nvSpPr>
          <p:cNvPr id="6" name="Rectangle 5"/>
          <p:cNvSpPr/>
          <p:nvPr/>
        </p:nvSpPr>
        <p:spPr>
          <a:xfrm>
            <a:off x="4433368" y="2706865"/>
            <a:ext cx="4037739" cy="3470097"/>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100"/>
              <a:t>Follow the link to watch a video by The School of Life on ‘How to be an Entrepreneur’</a:t>
            </a:r>
          </a:p>
          <a:p>
            <a:pPr indent="-228600">
              <a:lnSpc>
                <a:spcPct val="90000"/>
              </a:lnSpc>
              <a:spcAft>
                <a:spcPts val="600"/>
              </a:spcAft>
              <a:buFont typeface="Arial" panose="020B0604020202020204" pitchFamily="34" charset="0"/>
              <a:buChar char="•"/>
            </a:pPr>
            <a:endParaRPr lang="en-US" sz="2100"/>
          </a:p>
          <a:p>
            <a:pPr indent="-228600">
              <a:lnSpc>
                <a:spcPct val="90000"/>
              </a:lnSpc>
              <a:spcAft>
                <a:spcPts val="600"/>
              </a:spcAft>
              <a:buFont typeface="Arial" panose="020B0604020202020204" pitchFamily="34" charset="0"/>
              <a:buChar char="•"/>
            </a:pPr>
            <a:r>
              <a:rPr lang="en-US" sz="2100">
                <a:hlinkClick r:id="rId4"/>
              </a:rPr>
              <a:t>https://www.youtube.com/watch?v=lJjILQu2xM8</a:t>
            </a:r>
            <a:endParaRPr lang="en-US" sz="2100"/>
          </a:p>
        </p:txBody>
      </p:sp>
      <p:cxnSp>
        <p:nvCxnSpPr>
          <p:cNvPr id="5" name="Straight Connector 4"/>
          <p:cNvCxnSpPr/>
          <p:nvPr/>
        </p:nvCxnSpPr>
        <p:spPr>
          <a:xfrm>
            <a:off x="458167" y="1433555"/>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9438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txBox="1">
            <a:spLocks/>
          </p:cNvSpPr>
          <p:nvPr/>
        </p:nvSpPr>
        <p:spPr>
          <a:xfrm>
            <a:off x="3724072" y="39095"/>
            <a:ext cx="4939868" cy="167660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lang="en-US" sz="3600" b="1" dirty="0">
                <a:latin typeface="+mj-lt"/>
                <a:ea typeface="+mj-ea"/>
                <a:cs typeface="+mj-cs"/>
              </a:rPr>
              <a:t>Creating and capturing value</a:t>
            </a:r>
          </a:p>
        </p:txBody>
      </p:sp>
      <p:sp>
        <p:nvSpPr>
          <p:cNvPr id="10" name="Rectangle 9"/>
          <p:cNvSpPr/>
          <p:nvPr/>
        </p:nvSpPr>
        <p:spPr>
          <a:xfrm>
            <a:off x="3724073" y="2438400"/>
            <a:ext cx="4939867" cy="3785419"/>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100"/>
              <a:t>Follow the link to watch Michael G. Jacobides’ TED Talk, ‘Creating and Capturing Value in Your Business Ecosystems’</a:t>
            </a:r>
          </a:p>
          <a:p>
            <a:pPr indent="-228600">
              <a:lnSpc>
                <a:spcPct val="90000"/>
              </a:lnSpc>
              <a:spcAft>
                <a:spcPts val="600"/>
              </a:spcAft>
              <a:buFont typeface="Arial" panose="020B0604020202020204" pitchFamily="34" charset="0"/>
              <a:buChar char="•"/>
            </a:pPr>
            <a:endParaRPr lang="en-US" sz="2100"/>
          </a:p>
          <a:p>
            <a:pPr indent="-228600">
              <a:lnSpc>
                <a:spcPct val="90000"/>
              </a:lnSpc>
              <a:spcAft>
                <a:spcPts val="600"/>
              </a:spcAft>
              <a:buFont typeface="Arial" panose="020B0604020202020204" pitchFamily="34" charset="0"/>
              <a:buChar char="•"/>
            </a:pPr>
            <a:endParaRPr lang="en-US" sz="2100"/>
          </a:p>
          <a:p>
            <a:pPr indent="-228600">
              <a:lnSpc>
                <a:spcPct val="90000"/>
              </a:lnSpc>
              <a:spcAft>
                <a:spcPts val="600"/>
              </a:spcAft>
              <a:buFont typeface="Arial" panose="020B0604020202020204" pitchFamily="34" charset="0"/>
              <a:buChar char="•"/>
            </a:pPr>
            <a:endParaRPr lang="en-US" sz="2100">
              <a:hlinkClick r:id="rId2"/>
            </a:endParaRPr>
          </a:p>
          <a:p>
            <a:pPr indent="-228600">
              <a:lnSpc>
                <a:spcPct val="90000"/>
              </a:lnSpc>
              <a:spcAft>
                <a:spcPts val="600"/>
              </a:spcAft>
              <a:buFont typeface="Arial" panose="020B0604020202020204" pitchFamily="34" charset="0"/>
              <a:buChar char="•"/>
            </a:pPr>
            <a:r>
              <a:rPr lang="en-US" sz="2100">
                <a:hlinkClick r:id="rId2"/>
              </a:rPr>
              <a:t>https://www.youtube.com/watch?v=hxQHSyk5oyc</a:t>
            </a:r>
            <a:endParaRPr lang="en-US" sz="2100"/>
          </a:p>
          <a:p>
            <a:pPr indent="-228600">
              <a:lnSpc>
                <a:spcPct val="90000"/>
              </a:lnSpc>
              <a:spcAft>
                <a:spcPts val="600"/>
              </a:spcAft>
              <a:buFont typeface="Arial" panose="020B0604020202020204" pitchFamily="34" charset="0"/>
              <a:buChar char="•"/>
            </a:pPr>
            <a:endParaRPr lang="en-US" sz="2100"/>
          </a:p>
          <a:p>
            <a:pPr indent="-228600">
              <a:lnSpc>
                <a:spcPct val="90000"/>
              </a:lnSpc>
              <a:spcAft>
                <a:spcPts val="600"/>
              </a:spcAft>
              <a:buFont typeface="Arial" panose="020B0604020202020204" pitchFamily="34" charset="0"/>
              <a:buChar char="•"/>
            </a:pPr>
            <a:endParaRPr lang="en-US" sz="2100"/>
          </a:p>
          <a:p>
            <a:pPr indent="-228600">
              <a:lnSpc>
                <a:spcPct val="90000"/>
              </a:lnSpc>
              <a:spcAft>
                <a:spcPts val="600"/>
              </a:spcAft>
              <a:buFont typeface="Arial" panose="020B0604020202020204" pitchFamily="34" charset="0"/>
              <a:buChar char="•"/>
            </a:pPr>
            <a:endParaRPr lang="en-US" sz="2100"/>
          </a:p>
          <a:p>
            <a:pPr indent="-228600">
              <a:lnSpc>
                <a:spcPct val="90000"/>
              </a:lnSpc>
              <a:spcAft>
                <a:spcPts val="600"/>
              </a:spcAft>
              <a:buFont typeface="Arial" panose="020B0604020202020204" pitchFamily="34" charset="0"/>
              <a:buChar char="•"/>
            </a:pPr>
            <a:endParaRPr lang="en-US" sz="2100"/>
          </a:p>
        </p:txBody>
      </p:sp>
      <p:pic>
        <p:nvPicPr>
          <p:cNvPr id="12" name="Picture 11">
            <a:extLst>
              <a:ext uri="{FF2B5EF4-FFF2-40B4-BE49-F238E27FC236}">
                <a16:creationId xmlns:a16="http://schemas.microsoft.com/office/drawing/2014/main" id="{9391B190-BB08-439D-96D9-0B11C61F14D9}"/>
              </a:ext>
            </a:extLst>
          </p:cNvPr>
          <p:cNvPicPr>
            <a:picLocks noChangeAspect="1"/>
          </p:cNvPicPr>
          <p:nvPr/>
        </p:nvPicPr>
        <p:blipFill rotWithShape="1">
          <a:blip r:embed="rId3"/>
          <a:srcRect l="20525" r="45636" b="-1"/>
          <a:stretch/>
        </p:blipFill>
        <p:spPr>
          <a:xfrm>
            <a:off x="20" y="10"/>
            <a:ext cx="3476673" cy="6857990"/>
          </a:xfrm>
          <a:prstGeom prst="rect">
            <a:avLst/>
          </a:prstGeom>
          <a:effectLst/>
        </p:spPr>
      </p:pic>
      <p:cxnSp>
        <p:nvCxnSpPr>
          <p:cNvPr id="9" name="Straight Connector 8"/>
          <p:cNvCxnSpPr/>
          <p:nvPr/>
        </p:nvCxnSpPr>
        <p:spPr>
          <a:xfrm>
            <a:off x="458167" y="137924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19763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There are </a:t>
            </a:r>
            <a:r>
              <a:rPr lang="en-US" sz="3000" dirty="0">
                <a:hlinkClick r:id="rId2"/>
              </a:rPr>
              <a:t>several podcasts </a:t>
            </a:r>
            <a:r>
              <a:rPr lang="en-US" sz="3000" dirty="0"/>
              <a:t>picking up key themes around managing innovation as a process and some of the key variables:</a:t>
            </a:r>
          </a:p>
          <a:p>
            <a:pPr>
              <a:lnSpc>
                <a:spcPct val="90000"/>
              </a:lnSpc>
            </a:pPr>
            <a:r>
              <a:rPr lang="en-US" sz="3000" dirty="0">
                <a:hlinkClick r:id="rId3"/>
              </a:rPr>
              <a:t>Blog pieces here </a:t>
            </a:r>
            <a:r>
              <a:rPr lang="en-US" sz="3000" dirty="0"/>
              <a:t>include innovation histories charting the ways in which innovation evolves and contributes – for example, ‘The birth of the bike’, ‘Sweeping the floor with innovation’ and the rise of the internet.</a:t>
            </a:r>
          </a:p>
        </p:txBody>
      </p:sp>
    </p:spTree>
    <p:extLst>
      <p:ext uri="{BB962C8B-B14F-4D97-AF65-F5344CB8AC3E}">
        <p14:creationId xmlns:p14="http://schemas.microsoft.com/office/powerpoint/2010/main" val="1046598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4C5713-35D8-8B4D-A45D-796A20B35723}"/>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8357F40-D265-D04D-A522-2EF589CB8AEA}"/>
              </a:ext>
            </a:extLst>
          </p:cNvPr>
          <p:cNvSpPr>
            <a:spLocks noGrp="1"/>
          </p:cNvSpPr>
          <p:nvPr>
            <p:ph idx="1"/>
          </p:nvPr>
        </p:nvSpPr>
        <p:spPr>
          <a:xfrm>
            <a:off x="3335480" y="591344"/>
            <a:ext cx="5556999" cy="5585619"/>
          </a:xfrm>
        </p:spPr>
        <p:txBody>
          <a:bodyPr anchor="ctr">
            <a:normAutofit/>
          </a:bodyPr>
          <a:lstStyle/>
          <a:p>
            <a:r>
              <a:rPr lang="en-US" dirty="0"/>
              <a:t>There is a wide range of case studies available on the website to help explore themes raised in the chapter.  They can be found at </a:t>
            </a:r>
            <a:r>
              <a:rPr lang="en-US" dirty="0">
                <a:hlinkClick r:id="rId2"/>
              </a:rPr>
              <a:t>https://www.johnbessant.org/cases</a:t>
            </a:r>
            <a:endParaRPr lang="en-US" dirty="0"/>
          </a:p>
          <a:p>
            <a:endParaRPr lang="en-US" dirty="0"/>
          </a:p>
        </p:txBody>
      </p:sp>
    </p:spTree>
    <p:extLst>
      <p:ext uri="{BB962C8B-B14F-4D97-AF65-F5344CB8AC3E}">
        <p14:creationId xmlns:p14="http://schemas.microsoft.com/office/powerpoint/2010/main" val="5919553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a:bodyPr>
          <a:lstStyle/>
          <a:p>
            <a:r>
              <a:rPr lang="en-US" dirty="0"/>
              <a:t>There are several </a:t>
            </a:r>
            <a:r>
              <a:rPr lang="en-US" dirty="0">
                <a:hlinkClick r:id="rId2"/>
              </a:rPr>
              <a:t>case studies </a:t>
            </a:r>
            <a:r>
              <a:rPr lang="en-US" dirty="0"/>
              <a:t>which highlight key themes in the chapter, including:</a:t>
            </a:r>
          </a:p>
          <a:p>
            <a:r>
              <a:rPr lang="en-US" dirty="0"/>
              <a:t>3M, Marshalls, Hella, Corning – in which you can see the emergence of such routines shaping their ‘personality’ over time</a:t>
            </a:r>
          </a:p>
        </p:txBody>
      </p:sp>
    </p:spTree>
    <p:extLst>
      <p:ext uri="{BB962C8B-B14F-4D97-AF65-F5344CB8AC3E}">
        <p14:creationId xmlns:p14="http://schemas.microsoft.com/office/powerpoint/2010/main" val="205713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4C5713-35D8-8B4D-A45D-796A20B35723}"/>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8357F40-D265-D04D-A522-2EF589CB8AEA}"/>
              </a:ext>
            </a:extLst>
          </p:cNvPr>
          <p:cNvSpPr>
            <a:spLocks noGrp="1"/>
          </p:cNvSpPr>
          <p:nvPr>
            <p:ph idx="1"/>
          </p:nvPr>
        </p:nvSpPr>
        <p:spPr>
          <a:xfrm>
            <a:off x="3275856" y="1272381"/>
            <a:ext cx="5179868" cy="5585619"/>
          </a:xfrm>
        </p:spPr>
        <p:txBody>
          <a:bodyPr anchor="ctr">
            <a:normAutofit fontScale="55000" lnSpcReduction="20000"/>
          </a:bodyPr>
          <a:lstStyle/>
          <a:p>
            <a:pPr marL="0" indent="0">
              <a:buNone/>
            </a:pPr>
            <a:r>
              <a:rPr lang="en-US" dirty="0"/>
              <a:t>In particular the chapter mentions:</a:t>
            </a:r>
          </a:p>
          <a:p>
            <a:pPr marL="0" indent="0">
              <a:buNone/>
            </a:pPr>
            <a:endParaRPr lang="en-US" dirty="0"/>
          </a:p>
          <a:p>
            <a:r>
              <a:rPr lang="en-GB" dirty="0"/>
              <a:t>The dimming of the light bulb and the changing imaging industry, two examples of innovation patterns over time</a:t>
            </a:r>
          </a:p>
          <a:p>
            <a:r>
              <a:rPr lang="en-GB" dirty="0"/>
              <a:t>Marshalls and Hella, case studies of innovation over several decades within a growing business from start-up to global players</a:t>
            </a:r>
          </a:p>
          <a:p>
            <a:r>
              <a:rPr lang="en-GB" dirty="0"/>
              <a:t>Spirit a highly successful Russian company whose technology underpins most voice recognition systems around the world.</a:t>
            </a:r>
          </a:p>
          <a:p>
            <a:r>
              <a:rPr lang="en-GB" dirty="0"/>
              <a:t>Several cases including Zara, Lego, Philips, </a:t>
            </a:r>
            <a:r>
              <a:rPr lang="en-GB" dirty="0" err="1"/>
              <a:t>Kumba</a:t>
            </a:r>
            <a:r>
              <a:rPr lang="en-GB" dirty="0"/>
              <a:t> Resources, Dyson and 3M showing how companies use innovation to create and sustain competitive advantage</a:t>
            </a:r>
          </a:p>
          <a:p>
            <a:r>
              <a:rPr lang="en-GB" dirty="0"/>
              <a:t>Examples from the public and not-for-profit world including Aravind Eye Clinics, NHL Hospitals, </a:t>
            </a:r>
            <a:r>
              <a:rPr lang="en-GB" dirty="0" err="1"/>
              <a:t>Lifespring</a:t>
            </a:r>
            <a:r>
              <a:rPr lang="en-GB" dirty="0"/>
              <a:t> Hospitals and the Eastville Community Shop</a:t>
            </a:r>
          </a:p>
          <a:p>
            <a:r>
              <a:rPr lang="en-GB" dirty="0"/>
              <a:t>Kodak and Fujifilm showing how disruption can affect well-established businesses and the innovation strategies they use to deal with it</a:t>
            </a:r>
          </a:p>
          <a:p>
            <a:endParaRPr lang="en-GB" dirty="0"/>
          </a:p>
          <a:p>
            <a:endParaRPr lang="en-GB" dirty="0"/>
          </a:p>
          <a:p>
            <a:endParaRPr lang="en-GB" dirty="0"/>
          </a:p>
          <a:p>
            <a:endParaRPr lang="en-GB" dirty="0"/>
          </a:p>
          <a:p>
            <a:endParaRPr lang="en-GB" dirty="0"/>
          </a:p>
          <a:p>
            <a:endParaRPr lang="en-GB" dirty="0"/>
          </a:p>
          <a:p>
            <a:endParaRPr lang="en-US" dirty="0"/>
          </a:p>
        </p:txBody>
      </p:sp>
    </p:spTree>
    <p:extLst>
      <p:ext uri="{BB962C8B-B14F-4D97-AF65-F5344CB8AC3E}">
        <p14:creationId xmlns:p14="http://schemas.microsoft.com/office/powerpoint/2010/main" val="2682235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5ABA3F-C753-0941-A797-0AD8CFBC6AAA}"/>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89C7C6D-D583-BF4B-986D-87CEBCFCC954}"/>
              </a:ext>
            </a:extLst>
          </p:cNvPr>
          <p:cNvSpPr>
            <a:spLocks noGrp="1"/>
          </p:cNvSpPr>
          <p:nvPr>
            <p:ph idx="1"/>
          </p:nvPr>
        </p:nvSpPr>
        <p:spPr>
          <a:xfrm>
            <a:off x="3335481" y="591344"/>
            <a:ext cx="5179868" cy="5585619"/>
          </a:xfrm>
        </p:spPr>
        <p:txBody>
          <a:bodyPr anchor="ctr">
            <a:normAutofit fontScale="92500" lnSpcReduction="10000"/>
          </a:bodyPr>
          <a:lstStyle/>
          <a:p>
            <a:pPr marL="0" indent="0">
              <a:buNone/>
            </a:pPr>
            <a:r>
              <a:rPr lang="en-US" dirty="0"/>
              <a:t>The chapter introduces a variety of tools for helping answer the question of where and when to innovate, including:</a:t>
            </a:r>
          </a:p>
          <a:p>
            <a:r>
              <a:rPr lang="en-GB" dirty="0"/>
              <a:t>The 4Ps approach to mapping innovation space</a:t>
            </a:r>
          </a:p>
          <a:p>
            <a:r>
              <a:rPr lang="en-GB" dirty="0"/>
              <a:t>Blue Ocean strategy</a:t>
            </a:r>
          </a:p>
          <a:p>
            <a:r>
              <a:rPr lang="en-GB" dirty="0"/>
              <a:t>Value curves</a:t>
            </a:r>
          </a:p>
          <a:p>
            <a:r>
              <a:rPr lang="en-GB" dirty="0"/>
              <a:t>Competitiveness profiling</a:t>
            </a:r>
          </a:p>
          <a:p>
            <a:endParaRPr lang="en-GB" dirty="0"/>
          </a:p>
          <a:p>
            <a:r>
              <a:rPr lang="en-GB" dirty="0">
                <a:hlinkClick r:id="rId2"/>
              </a:rPr>
              <a:t>They can all be found here:</a:t>
            </a:r>
            <a:endParaRPr lang="en-GB" dirty="0"/>
          </a:p>
          <a:p>
            <a:endParaRPr lang="en-GB" dirty="0"/>
          </a:p>
          <a:p>
            <a:endParaRPr lang="en-US" dirty="0"/>
          </a:p>
        </p:txBody>
      </p:sp>
    </p:spTree>
    <p:extLst>
      <p:ext uri="{BB962C8B-B14F-4D97-AF65-F5344CB8AC3E}">
        <p14:creationId xmlns:p14="http://schemas.microsoft.com/office/powerpoint/2010/main" val="38600516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74230C-D30E-C34A-8316-6B6D6B420F61}"/>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br>
              <a:rPr lang="en-US">
                <a:solidFill>
                  <a:srgbClr val="FFFFFF"/>
                </a:solidFill>
              </a:rPr>
            </a:b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C974435-1532-8D42-968B-6B5F24473C24}"/>
              </a:ext>
            </a:extLst>
          </p:cNvPr>
          <p:cNvSpPr>
            <a:spLocks noGrp="1"/>
          </p:cNvSpPr>
          <p:nvPr>
            <p:ph idx="1"/>
          </p:nvPr>
        </p:nvSpPr>
        <p:spPr>
          <a:xfrm>
            <a:off x="3335480" y="591344"/>
            <a:ext cx="5389895" cy="5585619"/>
          </a:xfrm>
        </p:spPr>
        <p:txBody>
          <a:bodyPr anchor="ctr">
            <a:normAutofit/>
          </a:bodyPr>
          <a:lstStyle/>
          <a:p>
            <a:r>
              <a:rPr lang="en-US" dirty="0"/>
              <a:t>These are a few examples of activities which can help explore themes raised in the chapter.  They can be used with individuals or groups and adapted for online and off-line/classroom settings.</a:t>
            </a:r>
          </a:p>
          <a:p>
            <a:r>
              <a:rPr lang="en-US" dirty="0"/>
              <a:t>You can find </a:t>
            </a:r>
            <a:r>
              <a:rPr lang="en-US" dirty="0">
                <a:hlinkClick r:id="rId2"/>
              </a:rPr>
              <a:t>these and more here:</a:t>
            </a:r>
            <a:endParaRPr lang="en-US" dirty="0"/>
          </a:p>
          <a:p>
            <a:endParaRPr lang="en-US" dirty="0"/>
          </a:p>
        </p:txBody>
      </p:sp>
    </p:spTree>
    <p:extLst>
      <p:ext uri="{BB962C8B-B14F-4D97-AF65-F5344CB8AC3E}">
        <p14:creationId xmlns:p14="http://schemas.microsoft.com/office/powerpoint/2010/main" val="14638563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B552AB-7580-CC45-AD51-9C607895D0A7}"/>
              </a:ext>
            </a:extLst>
          </p:cNvPr>
          <p:cNvSpPr>
            <a:spLocks noGrp="1"/>
          </p:cNvSpPr>
          <p:nvPr>
            <p:ph type="title"/>
          </p:nvPr>
        </p:nvSpPr>
        <p:spPr>
          <a:xfrm>
            <a:off x="515125" y="1153572"/>
            <a:ext cx="2400300" cy="4461163"/>
          </a:xfrm>
        </p:spPr>
        <p:txBody>
          <a:bodyPr>
            <a:normAutofit/>
          </a:bodyPr>
          <a:lstStyle/>
          <a:p>
            <a:r>
              <a:rPr lang="en-US" sz="3400" dirty="0">
                <a:solidFill>
                  <a:srgbClr val="FFFFFF"/>
                </a:solidFill>
              </a:rPr>
              <a:t>What is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54ED5F8-F1C0-A143-8974-CB469B401C27}"/>
              </a:ext>
            </a:extLst>
          </p:cNvPr>
          <p:cNvSpPr>
            <a:spLocks noGrp="1"/>
          </p:cNvSpPr>
          <p:nvPr>
            <p:ph idx="1"/>
          </p:nvPr>
        </p:nvSpPr>
        <p:spPr>
          <a:xfrm>
            <a:off x="3335481" y="591344"/>
            <a:ext cx="5179868" cy="5585619"/>
          </a:xfrm>
        </p:spPr>
        <p:txBody>
          <a:bodyPr anchor="ctr">
            <a:normAutofit/>
          </a:bodyPr>
          <a:lstStyle/>
          <a:p>
            <a:pPr>
              <a:lnSpc>
                <a:spcPct val="90000"/>
              </a:lnSpc>
            </a:pPr>
            <a:r>
              <a:rPr lang="en-US"/>
              <a:t>Step 1. </a:t>
            </a:r>
            <a:r>
              <a:rPr lang="en-US" dirty="0"/>
              <a:t>What is innovation? Open question for the classroom to brainstorm, generate a list with examples on the board. </a:t>
            </a:r>
            <a:endParaRPr lang="en-US"/>
          </a:p>
          <a:p>
            <a:pPr>
              <a:lnSpc>
                <a:spcPct val="90000"/>
              </a:lnSpc>
            </a:pPr>
            <a:endParaRPr lang="en-US"/>
          </a:p>
          <a:p>
            <a:pPr>
              <a:lnSpc>
                <a:spcPct val="90000"/>
              </a:lnSpc>
            </a:pPr>
            <a:r>
              <a:rPr lang="en-US"/>
              <a:t>Step 2. </a:t>
            </a:r>
            <a:r>
              <a:rPr lang="en-US" dirty="0"/>
              <a:t>For the list of examples that has been generated, think of  the ‘</a:t>
            </a:r>
            <a:r>
              <a:rPr lang="en-US" b="1"/>
              <a:t>value</a:t>
            </a:r>
            <a:r>
              <a:rPr lang="en-US" dirty="0"/>
              <a:t>’ that those innovations created. </a:t>
            </a:r>
            <a:endParaRPr lang="en-US"/>
          </a:p>
          <a:p>
            <a:pPr>
              <a:lnSpc>
                <a:spcPct val="90000"/>
              </a:lnSpc>
            </a:pPr>
            <a:endParaRPr lang="en-US"/>
          </a:p>
        </p:txBody>
      </p:sp>
    </p:spTree>
    <p:extLst>
      <p:ext uri="{BB962C8B-B14F-4D97-AF65-F5344CB8AC3E}">
        <p14:creationId xmlns:p14="http://schemas.microsoft.com/office/powerpoint/2010/main" val="10663839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11FA3A-6815-FE42-8816-27E23EA0BE69}"/>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What is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733FEDB-4144-4149-91E1-42585518EB2C}"/>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a:t>Step 1. Ask the class to think of one word that defines innovation. Put the class in groups and ask each group to coin a definition of innovation using that one word that they presented individually. </a:t>
            </a:r>
          </a:p>
          <a:p>
            <a:pPr>
              <a:lnSpc>
                <a:spcPct val="90000"/>
              </a:lnSpc>
            </a:pPr>
            <a:endParaRPr lang="en-US" sz="2500"/>
          </a:p>
          <a:p>
            <a:pPr>
              <a:lnSpc>
                <a:spcPct val="90000"/>
              </a:lnSpc>
            </a:pPr>
            <a:r>
              <a:rPr lang="en-US" sz="2500"/>
              <a:t>Step 2. </a:t>
            </a:r>
            <a:r>
              <a:rPr lang="en-GB" sz="2500"/>
              <a:t>Give the students different roles. For example, in R&amp;D, marketing, production, supply chain, accounting, finance, etc. and repeat the task. This will help them understand what innovation is from the functional perspective inside organisations. </a:t>
            </a:r>
            <a:endParaRPr lang="en-US" sz="2500"/>
          </a:p>
          <a:p>
            <a:pPr>
              <a:lnSpc>
                <a:spcPct val="90000"/>
              </a:lnSpc>
            </a:pPr>
            <a:endParaRPr lang="en-US" sz="2500"/>
          </a:p>
        </p:txBody>
      </p:sp>
    </p:spTree>
    <p:extLst>
      <p:ext uri="{BB962C8B-B14F-4D97-AF65-F5344CB8AC3E}">
        <p14:creationId xmlns:p14="http://schemas.microsoft.com/office/powerpoint/2010/main" val="31231703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3A162C-274B-5745-9202-6119AD7069FB}"/>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What is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B315153-E2DA-5442-B945-70A205F49D4D}"/>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a:t>Variant 1. Ask the class in groups to draw an image of what innovation is. Ask each group to present their pictures. </a:t>
            </a:r>
          </a:p>
          <a:p>
            <a:pPr>
              <a:lnSpc>
                <a:spcPct val="90000"/>
              </a:lnSpc>
            </a:pPr>
            <a:endParaRPr lang="en-US" sz="2200"/>
          </a:p>
          <a:p>
            <a:pPr>
              <a:lnSpc>
                <a:spcPct val="90000"/>
              </a:lnSpc>
            </a:pPr>
            <a:r>
              <a:rPr lang="en-US" sz="2200"/>
              <a:t>Variant 2. Ask the class in groups to draw an image of what innovation is. Ask the other group to define and decipher what they see on the drawing. </a:t>
            </a:r>
          </a:p>
          <a:p>
            <a:pPr>
              <a:lnSpc>
                <a:spcPct val="90000"/>
              </a:lnSpc>
            </a:pPr>
            <a:endParaRPr lang="en-US" sz="2200"/>
          </a:p>
          <a:p>
            <a:pPr>
              <a:lnSpc>
                <a:spcPct val="90000"/>
              </a:lnSpc>
            </a:pPr>
            <a:r>
              <a:rPr lang="en-US" sz="2200"/>
              <a:t>Variant 3. As in Activity 2 – give members of the group different roles, then ask them to define and decipher the drawing. This will help them to understand the problem of communication inside an organization where members have different priorities. </a:t>
            </a:r>
          </a:p>
          <a:p>
            <a:pPr>
              <a:lnSpc>
                <a:spcPct val="90000"/>
              </a:lnSpc>
            </a:pPr>
            <a:endParaRPr lang="en-US" sz="2200"/>
          </a:p>
        </p:txBody>
      </p:sp>
    </p:spTree>
    <p:extLst>
      <p:ext uri="{BB962C8B-B14F-4D97-AF65-F5344CB8AC3E}">
        <p14:creationId xmlns:p14="http://schemas.microsoft.com/office/powerpoint/2010/main" val="12278292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4B9B80-1294-B341-ADF6-48C511D7B347}"/>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Why innovation matters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BFFA2DD-56C5-254B-9D94-165975600125}"/>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dirty="0"/>
              <a:t>Ask the students to prepare a quick presentation on why innovation matters as a short introductory discussion project to open up the theme.</a:t>
            </a:r>
            <a:endParaRPr lang="en-GB" sz="2000" dirty="0"/>
          </a:p>
          <a:p>
            <a:pPr>
              <a:lnSpc>
                <a:spcPct val="90000"/>
              </a:lnSpc>
            </a:pPr>
            <a:r>
              <a:rPr lang="en-US" sz="2000" dirty="0"/>
              <a:t> </a:t>
            </a:r>
            <a:endParaRPr lang="en-GB" sz="2000" dirty="0"/>
          </a:p>
          <a:p>
            <a:pPr>
              <a:lnSpc>
                <a:spcPct val="90000"/>
              </a:lnSpc>
            </a:pPr>
            <a:r>
              <a:rPr lang="en-US" sz="2000" dirty="0"/>
              <a:t>In doing so research websites, print media, TV or other locations for statements of how companies position innovation at the core of what they do and how they present themselves. What are they talking about and why does it matter to them? What dimensions do they stress? What examples do they give?</a:t>
            </a:r>
            <a:endParaRPr lang="en-GB" sz="2000" dirty="0"/>
          </a:p>
          <a:p>
            <a:pPr>
              <a:lnSpc>
                <a:spcPct val="90000"/>
              </a:lnSpc>
            </a:pPr>
            <a:endParaRPr lang="en-US" sz="2000" dirty="0"/>
          </a:p>
          <a:p>
            <a:pPr>
              <a:lnSpc>
                <a:spcPct val="90000"/>
              </a:lnSpc>
            </a:pPr>
            <a:endParaRPr lang="en-US" sz="2000" dirty="0"/>
          </a:p>
        </p:txBody>
      </p:sp>
    </p:spTree>
    <p:extLst>
      <p:ext uri="{BB962C8B-B14F-4D97-AF65-F5344CB8AC3E}">
        <p14:creationId xmlns:p14="http://schemas.microsoft.com/office/powerpoint/2010/main" val="25409460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515125" y="1153572"/>
            <a:ext cx="2400300" cy="4461163"/>
          </a:xfrm>
          <a:prstGeom prst="rect">
            <a:avLst/>
          </a:prstGeom>
        </p:spPr>
        <p:txBody>
          <a:bodyPr vert="horz" lIns="91440" tIns="45720" rIns="91440" bIns="45720" rtlCol="0" anchor="ctr">
            <a:normAutofit/>
          </a:bodyPr>
          <a:lstStyle/>
          <a:p>
            <a:pPr lvl="0">
              <a:lnSpc>
                <a:spcPct val="90000"/>
              </a:lnSpc>
              <a:spcBef>
                <a:spcPct val="0"/>
              </a:spcBef>
              <a:spcAft>
                <a:spcPts val="600"/>
              </a:spcAft>
              <a:defRPr/>
            </a:pPr>
            <a:r>
              <a:rPr kumimoji="0" lang="en-US" sz="4400" b="1" i="0" u="none" strike="noStrike" kern="1200" cap="none" spc="0" normalizeH="0" baseline="0" noProof="0">
                <a:ln>
                  <a:noFill/>
                </a:ln>
                <a:solidFill>
                  <a:srgbClr val="FFFFFF"/>
                </a:solidFill>
                <a:effectLst/>
                <a:uLnTx/>
                <a:uFillTx/>
                <a:latin typeface="+mj-lt"/>
                <a:ea typeface="+mj-ea"/>
                <a:cs typeface="+mj-cs"/>
              </a:rPr>
              <a:t>Who does</a:t>
            </a:r>
            <a:r>
              <a:rPr kumimoji="0" lang="en-US" sz="4400" b="1" i="0" u="none" strike="noStrike" kern="1200" cap="none" spc="0" normalizeH="0" noProof="0">
                <a:ln>
                  <a:noFill/>
                </a:ln>
                <a:solidFill>
                  <a:srgbClr val="FFFFFF"/>
                </a:solidFill>
                <a:effectLst/>
                <a:uLnTx/>
                <a:uFillTx/>
                <a:latin typeface="+mj-lt"/>
                <a:ea typeface="+mj-ea"/>
                <a:cs typeface="+mj-cs"/>
              </a:rPr>
              <a:t> it matter to?</a:t>
            </a:r>
            <a:endParaRPr lang="en-US" sz="4400" b="1" kern="1200">
              <a:solidFill>
                <a:srgbClr val="FFFFFF"/>
              </a:solidFill>
              <a:latin typeface="+mj-lt"/>
              <a:ea typeface="+mj-ea"/>
              <a:cs typeface="+mj-cs"/>
            </a:endParaRPr>
          </a:p>
        </p:txBody>
      </p:sp>
      <p:sp>
        <p:nvSpPr>
          <p:cNvPr id="17" name="Arc 1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Rectangle 7"/>
          <p:cNvSpPr/>
          <p:nvPr/>
        </p:nvSpPr>
        <p:spPr>
          <a:xfrm>
            <a:off x="3335481" y="591344"/>
            <a:ext cx="5179868"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r>
              <a:rPr lang="en-US"/>
              <a:t>Ask your students to discuss who innovation matters to, for example:</a:t>
            </a:r>
          </a:p>
          <a:p>
            <a:pPr indent="-228600">
              <a:lnSpc>
                <a:spcPct val="90000"/>
              </a:lnSpc>
              <a:spcAft>
                <a:spcPts val="600"/>
              </a:spcAft>
              <a:buFont typeface="Arial" panose="020B0604020202020204" pitchFamily="34" charset="0"/>
              <a:buChar char="•"/>
            </a:pPr>
            <a:endParaRPr lang="en-US"/>
          </a:p>
          <a:p>
            <a:pPr lvl="1" indent="-228600">
              <a:lnSpc>
                <a:spcPct val="90000"/>
              </a:lnSpc>
              <a:spcAft>
                <a:spcPts val="600"/>
              </a:spcAft>
              <a:buFont typeface="Arial" panose="020B0604020202020204" pitchFamily="34" charset="0"/>
              <a:buChar char="•"/>
            </a:pPr>
            <a:r>
              <a:rPr lang="en-US"/>
              <a:t> Entrepreneurs starting up a venture</a:t>
            </a:r>
          </a:p>
          <a:p>
            <a:pPr lvl="1" indent="-228600">
              <a:lnSpc>
                <a:spcPct val="90000"/>
              </a:lnSpc>
              <a:spcAft>
                <a:spcPts val="600"/>
              </a:spcAft>
              <a:buFont typeface="Arial" panose="020B0604020202020204" pitchFamily="34" charset="0"/>
              <a:buChar char="•"/>
            </a:pPr>
            <a:r>
              <a:rPr lang="en-US"/>
              <a:t> Established enterprises trying to grow</a:t>
            </a:r>
          </a:p>
          <a:p>
            <a:pPr lvl="1" indent="-228600">
              <a:lnSpc>
                <a:spcPct val="90000"/>
              </a:lnSpc>
              <a:spcAft>
                <a:spcPts val="600"/>
              </a:spcAft>
              <a:buFont typeface="Arial" panose="020B0604020202020204" pitchFamily="34" charset="0"/>
              <a:buChar char="•"/>
            </a:pPr>
            <a:r>
              <a:rPr lang="en-US"/>
              <a:t> Governments (local and national) </a:t>
            </a:r>
          </a:p>
          <a:p>
            <a:pPr lvl="1" indent="-228600">
              <a:lnSpc>
                <a:spcPct val="90000"/>
              </a:lnSpc>
              <a:spcAft>
                <a:spcPts val="600"/>
              </a:spcAft>
              <a:buFont typeface="Arial" panose="020B0604020202020204" pitchFamily="34" charset="0"/>
              <a:buChar char="•"/>
            </a:pPr>
            <a:r>
              <a:rPr lang="en-US"/>
              <a:t> Trade and sector bodies </a:t>
            </a:r>
          </a:p>
          <a:p>
            <a:pPr lvl="1" indent="-228600">
              <a:lnSpc>
                <a:spcPct val="90000"/>
              </a:lnSpc>
              <a:spcAft>
                <a:spcPts val="600"/>
              </a:spcAft>
              <a:buFont typeface="Arial" panose="020B0604020202020204" pitchFamily="34" charset="0"/>
              <a:buChar char="•"/>
            </a:pPr>
            <a:r>
              <a:rPr lang="en-US"/>
              <a:t> Supply chain ‘owners’ </a:t>
            </a:r>
          </a:p>
          <a:p>
            <a:pPr lvl="1"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r>
              <a:rPr lang="en-US"/>
              <a:t>You might use this video to help stimulate discussion:</a:t>
            </a:r>
          </a:p>
          <a:p>
            <a:pPr indent="-228600">
              <a:lnSpc>
                <a:spcPct val="90000"/>
              </a:lnSpc>
              <a:spcAft>
                <a:spcPts val="600"/>
              </a:spcAft>
              <a:buFont typeface="Arial" panose="020B0604020202020204" pitchFamily="34" charset="0"/>
              <a:buChar char="•"/>
            </a:pPr>
            <a:r>
              <a:rPr lang="en-US">
                <a:hlinkClick r:id="rId2"/>
              </a:rPr>
              <a:t>https://youtu.be/WHvTSAk3X60</a:t>
            </a:r>
            <a:endParaRPr lang="en-US"/>
          </a:p>
          <a:p>
            <a:pPr indent="-228600">
              <a:lnSpc>
                <a:spcPct val="90000"/>
              </a:lnSpc>
              <a:spcAft>
                <a:spcPts val="600"/>
              </a:spcAft>
              <a:buFont typeface="Arial" panose="020B0604020202020204" pitchFamily="34" charset="0"/>
              <a:buChar char="•"/>
            </a:pPr>
            <a:endParaRPr lang="en-US"/>
          </a:p>
        </p:txBody>
      </p:sp>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04225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53DB73-C2BC-5342-A2AE-9C1845785C6C}"/>
              </a:ext>
            </a:extLst>
          </p:cNvPr>
          <p:cNvSpPr>
            <a:spLocks noGrp="1"/>
          </p:cNvSpPr>
          <p:nvPr>
            <p:ph type="title"/>
          </p:nvPr>
        </p:nvSpPr>
        <p:spPr>
          <a:xfrm>
            <a:off x="515125" y="1153572"/>
            <a:ext cx="2400300" cy="4461163"/>
          </a:xfrm>
        </p:spPr>
        <p:txBody>
          <a:bodyPr>
            <a:normAutofit/>
          </a:bodyPr>
          <a:lstStyle/>
          <a:p>
            <a:r>
              <a:rPr lang="en-US" sz="3700" dirty="0">
                <a:solidFill>
                  <a:srgbClr val="FFFFFF"/>
                </a:solidFill>
              </a:rPr>
              <a:t>Innovation isn’t easy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89FDD8E-B51E-3C41-A11D-102132356449}"/>
              </a:ext>
            </a:extLst>
          </p:cNvPr>
          <p:cNvSpPr>
            <a:spLocks noGrp="1"/>
          </p:cNvSpPr>
          <p:nvPr>
            <p:ph idx="1"/>
          </p:nvPr>
        </p:nvSpPr>
        <p:spPr>
          <a:xfrm>
            <a:off x="3335481" y="591344"/>
            <a:ext cx="5179868" cy="5585619"/>
          </a:xfrm>
        </p:spPr>
        <p:txBody>
          <a:bodyPr anchor="ctr">
            <a:normAutofit/>
          </a:bodyPr>
          <a:lstStyle/>
          <a:p>
            <a:r>
              <a:rPr lang="en-US" dirty="0">
                <a:hlinkClick r:id="rId2"/>
              </a:rPr>
              <a:t>This activity involves exploring examples of innovation failure </a:t>
            </a:r>
            <a:r>
              <a:rPr lang="en-US" dirty="0"/>
              <a:t>and the difficulties of translating a good idea into practice.</a:t>
            </a:r>
            <a:endParaRPr lang="en-GB" dirty="0"/>
          </a:p>
          <a:p>
            <a:endParaRPr lang="en-GB" dirty="0"/>
          </a:p>
        </p:txBody>
      </p:sp>
    </p:spTree>
    <p:extLst>
      <p:ext uri="{BB962C8B-B14F-4D97-AF65-F5344CB8AC3E}">
        <p14:creationId xmlns:p14="http://schemas.microsoft.com/office/powerpoint/2010/main" val="1545391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C6F1B-8621-5340-82D5-7279A441D84F}"/>
              </a:ext>
            </a:extLst>
          </p:cNvPr>
          <p:cNvSpPr>
            <a:spLocks noGrp="1"/>
          </p:cNvSpPr>
          <p:nvPr>
            <p:ph type="title"/>
          </p:nvPr>
        </p:nvSpPr>
        <p:spPr>
          <a:xfrm>
            <a:off x="3724072" y="629268"/>
            <a:ext cx="4939868" cy="1286160"/>
          </a:xfrm>
        </p:spPr>
        <p:txBody>
          <a:bodyPr anchor="b">
            <a:normAutofit/>
          </a:bodyPr>
          <a:lstStyle/>
          <a:p>
            <a:r>
              <a:rPr lang="en-US" dirty="0"/>
              <a:t>Innovation isn’t easy</a:t>
            </a:r>
          </a:p>
        </p:txBody>
      </p:sp>
      <p:pic>
        <p:nvPicPr>
          <p:cNvPr id="6" name="Picture 5">
            <a:extLst>
              <a:ext uri="{FF2B5EF4-FFF2-40B4-BE49-F238E27FC236}">
                <a16:creationId xmlns:a16="http://schemas.microsoft.com/office/drawing/2014/main" id="{38741600-AB78-4E91-B87D-65B82DE41B24}"/>
              </a:ext>
            </a:extLst>
          </p:cNvPr>
          <p:cNvPicPr>
            <a:picLocks noChangeAspect="1"/>
          </p:cNvPicPr>
          <p:nvPr/>
        </p:nvPicPr>
        <p:blipFill rotWithShape="1">
          <a:blip r:embed="rId2"/>
          <a:srcRect l="7934" r="58226" b="-1"/>
          <a:stretch/>
        </p:blipFill>
        <p:spPr>
          <a:xfrm>
            <a:off x="20" y="10"/>
            <a:ext cx="3476673" cy="6857990"/>
          </a:xfrm>
          <a:prstGeom prst="rect">
            <a:avLst/>
          </a:prstGeom>
          <a:effectLst/>
        </p:spPr>
      </p:pic>
      <p:graphicFrame>
        <p:nvGraphicFramePr>
          <p:cNvPr id="5" name="Content Placeholder 2">
            <a:extLst>
              <a:ext uri="{FF2B5EF4-FFF2-40B4-BE49-F238E27FC236}">
                <a16:creationId xmlns:a16="http://schemas.microsoft.com/office/drawing/2014/main" id="{D52732B7-6908-4BEC-BE53-66B3E8D3C991}"/>
              </a:ext>
            </a:extLst>
          </p:cNvPr>
          <p:cNvGraphicFramePr>
            <a:graphicFrameLocks noGrp="1"/>
          </p:cNvGraphicFramePr>
          <p:nvPr>
            <p:ph idx="1"/>
          </p:nvPr>
        </p:nvGraphicFramePr>
        <p:xfrm>
          <a:off x="3724073" y="2438400"/>
          <a:ext cx="4939867"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97412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AEDC76-00D8-C045-8FAD-BB345EB44017}"/>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Creating value through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B66D8BB-5C49-8044-9DE4-3CD0F3A49CD4}"/>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t>Choose a case study – </a:t>
            </a:r>
            <a:r>
              <a:rPr lang="en-US" sz="2200" dirty="0">
                <a:hlinkClick r:id="rId2"/>
              </a:rPr>
              <a:t>there are many examples here:</a:t>
            </a:r>
            <a:endParaRPr lang="en-US" sz="2200" dirty="0"/>
          </a:p>
          <a:p>
            <a:pPr>
              <a:lnSpc>
                <a:spcPct val="90000"/>
              </a:lnSpc>
            </a:pPr>
            <a:endParaRPr lang="en-US" sz="2200" dirty="0"/>
          </a:p>
          <a:p>
            <a:pPr>
              <a:lnSpc>
                <a:spcPct val="90000"/>
              </a:lnSpc>
            </a:pPr>
            <a:r>
              <a:rPr lang="en-US" sz="2200" dirty="0"/>
              <a:t>Let’s take the example of Aravind eye care:</a:t>
            </a:r>
          </a:p>
          <a:p>
            <a:pPr>
              <a:lnSpc>
                <a:spcPct val="90000"/>
              </a:lnSpc>
            </a:pPr>
            <a:endParaRPr lang="en-US" sz="2200" dirty="0"/>
          </a:p>
          <a:p>
            <a:pPr>
              <a:lnSpc>
                <a:spcPct val="90000"/>
              </a:lnSpc>
            </a:pPr>
            <a:r>
              <a:rPr lang="en-US" sz="2200" dirty="0"/>
              <a:t>Variant 1: Ask your students to think of the value created through this innovative case.  </a:t>
            </a:r>
          </a:p>
          <a:p>
            <a:pPr>
              <a:lnSpc>
                <a:spcPct val="90000"/>
              </a:lnSpc>
            </a:pPr>
            <a:endParaRPr lang="en-US" sz="2200" dirty="0"/>
          </a:p>
          <a:p>
            <a:pPr>
              <a:lnSpc>
                <a:spcPct val="90000"/>
              </a:lnSpc>
            </a:pPr>
            <a:r>
              <a:rPr lang="en-US" sz="2200" dirty="0"/>
              <a:t>Variant 2: Using the Aravind </a:t>
            </a:r>
            <a:r>
              <a:rPr lang="en-GB" sz="2200" dirty="0"/>
              <a:t>case, ask the </a:t>
            </a:r>
            <a:r>
              <a:rPr lang="en-US" sz="2200" dirty="0"/>
              <a:t>students to make a map of radical, incremental, product, and service innovations and the value these innovations create.</a:t>
            </a:r>
          </a:p>
          <a:p>
            <a:pPr>
              <a:lnSpc>
                <a:spcPct val="90000"/>
              </a:lnSpc>
            </a:pPr>
            <a:endParaRPr lang="en-US" sz="2200" dirty="0"/>
          </a:p>
        </p:txBody>
      </p:sp>
    </p:spTree>
    <p:extLst>
      <p:ext uri="{BB962C8B-B14F-4D97-AF65-F5344CB8AC3E}">
        <p14:creationId xmlns:p14="http://schemas.microsoft.com/office/powerpoint/2010/main" val="1109696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67C150-9C1F-E049-9E2E-E33AA9C2F7AF}"/>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Platform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6D09D2C-1F50-E44B-ADA0-499FF7A9C796}"/>
              </a:ext>
            </a:extLst>
          </p:cNvPr>
          <p:cNvSpPr>
            <a:spLocks noGrp="1"/>
          </p:cNvSpPr>
          <p:nvPr>
            <p:ph idx="1"/>
          </p:nvPr>
        </p:nvSpPr>
        <p:spPr>
          <a:xfrm>
            <a:off x="3335481" y="591344"/>
            <a:ext cx="5179868" cy="5585619"/>
          </a:xfrm>
        </p:spPr>
        <p:txBody>
          <a:bodyPr anchor="ctr">
            <a:normAutofit/>
          </a:bodyPr>
          <a:lstStyle/>
          <a:p>
            <a:r>
              <a:rPr lang="en-US" dirty="0"/>
              <a:t>Activity - </a:t>
            </a:r>
            <a:r>
              <a:rPr lang="en-US" dirty="0">
                <a:hlinkClick r:id="rId2"/>
              </a:rPr>
              <a:t>get students to read this blog piece </a:t>
            </a:r>
            <a:r>
              <a:rPr lang="en-US" dirty="0"/>
              <a:t>and reflect on examples of platform innovation which they can identify</a:t>
            </a:r>
          </a:p>
          <a:p>
            <a:endParaRPr lang="en-US" dirty="0"/>
          </a:p>
        </p:txBody>
      </p:sp>
    </p:spTree>
    <p:extLst>
      <p:ext uri="{BB962C8B-B14F-4D97-AF65-F5344CB8AC3E}">
        <p14:creationId xmlns:p14="http://schemas.microsoft.com/office/powerpoint/2010/main" val="570974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E33878-FA16-5440-BCCF-14FD4A0A8198}"/>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Creating value through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7DA8C43-BE76-1B47-B7BB-CAA8B37DFCDA}"/>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t>Ask your students to list all the different ways in which innovation might create some kind of value – and try to find ‘real world’ examples of such innovations.  </a:t>
            </a:r>
          </a:p>
          <a:p>
            <a:pPr>
              <a:lnSpc>
                <a:spcPct val="90000"/>
              </a:lnSpc>
            </a:pPr>
            <a:endParaRPr lang="en-US" sz="2200" dirty="0"/>
          </a:p>
          <a:p>
            <a:pPr>
              <a:lnSpc>
                <a:spcPct val="90000"/>
              </a:lnSpc>
            </a:pPr>
            <a:r>
              <a:rPr lang="en-US" sz="2200" dirty="0">
                <a:hlinkClick r:id="rId2"/>
              </a:rPr>
              <a:t>On the website you can find a version of this exercise</a:t>
            </a:r>
            <a:endParaRPr lang="en-GB" sz="2200" b="1" dirty="0"/>
          </a:p>
          <a:p>
            <a:pPr>
              <a:lnSpc>
                <a:spcPct val="90000"/>
              </a:lnSpc>
            </a:pPr>
            <a:endParaRPr lang="en-US" sz="2200" dirty="0"/>
          </a:p>
          <a:p>
            <a:pPr>
              <a:lnSpc>
                <a:spcPct val="90000"/>
              </a:lnSpc>
            </a:pPr>
            <a:r>
              <a:rPr lang="en-US" sz="2200" dirty="0"/>
              <a:t>Ask your students to provide their examples.  </a:t>
            </a:r>
          </a:p>
          <a:p>
            <a:pPr>
              <a:lnSpc>
                <a:spcPct val="90000"/>
              </a:lnSpc>
            </a:pPr>
            <a:endParaRPr lang="en-US" sz="2200" dirty="0"/>
          </a:p>
        </p:txBody>
      </p:sp>
    </p:spTree>
    <p:extLst>
      <p:ext uri="{BB962C8B-B14F-4D97-AF65-F5344CB8AC3E}">
        <p14:creationId xmlns:p14="http://schemas.microsoft.com/office/powerpoint/2010/main" val="35955021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E82BC7-AA60-5A49-AC42-945EC72CEC11}"/>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Exploring innovation space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D8A914D-E817-BC42-9E2E-F98A61581FB0}"/>
              </a:ext>
            </a:extLst>
          </p:cNvPr>
          <p:cNvSpPr>
            <a:spLocks noGrp="1"/>
          </p:cNvSpPr>
          <p:nvPr>
            <p:ph idx="1"/>
          </p:nvPr>
        </p:nvSpPr>
        <p:spPr>
          <a:xfrm>
            <a:off x="3335481" y="591344"/>
            <a:ext cx="5179868" cy="5585619"/>
          </a:xfrm>
        </p:spPr>
        <p:txBody>
          <a:bodyPr anchor="ctr">
            <a:normAutofit/>
          </a:bodyPr>
          <a:lstStyle/>
          <a:p>
            <a:r>
              <a:rPr lang="en-US" sz="2000" dirty="0"/>
              <a:t>There is a </a:t>
            </a:r>
            <a:r>
              <a:rPr lang="en-US" sz="2000" dirty="0">
                <a:hlinkClick r:id="rId2"/>
              </a:rPr>
              <a:t>video to begin to explore the model </a:t>
            </a:r>
            <a:r>
              <a:rPr lang="en-US" sz="2000" dirty="0"/>
              <a:t>here</a:t>
            </a:r>
            <a:endParaRPr lang="en-GB" sz="2000" dirty="0"/>
          </a:p>
          <a:p>
            <a:pPr marL="0" indent="0">
              <a:buNone/>
            </a:pPr>
            <a:r>
              <a:rPr lang="en-US" sz="2000" dirty="0"/>
              <a:t> </a:t>
            </a:r>
            <a:endParaRPr lang="en-GB" sz="2000" dirty="0"/>
          </a:p>
          <a:p>
            <a:r>
              <a:rPr lang="en-US" sz="2000" dirty="0"/>
              <a:t>And there is a </a:t>
            </a:r>
            <a:r>
              <a:rPr lang="en-US" sz="2000" dirty="0">
                <a:hlinkClick r:id="rId3"/>
              </a:rPr>
              <a:t>detailed classroom activity suitable for </a:t>
            </a:r>
            <a:r>
              <a:rPr lang="en-US" sz="2000">
                <a:hlinkClick r:id="rId3"/>
              </a:rPr>
              <a:t>group work</a:t>
            </a:r>
            <a:endParaRPr lang="en-US" sz="2000"/>
          </a:p>
          <a:p>
            <a:endParaRPr lang="en-GB" sz="2000" dirty="0"/>
          </a:p>
          <a:p>
            <a:pPr>
              <a:lnSpc>
                <a:spcPct val="90000"/>
              </a:lnSpc>
            </a:pPr>
            <a:r>
              <a:rPr lang="en-US" sz="2000" dirty="0">
                <a:hlinkClick r:id="rId4"/>
              </a:rPr>
              <a:t>The video of ‘Finnegan’s fish bar’ </a:t>
            </a:r>
            <a:r>
              <a:rPr lang="en-US" sz="2000" dirty="0"/>
              <a:t>shows how you can use the model with a simple </a:t>
            </a:r>
            <a:r>
              <a:rPr lang="en-US" sz="2000" dirty="0" err="1"/>
              <a:t>organisation</a:t>
            </a:r>
            <a:r>
              <a:rPr lang="en-US" sz="2000" dirty="0"/>
              <a:t> to explore innovation space. One activity is to get the class to watch it and then choose another simple example – a shop, a restaurant, etc. – and construct a 4Ps map of where and why it might innovate.</a:t>
            </a:r>
            <a:endParaRPr lang="en-GB" sz="2000" dirty="0"/>
          </a:p>
          <a:p>
            <a:pPr>
              <a:lnSpc>
                <a:spcPct val="90000"/>
              </a:lnSpc>
            </a:pPr>
            <a:endParaRPr lang="en-US" sz="2700" dirty="0"/>
          </a:p>
        </p:txBody>
      </p:sp>
    </p:spTree>
    <p:extLst>
      <p:ext uri="{BB962C8B-B14F-4D97-AF65-F5344CB8AC3E}">
        <p14:creationId xmlns:p14="http://schemas.microsoft.com/office/powerpoint/2010/main" val="421962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D81444-FA53-5442-95FA-8870106D0EC5}"/>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Classifying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FAE4EA9-6416-B74D-836F-29DFD05774D2}"/>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Ask your students to think of a list of innovations and classify them in terms of the themes in this section – incremental or radical, products or service, etc.  </a:t>
            </a:r>
          </a:p>
          <a:p>
            <a:pPr>
              <a:lnSpc>
                <a:spcPct val="90000"/>
              </a:lnSpc>
            </a:pPr>
            <a:endParaRPr lang="en-US" sz="2700" dirty="0"/>
          </a:p>
          <a:p>
            <a:pPr>
              <a:lnSpc>
                <a:spcPct val="90000"/>
              </a:lnSpc>
            </a:pPr>
            <a:r>
              <a:rPr lang="en-US" sz="2700" dirty="0">
                <a:hlinkClick r:id="rId2"/>
              </a:rPr>
              <a:t>On the website there is an exercise to help you do this:</a:t>
            </a:r>
            <a:endParaRPr lang="en-US" sz="2700" dirty="0"/>
          </a:p>
          <a:p>
            <a:pPr>
              <a:lnSpc>
                <a:spcPct val="90000"/>
              </a:lnSpc>
            </a:pPr>
            <a:endParaRPr lang="en-GB" sz="2700" b="1" dirty="0"/>
          </a:p>
          <a:p>
            <a:pPr>
              <a:lnSpc>
                <a:spcPct val="90000"/>
              </a:lnSpc>
            </a:pPr>
            <a:endParaRPr lang="en-US" sz="2700" dirty="0"/>
          </a:p>
        </p:txBody>
      </p:sp>
    </p:spTree>
    <p:extLst>
      <p:ext uri="{BB962C8B-B14F-4D97-AF65-F5344CB8AC3E}">
        <p14:creationId xmlns:p14="http://schemas.microsoft.com/office/powerpoint/2010/main" val="14217950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C5279E-1051-2C48-83CA-4A357E53618F}"/>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The innovation life-cycle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6EB7495-CCB2-FF4B-88F3-321A2C985B06}"/>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dirty="0"/>
              <a:t>Activity:  </a:t>
            </a:r>
            <a:r>
              <a:rPr lang="en-US" sz="2500" dirty="0">
                <a:hlinkClick r:id="rId2"/>
              </a:rPr>
              <a:t>Get students to read the blog pieces </a:t>
            </a:r>
            <a:r>
              <a:rPr lang="en-US" sz="2500" dirty="0"/>
              <a:t>on ‘The birth of the bike’ , ‘Sweeping the floor with innovation’ and other innovation stories.  Get them to try to map their history using concepts from the life-cycle model</a:t>
            </a:r>
          </a:p>
          <a:p>
            <a:pPr>
              <a:lnSpc>
                <a:spcPct val="90000"/>
              </a:lnSpc>
            </a:pPr>
            <a:endParaRPr lang="en-US" sz="2500" dirty="0"/>
          </a:p>
          <a:p>
            <a:pPr>
              <a:lnSpc>
                <a:spcPct val="90000"/>
              </a:lnSpc>
            </a:pPr>
            <a:r>
              <a:rPr lang="en-US" sz="2500" dirty="0">
                <a:hlinkClick r:id="rId3"/>
              </a:rPr>
              <a:t>Video versions of these and other innovation histories are here</a:t>
            </a:r>
            <a:endParaRPr lang="en-US" sz="2500" dirty="0"/>
          </a:p>
          <a:p>
            <a:pPr>
              <a:lnSpc>
                <a:spcPct val="90000"/>
              </a:lnSpc>
            </a:pPr>
            <a:endParaRPr lang="en-US" sz="2500" dirty="0"/>
          </a:p>
        </p:txBody>
      </p:sp>
    </p:spTree>
    <p:extLst>
      <p:ext uri="{BB962C8B-B14F-4D97-AF65-F5344CB8AC3E}">
        <p14:creationId xmlns:p14="http://schemas.microsoft.com/office/powerpoint/2010/main" val="3388010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AD1889-A5F0-6D4E-8CD2-BCAE39AFF4B8}"/>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Architectural and component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01E8037-66D8-9F45-ACCD-C68764CF8619}"/>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Ask your students to think of a list of innovations and classify them in terms of architectural and component innovation.  </a:t>
            </a:r>
          </a:p>
          <a:p>
            <a:pPr>
              <a:lnSpc>
                <a:spcPct val="90000"/>
              </a:lnSpc>
            </a:pPr>
            <a:endParaRPr lang="en-US" sz="2700" dirty="0"/>
          </a:p>
          <a:p>
            <a:pPr>
              <a:lnSpc>
                <a:spcPct val="90000"/>
              </a:lnSpc>
            </a:pPr>
            <a:r>
              <a:rPr lang="en-US" sz="2700" dirty="0">
                <a:hlinkClick r:id="rId2"/>
              </a:rPr>
              <a:t>On the website there is a framework to capture your answers.</a:t>
            </a:r>
            <a:endParaRPr lang="en-GB" sz="2700" b="1" dirty="0"/>
          </a:p>
          <a:p>
            <a:pPr>
              <a:lnSpc>
                <a:spcPct val="90000"/>
              </a:lnSpc>
            </a:pPr>
            <a:endParaRPr lang="en-US" sz="2700" dirty="0"/>
          </a:p>
        </p:txBody>
      </p:sp>
    </p:spTree>
    <p:extLst>
      <p:ext uri="{BB962C8B-B14F-4D97-AF65-F5344CB8AC3E}">
        <p14:creationId xmlns:p14="http://schemas.microsoft.com/office/powerpoint/2010/main" val="733775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5769D-6F0C-5C48-BC78-BB58A2695F66}"/>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Innovation routines and culture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81E2A64-14F8-FF4F-8619-5A49F310619C}"/>
              </a:ext>
            </a:extLst>
          </p:cNvPr>
          <p:cNvSpPr>
            <a:spLocks noGrp="1"/>
          </p:cNvSpPr>
          <p:nvPr>
            <p:ph idx="1"/>
          </p:nvPr>
        </p:nvSpPr>
        <p:spPr>
          <a:xfrm>
            <a:off x="3335481" y="591344"/>
            <a:ext cx="5179868" cy="5585619"/>
          </a:xfrm>
        </p:spPr>
        <p:txBody>
          <a:bodyPr anchor="ctr">
            <a:normAutofit/>
          </a:bodyPr>
          <a:lstStyle/>
          <a:p>
            <a:r>
              <a:rPr lang="en-US" dirty="0">
                <a:hlinkClick r:id="rId2"/>
              </a:rPr>
              <a:t>This activity helps explore the different ways in which organizations have learned to manage innovation</a:t>
            </a:r>
            <a:r>
              <a:rPr lang="en-US" dirty="0"/>
              <a:t>.</a:t>
            </a:r>
            <a:endParaRPr lang="en-GB" dirty="0"/>
          </a:p>
          <a:p>
            <a:endParaRPr lang="en-GB" dirty="0"/>
          </a:p>
          <a:p>
            <a:endParaRPr lang="en-US" dirty="0"/>
          </a:p>
        </p:txBody>
      </p:sp>
    </p:spTree>
    <p:extLst>
      <p:ext uri="{BB962C8B-B14F-4D97-AF65-F5344CB8AC3E}">
        <p14:creationId xmlns:p14="http://schemas.microsoft.com/office/powerpoint/2010/main" val="12125714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D1D377-0098-EE42-A65F-44FBF4F93389}"/>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Strategic advantage through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29AE21C-030D-FA45-BCC0-561C26359678}"/>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dirty="0">
                <a:hlinkClick r:id="rId2"/>
              </a:rPr>
              <a:t>On the website there is an exercise to help you explore possible sources of strategic advantage through innovation.</a:t>
            </a:r>
            <a:endParaRPr lang="en-US" sz="2500" dirty="0"/>
          </a:p>
          <a:p>
            <a:pPr>
              <a:lnSpc>
                <a:spcPct val="90000"/>
              </a:lnSpc>
            </a:pPr>
            <a:endParaRPr lang="en-GB" sz="2500" b="1" dirty="0"/>
          </a:p>
          <a:p>
            <a:pPr>
              <a:lnSpc>
                <a:spcPct val="90000"/>
              </a:lnSpc>
            </a:pPr>
            <a:endParaRPr lang="en-US" sz="2500" dirty="0"/>
          </a:p>
        </p:txBody>
      </p:sp>
    </p:spTree>
    <p:extLst>
      <p:ext uri="{BB962C8B-B14F-4D97-AF65-F5344CB8AC3E}">
        <p14:creationId xmlns:p14="http://schemas.microsoft.com/office/powerpoint/2010/main" val="31363620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162B3-56EB-774B-B239-70F3C8DB6BBD}"/>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Strategic advantage through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CA37A72-1E6E-FF42-89A4-1C6D15F3E7A0}"/>
              </a:ext>
            </a:extLst>
          </p:cNvPr>
          <p:cNvSpPr>
            <a:spLocks noGrp="1"/>
          </p:cNvSpPr>
          <p:nvPr>
            <p:ph idx="1"/>
          </p:nvPr>
        </p:nvSpPr>
        <p:spPr>
          <a:xfrm>
            <a:off x="3335481" y="591344"/>
            <a:ext cx="5179868" cy="5585619"/>
          </a:xfrm>
        </p:spPr>
        <p:txBody>
          <a:bodyPr anchor="ctr">
            <a:normAutofit/>
          </a:bodyPr>
          <a:lstStyle/>
          <a:p>
            <a:pPr>
              <a:lnSpc>
                <a:spcPct val="90000"/>
              </a:lnSpc>
            </a:pPr>
            <a:r>
              <a:rPr lang="en-GB" sz="1800" dirty="0"/>
              <a:t>Think about an organization with which you are familiar and about the other firms or players in its sector.  How do they choose to try and position themselves for strategic advantage - and how do they use technology to help them do so?  They may try and offer the lowest prices - and have heavy investments in clever machines which help them achieve this.  Or they may try and offer the best designs - and back this up with a commitment to design and R&amp;D.</a:t>
            </a:r>
          </a:p>
          <a:p>
            <a:pPr>
              <a:lnSpc>
                <a:spcPct val="90000"/>
              </a:lnSpc>
            </a:pPr>
            <a:r>
              <a:rPr lang="en-GB" sz="1800" dirty="0"/>
              <a:t> </a:t>
            </a:r>
          </a:p>
          <a:p>
            <a:pPr>
              <a:lnSpc>
                <a:spcPct val="90000"/>
              </a:lnSpc>
            </a:pPr>
            <a:r>
              <a:rPr lang="en-GB" sz="1800" dirty="0"/>
              <a:t>Try and research the strategies of not only one firm but of several within the sector and build up a picture of how the sector is shaped by firms using technology to try and gain competitive advantage.  You might like to use table 1.3 to help you think about how they are doing so - and to record your thoughts.</a:t>
            </a:r>
          </a:p>
          <a:p>
            <a:pPr>
              <a:lnSpc>
                <a:spcPct val="90000"/>
              </a:lnSpc>
            </a:pPr>
            <a:endParaRPr lang="en-US" sz="1800" dirty="0"/>
          </a:p>
        </p:txBody>
      </p:sp>
    </p:spTree>
    <p:extLst>
      <p:ext uri="{BB962C8B-B14F-4D97-AF65-F5344CB8AC3E}">
        <p14:creationId xmlns:p14="http://schemas.microsoft.com/office/powerpoint/2010/main" val="966812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8E62BD-0865-D643-A2D4-016AE1EC1BD9}"/>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Sectoral patterns of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A955F69-E813-E04E-AAE1-D626FBE58B6D}"/>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hlinkClick r:id="rId2"/>
              </a:rPr>
              <a:t>On the website there is another simple activity suitable for individuals or groups to explore patterns of innovation over time and across sectors:</a:t>
            </a:r>
            <a:endParaRPr lang="en-US" sz="2200" dirty="0"/>
          </a:p>
          <a:p>
            <a:pPr>
              <a:lnSpc>
                <a:spcPct val="90000"/>
              </a:lnSpc>
            </a:pPr>
            <a:endParaRPr lang="en-US" sz="2200" dirty="0"/>
          </a:p>
          <a:p>
            <a:pPr>
              <a:lnSpc>
                <a:spcPct val="90000"/>
              </a:lnSpc>
            </a:pPr>
            <a:endParaRPr lang="en-US" sz="2200" dirty="0"/>
          </a:p>
          <a:p>
            <a:pPr>
              <a:lnSpc>
                <a:spcPct val="90000"/>
              </a:lnSpc>
            </a:pPr>
            <a:r>
              <a:rPr lang="en-GB" sz="2200" dirty="0"/>
              <a:t>You could use this in conjunction with the case studies of the imaging, lighting or music industries, also available here:</a:t>
            </a:r>
          </a:p>
          <a:p>
            <a:pPr>
              <a:lnSpc>
                <a:spcPct val="90000"/>
              </a:lnSpc>
            </a:pPr>
            <a:r>
              <a:rPr lang="en-US" sz="2200" dirty="0">
                <a:hlinkClick r:id="rId3"/>
              </a:rPr>
              <a:t>https://www.johnbessant.org/cases</a:t>
            </a:r>
            <a:endParaRPr lang="en-US" sz="2200" dirty="0"/>
          </a:p>
          <a:p>
            <a:pPr>
              <a:lnSpc>
                <a:spcPct val="90000"/>
              </a:lnSpc>
            </a:pPr>
            <a:endParaRPr lang="en-US" sz="2200" dirty="0"/>
          </a:p>
          <a:p>
            <a:pPr>
              <a:lnSpc>
                <a:spcPct val="90000"/>
              </a:lnSpc>
            </a:pPr>
            <a:endParaRPr lang="en-US" sz="2200" dirty="0"/>
          </a:p>
        </p:txBody>
      </p:sp>
    </p:spTree>
    <p:extLst>
      <p:ext uri="{BB962C8B-B14F-4D97-AF65-F5344CB8AC3E}">
        <p14:creationId xmlns:p14="http://schemas.microsoft.com/office/powerpoint/2010/main" val="30347234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3B9EC1-4BDB-974E-BFFE-F721EF3F2F05}"/>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Sector innovation patterns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E225C7E-8CB4-AE45-8A9D-9F75063C60B0}"/>
              </a:ext>
            </a:extLst>
          </p:cNvPr>
          <p:cNvSpPr>
            <a:spLocks noGrp="1"/>
          </p:cNvSpPr>
          <p:nvPr>
            <p:ph idx="1"/>
          </p:nvPr>
        </p:nvSpPr>
        <p:spPr>
          <a:xfrm>
            <a:off x="3125454" y="0"/>
            <a:ext cx="5389895" cy="6381328"/>
          </a:xfrm>
        </p:spPr>
        <p:txBody>
          <a:bodyPr anchor="ctr">
            <a:normAutofit fontScale="70000" lnSpcReduction="20000"/>
          </a:bodyPr>
          <a:lstStyle/>
          <a:p>
            <a:pPr marL="0" indent="0">
              <a:lnSpc>
                <a:spcPct val="90000"/>
              </a:lnSpc>
              <a:buNone/>
            </a:pPr>
            <a:r>
              <a:rPr lang="en-GB" sz="2400"/>
              <a:t>Imagine </a:t>
            </a:r>
            <a:r>
              <a:rPr lang="en-GB" sz="2400" dirty="0"/>
              <a:t>you work for a firm involved in children's toy manufacturing.  Now try and list  the major changes in that sector over the past 25 years in terms of what contributes to competitiveness.  Who (which firms) have been the winners and losers, and why?  You are trying to get a feel in this for how technological change can shape the competitive dynamics of an industry so think about questions like these:</a:t>
            </a:r>
          </a:p>
          <a:p>
            <a:pPr>
              <a:lnSpc>
                <a:spcPct val="90000"/>
              </a:lnSpc>
            </a:pPr>
            <a:endParaRPr lang="en-GB" sz="2400" dirty="0"/>
          </a:p>
          <a:p>
            <a:pPr>
              <a:lnSpc>
                <a:spcPct val="90000"/>
              </a:lnSpc>
              <a:buFont typeface="Arial"/>
              <a:buChar char="•"/>
            </a:pPr>
            <a:r>
              <a:rPr lang="en-GB" sz="2400" dirty="0"/>
              <a:t>How has the industry changed - and how has technology helped (or could it help) deal with these changes?</a:t>
            </a:r>
          </a:p>
          <a:p>
            <a:pPr>
              <a:lnSpc>
                <a:spcPct val="90000"/>
              </a:lnSpc>
              <a:buFont typeface="Arial"/>
              <a:buChar char="•"/>
            </a:pPr>
            <a:r>
              <a:rPr lang="en-GB" sz="2400" dirty="0"/>
              <a:t>What new technologies have emerged - and how have they been used?</a:t>
            </a:r>
          </a:p>
          <a:p>
            <a:pPr>
              <a:lnSpc>
                <a:spcPct val="90000"/>
              </a:lnSpc>
              <a:buFont typeface="Arial"/>
              <a:buChar char="•"/>
            </a:pPr>
            <a:r>
              <a:rPr lang="en-GB" sz="2400" dirty="0"/>
              <a:t>What are the main market demands (e.g. price, quality, design, customisation, speed of response, etc.) and how has technology affected the ability of firms to offer these?</a:t>
            </a:r>
          </a:p>
          <a:p>
            <a:pPr>
              <a:lnSpc>
                <a:spcPct val="90000"/>
              </a:lnSpc>
              <a:buFont typeface="Arial"/>
              <a:buChar char="•"/>
            </a:pPr>
            <a:r>
              <a:rPr lang="en-GB" sz="2400" dirty="0"/>
              <a:t>If a new entrant came into the industry what would he/she have to offer to become a market leader - and how might technology help them do so?</a:t>
            </a:r>
          </a:p>
          <a:p>
            <a:pPr>
              <a:lnSpc>
                <a:spcPct val="90000"/>
              </a:lnSpc>
              <a:buFont typeface="Arial"/>
              <a:buChar char="•"/>
            </a:pPr>
            <a:r>
              <a:rPr lang="en-GB" sz="2400" dirty="0"/>
              <a:t>You may need to spend some time researching the wider sector to build up this picture.  Try and summarise your research in the form of short 'bullet points' which highlight the strategic role which technology plays.  You might like to use the framework here to help:</a:t>
            </a:r>
          </a:p>
          <a:p>
            <a:pPr>
              <a:lnSpc>
                <a:spcPct val="90000"/>
              </a:lnSpc>
              <a:buFont typeface="Arial"/>
              <a:buChar char="•"/>
            </a:pPr>
            <a:r>
              <a:rPr lang="en-GB" sz="2400" dirty="0"/>
              <a:t>https://</a:t>
            </a:r>
            <a:r>
              <a:rPr lang="en-GB" sz="2400" dirty="0" err="1"/>
              <a:t>johnbessant.org</a:t>
            </a:r>
            <a:r>
              <a:rPr lang="en-GB" sz="2400" dirty="0"/>
              <a:t>/</a:t>
            </a:r>
            <a:r>
              <a:rPr lang="en-GB" sz="2400" dirty="0" err="1"/>
              <a:t>wp</a:t>
            </a:r>
            <a:r>
              <a:rPr lang="en-GB" sz="2400" dirty="0"/>
              <a:t>-content/uploads/2020/06/Sector-Innovation-</a:t>
            </a:r>
            <a:r>
              <a:rPr lang="en-GB" sz="2400" dirty="0" err="1"/>
              <a:t>Patterns.pdf</a:t>
            </a:r>
            <a:endParaRPr lang="en-GB" sz="2400" dirty="0"/>
          </a:p>
          <a:p>
            <a:pPr>
              <a:lnSpc>
                <a:spcPct val="90000"/>
              </a:lnSpc>
              <a:buFont typeface="Arial"/>
              <a:buChar char="•"/>
            </a:pPr>
            <a:endParaRPr lang="en-GB" sz="1500" dirty="0"/>
          </a:p>
          <a:p>
            <a:pPr>
              <a:lnSpc>
                <a:spcPct val="90000"/>
              </a:lnSpc>
            </a:pPr>
            <a:endParaRPr lang="en-US" sz="1500" dirty="0"/>
          </a:p>
        </p:txBody>
      </p:sp>
    </p:spTree>
    <p:extLst>
      <p:ext uri="{BB962C8B-B14F-4D97-AF65-F5344CB8AC3E}">
        <p14:creationId xmlns:p14="http://schemas.microsoft.com/office/powerpoint/2010/main" val="18994432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F295B-B05E-EC4A-A13F-99A8EAE959DF}"/>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Innovation makes a difference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274602B-D09B-564A-89A4-CEE67D880292}"/>
              </a:ext>
            </a:extLst>
          </p:cNvPr>
          <p:cNvSpPr>
            <a:spLocks noGrp="1"/>
          </p:cNvSpPr>
          <p:nvPr>
            <p:ph idx="1"/>
          </p:nvPr>
        </p:nvSpPr>
        <p:spPr>
          <a:xfrm>
            <a:off x="3335481" y="591344"/>
            <a:ext cx="5179868" cy="5585619"/>
          </a:xfrm>
        </p:spPr>
        <p:txBody>
          <a:bodyPr anchor="ctr">
            <a:normAutofit/>
          </a:bodyPr>
          <a:lstStyle/>
          <a:p>
            <a:pPr>
              <a:lnSpc>
                <a:spcPct val="90000"/>
              </a:lnSpc>
            </a:pPr>
            <a:r>
              <a:rPr lang="en-US" dirty="0">
                <a:hlinkClick r:id="rId2"/>
              </a:rPr>
              <a:t>This activity involves students looking at the case examples of different ways in which innovation can make a difference and then researching and presenting back their own examples</a:t>
            </a:r>
            <a:r>
              <a:rPr lang="en-US" dirty="0"/>
              <a:t>:</a:t>
            </a:r>
          </a:p>
          <a:p>
            <a:pPr>
              <a:lnSpc>
                <a:spcPct val="90000"/>
              </a:lnSpc>
            </a:pPr>
            <a:endParaRPr lang="en-US" dirty="0"/>
          </a:p>
          <a:p>
            <a:pPr>
              <a:lnSpc>
                <a:spcPct val="90000"/>
              </a:lnSpc>
            </a:pPr>
            <a:endParaRPr lang="en-US" dirty="0"/>
          </a:p>
        </p:txBody>
      </p:sp>
    </p:spTree>
    <p:extLst>
      <p:ext uri="{BB962C8B-B14F-4D97-AF65-F5344CB8AC3E}">
        <p14:creationId xmlns:p14="http://schemas.microsoft.com/office/powerpoint/2010/main" val="18901777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5445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7216132" cy="917864"/>
          </a:xfrm>
          <a:prstGeom prst="rect">
            <a:avLst/>
          </a:prstGeom>
        </p:spPr>
        <p:txBody>
          <a:bodyPr vert="horz" lIns="91440" tIns="45720" rIns="91440" bIns="45720" rtlCol="0" anchor="ctr">
            <a:noAutofit/>
          </a:bodyPr>
          <a:lstStyle/>
          <a:p>
            <a:pPr lvl="0" algn="ctr">
              <a:spcBef>
                <a:spcPct val="0"/>
              </a:spcBef>
              <a:defRPr/>
            </a:pPr>
            <a:r>
              <a:rPr lang="en-GB" sz="3600" b="1" dirty="0">
                <a:solidFill>
                  <a:srgbClr val="008000"/>
                </a:solidFill>
                <a:latin typeface="+mj-lt"/>
                <a:ea typeface="+mj-ea"/>
                <a:cs typeface="+mj-cs"/>
              </a:rPr>
              <a:t>Activity/g</a:t>
            </a:r>
            <a:r>
              <a:rPr kumimoji="0" lang="en-GB" sz="3600" b="1" i="0" u="none" strike="noStrike" kern="1200" cap="none" spc="0" normalizeH="0" baseline="0" noProof="0" dirty="0">
                <a:ln>
                  <a:noFill/>
                </a:ln>
                <a:solidFill>
                  <a:srgbClr val="008000"/>
                </a:solidFill>
                <a:effectLst/>
                <a:uLnTx/>
                <a:uFillTx/>
                <a:latin typeface="+mj-lt"/>
                <a:ea typeface="+mj-ea"/>
                <a:cs typeface="+mj-cs"/>
              </a:rPr>
              <a:t>ame</a:t>
            </a:r>
            <a:r>
              <a:rPr lang="en-GB" sz="3600" b="1" dirty="0">
                <a:solidFill>
                  <a:srgbClr val="008000"/>
                </a:solidFill>
                <a:latin typeface="+mj-lt"/>
                <a:ea typeface="+mj-ea"/>
                <a:cs typeface="+mj-cs"/>
              </a:rPr>
              <a:t>: Paper Planes</a:t>
            </a:r>
          </a:p>
        </p:txBody>
      </p:sp>
      <p:sp>
        <p:nvSpPr>
          <p:cNvPr id="8" name="Rectangle 7"/>
          <p:cNvSpPr/>
          <p:nvPr/>
        </p:nvSpPr>
        <p:spPr>
          <a:xfrm>
            <a:off x="458167" y="1390257"/>
            <a:ext cx="8478016" cy="2369880"/>
          </a:xfrm>
          <a:prstGeom prst="rect">
            <a:avLst/>
          </a:prstGeom>
        </p:spPr>
        <p:txBody>
          <a:bodyPr wrap="square">
            <a:spAutoFit/>
          </a:bodyPr>
          <a:lstStyle/>
          <a:p>
            <a:r>
              <a:rPr lang="en-US" sz="2400" dirty="0">
                <a:hlinkClick r:id="rId2"/>
              </a:rPr>
              <a:t>This is a game that helps students understand that for innovation to happen it needs a product, a process, a market, a business model. </a:t>
            </a:r>
            <a:r>
              <a:rPr lang="en-US" sz="2400" dirty="0"/>
              <a:t>It also needs to involve strategy, collaboration, technology, marketing, communication, etc. </a:t>
            </a:r>
          </a:p>
          <a:p>
            <a:endParaRPr lang="en-US" sz="2600" dirty="0"/>
          </a:p>
          <a:p>
            <a:pPr lvl="0"/>
            <a:endParaRPr lang="en-GB" sz="2600" dirty="0"/>
          </a:p>
        </p:txBody>
      </p:sp>
      <p:pic>
        <p:nvPicPr>
          <p:cNvPr id="10" name="Picture 9"/>
          <p:cNvPicPr>
            <a:picLocks noChangeAspect="1"/>
          </p:cNvPicPr>
          <p:nvPr/>
        </p:nvPicPr>
        <p:blipFill>
          <a:blip r:embed="rId3" cstate="print"/>
          <a:stretch>
            <a:fillRect/>
          </a:stretch>
        </p:blipFill>
        <p:spPr>
          <a:xfrm>
            <a:off x="4803036" y="3487847"/>
            <a:ext cx="4050146" cy="1936923"/>
          </a:xfrm>
          <a:prstGeom prst="rect">
            <a:avLst/>
          </a:prstGeom>
        </p:spPr>
      </p:pic>
      <p:sp>
        <p:nvSpPr>
          <p:cNvPr id="12" name="Rectangle 11"/>
          <p:cNvSpPr/>
          <p:nvPr/>
        </p:nvSpPr>
        <p:spPr>
          <a:xfrm>
            <a:off x="508459" y="3143705"/>
            <a:ext cx="4294577" cy="4247317"/>
          </a:xfrm>
          <a:prstGeom prst="rect">
            <a:avLst/>
          </a:prstGeom>
        </p:spPr>
        <p:txBody>
          <a:bodyPr wrap="square">
            <a:spAutoFit/>
          </a:bodyPr>
          <a:lstStyle/>
          <a:p>
            <a:r>
              <a:rPr lang="en-US" sz="2400" dirty="0"/>
              <a:t>This is a simple interactive game that can act as a good ‘icebreaker’ with students, but also with innovation management generally, helping participants to think holistically about the challenges of innovation.</a:t>
            </a:r>
          </a:p>
          <a:p>
            <a:endParaRPr lang="en-US" sz="2600" dirty="0"/>
          </a:p>
          <a:p>
            <a:endParaRPr lang="en-US" sz="2600" dirty="0"/>
          </a:p>
          <a:p>
            <a:pPr lvl="0"/>
            <a:endParaRPr lang="en-GB" sz="2600" dirty="0"/>
          </a:p>
        </p:txBody>
      </p:sp>
    </p:spTree>
    <p:extLst>
      <p:ext uri="{BB962C8B-B14F-4D97-AF65-F5344CB8AC3E}">
        <p14:creationId xmlns:p14="http://schemas.microsoft.com/office/powerpoint/2010/main" val="12910141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652160-7416-DC45-ADBB-64DB299E6533}"/>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Forces for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2352DD5-3BE0-A94B-9E52-8322C4A9CD76}"/>
              </a:ext>
            </a:extLst>
          </p:cNvPr>
          <p:cNvSpPr>
            <a:spLocks noGrp="1"/>
          </p:cNvSpPr>
          <p:nvPr>
            <p:ph idx="1"/>
          </p:nvPr>
        </p:nvSpPr>
        <p:spPr>
          <a:xfrm>
            <a:off x="3335481" y="591344"/>
            <a:ext cx="5179868" cy="5585619"/>
          </a:xfrm>
        </p:spPr>
        <p:txBody>
          <a:bodyPr anchor="ctr">
            <a:normAutofit/>
          </a:bodyPr>
          <a:lstStyle/>
          <a:p>
            <a:r>
              <a:rPr lang="en-US" dirty="0">
                <a:hlinkClick r:id="rId2"/>
              </a:rPr>
              <a:t>This activity explores some of the forces shaping the emergence of innovation and how they play out over time.</a:t>
            </a:r>
            <a:endParaRPr lang="en-GB" dirty="0"/>
          </a:p>
          <a:p>
            <a:endParaRPr lang="en-GB" dirty="0"/>
          </a:p>
          <a:p>
            <a:endParaRPr lang="en-US" dirty="0"/>
          </a:p>
        </p:txBody>
      </p:sp>
    </p:spTree>
    <p:extLst>
      <p:ext uri="{BB962C8B-B14F-4D97-AF65-F5344CB8AC3E}">
        <p14:creationId xmlns:p14="http://schemas.microsoft.com/office/powerpoint/2010/main" val="41924273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7B051E-EC3B-0E40-8D6F-B5E7A6B3B285}"/>
              </a:ext>
            </a:extLst>
          </p:cNvPr>
          <p:cNvSpPr>
            <a:spLocks noGrp="1"/>
          </p:cNvSpPr>
          <p:nvPr>
            <p:ph type="title"/>
          </p:nvPr>
        </p:nvSpPr>
        <p:spPr>
          <a:xfrm>
            <a:off x="515125" y="1153572"/>
            <a:ext cx="2400300" cy="4461163"/>
          </a:xfrm>
        </p:spPr>
        <p:txBody>
          <a:bodyPr>
            <a:normAutofit/>
          </a:bodyPr>
          <a:lstStyle/>
          <a:p>
            <a:r>
              <a:rPr lang="en-US" sz="3700" dirty="0">
                <a:solidFill>
                  <a:srgbClr val="FFFFFF"/>
                </a:solidFill>
              </a:rPr>
              <a:t>Innovation and knowledge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8B6BDB4-A2E7-CC49-BF6B-EF170CAE87DB}"/>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dirty="0"/>
              <a:t>There are several activities designed to explore the relationship between knowledge and innovation.</a:t>
            </a:r>
            <a:endParaRPr lang="en-GB" sz="2500" dirty="0"/>
          </a:p>
          <a:p>
            <a:pPr>
              <a:lnSpc>
                <a:spcPct val="90000"/>
              </a:lnSpc>
            </a:pPr>
            <a:endParaRPr lang="en-GB" sz="2500" dirty="0"/>
          </a:p>
          <a:p>
            <a:pPr>
              <a:lnSpc>
                <a:spcPct val="90000"/>
              </a:lnSpc>
            </a:pPr>
            <a:r>
              <a:rPr lang="en-US" sz="2500" dirty="0"/>
              <a:t>Case study and activity: </a:t>
            </a:r>
            <a:r>
              <a:rPr lang="en-US" sz="2500" u="sng" dirty="0">
                <a:hlinkClick r:id="rId2"/>
              </a:rPr>
              <a:t>Strategic advantage through innovation</a:t>
            </a:r>
            <a:endParaRPr lang="en-US" sz="2500" u="sng" dirty="0"/>
          </a:p>
          <a:p>
            <a:pPr>
              <a:lnSpc>
                <a:spcPct val="90000"/>
              </a:lnSpc>
            </a:pPr>
            <a:endParaRPr lang="en-GB" sz="2500" dirty="0">
              <a:hlinkClick r:id="rId3"/>
            </a:endParaRPr>
          </a:p>
          <a:p>
            <a:pPr>
              <a:lnSpc>
                <a:spcPct val="90000"/>
              </a:lnSpc>
            </a:pPr>
            <a:r>
              <a:rPr lang="en-US" sz="2500" u="sng" dirty="0">
                <a:hlinkClick r:id="rId3"/>
              </a:rPr>
              <a:t>Harvesting knowledge crops</a:t>
            </a:r>
            <a:endParaRPr lang="en-US" sz="2500" u="sng" dirty="0"/>
          </a:p>
          <a:p>
            <a:pPr>
              <a:lnSpc>
                <a:spcPct val="90000"/>
              </a:lnSpc>
            </a:pPr>
            <a:endParaRPr lang="en-US" sz="2500" dirty="0"/>
          </a:p>
        </p:txBody>
      </p:sp>
    </p:spTree>
    <p:extLst>
      <p:ext uri="{BB962C8B-B14F-4D97-AF65-F5344CB8AC3E}">
        <p14:creationId xmlns:p14="http://schemas.microsoft.com/office/powerpoint/2010/main" val="11524041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0A4D67-C419-6E4E-A3A3-1DD8F5DE2932}"/>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Changing context for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3233F10-FED7-F845-A253-E1806F0F9AA0}"/>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dirty="0"/>
              <a:t>Find a company whose experience you want to study. Using Table 1.5: Challenges in the innovation context – take a detailed interview with the general manager and explore the ways in which the changing context affects their business.  Key context changes might include:</a:t>
            </a:r>
          </a:p>
          <a:p>
            <a:pPr>
              <a:lnSpc>
                <a:spcPct val="90000"/>
              </a:lnSpc>
            </a:pPr>
            <a:endParaRPr lang="en-US" sz="2000" dirty="0"/>
          </a:p>
          <a:p>
            <a:pPr marL="457200" indent="-457200">
              <a:lnSpc>
                <a:spcPct val="90000"/>
              </a:lnSpc>
              <a:buFont typeface="Arial"/>
              <a:buChar char="•"/>
            </a:pPr>
            <a:r>
              <a:rPr lang="en-US" sz="2000" dirty="0"/>
              <a:t>Acceleration of knowledge production</a:t>
            </a:r>
            <a:endParaRPr lang="en-GB" sz="2000" dirty="0"/>
          </a:p>
          <a:p>
            <a:pPr marL="457200" indent="-457200">
              <a:lnSpc>
                <a:spcPct val="90000"/>
              </a:lnSpc>
              <a:buFont typeface="Arial"/>
              <a:buChar char="•"/>
            </a:pPr>
            <a:r>
              <a:rPr lang="en-US" sz="2000" dirty="0"/>
              <a:t>Global distribution of knowledge production</a:t>
            </a:r>
            <a:endParaRPr lang="en-GB" sz="2000" dirty="0"/>
          </a:p>
          <a:p>
            <a:pPr marL="457200" indent="-457200">
              <a:lnSpc>
                <a:spcPct val="90000"/>
              </a:lnSpc>
              <a:buFont typeface="Arial"/>
              <a:buChar char="•"/>
            </a:pPr>
            <a:r>
              <a:rPr lang="en-US" sz="2000" dirty="0"/>
              <a:t>Market expansion</a:t>
            </a:r>
            <a:endParaRPr lang="en-GB" sz="2000" dirty="0"/>
          </a:p>
          <a:p>
            <a:pPr marL="457200" indent="-457200">
              <a:lnSpc>
                <a:spcPct val="90000"/>
              </a:lnSpc>
              <a:buFont typeface="Arial"/>
              <a:buChar char="•"/>
            </a:pPr>
            <a:r>
              <a:rPr lang="en-US" sz="2000" dirty="0"/>
              <a:t>Market fragmentation</a:t>
            </a:r>
            <a:endParaRPr lang="en-GB" sz="2000" dirty="0"/>
          </a:p>
          <a:p>
            <a:pPr marL="457200" indent="-457200">
              <a:lnSpc>
                <a:spcPct val="90000"/>
              </a:lnSpc>
              <a:buFont typeface="Arial"/>
              <a:buChar char="•"/>
            </a:pPr>
            <a:r>
              <a:rPr lang="en-US" sz="2000" dirty="0"/>
              <a:t>Market virtualization</a:t>
            </a:r>
            <a:endParaRPr lang="en-GB" sz="2000" dirty="0"/>
          </a:p>
          <a:p>
            <a:pPr marL="457200" indent="-457200">
              <a:lnSpc>
                <a:spcPct val="90000"/>
              </a:lnSpc>
              <a:buFont typeface="Arial"/>
              <a:buChar char="•"/>
            </a:pPr>
            <a:r>
              <a:rPr lang="en-US" sz="2000" dirty="0"/>
              <a:t>Rise of active users</a:t>
            </a:r>
            <a:endParaRPr lang="en-GB" sz="2000" dirty="0"/>
          </a:p>
          <a:p>
            <a:pPr marL="457200" indent="-457200">
              <a:lnSpc>
                <a:spcPct val="90000"/>
              </a:lnSpc>
              <a:buFont typeface="Arial"/>
              <a:buChar char="•"/>
            </a:pPr>
            <a:r>
              <a:rPr lang="en-US" sz="2000" dirty="0"/>
              <a:t>Growing concern with sustainability issues</a:t>
            </a:r>
            <a:endParaRPr lang="en-GB" sz="2000" dirty="0"/>
          </a:p>
          <a:p>
            <a:pPr>
              <a:lnSpc>
                <a:spcPct val="90000"/>
              </a:lnSpc>
            </a:pPr>
            <a:endParaRPr lang="en-US" sz="2000" dirty="0"/>
          </a:p>
        </p:txBody>
      </p:sp>
    </p:spTree>
    <p:extLst>
      <p:ext uri="{BB962C8B-B14F-4D97-AF65-F5344CB8AC3E}">
        <p14:creationId xmlns:p14="http://schemas.microsoft.com/office/powerpoint/2010/main" val="15291936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F22859-26FF-1142-B785-42DE7EA8AA37}"/>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a:t>
            </a:r>
            <a:br>
              <a:rPr lang="en-US" sz="3100">
                <a:solidFill>
                  <a:srgbClr val="FFFFFF"/>
                </a:solidFill>
              </a:rPr>
            </a:br>
            <a:r>
              <a:rPr lang="en-US" sz="3100">
                <a:solidFill>
                  <a:srgbClr val="FFFFFF"/>
                </a:solidFill>
              </a:rPr>
              <a:t>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16AA649-1007-2A48-B61C-7B22FA52A3FD}"/>
              </a:ext>
            </a:extLst>
          </p:cNvPr>
          <p:cNvSpPr>
            <a:spLocks noGrp="1"/>
          </p:cNvSpPr>
          <p:nvPr>
            <p:ph idx="1"/>
          </p:nvPr>
        </p:nvSpPr>
        <p:spPr>
          <a:xfrm>
            <a:off x="3335481" y="591344"/>
            <a:ext cx="5179868" cy="5585619"/>
          </a:xfrm>
        </p:spPr>
        <p:txBody>
          <a:bodyPr anchor="ctr">
            <a:normAutofit/>
          </a:bodyPr>
          <a:lstStyle/>
          <a:p>
            <a:pPr marL="514350" indent="-514350">
              <a:lnSpc>
                <a:spcPct val="90000"/>
              </a:lnSpc>
              <a:buAutoNum type="arabicPeriod"/>
            </a:pPr>
            <a:r>
              <a:rPr lang="en-GB" altLang="ja-JP" sz="2700"/>
              <a:t>D</a:t>
            </a:r>
            <a:r>
              <a:rPr lang="en-GB" sz="2700"/>
              <a:t>oes innovation matter?  In what ways does it make a difference – economically, socially, living standards, humanitarian, etc.</a:t>
            </a:r>
          </a:p>
          <a:p>
            <a:pPr marL="514350" indent="-514350">
              <a:lnSpc>
                <a:spcPct val="90000"/>
              </a:lnSpc>
            </a:pPr>
            <a:endParaRPr lang="en-GB" sz="2700"/>
          </a:p>
          <a:p>
            <a:pPr marL="514350" indent="-514350">
              <a:lnSpc>
                <a:spcPct val="90000"/>
              </a:lnSpc>
            </a:pPr>
            <a:r>
              <a:rPr lang="en-US" sz="2700"/>
              <a:t>2.	Give ways in which strategic advantage can come from innovation. List the ways in which an organization does (or doesn’t) use innovation to get and stay ahead of competition. </a:t>
            </a:r>
            <a:endParaRPr lang="en-GB" sz="2700"/>
          </a:p>
          <a:p>
            <a:pPr>
              <a:lnSpc>
                <a:spcPct val="90000"/>
              </a:lnSpc>
            </a:pPr>
            <a:endParaRPr lang="en-US" sz="2700"/>
          </a:p>
        </p:txBody>
      </p:sp>
    </p:spTree>
    <p:extLst>
      <p:ext uri="{BB962C8B-B14F-4D97-AF65-F5344CB8AC3E}">
        <p14:creationId xmlns:p14="http://schemas.microsoft.com/office/powerpoint/2010/main" val="17042673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F22859-26FF-1142-B785-42DE7EA8AA37}"/>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a:t>
            </a:r>
            <a:br>
              <a:rPr lang="en-US" sz="3100">
                <a:solidFill>
                  <a:srgbClr val="FFFFFF"/>
                </a:solidFill>
              </a:rPr>
            </a:br>
            <a:r>
              <a:rPr lang="en-US" sz="3100">
                <a:solidFill>
                  <a:srgbClr val="FFFFFF"/>
                </a:solidFill>
              </a:rPr>
              <a:t>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16AA649-1007-2A48-B61C-7B22FA52A3FD}"/>
              </a:ext>
            </a:extLst>
          </p:cNvPr>
          <p:cNvSpPr>
            <a:spLocks noGrp="1"/>
          </p:cNvSpPr>
          <p:nvPr>
            <p:ph idx="1"/>
          </p:nvPr>
        </p:nvSpPr>
        <p:spPr>
          <a:xfrm>
            <a:off x="3335481" y="591344"/>
            <a:ext cx="5179868" cy="5585619"/>
          </a:xfrm>
        </p:spPr>
        <p:txBody>
          <a:bodyPr anchor="ctr">
            <a:normAutofit/>
          </a:bodyPr>
          <a:lstStyle/>
          <a:p>
            <a:pPr marL="514350" indent="-514350">
              <a:lnSpc>
                <a:spcPct val="90000"/>
              </a:lnSpc>
              <a:buAutoNum type="arabicPeriod" startAt="3"/>
            </a:pPr>
            <a:r>
              <a:rPr lang="en-GB" sz="2700" dirty="0"/>
              <a:t>How are  ‘innovation’ and ‘entrepreneurship’ connected and how they are essential for survival and growth on a country/company level. </a:t>
            </a:r>
          </a:p>
          <a:p>
            <a:pPr marL="514350" indent="-514350">
              <a:lnSpc>
                <a:spcPct val="90000"/>
              </a:lnSpc>
            </a:pPr>
            <a:endParaRPr lang="en-GB" sz="2700" dirty="0"/>
          </a:p>
          <a:p>
            <a:pPr marL="0" indent="0">
              <a:lnSpc>
                <a:spcPct val="90000"/>
              </a:lnSpc>
              <a:buNone/>
            </a:pPr>
            <a:r>
              <a:rPr lang="en-GB" sz="2700" dirty="0"/>
              <a:t>4.	Imagine Nick Smith has an innovative product idea. What does he need to start with? What could be the first steps and what are the major challenges/barriers to expect? </a:t>
            </a:r>
          </a:p>
          <a:p>
            <a:pPr>
              <a:lnSpc>
                <a:spcPct val="90000"/>
              </a:lnSpc>
            </a:pPr>
            <a:endParaRPr lang="en-US" sz="2700" dirty="0"/>
          </a:p>
        </p:txBody>
      </p:sp>
    </p:spTree>
    <p:extLst>
      <p:ext uri="{BB962C8B-B14F-4D97-AF65-F5344CB8AC3E}">
        <p14:creationId xmlns:p14="http://schemas.microsoft.com/office/powerpoint/2010/main" val="40819214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F22859-26FF-1142-B785-42DE7EA8AA37}"/>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a:t>
            </a:r>
            <a:br>
              <a:rPr lang="en-US" sz="3100">
                <a:solidFill>
                  <a:srgbClr val="FFFFFF"/>
                </a:solidFill>
              </a:rPr>
            </a:br>
            <a:r>
              <a:rPr lang="en-US" sz="3100">
                <a:solidFill>
                  <a:srgbClr val="FFFFFF"/>
                </a:solidFill>
              </a:rPr>
              <a:t>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16AA649-1007-2A48-B61C-7B22FA52A3FD}"/>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200" dirty="0"/>
              <a:t>5.	How does innovation contribute to competitive advantage?  Support your answer with illustrations from both manufacturing and services.</a:t>
            </a:r>
          </a:p>
          <a:p>
            <a:pPr marL="0" indent="0">
              <a:lnSpc>
                <a:spcPct val="90000"/>
              </a:lnSpc>
              <a:buNone/>
            </a:pPr>
            <a:r>
              <a:rPr lang="en-GB" sz="2200" dirty="0"/>
              <a:t> </a:t>
            </a:r>
          </a:p>
          <a:p>
            <a:pPr marL="0" indent="0">
              <a:lnSpc>
                <a:spcPct val="90000"/>
              </a:lnSpc>
              <a:buNone/>
            </a:pPr>
            <a:r>
              <a:rPr lang="en-GB" sz="2200" dirty="0"/>
              <a:t>6.	Does innovation matter for public services?  Using examples indicate how and where it can be an important strategic issue.</a:t>
            </a:r>
          </a:p>
          <a:p>
            <a:pPr marL="0" indent="0">
              <a:lnSpc>
                <a:spcPct val="90000"/>
              </a:lnSpc>
              <a:buNone/>
            </a:pPr>
            <a:r>
              <a:rPr lang="en-GB" sz="2200" dirty="0"/>
              <a:t> </a:t>
            </a:r>
          </a:p>
          <a:p>
            <a:pPr marL="0" indent="0">
              <a:lnSpc>
                <a:spcPct val="90000"/>
              </a:lnSpc>
              <a:buNone/>
            </a:pPr>
            <a:r>
              <a:rPr lang="en-GB" sz="2200" dirty="0"/>
              <a:t>7.	You are a newly-appointed director for a small charity which supports homeless people.  How could innovation improve the ways in which your charity operates?</a:t>
            </a:r>
          </a:p>
          <a:p>
            <a:pPr>
              <a:lnSpc>
                <a:spcPct val="90000"/>
              </a:lnSpc>
            </a:pPr>
            <a:endParaRPr lang="en-US" sz="2200" dirty="0"/>
          </a:p>
        </p:txBody>
      </p:sp>
    </p:spTree>
    <p:extLst>
      <p:ext uri="{BB962C8B-B14F-4D97-AF65-F5344CB8AC3E}">
        <p14:creationId xmlns:p14="http://schemas.microsoft.com/office/powerpoint/2010/main" val="1188899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4933</TotalTime>
  <Words>4754</Words>
  <Application>Microsoft Macintosh PowerPoint</Application>
  <PresentationFormat>On-screen Show (4:3)</PresentationFormat>
  <Paragraphs>414</Paragraphs>
  <Slides>74</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Links</vt:lpstr>
      </vt:variant>
      <vt:variant>
        <vt:i4>1</vt:i4>
      </vt:variant>
      <vt:variant>
        <vt:lpstr>Slide Titles</vt:lpstr>
      </vt:variant>
      <vt:variant>
        <vt:i4>74</vt:i4>
      </vt:variant>
    </vt:vector>
  </HeadingPairs>
  <TitlesOfParts>
    <vt:vector size="81" baseType="lpstr">
      <vt:lpstr>Arial</vt:lpstr>
      <vt:lpstr>Calibri</vt:lpstr>
      <vt:lpstr>Cambria</vt:lpstr>
      <vt:lpstr>Times New Roman</vt:lpstr>
      <vt:lpstr>Wingdings</vt:lpstr>
      <vt:lpstr>Office Theme</vt:lpstr>
      <vt:lpstr>Macintosh%20HD:Users:annatrifilova:Documents:Teaching:wiley%20strategic%20innovation%20management:Final%20MS%20August%204:SIM%20chapter%201.docx!OLE_LINK3</vt:lpstr>
      <vt:lpstr>Teaching Resources and Instructors’ Guidelines</vt:lpstr>
      <vt:lpstr>PowerPoint Presentation</vt:lpstr>
      <vt:lpstr>Learning objectives</vt:lpstr>
      <vt:lpstr>Core themes and material from the book</vt:lpstr>
      <vt:lpstr>Innovation?</vt:lpstr>
      <vt:lpstr>The innovation imperative</vt:lpstr>
      <vt:lpstr>Global R&amp;D spend</vt:lpstr>
      <vt:lpstr>Innovation and entrepreneurship</vt:lpstr>
      <vt:lpstr>PowerPoint Presentation</vt:lpstr>
      <vt:lpstr>PowerPoint Presentation</vt:lpstr>
      <vt:lpstr>PowerPoint Presentation</vt:lpstr>
      <vt:lpstr>Investments in innovation</vt:lpstr>
      <vt:lpstr>Challenges on the innovation horizon</vt:lpstr>
      <vt:lpstr>Innovation isn’t easy</vt:lpstr>
      <vt:lpstr>PowerPoint Presentation</vt:lpstr>
      <vt:lpstr>PowerPoint Presentation</vt:lpstr>
      <vt:lpstr>Scope for innovation</vt:lpstr>
      <vt:lpstr>PowerPoint Presentation</vt:lpstr>
      <vt:lpstr>PowerPoint Presentation</vt:lpstr>
      <vt:lpstr>PowerPoint Presentation</vt:lpstr>
      <vt:lpstr>PowerPoint Presentation</vt:lpstr>
      <vt:lpstr>PowerPoint Presentation</vt:lpstr>
      <vt:lpstr>Dimensions of innovation</vt:lpstr>
      <vt:lpstr>PowerPoint Presentation</vt:lpstr>
      <vt:lpstr>Knowledge architectures and innovation</vt:lpstr>
      <vt:lpstr>The innovation life cycle</vt:lpstr>
      <vt:lpstr>Stages in the life cycle </vt:lpstr>
      <vt:lpstr>Discontinuous innovation</vt:lpstr>
      <vt:lpstr>Summary</vt:lpstr>
      <vt:lpstr>Summary</vt:lpstr>
      <vt:lpstr>Summary</vt:lpstr>
      <vt:lpstr>Summary</vt:lpstr>
      <vt:lpstr>Summary</vt:lpstr>
      <vt:lpstr>PowerPoint Presentation</vt:lpstr>
      <vt:lpstr>PowerPoint Presentation</vt:lpstr>
      <vt:lpstr>PowerPoint Presentation</vt:lpstr>
      <vt:lpstr>Videos</vt:lpstr>
      <vt:lpstr>Videos</vt:lpstr>
      <vt:lpstr>Innovation managers in their own words</vt:lpstr>
      <vt:lpstr>Creating value from ideas</vt:lpstr>
      <vt:lpstr>PowerPoint Presentation</vt:lpstr>
      <vt:lpstr>Blogs and podcasts</vt:lpstr>
      <vt:lpstr>Cases</vt:lpstr>
      <vt:lpstr>Cases </vt:lpstr>
      <vt:lpstr>Cases</vt:lpstr>
      <vt:lpstr>Tools</vt:lpstr>
      <vt:lpstr>Activities </vt:lpstr>
      <vt:lpstr>What is innovation?</vt:lpstr>
      <vt:lpstr>What is innovation?</vt:lpstr>
      <vt:lpstr>What is innovation?</vt:lpstr>
      <vt:lpstr>Why innovation matters</vt:lpstr>
      <vt:lpstr>PowerPoint Presentation</vt:lpstr>
      <vt:lpstr>Innovation isn’t easy</vt:lpstr>
      <vt:lpstr>Innovation isn’t easy</vt:lpstr>
      <vt:lpstr>Creating value through innovation</vt:lpstr>
      <vt:lpstr>Platform innovation</vt:lpstr>
      <vt:lpstr>Creating value through innovation</vt:lpstr>
      <vt:lpstr>Exploring innovation space</vt:lpstr>
      <vt:lpstr>Classifying innovation</vt:lpstr>
      <vt:lpstr>The innovation life-cycle</vt:lpstr>
      <vt:lpstr>Architectural and component innovation</vt:lpstr>
      <vt:lpstr>Innovation routines and culture</vt:lpstr>
      <vt:lpstr>Strategic advantage through innovation</vt:lpstr>
      <vt:lpstr>Strategic advantage through innovation</vt:lpstr>
      <vt:lpstr>Sectoral patterns of innovation</vt:lpstr>
      <vt:lpstr>Sector innovation patterns</vt:lpstr>
      <vt:lpstr>Innovation makes a difference</vt:lpstr>
      <vt:lpstr>PowerPoint Presentation</vt:lpstr>
      <vt:lpstr>Forces for innovation</vt:lpstr>
      <vt:lpstr>Innovation and knowledge</vt:lpstr>
      <vt:lpstr>Changing context for innovation</vt:lpstr>
      <vt:lpstr>Assessment/ discussion questions</vt:lpstr>
      <vt:lpstr>Assessment/ discussion questions</vt:lpstr>
      <vt:lpstr>Assessment/ 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14</cp:revision>
  <dcterms:created xsi:type="dcterms:W3CDTF">2020-11-14T12:06:49Z</dcterms:created>
  <dcterms:modified xsi:type="dcterms:W3CDTF">2024-11-03T15:58:31Z</dcterms:modified>
</cp:coreProperties>
</file>