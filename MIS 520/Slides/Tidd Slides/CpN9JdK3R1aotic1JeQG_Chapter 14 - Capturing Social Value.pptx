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7" r:id="rId2"/>
    <p:sldId id="369" r:id="rId3"/>
    <p:sldId id="370" r:id="rId4"/>
    <p:sldId id="372" r:id="rId5"/>
    <p:sldId id="263" r:id="rId6"/>
    <p:sldId id="273" r:id="rId7"/>
    <p:sldId id="375" r:id="rId8"/>
    <p:sldId id="376" r:id="rId9"/>
    <p:sldId id="373" r:id="rId10"/>
    <p:sldId id="407" r:id="rId11"/>
    <p:sldId id="272" r:id="rId12"/>
    <p:sldId id="408" r:id="rId13"/>
    <p:sldId id="377" r:id="rId14"/>
    <p:sldId id="378" r:id="rId15"/>
    <p:sldId id="379" r:id="rId16"/>
    <p:sldId id="380" r:id="rId17"/>
    <p:sldId id="409" r:id="rId18"/>
    <p:sldId id="330" r:id="rId19"/>
    <p:sldId id="332" r:id="rId20"/>
    <p:sldId id="333" r:id="rId21"/>
    <p:sldId id="335" r:id="rId22"/>
    <p:sldId id="336" r:id="rId23"/>
    <p:sldId id="339" r:id="rId24"/>
    <p:sldId id="340" r:id="rId25"/>
    <p:sldId id="344" r:id="rId26"/>
    <p:sldId id="345" r:id="rId27"/>
    <p:sldId id="381" r:id="rId28"/>
    <p:sldId id="382" r:id="rId29"/>
    <p:sldId id="410" r:id="rId30"/>
    <p:sldId id="383" r:id="rId31"/>
    <p:sldId id="385" r:id="rId32"/>
    <p:sldId id="386" r:id="rId33"/>
    <p:sldId id="387" r:id="rId34"/>
    <p:sldId id="374" r:id="rId35"/>
    <p:sldId id="388" r:id="rId36"/>
    <p:sldId id="393" r:id="rId37"/>
    <p:sldId id="389" r:id="rId38"/>
    <p:sldId id="390" r:id="rId39"/>
    <p:sldId id="400" r:id="rId40"/>
    <p:sldId id="391" r:id="rId41"/>
    <p:sldId id="401" r:id="rId42"/>
    <p:sldId id="269" r:id="rId43"/>
    <p:sldId id="402" r:id="rId44"/>
    <p:sldId id="403" r:id="rId45"/>
    <p:sldId id="404" r:id="rId46"/>
    <p:sldId id="405" r:id="rId47"/>
    <p:sldId id="406" r:id="rId48"/>
    <p:sldId id="394" r:id="rId49"/>
    <p:sldId id="395" r:id="rId50"/>
    <p:sldId id="396" r:id="rId51"/>
    <p:sldId id="397" r:id="rId52"/>
    <p:sldId id="398"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96"/>
  </p:normalViewPr>
  <p:slideViewPr>
    <p:cSldViewPr>
      <p:cViewPr varScale="1">
        <p:scale>
          <a:sx n="116" d="100"/>
          <a:sy n="116" d="100"/>
        </p:scale>
        <p:origin x="1760" y="184"/>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FB48E9-4E89-4269-9172-13388111ADE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23F8B44-4FF9-46B0-9D57-64076E407BBB}">
      <dgm:prSet/>
      <dgm:spPr/>
      <dgm:t>
        <a:bodyPr/>
        <a:lstStyle/>
        <a:p>
          <a:pPr>
            <a:lnSpc>
              <a:spcPct val="100000"/>
            </a:lnSpc>
          </a:pPr>
          <a:r>
            <a:rPr lang="en-US"/>
            <a:t>Using innovation to create social value</a:t>
          </a:r>
        </a:p>
      </dgm:t>
    </dgm:pt>
    <dgm:pt modelId="{B7EB6BB4-3940-43A3-8162-54F712A42F65}" type="parTrans" cxnId="{2B428FCB-1332-4CBF-A35D-D2BE85759907}">
      <dgm:prSet/>
      <dgm:spPr/>
      <dgm:t>
        <a:bodyPr/>
        <a:lstStyle/>
        <a:p>
          <a:endParaRPr lang="en-US"/>
        </a:p>
      </dgm:t>
    </dgm:pt>
    <dgm:pt modelId="{0AC038F1-0F73-4F07-B109-6B45C10CDB23}" type="sibTrans" cxnId="{2B428FCB-1332-4CBF-A35D-D2BE85759907}">
      <dgm:prSet/>
      <dgm:spPr/>
      <dgm:t>
        <a:bodyPr/>
        <a:lstStyle/>
        <a:p>
          <a:endParaRPr lang="en-US"/>
        </a:p>
      </dgm:t>
    </dgm:pt>
    <dgm:pt modelId="{5C82EDE8-9F81-4973-90D7-E3A58ABF8EAC}">
      <dgm:prSet/>
      <dgm:spPr/>
      <dgm:t>
        <a:bodyPr/>
        <a:lstStyle/>
        <a:p>
          <a:pPr>
            <a:lnSpc>
              <a:spcPct val="100000"/>
            </a:lnSpc>
          </a:pPr>
          <a:r>
            <a:rPr lang="en-US"/>
            <a:t>Innovation for the greater good</a:t>
          </a:r>
        </a:p>
      </dgm:t>
    </dgm:pt>
    <dgm:pt modelId="{DEDFADA2-C48E-4308-88F6-064EC091B00C}" type="parTrans" cxnId="{406487BF-123C-419E-A7E0-7BFFB7D9606A}">
      <dgm:prSet/>
      <dgm:spPr/>
      <dgm:t>
        <a:bodyPr/>
        <a:lstStyle/>
        <a:p>
          <a:endParaRPr lang="en-US"/>
        </a:p>
      </dgm:t>
    </dgm:pt>
    <dgm:pt modelId="{FFDA0562-8571-4D57-9169-A11C44841FA6}" type="sibTrans" cxnId="{406487BF-123C-419E-A7E0-7BFFB7D9606A}">
      <dgm:prSet/>
      <dgm:spPr/>
      <dgm:t>
        <a:bodyPr/>
        <a:lstStyle/>
        <a:p>
          <a:endParaRPr lang="en-US"/>
        </a:p>
      </dgm:t>
    </dgm:pt>
    <dgm:pt modelId="{341E9E70-37C9-4669-B03E-2F1F699A5ECB}" type="pres">
      <dgm:prSet presAssocID="{45FB48E9-4E89-4269-9172-13388111ADEA}" presName="root" presStyleCnt="0">
        <dgm:presLayoutVars>
          <dgm:dir/>
          <dgm:resizeHandles val="exact"/>
        </dgm:presLayoutVars>
      </dgm:prSet>
      <dgm:spPr/>
    </dgm:pt>
    <dgm:pt modelId="{11648812-FF2D-4B3C-910F-49F5E688280B}" type="pres">
      <dgm:prSet presAssocID="{723F8B44-4FF9-46B0-9D57-64076E407BBB}" presName="compNode" presStyleCnt="0"/>
      <dgm:spPr/>
    </dgm:pt>
    <dgm:pt modelId="{6401E4BB-5C6F-4F80-89EC-79C4C9800E9E}" type="pres">
      <dgm:prSet presAssocID="{723F8B44-4FF9-46B0-9D57-64076E407BB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bulb"/>
        </a:ext>
      </dgm:extLst>
    </dgm:pt>
    <dgm:pt modelId="{68EFA064-0987-4DDA-B6DA-6613ECF9D218}" type="pres">
      <dgm:prSet presAssocID="{723F8B44-4FF9-46B0-9D57-64076E407BBB}" presName="spaceRect" presStyleCnt="0"/>
      <dgm:spPr/>
    </dgm:pt>
    <dgm:pt modelId="{B52F6297-9569-42EF-A146-4F6265254625}" type="pres">
      <dgm:prSet presAssocID="{723F8B44-4FF9-46B0-9D57-64076E407BBB}" presName="textRect" presStyleLbl="revTx" presStyleIdx="0" presStyleCnt="2">
        <dgm:presLayoutVars>
          <dgm:chMax val="1"/>
          <dgm:chPref val="1"/>
        </dgm:presLayoutVars>
      </dgm:prSet>
      <dgm:spPr/>
    </dgm:pt>
    <dgm:pt modelId="{D49173AE-9EE1-467D-BA2A-BFA547EC29A5}" type="pres">
      <dgm:prSet presAssocID="{0AC038F1-0F73-4F07-B109-6B45C10CDB23}" presName="sibTrans" presStyleCnt="0"/>
      <dgm:spPr/>
    </dgm:pt>
    <dgm:pt modelId="{2E71A463-855E-42F3-B26F-909D5C339A8A}" type="pres">
      <dgm:prSet presAssocID="{5C82EDE8-9F81-4973-90D7-E3A58ABF8EAC}" presName="compNode" presStyleCnt="0"/>
      <dgm:spPr/>
    </dgm:pt>
    <dgm:pt modelId="{0F224439-D53A-4E2E-BBD8-427AD0FFEA60}" type="pres">
      <dgm:prSet presAssocID="{5C82EDE8-9F81-4973-90D7-E3A58ABF8EA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405EB674-DC9B-401C-A749-4459EF081019}" type="pres">
      <dgm:prSet presAssocID="{5C82EDE8-9F81-4973-90D7-E3A58ABF8EAC}" presName="spaceRect" presStyleCnt="0"/>
      <dgm:spPr/>
    </dgm:pt>
    <dgm:pt modelId="{E0AC53CC-2F8F-47DB-8D52-105DB60650A7}" type="pres">
      <dgm:prSet presAssocID="{5C82EDE8-9F81-4973-90D7-E3A58ABF8EAC}" presName="textRect" presStyleLbl="revTx" presStyleIdx="1" presStyleCnt="2">
        <dgm:presLayoutVars>
          <dgm:chMax val="1"/>
          <dgm:chPref val="1"/>
        </dgm:presLayoutVars>
      </dgm:prSet>
      <dgm:spPr/>
    </dgm:pt>
  </dgm:ptLst>
  <dgm:cxnLst>
    <dgm:cxn modelId="{219DDB66-1F0E-4B73-85F4-4A3F67AAA255}" type="presOf" srcId="{45FB48E9-4E89-4269-9172-13388111ADEA}" destId="{341E9E70-37C9-4669-B03E-2F1F699A5ECB}" srcOrd="0" destOrd="0" presId="urn:microsoft.com/office/officeart/2018/2/layout/IconLabelList"/>
    <dgm:cxn modelId="{6DF45087-2CD7-406D-B3A8-B557F2ECA86E}" type="presOf" srcId="{5C82EDE8-9F81-4973-90D7-E3A58ABF8EAC}" destId="{E0AC53CC-2F8F-47DB-8D52-105DB60650A7}" srcOrd="0" destOrd="0" presId="urn:microsoft.com/office/officeart/2018/2/layout/IconLabelList"/>
    <dgm:cxn modelId="{406487BF-123C-419E-A7E0-7BFFB7D9606A}" srcId="{45FB48E9-4E89-4269-9172-13388111ADEA}" destId="{5C82EDE8-9F81-4973-90D7-E3A58ABF8EAC}" srcOrd="1" destOrd="0" parTransId="{DEDFADA2-C48E-4308-88F6-064EC091B00C}" sibTransId="{FFDA0562-8571-4D57-9169-A11C44841FA6}"/>
    <dgm:cxn modelId="{E7AE8BC5-CF6E-427D-924D-13DD4E3F3123}" type="presOf" srcId="{723F8B44-4FF9-46B0-9D57-64076E407BBB}" destId="{B52F6297-9569-42EF-A146-4F6265254625}" srcOrd="0" destOrd="0" presId="urn:microsoft.com/office/officeart/2018/2/layout/IconLabelList"/>
    <dgm:cxn modelId="{2B428FCB-1332-4CBF-A35D-D2BE85759907}" srcId="{45FB48E9-4E89-4269-9172-13388111ADEA}" destId="{723F8B44-4FF9-46B0-9D57-64076E407BBB}" srcOrd="0" destOrd="0" parTransId="{B7EB6BB4-3940-43A3-8162-54F712A42F65}" sibTransId="{0AC038F1-0F73-4F07-B109-6B45C10CDB23}"/>
    <dgm:cxn modelId="{B4F2CB06-8E1B-413D-8CFA-C9E60071E901}" type="presParOf" srcId="{341E9E70-37C9-4669-B03E-2F1F699A5ECB}" destId="{11648812-FF2D-4B3C-910F-49F5E688280B}" srcOrd="0" destOrd="0" presId="urn:microsoft.com/office/officeart/2018/2/layout/IconLabelList"/>
    <dgm:cxn modelId="{20F25946-AF7D-4124-A202-53A7E8B9F4B8}" type="presParOf" srcId="{11648812-FF2D-4B3C-910F-49F5E688280B}" destId="{6401E4BB-5C6F-4F80-89EC-79C4C9800E9E}" srcOrd="0" destOrd="0" presId="urn:microsoft.com/office/officeart/2018/2/layout/IconLabelList"/>
    <dgm:cxn modelId="{441883DD-A469-4047-9A07-5D5C195975A3}" type="presParOf" srcId="{11648812-FF2D-4B3C-910F-49F5E688280B}" destId="{68EFA064-0987-4DDA-B6DA-6613ECF9D218}" srcOrd="1" destOrd="0" presId="urn:microsoft.com/office/officeart/2018/2/layout/IconLabelList"/>
    <dgm:cxn modelId="{AF172788-2A39-46E5-8774-8930DDFA4085}" type="presParOf" srcId="{11648812-FF2D-4B3C-910F-49F5E688280B}" destId="{B52F6297-9569-42EF-A146-4F6265254625}" srcOrd="2" destOrd="0" presId="urn:microsoft.com/office/officeart/2018/2/layout/IconLabelList"/>
    <dgm:cxn modelId="{43A2DB9D-4C32-485B-B275-A7DCB24A4043}" type="presParOf" srcId="{341E9E70-37C9-4669-B03E-2F1F699A5ECB}" destId="{D49173AE-9EE1-467D-BA2A-BFA547EC29A5}" srcOrd="1" destOrd="0" presId="urn:microsoft.com/office/officeart/2018/2/layout/IconLabelList"/>
    <dgm:cxn modelId="{7FCEEA81-C282-436E-B752-8B64D0546C1D}" type="presParOf" srcId="{341E9E70-37C9-4669-B03E-2F1F699A5ECB}" destId="{2E71A463-855E-42F3-B26F-909D5C339A8A}" srcOrd="2" destOrd="0" presId="urn:microsoft.com/office/officeart/2018/2/layout/IconLabelList"/>
    <dgm:cxn modelId="{37E72B9A-2E19-49A2-BCD4-B053F881EEB3}" type="presParOf" srcId="{2E71A463-855E-42F3-B26F-909D5C339A8A}" destId="{0F224439-D53A-4E2E-BBD8-427AD0FFEA60}" srcOrd="0" destOrd="0" presId="urn:microsoft.com/office/officeart/2018/2/layout/IconLabelList"/>
    <dgm:cxn modelId="{E3EB4581-72B8-46C3-A18E-6ED659C963FE}" type="presParOf" srcId="{2E71A463-855E-42F3-B26F-909D5C339A8A}" destId="{405EB674-DC9B-401C-A749-4459EF081019}" srcOrd="1" destOrd="0" presId="urn:microsoft.com/office/officeart/2018/2/layout/IconLabelList"/>
    <dgm:cxn modelId="{7EBD6D7B-A00C-49B0-A161-FE571F41342E}" type="presParOf" srcId="{2E71A463-855E-42F3-B26F-909D5C339A8A}" destId="{E0AC53CC-2F8F-47DB-8D52-105DB60650A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01E4BB-5C6F-4F80-89EC-79C4C9800E9E}">
      <dsp:nvSpPr>
        <dsp:cNvPr id="0" name=""/>
        <dsp:cNvSpPr/>
      </dsp:nvSpPr>
      <dsp:spPr>
        <a:xfrm>
          <a:off x="1052690" y="841797"/>
          <a:ext cx="1695937" cy="16959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2F6297-9569-42EF-A146-4F6265254625}">
      <dsp:nvSpPr>
        <dsp:cNvPr id="0" name=""/>
        <dsp:cNvSpPr/>
      </dsp:nvSpPr>
      <dsp:spPr>
        <a:xfrm>
          <a:off x="16284" y="2964165"/>
          <a:ext cx="37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Using innovation to create social value</a:t>
          </a:r>
        </a:p>
      </dsp:txBody>
      <dsp:txXfrm>
        <a:off x="16284" y="2964165"/>
        <a:ext cx="3768750" cy="720000"/>
      </dsp:txXfrm>
    </dsp:sp>
    <dsp:sp modelId="{0F224439-D53A-4E2E-BBD8-427AD0FFEA60}">
      <dsp:nvSpPr>
        <dsp:cNvPr id="0" name=""/>
        <dsp:cNvSpPr/>
      </dsp:nvSpPr>
      <dsp:spPr>
        <a:xfrm>
          <a:off x="5480971" y="841797"/>
          <a:ext cx="1695937" cy="16959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AC53CC-2F8F-47DB-8D52-105DB60650A7}">
      <dsp:nvSpPr>
        <dsp:cNvPr id="0" name=""/>
        <dsp:cNvSpPr/>
      </dsp:nvSpPr>
      <dsp:spPr>
        <a:xfrm>
          <a:off x="4444565" y="2964165"/>
          <a:ext cx="37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Innovation for the greater good</a:t>
          </a:r>
        </a:p>
      </dsp:txBody>
      <dsp:txXfrm>
        <a:off x="4444565" y="2964165"/>
        <a:ext cx="37687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767490-4B0F-F140-A2D7-449C7FBCD179}" type="datetimeFigureOut">
              <a:rPr lang="en-US" smtClean="0"/>
              <a:t>11/3/24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0F8305-DF10-124D-8BE7-478B24A9B15D}" type="slidenum">
              <a:rPr lang="en-US" smtClean="0"/>
              <a:t>‹#›</a:t>
            </a:fld>
            <a:endParaRPr lang="en-US"/>
          </a:p>
        </p:txBody>
      </p:sp>
    </p:spTree>
    <p:extLst>
      <p:ext uri="{BB962C8B-B14F-4D97-AF65-F5344CB8AC3E}">
        <p14:creationId xmlns:p14="http://schemas.microsoft.com/office/powerpoint/2010/main" val="1531226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34</a:t>
            </a:fld>
            <a:endParaRPr lang="en-GB"/>
          </a:p>
        </p:txBody>
      </p:sp>
    </p:spTree>
    <p:extLst>
      <p:ext uri="{BB962C8B-B14F-4D97-AF65-F5344CB8AC3E}">
        <p14:creationId xmlns:p14="http://schemas.microsoft.com/office/powerpoint/2010/main" val="325494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07B81C5-4DCB-450E-91C4-E5F3294D64BB}"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0D7D18A0-CE78-4532-9B09-8C91D0E34C0E}"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07B81C5-4DCB-450E-91C4-E5F3294D64BB}"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0D7D18A0-CE78-4532-9B09-8C91D0E34C0E}"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B81C5-4DCB-450E-91C4-E5F3294D64BB}"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0D7D18A0-CE78-4532-9B09-8C91D0E34C0E}"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07B81C5-4DCB-450E-91C4-E5F3294D64BB}"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0D7D18A0-CE78-4532-9B09-8C91D0E34C0E}"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907B81C5-4DCB-450E-91C4-E5F3294D64BB}" type="datetimeFigureOut">
              <a:rPr lang="en-GB" smtClean="0"/>
              <a:pPr/>
              <a:t>03/11/2024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0D7D18A0-CE78-4532-9B09-8C91D0E34C0E}"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907B81C5-4DCB-450E-91C4-E5F3294D64BB}" type="datetimeFigureOut">
              <a:rPr lang="en-GB" smtClean="0"/>
              <a:pPr/>
              <a:t>03/11/2024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0D7D18A0-CE78-4532-9B09-8C91D0E34C0E}"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7B81C5-4DCB-450E-91C4-E5F3294D64BB}" type="datetimeFigureOut">
              <a:rPr lang="en-GB" smtClean="0"/>
              <a:pPr/>
              <a:t>03/11/2024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0D7D18A0-CE78-4532-9B09-8C91D0E34C0E}"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7B81C5-4DCB-450E-91C4-E5F3294D64BB}"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0D7D18A0-CE78-4532-9B09-8C91D0E34C0E}"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7B81C5-4DCB-450E-91C4-E5F3294D64BB}"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0D7D18A0-CE78-4532-9B09-8C91D0E34C0E}"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07B81C5-4DCB-450E-91C4-E5F3294D64BB}"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0D7D18A0-CE78-4532-9B09-8C91D0E34C0E}"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07B81C5-4DCB-450E-91C4-E5F3294D64BB}"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0D7D18A0-CE78-4532-9B09-8C91D0E34C0E}"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7B81C5-4DCB-450E-91C4-E5F3294D64BB}" type="datetimeFigureOut">
              <a:rPr lang="en-GB" smtClean="0"/>
              <a:pPr/>
              <a:t>03/11/2024</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7D18A0-CE78-4532-9B09-8C91D0E34C0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cam.ac.uk/research/news/cambridge-partners-with-industry-leaders-to-fund-research-on-global-sustainability-challenges" TargetMode="Externa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wwf.panda.org/what_we_do/how_we_work/conservation/one_planet_livin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lohas.com/lohas-marketplace" TargetMode="External"/><Relationship Id="rId2" Type="http://schemas.openxmlformats.org/officeDocument/2006/relationships/hyperlink" Target="http://businesstoday.intoday.in/story/the-market-potential-for-ecofriendly-products-and-services-is-over-$40-bn/1/8411.html" TargetMode="External"/><Relationship Id="rId1" Type="http://schemas.openxmlformats.org/officeDocument/2006/relationships/slideLayout" Target="../slideLayouts/slideLayout2.xml"/><Relationship Id="rId4" Type="http://schemas.openxmlformats.org/officeDocument/2006/relationships/hyperlink" Target="http://stoppress.co.nz/blog/2010/08/survey-shows-huge-potential-for-eco-friendly-growth-in-new-zealand"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nbs.net/executive-report-innovating-for-sustainability/"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hyperlink" Target="https://www.youtube.com/watch?v=ShXOIZiZLmM&amp;feature=youtu.be" TargetMode="External"/><Relationship Id="rId3" Type="http://schemas.openxmlformats.org/officeDocument/2006/relationships/hyperlink" Target="https://youtu.be/-My2TcOcBLY" TargetMode="External"/><Relationship Id="rId7" Type="http://schemas.openxmlformats.org/officeDocument/2006/relationships/hyperlink" Target="https://www.youtube.com/watch?v=aDv9pNYhR8s&amp;feature=youtu.be" TargetMode="External"/><Relationship Id="rId2" Type="http://schemas.openxmlformats.org/officeDocument/2006/relationships/hyperlink" Target="https://www.youtube.com/watch?v=Iejt5sML4i0&amp;feature=youtu.be" TargetMode="External"/><Relationship Id="rId1" Type="http://schemas.openxmlformats.org/officeDocument/2006/relationships/slideLayout" Target="../slideLayouts/slideLayout2.xml"/><Relationship Id="rId6" Type="http://schemas.openxmlformats.org/officeDocument/2006/relationships/hyperlink" Target="https://www.youtube.com/watch?v=h9p4RmAHKbI&amp;feature=youtu.be" TargetMode="External"/><Relationship Id="rId5" Type="http://schemas.openxmlformats.org/officeDocument/2006/relationships/hyperlink" Target="https://www.youtube.com/watch?v=5jn3NAjP0IY&amp;feature=youtu.be" TargetMode="External"/><Relationship Id="rId4" Type="http://schemas.openxmlformats.org/officeDocument/2006/relationships/hyperlink" Target="https://www.youtube.com/watch?v=bOV7Aa3v3UQ" TargetMode="External"/></Relationships>
</file>

<file path=ppt/slides/_rels/slide36.xml.rels><?xml version="1.0" encoding="UTF-8" standalone="yes"?>
<Relationships xmlns="http://schemas.openxmlformats.org/package/2006/relationships"><Relationship Id="rId2" Type="http://schemas.openxmlformats.org/officeDocument/2006/relationships/hyperlink" Target="https://www.ted.com/talks/ray_anderson_the_business_logic_of_sustainability?language=en"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johnbessant.org/feed" TargetMode="External"/><Relationship Id="rId2" Type="http://schemas.openxmlformats.org/officeDocument/2006/relationships/hyperlink" Target="https://podcasters.spotify.com/pod/show/john-bessant"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www.nesta.org.uk/"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johnbessant.org/_files/ugd/f6594a_052e406b74d643678f6afa6adcc4f74d.pdf" TargetMode="External"/><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sciencedirect.com/science/article/pii/S0048733313000930"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14: Capturing social value</a:t>
            </a:r>
          </a:p>
        </p:txBody>
      </p:sp>
      <p:pic>
        <p:nvPicPr>
          <p:cNvPr id="2" name="Picture 1">
            <a:extLst>
              <a:ext uri="{FF2B5EF4-FFF2-40B4-BE49-F238E27FC236}">
                <a16:creationId xmlns:a16="http://schemas.microsoft.com/office/drawing/2014/main" id="{629DB5BF-7A52-056E-B177-8398D0EBBF57}"/>
              </a:ext>
            </a:extLst>
          </p:cNvPr>
          <p:cNvPicPr>
            <a:picLocks noChangeAspect="1"/>
          </p:cNvPicPr>
          <p:nvPr/>
        </p:nvPicPr>
        <p:blipFill>
          <a:blip r:embed="rId2">
            <a:extLst>
              <a:ext uri="{28A0092B-C50C-407E-A947-70E740481C1C}">
                <a14:useLocalDpi xmlns:a14="http://schemas.microsoft.com/office/drawing/2010/main" val="0"/>
              </a:ext>
            </a:extLst>
          </a:blip>
          <a:srcRect l="92" r="24633"/>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4DBD17-4D91-4D4B-BEEE-7F074A5FF98D}"/>
              </a:ext>
            </a:extLst>
          </p:cNvPr>
          <p:cNvSpPr>
            <a:spLocks noGrp="1"/>
          </p:cNvSpPr>
          <p:nvPr>
            <p:ph type="title"/>
          </p:nvPr>
        </p:nvSpPr>
        <p:spPr>
          <a:xfrm>
            <a:off x="179512" y="1153572"/>
            <a:ext cx="2735913" cy="4461163"/>
          </a:xfrm>
        </p:spPr>
        <p:txBody>
          <a:bodyPr>
            <a:normAutofit/>
          </a:bodyPr>
          <a:lstStyle/>
          <a:p>
            <a:r>
              <a:rPr lang="en-US" sz="4100" dirty="0">
                <a:solidFill>
                  <a:srgbClr val="FFFFFF"/>
                </a:solidFill>
              </a:rPr>
              <a:t>Chapter 14: Capturing social value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CE61830-6EC9-3444-90C4-681EEAB0BD67}"/>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i="1" dirty="0"/>
              <a:t>In the following PowerPoint slides you will find the key headings from </a:t>
            </a:r>
            <a:r>
              <a:rPr lang="en-US" sz="2500" b="1" dirty="0"/>
              <a:t>CHAPTER </a:t>
            </a:r>
            <a:r>
              <a:rPr lang="en-GB" sz="2500" b="1" dirty="0"/>
              <a:t>14</a:t>
            </a:r>
            <a:r>
              <a:rPr lang="en-US" sz="2500" i="1" dirty="0"/>
              <a:t> together with the main illustrations, tables, etc.  </a:t>
            </a:r>
          </a:p>
          <a:p>
            <a:pPr>
              <a:lnSpc>
                <a:spcPct val="90000"/>
              </a:lnSpc>
            </a:pPr>
            <a:endParaRPr lang="en-US" sz="2500" i="1" dirty="0"/>
          </a:p>
          <a:p>
            <a:pPr>
              <a:lnSpc>
                <a:spcPct val="90000"/>
              </a:lnSpc>
            </a:pPr>
            <a:r>
              <a:rPr lang="en-US" sz="2500" i="1" dirty="0"/>
              <a:t>There are also slides summarizing the key messages in bullet-point fashion, and a wide range of activities which you can use to help students explore around these themes.  </a:t>
            </a:r>
          </a:p>
          <a:p>
            <a:pPr>
              <a:lnSpc>
                <a:spcPct val="90000"/>
              </a:lnSpc>
            </a:pPr>
            <a:endParaRPr lang="en-US" sz="2500" i="1" dirty="0"/>
          </a:p>
          <a:p>
            <a:pPr>
              <a:lnSpc>
                <a:spcPct val="90000"/>
              </a:lnSpc>
            </a:pPr>
            <a:r>
              <a:rPr lang="en-US" sz="2500" i="1" dirty="0"/>
              <a:t>Finally there are some reflection questions which can be used as the basis for discussion or assignments</a:t>
            </a:r>
            <a:endParaRPr lang="en-US" sz="2500" dirty="0"/>
          </a:p>
        </p:txBody>
      </p:sp>
    </p:spTree>
    <p:extLst>
      <p:ext uri="{BB962C8B-B14F-4D97-AF65-F5344CB8AC3E}">
        <p14:creationId xmlns:p14="http://schemas.microsoft.com/office/powerpoint/2010/main" val="3588755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0227A3-8BC0-7D4C-888B-4F8B005E5CB7}"/>
              </a:ext>
            </a:extLst>
          </p:cNvPr>
          <p:cNvSpPr>
            <a:spLocks noGrp="1"/>
          </p:cNvSpPr>
          <p:nvPr>
            <p:ph type="title"/>
          </p:nvPr>
        </p:nvSpPr>
        <p:spPr>
          <a:xfrm>
            <a:off x="515125" y="1153572"/>
            <a:ext cx="2400300" cy="4461163"/>
          </a:xfrm>
        </p:spPr>
        <p:txBody>
          <a:bodyPr>
            <a:normAutofit/>
          </a:bodyPr>
          <a:lstStyle/>
          <a:p>
            <a:r>
              <a:rPr lang="en-US" sz="4100">
                <a:solidFill>
                  <a:srgbClr val="FFFFFF"/>
                </a:solidFill>
              </a:rPr>
              <a:t>Learning objectives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78222AD-027E-1443-988A-FD9536D5ED35}"/>
              </a:ext>
            </a:extLst>
          </p:cNvPr>
          <p:cNvSpPr>
            <a:spLocks noGrp="1"/>
          </p:cNvSpPr>
          <p:nvPr>
            <p:ph idx="1"/>
          </p:nvPr>
        </p:nvSpPr>
        <p:spPr>
          <a:xfrm>
            <a:off x="3335481" y="591344"/>
            <a:ext cx="5179868" cy="5585619"/>
          </a:xfrm>
        </p:spPr>
        <p:txBody>
          <a:bodyPr anchor="ctr">
            <a:normAutofit fontScale="70000" lnSpcReduction="20000"/>
          </a:bodyPr>
          <a:lstStyle/>
          <a:p>
            <a:pPr marL="0" indent="0">
              <a:buNone/>
            </a:pPr>
            <a:r>
              <a:rPr lang="en-GB" dirty="0"/>
              <a:t>By the end of this chapter you will develop</a:t>
            </a:r>
          </a:p>
          <a:p>
            <a:pPr marL="0" indent="0">
              <a:buNone/>
            </a:pPr>
            <a:r>
              <a:rPr lang="en-GB" dirty="0"/>
              <a:t>an understanding of:</a:t>
            </a:r>
          </a:p>
          <a:p>
            <a:r>
              <a:rPr lang="en-GB" dirty="0"/>
              <a:t>Social entrepreneurship and social innovation.</a:t>
            </a:r>
          </a:p>
          <a:p>
            <a:r>
              <a:rPr lang="en-GB" dirty="0"/>
              <a:t>Social innovation as an organized and disciplined process rather than well-meaning but unfocused intervention.</a:t>
            </a:r>
          </a:p>
          <a:p>
            <a:r>
              <a:rPr lang="en-GB" dirty="0"/>
              <a:t>The difficulties in managing what is just as much an uncertain and risky process as ‘conventional’ economically motivated innovation.</a:t>
            </a:r>
          </a:p>
          <a:p>
            <a:r>
              <a:rPr lang="en-GB" dirty="0"/>
              <a:t>The different ways in which innovation can contribute to improved sustainability and the management challenges involved.</a:t>
            </a:r>
          </a:p>
          <a:p>
            <a:r>
              <a:rPr lang="en-GB" dirty="0"/>
              <a:t>The concept of ‘responsible innovation’.</a:t>
            </a:r>
          </a:p>
          <a:p>
            <a:pPr>
              <a:lnSpc>
                <a:spcPct val="90000"/>
              </a:lnSpc>
            </a:pPr>
            <a:endParaRPr lang="en-US" sz="2700" dirty="0"/>
          </a:p>
        </p:txBody>
      </p:sp>
    </p:spTree>
    <p:extLst>
      <p:ext uri="{BB962C8B-B14F-4D97-AF65-F5344CB8AC3E}">
        <p14:creationId xmlns:p14="http://schemas.microsoft.com/office/powerpoint/2010/main" val="78826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dirty="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3410674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260648"/>
            <a:ext cx="733665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Social innovation</a:t>
            </a:r>
            <a:endParaRPr lang="en-GB" sz="3600" b="1" dirty="0">
              <a:solidFill>
                <a:srgbClr val="008000"/>
              </a:solidFill>
              <a:latin typeface="+mj-lt"/>
              <a:ea typeface="+mj-ea"/>
              <a:cs typeface="+mj-cs"/>
            </a:endParaRPr>
          </a:p>
        </p:txBody>
      </p:sp>
      <p:graphicFrame>
        <p:nvGraphicFramePr>
          <p:cNvPr id="9" name="Content Placeholder 3">
            <a:extLst>
              <a:ext uri="{FF2B5EF4-FFF2-40B4-BE49-F238E27FC236}">
                <a16:creationId xmlns:a16="http://schemas.microsoft.com/office/drawing/2014/main" id="{F19E03C5-282E-4E7A-AB50-4C74E6F66B50}"/>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4188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Why social innovation?</a:t>
            </a:r>
            <a:endParaRPr lang="en-GB" sz="3600" b="1" dirty="0">
              <a:solidFill>
                <a:srgbClr val="008000"/>
              </a:solidFill>
              <a:latin typeface="+mj-lt"/>
              <a:ea typeface="+mj-ea"/>
              <a:cs typeface="+mj-cs"/>
            </a:endParaRPr>
          </a:p>
        </p:txBody>
      </p:sp>
      <p:sp>
        <p:nvSpPr>
          <p:cNvPr id="9" name="Rectangle 8"/>
          <p:cNvSpPr/>
          <p:nvPr/>
        </p:nvSpPr>
        <p:spPr>
          <a:xfrm>
            <a:off x="458167" y="1486293"/>
            <a:ext cx="8478016" cy="3970318"/>
          </a:xfrm>
          <a:prstGeom prst="rect">
            <a:avLst/>
          </a:prstGeom>
        </p:spPr>
        <p:txBody>
          <a:bodyPr wrap="square">
            <a:spAutoFit/>
          </a:bodyPr>
          <a:lstStyle/>
          <a:p>
            <a:r>
              <a:rPr lang="en-US" sz="2800" dirty="0"/>
              <a:t> </a:t>
            </a:r>
            <a:endParaRPr lang="en-GB" sz="2800" dirty="0"/>
          </a:p>
          <a:p>
            <a:r>
              <a:rPr lang="en-US" sz="2800" dirty="0"/>
              <a:t>‘Social entrepreneurs are not content just to give a fish or teach how to fish. They will not rest until they have revolutionized the fishing industry’.</a:t>
            </a:r>
          </a:p>
          <a:p>
            <a:endParaRPr lang="en-GB" sz="2800" dirty="0"/>
          </a:p>
          <a:p>
            <a:r>
              <a:rPr lang="en-US" sz="2800" i="1" dirty="0"/>
              <a:t>— Bill Drayton, CEO, chair and founder of Ashoka, a global non-profit organization devoted to developing the profession of social entrepreneurship</a:t>
            </a:r>
            <a:endParaRPr lang="en-GB" sz="2800" dirty="0"/>
          </a:p>
          <a:p>
            <a:pPr lvl="0"/>
            <a:endParaRPr lang="en-GB" sz="2800" b="1" dirty="0"/>
          </a:p>
        </p:txBody>
      </p:sp>
    </p:spTree>
    <p:extLst>
      <p:ext uri="{BB962C8B-B14F-4D97-AF65-F5344CB8AC3E}">
        <p14:creationId xmlns:p14="http://schemas.microsoft.com/office/powerpoint/2010/main" val="3226421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951F73-BB5D-CF49-9C21-3BCB433BD6AD}"/>
              </a:ext>
            </a:extLst>
          </p:cNvPr>
          <p:cNvSpPr>
            <a:spLocks noGrp="1"/>
          </p:cNvSpPr>
          <p:nvPr>
            <p:ph type="title"/>
          </p:nvPr>
        </p:nvSpPr>
        <p:spPr>
          <a:xfrm>
            <a:off x="515125" y="1153572"/>
            <a:ext cx="2400300" cy="4461163"/>
          </a:xfrm>
        </p:spPr>
        <p:txBody>
          <a:bodyPr>
            <a:normAutofit/>
          </a:bodyPr>
          <a:lstStyle/>
          <a:p>
            <a:r>
              <a:rPr lang="en-US" sz="2800">
                <a:solidFill>
                  <a:srgbClr val="FFFFFF"/>
                </a:solidFill>
              </a:rPr>
              <a:t>Characteristics of social innovations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CE8374F-149D-AC42-90A2-05EC0E6E08DA}"/>
              </a:ext>
            </a:extLst>
          </p:cNvPr>
          <p:cNvSpPr>
            <a:spLocks noGrp="1"/>
          </p:cNvSpPr>
          <p:nvPr>
            <p:ph idx="1"/>
          </p:nvPr>
        </p:nvSpPr>
        <p:spPr>
          <a:xfrm>
            <a:off x="3335481" y="591344"/>
            <a:ext cx="5179868" cy="5585619"/>
          </a:xfrm>
        </p:spPr>
        <p:txBody>
          <a:bodyPr anchor="ctr">
            <a:normAutofit/>
          </a:bodyPr>
          <a:lstStyle/>
          <a:p>
            <a:pPr marL="457200" indent="-457200">
              <a:lnSpc>
                <a:spcPct val="90000"/>
              </a:lnSpc>
              <a:buFont typeface="Arial"/>
              <a:buChar char="•"/>
            </a:pPr>
            <a:r>
              <a:rPr lang="en-US" dirty="0"/>
              <a:t>Social innovations are usually new combinations or hybrids of existing elements, rather than being wholly new in themselves.</a:t>
            </a:r>
            <a:endParaRPr lang="en-US"/>
          </a:p>
          <a:p>
            <a:pPr marL="457200" indent="-457200">
              <a:lnSpc>
                <a:spcPct val="90000"/>
              </a:lnSpc>
              <a:buFont typeface="Arial"/>
              <a:buChar char="•"/>
            </a:pPr>
            <a:endParaRPr lang="en-GB"/>
          </a:p>
          <a:p>
            <a:pPr marL="457200" indent="-457200">
              <a:lnSpc>
                <a:spcPct val="90000"/>
              </a:lnSpc>
              <a:buFont typeface="Arial"/>
              <a:buChar char="•"/>
            </a:pPr>
            <a:r>
              <a:rPr lang="en-US" dirty="0"/>
              <a:t>Implementing them involves cutting across organizational, sectoral or disciplinary boundaries. </a:t>
            </a:r>
            <a:endParaRPr lang="en-GB"/>
          </a:p>
          <a:p>
            <a:pPr>
              <a:lnSpc>
                <a:spcPct val="90000"/>
              </a:lnSpc>
            </a:pPr>
            <a:endParaRPr lang="en-US"/>
          </a:p>
        </p:txBody>
      </p:sp>
    </p:spTree>
    <p:extLst>
      <p:ext uri="{BB962C8B-B14F-4D97-AF65-F5344CB8AC3E}">
        <p14:creationId xmlns:p14="http://schemas.microsoft.com/office/powerpoint/2010/main" val="2113483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C95571-743E-8648-8B8E-46B259489BC6}"/>
              </a:ext>
            </a:extLst>
          </p:cNvPr>
          <p:cNvSpPr>
            <a:spLocks noGrp="1"/>
          </p:cNvSpPr>
          <p:nvPr>
            <p:ph type="title"/>
          </p:nvPr>
        </p:nvSpPr>
        <p:spPr>
          <a:xfrm>
            <a:off x="515125" y="1153572"/>
            <a:ext cx="2400300" cy="4461163"/>
          </a:xfrm>
        </p:spPr>
        <p:txBody>
          <a:bodyPr>
            <a:normAutofit/>
          </a:bodyPr>
          <a:lstStyle/>
          <a:p>
            <a:r>
              <a:rPr lang="en-US" sz="2800">
                <a:solidFill>
                  <a:srgbClr val="FFFFFF"/>
                </a:solidFill>
              </a:rPr>
              <a:t>Characteristics of social innovations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9361F4B-9BD4-C446-AD44-03622D1C89BE}"/>
              </a:ext>
            </a:extLst>
          </p:cNvPr>
          <p:cNvSpPr>
            <a:spLocks noGrp="1"/>
          </p:cNvSpPr>
          <p:nvPr>
            <p:ph idx="1"/>
          </p:nvPr>
        </p:nvSpPr>
        <p:spPr>
          <a:xfrm>
            <a:off x="3335481" y="591344"/>
            <a:ext cx="5179868" cy="5585619"/>
          </a:xfrm>
        </p:spPr>
        <p:txBody>
          <a:bodyPr anchor="ctr">
            <a:normAutofit/>
          </a:bodyPr>
          <a:lstStyle/>
          <a:p>
            <a:pPr marL="457200" indent="-457200">
              <a:lnSpc>
                <a:spcPct val="90000"/>
              </a:lnSpc>
            </a:pPr>
            <a:r>
              <a:rPr lang="en-US" sz="2700"/>
              <a:t>They create new social relationships between previously separate individuals and groups, contributing to the diffusion and embedding of the innovation, and increasing potential for further innovations.</a:t>
            </a:r>
            <a:endParaRPr lang="en-GB" sz="2700"/>
          </a:p>
          <a:p>
            <a:pPr marL="457200" indent="-457200">
              <a:lnSpc>
                <a:spcPct val="90000"/>
              </a:lnSpc>
            </a:pPr>
            <a:r>
              <a:rPr lang="en-US" sz="2700"/>
              <a:t>Social innovation is also seen as building on the inherent capacities of individuals and communities, which makes the notion of open innovation especially relevant.</a:t>
            </a:r>
            <a:endParaRPr lang="en-GB" sz="2700"/>
          </a:p>
          <a:p>
            <a:pPr>
              <a:lnSpc>
                <a:spcPct val="90000"/>
              </a:lnSpc>
            </a:pPr>
            <a:endParaRPr lang="en-US" sz="2700"/>
          </a:p>
        </p:txBody>
      </p:sp>
    </p:spTree>
    <p:extLst>
      <p:ext uri="{BB962C8B-B14F-4D97-AF65-F5344CB8AC3E}">
        <p14:creationId xmlns:p14="http://schemas.microsoft.com/office/powerpoint/2010/main" val="3376617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2E6A66-C5A0-4E46-AFB7-0918D3D08CFD}"/>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Social innovators….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27F5FBF-ED12-BE4D-92C6-B3F4A8EC91DB}"/>
              </a:ext>
            </a:extLst>
          </p:cNvPr>
          <p:cNvSpPr>
            <a:spLocks noGrp="1"/>
          </p:cNvSpPr>
          <p:nvPr>
            <p:ph idx="1"/>
          </p:nvPr>
        </p:nvSpPr>
        <p:spPr>
          <a:xfrm>
            <a:off x="3335481" y="591344"/>
            <a:ext cx="5179868" cy="5585619"/>
          </a:xfrm>
        </p:spPr>
        <p:txBody>
          <a:bodyPr anchor="ctr">
            <a:normAutofit/>
          </a:bodyPr>
          <a:lstStyle/>
          <a:p>
            <a:pPr>
              <a:lnSpc>
                <a:spcPct val="90000"/>
              </a:lnSpc>
            </a:pPr>
            <a:r>
              <a:rPr lang="en-GB" sz="2500" dirty="0"/>
              <a:t>Motives and aims – less concerned with independence and wealth, and more concerned with social means and ends</a:t>
            </a:r>
          </a:p>
          <a:p>
            <a:pPr>
              <a:lnSpc>
                <a:spcPct val="90000"/>
              </a:lnSpc>
            </a:pPr>
            <a:r>
              <a:rPr lang="en-GB" sz="2500" dirty="0"/>
              <a:t>Timeframe – less emphasis on short-term growth and longer-term harvesting of the venture, and more concern on long-term change and enduring heritage</a:t>
            </a:r>
          </a:p>
          <a:p>
            <a:pPr>
              <a:lnSpc>
                <a:spcPct val="90000"/>
              </a:lnSpc>
            </a:pPr>
            <a:r>
              <a:rPr lang="en-GB" sz="2500" dirty="0"/>
              <a:t>Resources – less reliance on the firm and management team to execute the venture, and greater reliance on a network of stakeholders and resources to develop and deliver change</a:t>
            </a:r>
          </a:p>
          <a:p>
            <a:pPr>
              <a:lnSpc>
                <a:spcPct val="90000"/>
              </a:lnSpc>
            </a:pPr>
            <a:endParaRPr lang="en-US" sz="2500" dirty="0"/>
          </a:p>
        </p:txBody>
      </p:sp>
    </p:spTree>
    <p:extLst>
      <p:ext uri="{BB962C8B-B14F-4D97-AF65-F5344CB8AC3E}">
        <p14:creationId xmlns:p14="http://schemas.microsoft.com/office/powerpoint/2010/main" val="2837353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40D7A-C934-4549-8896-81B521EA4E28}"/>
              </a:ext>
            </a:extLst>
          </p:cNvPr>
          <p:cNvSpPr>
            <a:spLocks noGrp="1"/>
          </p:cNvSpPr>
          <p:nvPr>
            <p:ph type="title"/>
          </p:nvPr>
        </p:nvSpPr>
        <p:spPr/>
        <p:txBody>
          <a:bodyPr/>
          <a:lstStyle/>
          <a:p>
            <a:r>
              <a:rPr lang="en-US" dirty="0"/>
              <a:t>Challenges in social innovation</a:t>
            </a:r>
          </a:p>
        </p:txBody>
      </p:sp>
      <p:graphicFrame>
        <p:nvGraphicFramePr>
          <p:cNvPr id="4" name="Table 4">
            <a:extLst>
              <a:ext uri="{FF2B5EF4-FFF2-40B4-BE49-F238E27FC236}">
                <a16:creationId xmlns:a16="http://schemas.microsoft.com/office/drawing/2014/main" id="{90A2E6FC-2F72-0B4A-A87D-97CF1976ACE4}"/>
              </a:ext>
            </a:extLst>
          </p:cNvPr>
          <p:cNvGraphicFramePr>
            <a:graphicFrameLocks noGrp="1"/>
          </p:cNvGraphicFramePr>
          <p:nvPr>
            <p:ph idx="1"/>
            <p:extLst>
              <p:ext uri="{D42A27DB-BD31-4B8C-83A1-F6EECF244321}">
                <p14:modId xmlns:p14="http://schemas.microsoft.com/office/powerpoint/2010/main" val="4215675236"/>
              </p:ext>
            </p:extLst>
          </p:nvPr>
        </p:nvGraphicFramePr>
        <p:xfrm>
          <a:off x="457200" y="1600200"/>
          <a:ext cx="8229600" cy="4861560"/>
        </p:xfrm>
        <a:graphic>
          <a:graphicData uri="http://schemas.openxmlformats.org/drawingml/2006/table">
            <a:tbl>
              <a:tblPr firstRow="1" bandRow="1">
                <a:tableStyleId>{5C22544A-7EE6-4342-B048-85BDC9FD1C3A}</a:tableStyleId>
              </a:tblPr>
              <a:tblGrid>
                <a:gridCol w="1738536">
                  <a:extLst>
                    <a:ext uri="{9D8B030D-6E8A-4147-A177-3AD203B41FA5}">
                      <a16:colId xmlns:a16="http://schemas.microsoft.com/office/drawing/2014/main" val="2218105890"/>
                    </a:ext>
                  </a:extLst>
                </a:gridCol>
                <a:gridCol w="6491064">
                  <a:extLst>
                    <a:ext uri="{9D8B030D-6E8A-4147-A177-3AD203B41FA5}">
                      <a16:colId xmlns:a16="http://schemas.microsoft.com/office/drawing/2014/main" val="1270571725"/>
                    </a:ext>
                  </a:extLst>
                </a:gridCol>
              </a:tblGrid>
              <a:tr h="370840">
                <a:tc>
                  <a:txBody>
                    <a:bodyPr/>
                    <a:lstStyle/>
                    <a:p>
                      <a:r>
                        <a:rPr lang="en-US" dirty="0"/>
                        <a:t>Challenge area</a:t>
                      </a:r>
                    </a:p>
                  </a:txBody>
                  <a:tcPr/>
                </a:tc>
                <a:tc>
                  <a:txBody>
                    <a:bodyPr/>
                    <a:lstStyle/>
                    <a:p>
                      <a:endParaRPr lang="en-US" dirty="0"/>
                    </a:p>
                  </a:txBody>
                  <a:tcPr/>
                </a:tc>
                <a:extLst>
                  <a:ext uri="{0D108BD9-81ED-4DB2-BD59-A6C34878D82A}">
                    <a16:rowId xmlns:a16="http://schemas.microsoft.com/office/drawing/2014/main" val="2542092501"/>
                  </a:ext>
                </a:extLst>
              </a:tr>
              <a:tr h="370840">
                <a:tc>
                  <a:txBody>
                    <a:bodyPr/>
                    <a:lstStyle/>
                    <a:p>
                      <a:r>
                        <a:rPr lang="en-US" dirty="0"/>
                        <a:t>Search</a:t>
                      </a:r>
                    </a:p>
                  </a:txBody>
                  <a:tcPr/>
                </a:tc>
                <a:tc>
                  <a:txBody>
                    <a:bodyPr/>
                    <a:lstStyle/>
                    <a:p>
                      <a:r>
                        <a:rPr lang="en-US" dirty="0" err="1"/>
                        <a:t>Recognising</a:t>
                      </a:r>
                      <a:r>
                        <a:rPr lang="en-US" dirty="0"/>
                        <a:t> and connecting opportunity rather than focusing on urgent need areas. Need passion, vision and ability to bridge different worlds</a:t>
                      </a:r>
                    </a:p>
                  </a:txBody>
                  <a:tcPr/>
                </a:tc>
                <a:extLst>
                  <a:ext uri="{0D108BD9-81ED-4DB2-BD59-A6C34878D82A}">
                    <a16:rowId xmlns:a16="http://schemas.microsoft.com/office/drawing/2014/main" val="221961079"/>
                  </a:ext>
                </a:extLst>
              </a:tr>
              <a:tr h="370840">
                <a:tc>
                  <a:txBody>
                    <a:bodyPr/>
                    <a:lstStyle/>
                    <a:p>
                      <a:r>
                        <a:rPr lang="en-US" dirty="0"/>
                        <a:t>Selection</a:t>
                      </a:r>
                    </a:p>
                  </a:txBody>
                  <a:tcPr/>
                </a:tc>
                <a:tc>
                  <a:txBody>
                    <a:bodyPr/>
                    <a:lstStyle/>
                    <a:p>
                      <a:r>
                        <a:rPr lang="en-US" dirty="0"/>
                        <a:t>Need to build networks of support across multiple stakeholders – but may also need to manage conflicts of different aims and interests amongst those stakeholders</a:t>
                      </a:r>
                    </a:p>
                  </a:txBody>
                  <a:tcPr/>
                </a:tc>
                <a:extLst>
                  <a:ext uri="{0D108BD9-81ED-4DB2-BD59-A6C34878D82A}">
                    <a16:rowId xmlns:a16="http://schemas.microsoft.com/office/drawing/2014/main" val="472016879"/>
                  </a:ext>
                </a:extLst>
              </a:tr>
              <a:tr h="370840">
                <a:tc>
                  <a:txBody>
                    <a:bodyPr/>
                    <a:lstStyle/>
                    <a:p>
                      <a:r>
                        <a:rPr lang="en-US" dirty="0"/>
                        <a:t>Implementation</a:t>
                      </a:r>
                    </a:p>
                  </a:txBody>
                  <a:tcPr/>
                </a:tc>
                <a:tc>
                  <a:txBody>
                    <a:bodyPr/>
                    <a:lstStyle/>
                    <a:p>
                      <a:r>
                        <a:rPr lang="en-US" dirty="0"/>
                        <a:t>Need for agility and ingenuity to access resources </a:t>
                      </a:r>
                    </a:p>
                  </a:txBody>
                  <a:tcPr/>
                </a:tc>
                <a:extLst>
                  <a:ext uri="{0D108BD9-81ED-4DB2-BD59-A6C34878D82A}">
                    <a16:rowId xmlns:a16="http://schemas.microsoft.com/office/drawing/2014/main" val="258033264"/>
                  </a:ext>
                </a:extLst>
              </a:tr>
              <a:tr h="370840">
                <a:tc>
                  <a:txBody>
                    <a:bodyPr/>
                    <a:lstStyle/>
                    <a:p>
                      <a:r>
                        <a:rPr lang="en-US" dirty="0"/>
                        <a:t>Capture value</a:t>
                      </a:r>
                    </a:p>
                  </a:txBody>
                  <a:tcPr/>
                </a:tc>
                <a:tc>
                  <a:txBody>
                    <a:bodyPr/>
                    <a:lstStyle/>
                    <a:p>
                      <a:r>
                        <a:rPr lang="en-US" dirty="0"/>
                        <a:t>Challenge of moving beyond pilots – need for complementary assets and partnerships</a:t>
                      </a:r>
                    </a:p>
                  </a:txBody>
                  <a:tcPr/>
                </a:tc>
                <a:extLst>
                  <a:ext uri="{0D108BD9-81ED-4DB2-BD59-A6C34878D82A}">
                    <a16:rowId xmlns:a16="http://schemas.microsoft.com/office/drawing/2014/main" val="2511213359"/>
                  </a:ext>
                </a:extLst>
              </a:tr>
              <a:tr h="370840">
                <a:tc>
                  <a:txBody>
                    <a:bodyPr/>
                    <a:lstStyle/>
                    <a:p>
                      <a:r>
                        <a:rPr lang="en-US" dirty="0"/>
                        <a:t>Strategy</a:t>
                      </a:r>
                    </a:p>
                  </a:txBody>
                  <a:tcPr/>
                </a:tc>
                <a:tc>
                  <a:txBody>
                    <a:bodyPr/>
                    <a:lstStyle/>
                    <a:p>
                      <a:r>
                        <a:rPr lang="en-US" dirty="0"/>
                        <a:t>Need to balance passion with realism in reconciling aims of different stakeholders</a:t>
                      </a:r>
                    </a:p>
                  </a:txBody>
                  <a:tcPr/>
                </a:tc>
                <a:extLst>
                  <a:ext uri="{0D108BD9-81ED-4DB2-BD59-A6C34878D82A}">
                    <a16:rowId xmlns:a16="http://schemas.microsoft.com/office/drawing/2014/main" val="561800214"/>
                  </a:ext>
                </a:extLst>
              </a:tr>
              <a:tr h="370840">
                <a:tc>
                  <a:txBody>
                    <a:bodyPr/>
                    <a:lstStyle/>
                    <a:p>
                      <a:r>
                        <a:rPr lang="en-US" dirty="0"/>
                        <a:t>Organization</a:t>
                      </a:r>
                    </a:p>
                  </a:txBody>
                  <a:tcPr/>
                </a:tc>
                <a:tc>
                  <a:txBody>
                    <a:bodyPr/>
                    <a:lstStyle/>
                    <a:p>
                      <a:r>
                        <a:rPr lang="en-US" dirty="0"/>
                        <a:t>Moving to scale will require extensive external networking and different internal organization, risk of conflicts of values</a:t>
                      </a:r>
                    </a:p>
                  </a:txBody>
                  <a:tcPr/>
                </a:tc>
                <a:extLst>
                  <a:ext uri="{0D108BD9-81ED-4DB2-BD59-A6C34878D82A}">
                    <a16:rowId xmlns:a16="http://schemas.microsoft.com/office/drawing/2014/main" val="3539128116"/>
                  </a:ext>
                </a:extLst>
              </a:tr>
              <a:tr h="370840">
                <a:tc>
                  <a:txBody>
                    <a:bodyPr/>
                    <a:lstStyle/>
                    <a:p>
                      <a:r>
                        <a:rPr lang="en-US" dirty="0"/>
                        <a:t>Context</a:t>
                      </a:r>
                    </a:p>
                  </a:txBody>
                  <a:tcPr/>
                </a:tc>
                <a:tc>
                  <a:txBody>
                    <a:bodyPr/>
                    <a:lstStyle/>
                    <a:p>
                      <a:r>
                        <a:rPr lang="en-US" dirty="0"/>
                        <a:t>‘Lumpy’ and irregular funding, risk aversion amongst donors</a:t>
                      </a:r>
                    </a:p>
                  </a:txBody>
                  <a:tcPr/>
                </a:tc>
                <a:extLst>
                  <a:ext uri="{0D108BD9-81ED-4DB2-BD59-A6C34878D82A}">
                    <a16:rowId xmlns:a16="http://schemas.microsoft.com/office/drawing/2014/main" val="4239875380"/>
                  </a:ext>
                </a:extLst>
              </a:tr>
            </a:tbl>
          </a:graphicData>
        </a:graphic>
      </p:graphicFrame>
    </p:spTree>
    <p:extLst>
      <p:ext uri="{BB962C8B-B14F-4D97-AF65-F5344CB8AC3E}">
        <p14:creationId xmlns:p14="http://schemas.microsoft.com/office/powerpoint/2010/main" val="2715316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Mapping social innovation to core model</a:t>
            </a:r>
            <a:endParaRPr lang="en-GB" sz="3600" b="1" dirty="0">
              <a:solidFill>
                <a:srgbClr val="008000"/>
              </a:solidFill>
              <a:latin typeface="+mj-lt"/>
              <a:ea typeface="+mj-ea"/>
              <a:cs typeface="+mj-cs"/>
            </a:endParaRPr>
          </a:p>
        </p:txBody>
      </p:sp>
      <p:pic>
        <p:nvPicPr>
          <p:cNvPr id="5" name="Picture 4" descr="A picture containing diagram&#10;&#10;Description automatically generated">
            <a:extLst>
              <a:ext uri="{FF2B5EF4-FFF2-40B4-BE49-F238E27FC236}">
                <a16:creationId xmlns:a16="http://schemas.microsoft.com/office/drawing/2014/main" id="{D497A78E-DF09-B64A-8A0D-079BE67A82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17638"/>
            <a:ext cx="9105900" cy="4686300"/>
          </a:xfrm>
          <a:prstGeom prst="rect">
            <a:avLst/>
          </a:prstGeom>
        </p:spPr>
      </p:pic>
    </p:spTree>
    <p:extLst>
      <p:ext uri="{BB962C8B-B14F-4D97-AF65-F5344CB8AC3E}">
        <p14:creationId xmlns:p14="http://schemas.microsoft.com/office/powerpoint/2010/main" val="2816276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812AD-378B-F647-BC3E-EC861DDE8D61}"/>
              </a:ext>
            </a:extLst>
          </p:cNvPr>
          <p:cNvSpPr>
            <a:spLocks noGrp="1"/>
          </p:cNvSpPr>
          <p:nvPr>
            <p:ph type="title"/>
          </p:nvPr>
        </p:nvSpPr>
        <p:spPr/>
        <p:txBody>
          <a:bodyPr/>
          <a:lstStyle/>
          <a:p>
            <a:r>
              <a:rPr lang="en-US" dirty="0"/>
              <a:t>Social identity matters</a:t>
            </a:r>
          </a:p>
        </p:txBody>
      </p:sp>
      <p:pic>
        <p:nvPicPr>
          <p:cNvPr id="5" name="Picture 4" descr="Text&#10;&#10;Description automatically generated">
            <a:extLst>
              <a:ext uri="{FF2B5EF4-FFF2-40B4-BE49-F238E27FC236}">
                <a16:creationId xmlns:a16="http://schemas.microsoft.com/office/drawing/2014/main" id="{3C43BAB9-DDDE-554A-A6EC-B718A1AE88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350" y="1593850"/>
            <a:ext cx="8115300" cy="3670300"/>
          </a:xfrm>
          <a:prstGeom prst="rect">
            <a:avLst/>
          </a:prstGeom>
        </p:spPr>
      </p:pic>
    </p:spTree>
    <p:extLst>
      <p:ext uri="{BB962C8B-B14F-4D97-AF65-F5344CB8AC3E}">
        <p14:creationId xmlns:p14="http://schemas.microsoft.com/office/powerpoint/2010/main" val="3455666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8D2091-5976-9945-8350-B7942F397A2D}"/>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Corporate social responsibility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7AAC2EA-BBBD-AB4A-A634-7DEB5754F964}"/>
              </a:ext>
            </a:extLst>
          </p:cNvPr>
          <p:cNvSpPr>
            <a:spLocks noGrp="1"/>
          </p:cNvSpPr>
          <p:nvPr>
            <p:ph idx="1"/>
          </p:nvPr>
        </p:nvSpPr>
        <p:spPr>
          <a:xfrm>
            <a:off x="3335481" y="591344"/>
            <a:ext cx="5179868" cy="5585619"/>
          </a:xfrm>
        </p:spPr>
        <p:txBody>
          <a:bodyPr anchor="ctr">
            <a:normAutofit/>
          </a:bodyPr>
          <a:lstStyle/>
          <a:p>
            <a:r>
              <a:rPr lang="en-US" dirty="0"/>
              <a:t>social innovation as securing a ‘licence to operate’</a:t>
            </a:r>
          </a:p>
          <a:p>
            <a:endParaRPr lang="en-GB" dirty="0"/>
          </a:p>
          <a:p>
            <a:r>
              <a:rPr lang="en-US" b="1" dirty="0"/>
              <a:t>• </a:t>
            </a:r>
            <a:r>
              <a:rPr lang="en-US" dirty="0"/>
              <a:t>social innovation as aligning values </a:t>
            </a:r>
          </a:p>
          <a:p>
            <a:endParaRPr lang="en-GB" dirty="0"/>
          </a:p>
          <a:p>
            <a:r>
              <a:rPr lang="en-US" b="1" dirty="0"/>
              <a:t>• </a:t>
            </a:r>
            <a:r>
              <a:rPr lang="en-US" dirty="0"/>
              <a:t>social innovation as a learning laboratory</a:t>
            </a:r>
            <a:r>
              <a:rPr lang="en-GB" dirty="0"/>
              <a:t> </a:t>
            </a:r>
            <a:endParaRPr lang="en-GB" b="1" dirty="0"/>
          </a:p>
          <a:p>
            <a:endParaRPr lang="en-US" dirty="0"/>
          </a:p>
        </p:txBody>
      </p:sp>
    </p:spTree>
    <p:extLst>
      <p:ext uri="{BB962C8B-B14F-4D97-AF65-F5344CB8AC3E}">
        <p14:creationId xmlns:p14="http://schemas.microsoft.com/office/powerpoint/2010/main" val="2654833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3291A-4365-6C4A-9BBF-B1FCB8806E09}"/>
              </a:ext>
            </a:extLst>
          </p:cNvPr>
          <p:cNvSpPr>
            <a:spLocks noGrp="1"/>
          </p:cNvSpPr>
          <p:nvPr>
            <p:ph type="title"/>
          </p:nvPr>
        </p:nvSpPr>
        <p:spPr/>
        <p:txBody>
          <a:bodyPr/>
          <a:lstStyle/>
          <a:p>
            <a:r>
              <a:rPr lang="en-US" dirty="0"/>
              <a:t>Sustainability</a:t>
            </a:r>
          </a:p>
        </p:txBody>
      </p:sp>
      <p:pic>
        <p:nvPicPr>
          <p:cNvPr id="5" name="Content Placeholder 4" descr="Company name&#10;&#10;Description automatically generated">
            <a:extLst>
              <a:ext uri="{FF2B5EF4-FFF2-40B4-BE49-F238E27FC236}">
                <a16:creationId xmlns:a16="http://schemas.microsoft.com/office/drawing/2014/main" id="{3A6E6E73-4766-B341-B59C-995E1EC109F9}"/>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7200" y="1854601"/>
            <a:ext cx="8229600" cy="4017160"/>
          </a:xfrm>
        </p:spPr>
      </p:pic>
    </p:spTree>
    <p:extLst>
      <p:ext uri="{BB962C8B-B14F-4D97-AF65-F5344CB8AC3E}">
        <p14:creationId xmlns:p14="http://schemas.microsoft.com/office/powerpoint/2010/main" val="2884310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E87CA9-FFB8-4B4F-85EC-DA869D783DD6}"/>
              </a:ext>
            </a:extLst>
          </p:cNvPr>
          <p:cNvSpPr>
            <a:spLocks noGrp="1"/>
          </p:cNvSpPr>
          <p:nvPr>
            <p:ph type="title"/>
          </p:nvPr>
        </p:nvSpPr>
        <p:spPr>
          <a:xfrm>
            <a:off x="515125" y="1153572"/>
            <a:ext cx="2400300" cy="4461163"/>
          </a:xfrm>
        </p:spPr>
        <p:txBody>
          <a:bodyPr>
            <a:normAutofit/>
          </a:bodyPr>
          <a:lstStyle/>
          <a:p>
            <a:r>
              <a:rPr lang="en-US">
                <a:solidFill>
                  <a:srgbClr val="FFFFFF"/>
                </a:solidFill>
              </a:rPr>
              <a:t>The threat….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A464EE8-EF49-7F4E-881C-F55BAD3D70B1}"/>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dirty="0"/>
              <a:t>The WWF reports regularly on the challenges to sustainability and their data suggests that we are consuming resources equivalent to more than One Planet….</a:t>
            </a:r>
            <a:endParaRPr lang="en-GB" sz="3000" dirty="0"/>
          </a:p>
          <a:p>
            <a:pPr>
              <a:lnSpc>
                <a:spcPct val="90000"/>
              </a:lnSpc>
            </a:pPr>
            <a:r>
              <a:rPr lang="en-US" sz="3000" dirty="0"/>
              <a:t> </a:t>
            </a:r>
            <a:endParaRPr lang="en-GB" sz="3000" dirty="0"/>
          </a:p>
          <a:p>
            <a:pPr>
              <a:lnSpc>
                <a:spcPct val="90000"/>
              </a:lnSpc>
            </a:pPr>
            <a:r>
              <a:rPr lang="en-US" sz="3000" u="sng" dirty="0">
                <a:hlinkClick r:id="rId2"/>
              </a:rPr>
              <a:t>http://wwf.panda.org/what_we_do/how_we_work/conservation/one_planet_living/</a:t>
            </a:r>
            <a:endParaRPr lang="en-GB" sz="3000" dirty="0"/>
          </a:p>
          <a:p>
            <a:pPr>
              <a:lnSpc>
                <a:spcPct val="90000"/>
              </a:lnSpc>
            </a:pPr>
            <a:r>
              <a:rPr lang="en-US" sz="3000" dirty="0"/>
              <a:t> </a:t>
            </a:r>
            <a:endParaRPr lang="en-GB" sz="3000" dirty="0"/>
          </a:p>
          <a:p>
            <a:pPr>
              <a:lnSpc>
                <a:spcPct val="90000"/>
              </a:lnSpc>
            </a:pPr>
            <a:endParaRPr lang="en-US" sz="3000" dirty="0"/>
          </a:p>
        </p:txBody>
      </p:sp>
    </p:spTree>
    <p:extLst>
      <p:ext uri="{BB962C8B-B14F-4D97-AF65-F5344CB8AC3E}">
        <p14:creationId xmlns:p14="http://schemas.microsoft.com/office/powerpoint/2010/main" val="2300416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BE151D-FB42-ED44-B37D-8C48DAC12780}"/>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 and the opportunity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4446E95-D210-DC4F-AD61-9C12444C14DF}"/>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200" dirty="0"/>
              <a:t>Some data on reports suggesting big market and growth potential</a:t>
            </a:r>
            <a:endParaRPr lang="en-GB" sz="2200" dirty="0"/>
          </a:p>
          <a:p>
            <a:pPr marL="0" indent="0">
              <a:lnSpc>
                <a:spcPct val="90000"/>
              </a:lnSpc>
              <a:buNone/>
            </a:pPr>
            <a:endParaRPr lang="en-GB" sz="2200" dirty="0"/>
          </a:p>
          <a:p>
            <a:pPr>
              <a:lnSpc>
                <a:spcPct val="90000"/>
              </a:lnSpc>
            </a:pPr>
            <a:r>
              <a:rPr lang="en-US" sz="2200" dirty="0"/>
              <a:t>PricewaterhouseCoopers report estimate significant market potential in the provision of green goods and services, as high as 3% of global GDP</a:t>
            </a:r>
            <a:endParaRPr lang="en-GB" sz="2200" dirty="0"/>
          </a:p>
          <a:p>
            <a:pPr>
              <a:lnSpc>
                <a:spcPct val="90000"/>
              </a:lnSpc>
            </a:pPr>
            <a:r>
              <a:rPr lang="en-US" sz="2200" u="sng" dirty="0">
                <a:hlinkClick r:id="rId2"/>
              </a:rPr>
              <a:t>http://businesstoday.intoday.in/story/the-market-potential-for-ecofriendly-products-and-services-is-over-$40-bn/1/8411.html</a:t>
            </a:r>
            <a:endParaRPr lang="en-GB" sz="2200" dirty="0"/>
          </a:p>
          <a:p>
            <a:pPr>
              <a:lnSpc>
                <a:spcPct val="90000"/>
              </a:lnSpc>
            </a:pPr>
            <a:r>
              <a:rPr lang="en-US" sz="2200" u="sng" dirty="0">
                <a:hlinkClick r:id="rId3"/>
              </a:rPr>
              <a:t>http://www.lohas.com/lohas-marketplace</a:t>
            </a:r>
            <a:endParaRPr lang="en-GB" sz="2200" dirty="0"/>
          </a:p>
          <a:p>
            <a:pPr>
              <a:lnSpc>
                <a:spcPct val="90000"/>
              </a:lnSpc>
            </a:pPr>
            <a:r>
              <a:rPr lang="en-US" sz="2200" u="sng" dirty="0">
                <a:hlinkClick r:id="rId4"/>
              </a:rPr>
              <a:t>http://stoppress.co.nz/blog/2010/08/survey-shows-huge-potential-for-eco-friendly-growth-in-new-zealand</a:t>
            </a:r>
            <a:endParaRPr lang="en-GB" sz="2200" dirty="0"/>
          </a:p>
          <a:p>
            <a:pPr>
              <a:lnSpc>
                <a:spcPct val="90000"/>
              </a:lnSpc>
            </a:pPr>
            <a:endParaRPr lang="en-US" sz="2200" dirty="0"/>
          </a:p>
        </p:txBody>
      </p:sp>
    </p:spTree>
    <p:extLst>
      <p:ext uri="{BB962C8B-B14F-4D97-AF65-F5344CB8AC3E}">
        <p14:creationId xmlns:p14="http://schemas.microsoft.com/office/powerpoint/2010/main" val="550989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B3EC-6D6B-5049-A499-C5419E3D8816}"/>
              </a:ext>
            </a:extLst>
          </p:cNvPr>
          <p:cNvSpPr>
            <a:spLocks noGrp="1"/>
          </p:cNvSpPr>
          <p:nvPr>
            <p:ph type="title"/>
          </p:nvPr>
        </p:nvSpPr>
        <p:spPr/>
        <p:txBody>
          <a:bodyPr/>
          <a:lstStyle/>
          <a:p>
            <a:r>
              <a:rPr lang="en-US" dirty="0"/>
              <a:t>Scope for innovation</a:t>
            </a:r>
          </a:p>
        </p:txBody>
      </p:sp>
      <p:pic>
        <p:nvPicPr>
          <p:cNvPr id="5" name="Picture 4" descr="Chart, diagram&#10;&#10;Description automatically generated">
            <a:extLst>
              <a:ext uri="{FF2B5EF4-FFF2-40B4-BE49-F238E27FC236}">
                <a16:creationId xmlns:a16="http://schemas.microsoft.com/office/drawing/2014/main" id="{AA695217-69DF-1440-A8C8-5511E39BB3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1628800"/>
            <a:ext cx="5550227" cy="4653136"/>
          </a:xfrm>
          <a:prstGeom prst="rect">
            <a:avLst/>
          </a:prstGeom>
        </p:spPr>
      </p:pic>
    </p:spTree>
    <p:extLst>
      <p:ext uri="{BB962C8B-B14F-4D97-AF65-F5344CB8AC3E}">
        <p14:creationId xmlns:p14="http://schemas.microsoft.com/office/powerpoint/2010/main" val="3936335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188640"/>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Options in sustainability-led innovation</a:t>
            </a:r>
            <a:endParaRPr lang="en-GB" sz="3600" b="1" dirty="0">
              <a:solidFill>
                <a:srgbClr val="008000"/>
              </a:solidFill>
              <a:latin typeface="+mj-lt"/>
              <a:ea typeface="+mj-ea"/>
              <a:cs typeface="+mj-cs"/>
            </a:endParaRPr>
          </a:p>
        </p:txBody>
      </p:sp>
      <p:pic>
        <p:nvPicPr>
          <p:cNvPr id="3" name="Picture 2" descr="Graphical user interface, text, application&#10;&#10;Description automatically generated">
            <a:extLst>
              <a:ext uri="{FF2B5EF4-FFF2-40B4-BE49-F238E27FC236}">
                <a16:creationId xmlns:a16="http://schemas.microsoft.com/office/drawing/2014/main" id="{22A61571-24F2-BF44-B367-758F3A855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9296"/>
            <a:ext cx="9144000" cy="3499408"/>
          </a:xfrm>
          <a:prstGeom prst="rect">
            <a:avLst/>
          </a:prstGeom>
        </p:spPr>
      </p:pic>
    </p:spTree>
    <p:extLst>
      <p:ext uri="{BB962C8B-B14F-4D97-AF65-F5344CB8AC3E}">
        <p14:creationId xmlns:p14="http://schemas.microsoft.com/office/powerpoint/2010/main" val="2326703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The NBS framework</a:t>
            </a:r>
            <a:endParaRPr lang="en-GB" sz="3600" b="1" dirty="0">
              <a:solidFill>
                <a:srgbClr val="008000"/>
              </a:solidFill>
              <a:latin typeface="+mj-lt"/>
              <a:ea typeface="+mj-ea"/>
              <a:cs typeface="+mj-cs"/>
            </a:endParaRPr>
          </a:p>
        </p:txBody>
      </p:sp>
      <p:sp>
        <p:nvSpPr>
          <p:cNvPr id="9" name="Rectangle 8"/>
          <p:cNvSpPr/>
          <p:nvPr/>
        </p:nvSpPr>
        <p:spPr>
          <a:xfrm>
            <a:off x="458167" y="1486293"/>
            <a:ext cx="8478016" cy="3539430"/>
          </a:xfrm>
          <a:prstGeom prst="rect">
            <a:avLst/>
          </a:prstGeom>
        </p:spPr>
        <p:txBody>
          <a:bodyPr wrap="square">
            <a:spAutoFit/>
          </a:bodyPr>
          <a:lstStyle/>
          <a:p>
            <a:pPr marL="457200" lvl="0" indent="-457200">
              <a:buFont typeface="Arial"/>
              <a:buChar char="•"/>
            </a:pPr>
            <a:r>
              <a:rPr lang="en-GB" sz="2800" dirty="0"/>
              <a:t>The Network for Business Sustainability regularly reports on sustainability-led innovation</a:t>
            </a:r>
          </a:p>
          <a:p>
            <a:pPr marL="457200" indent="-457200">
              <a:buFont typeface="Arial"/>
              <a:buChar char="•"/>
            </a:pPr>
            <a:r>
              <a:rPr lang="en-GB" sz="2800" dirty="0">
                <a:hlinkClick r:id="rId2"/>
              </a:rPr>
              <a:t>This is a link to their website </a:t>
            </a:r>
            <a:r>
              <a:rPr lang="en-GB" sz="2800" dirty="0"/>
              <a:t>and a downloadable report describing a major research study and framework for sustainability-led innovation</a:t>
            </a:r>
          </a:p>
          <a:p>
            <a:pPr marL="457200" lvl="0" indent="-457200">
              <a:buFont typeface="Arial"/>
              <a:buChar char="•"/>
            </a:pPr>
            <a:endParaRPr lang="en-GB" sz="2800" dirty="0"/>
          </a:p>
          <a:p>
            <a:pPr marL="457200" lvl="0" indent="-457200">
              <a:buFont typeface="Arial"/>
              <a:buChar char="•"/>
            </a:pPr>
            <a:endParaRPr lang="en-GB" sz="2800" dirty="0"/>
          </a:p>
          <a:p>
            <a:pPr lvl="0"/>
            <a:endParaRPr lang="en-GB" sz="2800" b="1" dirty="0"/>
          </a:p>
        </p:txBody>
      </p:sp>
    </p:spTree>
    <p:extLst>
      <p:ext uri="{BB962C8B-B14F-4D97-AF65-F5344CB8AC3E}">
        <p14:creationId xmlns:p14="http://schemas.microsoft.com/office/powerpoint/2010/main" val="2326703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Overview of NBS model</a:t>
            </a:r>
            <a:endParaRPr lang="en-GB" sz="3600" b="1" dirty="0">
              <a:solidFill>
                <a:srgbClr val="008000"/>
              </a:solidFill>
              <a:latin typeface="+mj-lt"/>
              <a:ea typeface="+mj-ea"/>
              <a:cs typeface="+mj-cs"/>
            </a:endParaRPr>
          </a:p>
        </p:txBody>
      </p:sp>
      <p:pic>
        <p:nvPicPr>
          <p:cNvPr id="4" name="Picture 3" descr="A picture containing graphical user interface&#10;&#10;Description automatically generated">
            <a:extLst>
              <a:ext uri="{FF2B5EF4-FFF2-40B4-BE49-F238E27FC236}">
                <a16:creationId xmlns:a16="http://schemas.microsoft.com/office/drawing/2014/main" id="{30FD24D6-14CC-B445-9A19-1CEB4B2DC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97447"/>
            <a:ext cx="9144000" cy="3263105"/>
          </a:xfrm>
          <a:prstGeom prst="rect">
            <a:avLst/>
          </a:prstGeom>
        </p:spPr>
      </p:pic>
    </p:spTree>
    <p:extLst>
      <p:ext uri="{BB962C8B-B14F-4D97-AF65-F5344CB8AC3E}">
        <p14:creationId xmlns:p14="http://schemas.microsoft.com/office/powerpoint/2010/main" val="2326703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971600" y="188640"/>
            <a:ext cx="7228774"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Level 1: Operational optimization</a:t>
            </a:r>
            <a:endParaRPr lang="en-GB" sz="3600" b="1" dirty="0">
              <a:solidFill>
                <a:srgbClr val="008000"/>
              </a:solidFill>
              <a:latin typeface="+mj-lt"/>
              <a:ea typeface="+mj-ea"/>
              <a:cs typeface="+mj-cs"/>
            </a:endParaRP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2555776" y="1484784"/>
            <a:ext cx="3600400" cy="5037534"/>
          </a:xfrm>
          <a:prstGeom prst="rect">
            <a:avLst/>
          </a:prstGeom>
        </p:spPr>
      </p:pic>
    </p:spTree>
    <p:extLst>
      <p:ext uri="{BB962C8B-B14F-4D97-AF65-F5344CB8AC3E}">
        <p14:creationId xmlns:p14="http://schemas.microsoft.com/office/powerpoint/2010/main" val="2326703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755576" y="188640"/>
            <a:ext cx="7248620"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Examples of operational optimization</a:t>
            </a:r>
            <a:endParaRPr lang="en-GB" sz="3600" b="1" dirty="0">
              <a:solidFill>
                <a:srgbClr val="008000"/>
              </a:solidFill>
              <a:latin typeface="+mj-lt"/>
              <a:ea typeface="+mj-ea"/>
              <a:cs typeface="+mj-cs"/>
            </a:endParaRPr>
          </a:p>
        </p:txBody>
      </p:sp>
      <p:pic>
        <p:nvPicPr>
          <p:cNvPr id="3" name="Picture 2" descr="Graphical user interface, text&#10;&#10;Description automatically generated">
            <a:extLst>
              <a:ext uri="{FF2B5EF4-FFF2-40B4-BE49-F238E27FC236}">
                <a16:creationId xmlns:a16="http://schemas.microsoft.com/office/drawing/2014/main" id="{9743F5D5-26D8-B74A-9354-2016AD4CC5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03" y="1556792"/>
            <a:ext cx="9144000" cy="4843796"/>
          </a:xfrm>
          <a:prstGeom prst="rect">
            <a:avLst/>
          </a:prstGeom>
        </p:spPr>
      </p:pic>
    </p:spTree>
    <p:extLst>
      <p:ext uri="{BB962C8B-B14F-4D97-AF65-F5344CB8AC3E}">
        <p14:creationId xmlns:p14="http://schemas.microsoft.com/office/powerpoint/2010/main" val="2307791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Level 2: Organizational transformation</a:t>
            </a:r>
            <a:endParaRPr lang="en-GB" sz="3600" b="1" dirty="0">
              <a:solidFill>
                <a:srgbClr val="008000"/>
              </a:solidFill>
              <a:latin typeface="+mj-lt"/>
              <a:ea typeface="+mj-ea"/>
              <a:cs typeface="+mj-cs"/>
            </a:endParaRPr>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1628800"/>
            <a:ext cx="6120680" cy="446449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580797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Examples of organizational transformation</a:t>
            </a:r>
            <a:endParaRPr lang="en-GB" sz="3600" b="1" dirty="0">
              <a:solidFill>
                <a:srgbClr val="008000"/>
              </a:solidFill>
              <a:latin typeface="+mj-lt"/>
              <a:ea typeface="+mj-ea"/>
              <a:cs typeface="+mj-cs"/>
            </a:endParaRPr>
          </a:p>
        </p:txBody>
      </p:sp>
      <p:pic>
        <p:nvPicPr>
          <p:cNvPr id="3" name="Picture 2" descr="Text&#10;&#10;Description automatically generated">
            <a:extLst>
              <a:ext uri="{FF2B5EF4-FFF2-40B4-BE49-F238E27FC236}">
                <a16:creationId xmlns:a16="http://schemas.microsoft.com/office/drawing/2014/main" id="{5A77F010-1AFD-564D-9D95-79E488D265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32" y="1416780"/>
            <a:ext cx="9144000" cy="5441220"/>
          </a:xfrm>
          <a:prstGeom prst="rect">
            <a:avLst/>
          </a:prstGeom>
        </p:spPr>
      </p:pic>
    </p:spTree>
    <p:extLst>
      <p:ext uri="{BB962C8B-B14F-4D97-AF65-F5344CB8AC3E}">
        <p14:creationId xmlns:p14="http://schemas.microsoft.com/office/powerpoint/2010/main" val="3277434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Level 3: Systems change</a:t>
            </a:r>
            <a:endParaRPr lang="en-GB" sz="3600" b="1" dirty="0">
              <a:solidFill>
                <a:srgbClr val="008000"/>
              </a:solidFill>
              <a:latin typeface="+mj-lt"/>
              <a:ea typeface="+mj-ea"/>
              <a:cs typeface="+mj-cs"/>
            </a:endParaRPr>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1556792"/>
            <a:ext cx="7056784" cy="4536504"/>
          </a:xfrm>
          <a:prstGeom prst="rect">
            <a:avLst/>
          </a:prstGeom>
          <a:noFill/>
          <a:ln>
            <a:noFill/>
          </a:ln>
        </p:spPr>
      </p:pic>
    </p:spTree>
    <p:extLst>
      <p:ext uri="{BB962C8B-B14F-4D97-AF65-F5344CB8AC3E}">
        <p14:creationId xmlns:p14="http://schemas.microsoft.com/office/powerpoint/2010/main" val="3277434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Examples of systems change</a:t>
            </a:r>
            <a:endParaRPr lang="en-GB" sz="3600" b="1" dirty="0">
              <a:solidFill>
                <a:srgbClr val="008000"/>
              </a:solidFill>
              <a:latin typeface="+mj-lt"/>
              <a:ea typeface="+mj-ea"/>
              <a:cs typeface="+mj-cs"/>
            </a:endParaRPr>
          </a:p>
        </p:txBody>
      </p:sp>
      <p:pic>
        <p:nvPicPr>
          <p:cNvPr id="3" name="Picture 2" descr="Graphical user interface, text, application&#10;&#10;Description automatically generated">
            <a:extLst>
              <a:ext uri="{FF2B5EF4-FFF2-40B4-BE49-F238E27FC236}">
                <a16:creationId xmlns:a16="http://schemas.microsoft.com/office/drawing/2014/main" id="{5A3F4A59-9FB0-ED48-BAAF-83C0F32FAF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79961"/>
            <a:ext cx="9144000" cy="3898078"/>
          </a:xfrm>
          <a:prstGeom prst="rect">
            <a:avLst/>
          </a:prstGeom>
        </p:spPr>
      </p:pic>
    </p:spTree>
    <p:extLst>
      <p:ext uri="{BB962C8B-B14F-4D97-AF65-F5344CB8AC3E}">
        <p14:creationId xmlns:p14="http://schemas.microsoft.com/office/powerpoint/2010/main" val="2005770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D48DD-B7A6-E444-88A2-B9AEB2615627}"/>
              </a:ext>
            </a:extLst>
          </p:cNvPr>
          <p:cNvSpPr>
            <a:spLocks noGrp="1"/>
          </p:cNvSpPr>
          <p:nvPr>
            <p:ph type="title"/>
          </p:nvPr>
        </p:nvSpPr>
        <p:spPr/>
        <p:txBody>
          <a:bodyPr>
            <a:normAutofit fontScale="90000"/>
          </a:bodyPr>
          <a:lstStyle/>
          <a:p>
            <a:r>
              <a:rPr lang="en-US" dirty="0"/>
              <a:t>A typology of sustainable innovations</a:t>
            </a:r>
          </a:p>
        </p:txBody>
      </p:sp>
      <p:pic>
        <p:nvPicPr>
          <p:cNvPr id="5" name="Picture 4" descr="A picture containing table&#10;&#10;Description automatically generated">
            <a:extLst>
              <a:ext uri="{FF2B5EF4-FFF2-40B4-BE49-F238E27FC236}">
                <a16:creationId xmlns:a16="http://schemas.microsoft.com/office/drawing/2014/main" id="{1C2165F5-D469-9246-8809-6B21033123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1628800"/>
            <a:ext cx="6146800" cy="4229100"/>
          </a:xfrm>
          <a:prstGeom prst="rect">
            <a:avLst/>
          </a:prstGeom>
        </p:spPr>
      </p:pic>
    </p:spTree>
    <p:extLst>
      <p:ext uri="{BB962C8B-B14F-4D97-AF65-F5344CB8AC3E}">
        <p14:creationId xmlns:p14="http://schemas.microsoft.com/office/powerpoint/2010/main" val="3266100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1F6F6-9FF2-9F40-B40F-8BF5F6C690B3}"/>
              </a:ext>
            </a:extLst>
          </p:cNvPr>
          <p:cNvSpPr>
            <a:spLocks noGrp="1"/>
          </p:cNvSpPr>
          <p:nvPr>
            <p:ph type="title"/>
          </p:nvPr>
        </p:nvSpPr>
        <p:spPr/>
        <p:txBody>
          <a:bodyPr>
            <a:normAutofit fontScale="90000"/>
          </a:bodyPr>
          <a:lstStyle/>
          <a:p>
            <a:r>
              <a:rPr lang="en-US" dirty="0"/>
              <a:t>Mapping sustainability to the innovation process</a:t>
            </a:r>
          </a:p>
        </p:txBody>
      </p:sp>
      <p:pic>
        <p:nvPicPr>
          <p:cNvPr id="4" name="Picture 3" descr="A picture containing diagram&#10;&#10;Description automatically generated">
            <a:extLst>
              <a:ext uri="{FF2B5EF4-FFF2-40B4-BE49-F238E27FC236}">
                <a16:creationId xmlns:a16="http://schemas.microsoft.com/office/drawing/2014/main" id="{928AE794-E1EF-7345-B933-90782CA849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17638"/>
            <a:ext cx="9105900" cy="4686300"/>
          </a:xfrm>
          <a:prstGeom prst="rect">
            <a:avLst/>
          </a:prstGeom>
        </p:spPr>
      </p:pic>
    </p:spTree>
    <p:extLst>
      <p:ext uri="{BB962C8B-B14F-4D97-AF65-F5344CB8AC3E}">
        <p14:creationId xmlns:p14="http://schemas.microsoft.com/office/powerpoint/2010/main" val="3055714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4D33C-63C0-1243-90A8-C298B22DE7ED}"/>
              </a:ext>
            </a:extLst>
          </p:cNvPr>
          <p:cNvSpPr>
            <a:spLocks noGrp="1"/>
          </p:cNvSpPr>
          <p:nvPr>
            <p:ph type="title"/>
          </p:nvPr>
        </p:nvSpPr>
        <p:spPr/>
        <p:txBody>
          <a:bodyPr>
            <a:normAutofit fontScale="90000"/>
          </a:bodyPr>
          <a:lstStyle/>
          <a:p>
            <a:r>
              <a:rPr lang="en-US" dirty="0"/>
              <a:t>Challenges in managing sustainability-led innovation</a:t>
            </a:r>
          </a:p>
        </p:txBody>
      </p:sp>
      <p:graphicFrame>
        <p:nvGraphicFramePr>
          <p:cNvPr id="4" name="Table 4">
            <a:extLst>
              <a:ext uri="{FF2B5EF4-FFF2-40B4-BE49-F238E27FC236}">
                <a16:creationId xmlns:a16="http://schemas.microsoft.com/office/drawing/2014/main" id="{649F9014-1CDE-7148-9B21-4A00A4D3A2C8}"/>
              </a:ext>
            </a:extLst>
          </p:cNvPr>
          <p:cNvGraphicFramePr>
            <a:graphicFrameLocks noGrp="1"/>
          </p:cNvGraphicFramePr>
          <p:nvPr>
            <p:ph idx="1"/>
            <p:extLst>
              <p:ext uri="{D42A27DB-BD31-4B8C-83A1-F6EECF244321}">
                <p14:modId xmlns:p14="http://schemas.microsoft.com/office/powerpoint/2010/main" val="1969824073"/>
              </p:ext>
            </p:extLst>
          </p:nvPr>
        </p:nvGraphicFramePr>
        <p:xfrm>
          <a:off x="457200" y="1600200"/>
          <a:ext cx="8229600" cy="4394200"/>
        </p:xfrm>
        <a:graphic>
          <a:graphicData uri="http://schemas.openxmlformats.org/drawingml/2006/table">
            <a:tbl>
              <a:tblPr firstRow="1" bandRow="1">
                <a:tableStyleId>{5C22544A-7EE6-4342-B048-85BDC9FD1C3A}</a:tableStyleId>
              </a:tblPr>
              <a:tblGrid>
                <a:gridCol w="2098576">
                  <a:extLst>
                    <a:ext uri="{9D8B030D-6E8A-4147-A177-3AD203B41FA5}">
                      <a16:colId xmlns:a16="http://schemas.microsoft.com/office/drawing/2014/main" val="291259410"/>
                    </a:ext>
                  </a:extLst>
                </a:gridCol>
                <a:gridCol w="6131024">
                  <a:extLst>
                    <a:ext uri="{9D8B030D-6E8A-4147-A177-3AD203B41FA5}">
                      <a16:colId xmlns:a16="http://schemas.microsoft.com/office/drawing/2014/main" val="2957180485"/>
                    </a:ext>
                  </a:extLst>
                </a:gridCol>
              </a:tblGrid>
              <a:tr h="370840">
                <a:tc>
                  <a:txBody>
                    <a:bodyPr/>
                    <a:lstStyle/>
                    <a:p>
                      <a:r>
                        <a:rPr lang="en-US" dirty="0"/>
                        <a:t>Stage</a:t>
                      </a:r>
                    </a:p>
                  </a:txBody>
                  <a:tcPr/>
                </a:tc>
                <a:tc>
                  <a:txBody>
                    <a:bodyPr/>
                    <a:lstStyle/>
                    <a:p>
                      <a:r>
                        <a:rPr lang="en-US" dirty="0"/>
                        <a:t>Challenge</a:t>
                      </a:r>
                    </a:p>
                  </a:txBody>
                  <a:tcPr/>
                </a:tc>
                <a:extLst>
                  <a:ext uri="{0D108BD9-81ED-4DB2-BD59-A6C34878D82A}">
                    <a16:rowId xmlns:a16="http://schemas.microsoft.com/office/drawing/2014/main" val="4033912091"/>
                  </a:ext>
                </a:extLst>
              </a:tr>
              <a:tr h="370840">
                <a:tc>
                  <a:txBody>
                    <a:bodyPr/>
                    <a:lstStyle/>
                    <a:p>
                      <a:r>
                        <a:rPr lang="en-US" dirty="0"/>
                        <a:t>Search</a:t>
                      </a:r>
                    </a:p>
                  </a:txBody>
                  <a:tcPr/>
                </a:tc>
                <a:tc>
                  <a:txBody>
                    <a:bodyPr/>
                    <a:lstStyle/>
                    <a:p>
                      <a:r>
                        <a:rPr lang="en-US" dirty="0"/>
                        <a:t>Peripheral vision, searching in unfamiliar fields</a:t>
                      </a:r>
                    </a:p>
                    <a:p>
                      <a:r>
                        <a:rPr lang="en-US" dirty="0"/>
                        <a:t>Reframing</a:t>
                      </a:r>
                    </a:p>
                    <a:p>
                      <a:r>
                        <a:rPr lang="en-US" dirty="0"/>
                        <a:t>Finding, forming and performing in novel networks</a:t>
                      </a:r>
                    </a:p>
                  </a:txBody>
                  <a:tcPr/>
                </a:tc>
                <a:extLst>
                  <a:ext uri="{0D108BD9-81ED-4DB2-BD59-A6C34878D82A}">
                    <a16:rowId xmlns:a16="http://schemas.microsoft.com/office/drawing/2014/main" val="918221043"/>
                  </a:ext>
                </a:extLst>
              </a:tr>
              <a:tr h="370840">
                <a:tc>
                  <a:txBody>
                    <a:bodyPr/>
                    <a:lstStyle/>
                    <a:p>
                      <a:r>
                        <a:rPr lang="en-US" dirty="0"/>
                        <a:t>Select</a:t>
                      </a:r>
                    </a:p>
                  </a:txBody>
                  <a:tcPr/>
                </a:tc>
                <a:tc>
                  <a:txBody>
                    <a:bodyPr/>
                    <a:lstStyle/>
                    <a:p>
                      <a:r>
                        <a:rPr lang="en-US" dirty="0"/>
                        <a:t>Resource allocation under high uncertainty</a:t>
                      </a:r>
                    </a:p>
                    <a:p>
                      <a:r>
                        <a:rPr lang="en-US" dirty="0"/>
                        <a:t>Cognitive dissonance</a:t>
                      </a:r>
                    </a:p>
                    <a:p>
                      <a:r>
                        <a:rPr lang="en-US" dirty="0"/>
                        <a:t>Not-invented-here</a:t>
                      </a:r>
                    </a:p>
                  </a:txBody>
                  <a:tcPr/>
                </a:tc>
                <a:extLst>
                  <a:ext uri="{0D108BD9-81ED-4DB2-BD59-A6C34878D82A}">
                    <a16:rowId xmlns:a16="http://schemas.microsoft.com/office/drawing/2014/main" val="3673288781"/>
                  </a:ext>
                </a:extLst>
              </a:tr>
              <a:tr h="370840">
                <a:tc>
                  <a:txBody>
                    <a:bodyPr/>
                    <a:lstStyle/>
                    <a:p>
                      <a:r>
                        <a:rPr lang="en-US" dirty="0"/>
                        <a:t>Implement</a:t>
                      </a:r>
                    </a:p>
                  </a:txBody>
                  <a:tcPr/>
                </a:tc>
                <a:tc>
                  <a:txBody>
                    <a:bodyPr/>
                    <a:lstStyle/>
                    <a:p>
                      <a:r>
                        <a:rPr lang="en-US" dirty="0"/>
                        <a:t>Mobilizing new internal skills, structures, etc.</a:t>
                      </a:r>
                    </a:p>
                    <a:p>
                      <a:endParaRPr lang="en-US" dirty="0"/>
                    </a:p>
                  </a:txBody>
                  <a:tcPr/>
                </a:tc>
                <a:extLst>
                  <a:ext uri="{0D108BD9-81ED-4DB2-BD59-A6C34878D82A}">
                    <a16:rowId xmlns:a16="http://schemas.microsoft.com/office/drawing/2014/main" val="479083067"/>
                  </a:ext>
                </a:extLst>
              </a:tr>
              <a:tr h="370840">
                <a:tc>
                  <a:txBody>
                    <a:bodyPr/>
                    <a:lstStyle/>
                    <a:p>
                      <a:r>
                        <a:rPr lang="en-US" dirty="0"/>
                        <a:t>Capture value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Crossing the chasm and the diffusion process</a:t>
                      </a:r>
                    </a:p>
                    <a:p>
                      <a:endParaRPr lang="en-US" dirty="0"/>
                    </a:p>
                  </a:txBody>
                  <a:tcPr/>
                </a:tc>
                <a:extLst>
                  <a:ext uri="{0D108BD9-81ED-4DB2-BD59-A6C34878D82A}">
                    <a16:rowId xmlns:a16="http://schemas.microsoft.com/office/drawing/2014/main" val="3831360450"/>
                  </a:ext>
                </a:extLst>
              </a:tr>
              <a:tr h="370840">
                <a:tc>
                  <a:txBody>
                    <a:bodyPr/>
                    <a:lstStyle/>
                    <a:p>
                      <a:r>
                        <a:rPr lang="en-US" dirty="0"/>
                        <a:t>Innovation strategy</a:t>
                      </a:r>
                    </a:p>
                  </a:txBody>
                  <a:tcPr/>
                </a:tc>
                <a:tc>
                  <a:txBody>
                    <a:bodyPr/>
                    <a:lstStyle/>
                    <a:p>
                      <a:r>
                        <a:rPr lang="en-US" dirty="0"/>
                        <a:t>Need for clear roadmap for the future which embeds sustainability vision</a:t>
                      </a:r>
                    </a:p>
                    <a:p>
                      <a:r>
                        <a:rPr lang="en-US" dirty="0"/>
                        <a:t>New paradigm based on people, profit, planet types of model</a:t>
                      </a:r>
                    </a:p>
                  </a:txBody>
                  <a:tcPr/>
                </a:tc>
                <a:extLst>
                  <a:ext uri="{0D108BD9-81ED-4DB2-BD59-A6C34878D82A}">
                    <a16:rowId xmlns:a16="http://schemas.microsoft.com/office/drawing/2014/main" val="442047549"/>
                  </a:ext>
                </a:extLst>
              </a:tr>
            </a:tbl>
          </a:graphicData>
        </a:graphic>
      </p:graphicFrame>
    </p:spTree>
    <p:extLst>
      <p:ext uri="{BB962C8B-B14F-4D97-AF65-F5344CB8AC3E}">
        <p14:creationId xmlns:p14="http://schemas.microsoft.com/office/powerpoint/2010/main" val="7288656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DEB90C-6338-B548-8F1C-291CA2E5BDDE}"/>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Responsible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AAE0EA8-3596-0240-90DC-2A543292C222}"/>
              </a:ext>
            </a:extLst>
          </p:cNvPr>
          <p:cNvSpPr>
            <a:spLocks noGrp="1"/>
          </p:cNvSpPr>
          <p:nvPr>
            <p:ph idx="1"/>
          </p:nvPr>
        </p:nvSpPr>
        <p:spPr>
          <a:xfrm>
            <a:off x="3335481" y="591344"/>
            <a:ext cx="5179868" cy="5585619"/>
          </a:xfrm>
        </p:spPr>
        <p:txBody>
          <a:bodyPr anchor="ctr">
            <a:normAutofit/>
          </a:bodyPr>
          <a:lstStyle/>
          <a:p>
            <a:r>
              <a:rPr lang="en-GB" dirty="0"/>
              <a:t>“Responsible innovation means taking care of the future through collective stewardship of science and innovation in the present.”</a:t>
            </a:r>
          </a:p>
          <a:p>
            <a:r>
              <a:rPr lang="en-GB" dirty="0"/>
              <a:t>Four key dimensions:</a:t>
            </a:r>
          </a:p>
          <a:p>
            <a:pPr lvl="1"/>
            <a:r>
              <a:rPr lang="en-GB" dirty="0"/>
              <a:t>Anticipation</a:t>
            </a:r>
          </a:p>
          <a:p>
            <a:pPr lvl="1"/>
            <a:r>
              <a:rPr lang="en-GB" dirty="0"/>
              <a:t>Inclusiveness</a:t>
            </a:r>
          </a:p>
          <a:p>
            <a:pPr lvl="1"/>
            <a:r>
              <a:rPr lang="en-GB" dirty="0"/>
              <a:t>Reflexivity</a:t>
            </a:r>
          </a:p>
          <a:p>
            <a:pPr lvl="1"/>
            <a:r>
              <a:rPr lang="en-GB" dirty="0"/>
              <a:t>Responsiveness</a:t>
            </a:r>
          </a:p>
          <a:p>
            <a:pPr lvl="1"/>
            <a:endParaRPr lang="en-GB" dirty="0"/>
          </a:p>
          <a:p>
            <a:endParaRPr lang="en-US" dirty="0"/>
          </a:p>
        </p:txBody>
      </p:sp>
    </p:spTree>
    <p:extLst>
      <p:ext uri="{BB962C8B-B14F-4D97-AF65-F5344CB8AC3E}">
        <p14:creationId xmlns:p14="http://schemas.microsoft.com/office/powerpoint/2010/main" val="3637097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113E6F-A060-F641-B057-87DBB8C43D09}"/>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4540DFD-F5DD-D848-B755-3E11327FAB3C}"/>
              </a:ext>
            </a:extLst>
          </p:cNvPr>
          <p:cNvSpPr>
            <a:spLocks noGrp="1"/>
          </p:cNvSpPr>
          <p:nvPr>
            <p:ph idx="1"/>
          </p:nvPr>
        </p:nvSpPr>
        <p:spPr>
          <a:xfrm>
            <a:off x="3335481" y="591344"/>
            <a:ext cx="5179868" cy="5585619"/>
          </a:xfrm>
        </p:spPr>
        <p:txBody>
          <a:bodyPr anchor="ctr">
            <a:normAutofit fontScale="62500" lnSpcReduction="20000"/>
          </a:bodyPr>
          <a:lstStyle/>
          <a:p>
            <a:r>
              <a:rPr lang="en-GB" dirty="0"/>
              <a:t>Social innovation is about creating value and making change happen in a socially valuable direction.</a:t>
            </a:r>
          </a:p>
          <a:p>
            <a:endParaRPr lang="en-GB" dirty="0"/>
          </a:p>
          <a:p>
            <a:r>
              <a:rPr lang="en-GB" dirty="0"/>
              <a:t>Although often driven by passionate individual entrepreneurs social innovation is also an increasingly important component of mainstream business as organizations realize that they only secure a licence to operate if they can demonstrate some concern for the wider communities in which they are located.</a:t>
            </a:r>
          </a:p>
          <a:p>
            <a:endParaRPr lang="en-GB" dirty="0"/>
          </a:p>
          <a:p>
            <a:r>
              <a:rPr lang="en-GB" dirty="0"/>
              <a:t>There is also extensive social innovation within the public and ‘third’ sector.</a:t>
            </a:r>
          </a:p>
          <a:p>
            <a:endParaRPr lang="en-GB" dirty="0"/>
          </a:p>
          <a:p>
            <a:r>
              <a:rPr lang="en-GB" dirty="0"/>
              <a:t>Social innovation is particularly challenging because of the need to identify and engage a wide range of stakeholders – and understand and meet their very diverse expectations.</a:t>
            </a:r>
          </a:p>
        </p:txBody>
      </p:sp>
    </p:spTree>
    <p:extLst>
      <p:ext uri="{BB962C8B-B14F-4D97-AF65-F5344CB8AC3E}">
        <p14:creationId xmlns:p14="http://schemas.microsoft.com/office/powerpoint/2010/main" val="2707174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FBF456-95A4-664C-A0E4-8206D8EF1028}"/>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4FFAD78-4295-A348-A0F8-47F1366E57C9}"/>
              </a:ext>
            </a:extLst>
          </p:cNvPr>
          <p:cNvSpPr>
            <a:spLocks noGrp="1"/>
          </p:cNvSpPr>
          <p:nvPr>
            <p:ph idx="1"/>
          </p:nvPr>
        </p:nvSpPr>
        <p:spPr>
          <a:xfrm>
            <a:off x="3335481" y="591344"/>
            <a:ext cx="5179868" cy="5585619"/>
          </a:xfrm>
        </p:spPr>
        <p:txBody>
          <a:bodyPr anchor="ctr">
            <a:normAutofit/>
          </a:bodyPr>
          <a:lstStyle/>
          <a:p>
            <a:pPr>
              <a:lnSpc>
                <a:spcPct val="90000"/>
              </a:lnSpc>
            </a:pPr>
            <a:r>
              <a:rPr lang="en-GB" sz="2200" dirty="0"/>
              <a:t>Sustainability is becoming a key factor in innovation, representing both a significant threat and a source of opportunity. </a:t>
            </a:r>
          </a:p>
          <a:p>
            <a:pPr>
              <a:lnSpc>
                <a:spcPct val="90000"/>
              </a:lnSpc>
            </a:pPr>
            <a:r>
              <a:rPr lang="en-GB" sz="2200" dirty="0"/>
              <a:t>Sustainability-led innovation (SLI) involves changes across the ‘innovation space’ – in products/services, in processes, in positions and in paradigms.</a:t>
            </a:r>
          </a:p>
          <a:p>
            <a:pPr>
              <a:lnSpc>
                <a:spcPct val="90000"/>
              </a:lnSpc>
            </a:pPr>
            <a:r>
              <a:rPr lang="en-GB" sz="2200" dirty="0"/>
              <a:t>SLI poses challenges across the innovation process model – how we search, select and implement. In particular working at the higher levels of the model, towards organizational transformation and systems building – will require developing new routines.</a:t>
            </a:r>
          </a:p>
          <a:p>
            <a:pPr>
              <a:lnSpc>
                <a:spcPct val="90000"/>
              </a:lnSpc>
            </a:pPr>
            <a:endParaRPr lang="en-US" sz="2200" dirty="0"/>
          </a:p>
        </p:txBody>
      </p:sp>
    </p:spTree>
    <p:extLst>
      <p:ext uri="{BB962C8B-B14F-4D97-AF65-F5344CB8AC3E}">
        <p14:creationId xmlns:p14="http://schemas.microsoft.com/office/powerpoint/2010/main" val="25295734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6FB056-6328-8A4D-8850-923E2F957208}"/>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6DE4821-827D-1642-974C-C4F4F620903C}"/>
              </a:ext>
            </a:extLst>
          </p:cNvPr>
          <p:cNvSpPr>
            <a:spLocks noGrp="1"/>
          </p:cNvSpPr>
          <p:nvPr>
            <p:ph idx="1"/>
          </p:nvPr>
        </p:nvSpPr>
        <p:spPr>
          <a:xfrm>
            <a:off x="3335481" y="591344"/>
            <a:ext cx="5179868" cy="5585619"/>
          </a:xfrm>
        </p:spPr>
        <p:txBody>
          <a:bodyPr anchor="ctr">
            <a:normAutofit/>
          </a:bodyPr>
          <a:lstStyle/>
          <a:p>
            <a:r>
              <a:rPr lang="en-GB" dirty="0"/>
              <a:t>There is growing pressure on organizations to demonstrate that their approach involves a degree of ‘responsible innovation’.</a:t>
            </a:r>
          </a:p>
          <a:p>
            <a:r>
              <a:rPr lang="en-GB" dirty="0"/>
              <a:t>Four key dimensions:</a:t>
            </a:r>
          </a:p>
          <a:p>
            <a:pPr lvl="1"/>
            <a:r>
              <a:rPr lang="en-GB" dirty="0"/>
              <a:t>Anticipation</a:t>
            </a:r>
          </a:p>
          <a:p>
            <a:pPr lvl="1"/>
            <a:r>
              <a:rPr lang="en-GB" dirty="0"/>
              <a:t>Inclusiveness</a:t>
            </a:r>
          </a:p>
          <a:p>
            <a:pPr lvl="1"/>
            <a:r>
              <a:rPr lang="en-GB" dirty="0"/>
              <a:t>Reflexivity</a:t>
            </a:r>
          </a:p>
          <a:p>
            <a:pPr lvl="1"/>
            <a:r>
              <a:rPr lang="en-GB" dirty="0"/>
              <a:t>Responsiveness</a:t>
            </a:r>
          </a:p>
          <a:p>
            <a:endParaRPr lang="en-GB" dirty="0"/>
          </a:p>
          <a:p>
            <a:endParaRPr lang="en-US" dirty="0"/>
          </a:p>
        </p:txBody>
      </p:sp>
    </p:spTree>
    <p:extLst>
      <p:ext uri="{BB962C8B-B14F-4D97-AF65-F5344CB8AC3E}">
        <p14:creationId xmlns:p14="http://schemas.microsoft.com/office/powerpoint/2010/main" val="9089142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a:bodyPr>
          <a:lstStyle/>
          <a:p>
            <a:pPr>
              <a:lnSpc>
                <a:spcPct val="90000"/>
              </a:lnSpc>
            </a:pPr>
            <a:r>
              <a:rPr lang="en-US" sz="2700" dirty="0"/>
              <a:t>There are several videos which can help explore and present the key themes of the chapter:</a:t>
            </a:r>
          </a:p>
          <a:p>
            <a:pPr>
              <a:lnSpc>
                <a:spcPct val="90000"/>
              </a:lnSpc>
            </a:pPr>
            <a:endParaRPr lang="en-US" sz="2700" dirty="0"/>
          </a:p>
        </p:txBody>
      </p:sp>
    </p:spTree>
    <p:extLst>
      <p:ext uri="{BB962C8B-B14F-4D97-AF65-F5344CB8AC3E}">
        <p14:creationId xmlns:p14="http://schemas.microsoft.com/office/powerpoint/2010/main" val="3134773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48AB37-2E98-A44D-88D0-F8A9021831C7}"/>
              </a:ext>
            </a:extLst>
          </p:cNvPr>
          <p:cNvSpPr>
            <a:spLocks noGrp="1"/>
          </p:cNvSpPr>
          <p:nvPr>
            <p:ph type="title"/>
          </p:nvPr>
        </p:nvSpPr>
        <p:spPr>
          <a:xfrm>
            <a:off x="515125" y="1153572"/>
            <a:ext cx="2400300" cy="4461163"/>
          </a:xfrm>
        </p:spPr>
        <p:txBody>
          <a:bodyPr>
            <a:normAutofit/>
          </a:bodyPr>
          <a:lstStyle/>
          <a:p>
            <a:r>
              <a:rPr lang="en-US" dirty="0">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A6A3CE5-E2AF-B445-9512-069B5E2B5CDE}"/>
              </a:ext>
            </a:extLst>
          </p:cNvPr>
          <p:cNvSpPr>
            <a:spLocks noGrp="1"/>
          </p:cNvSpPr>
          <p:nvPr>
            <p:ph idx="1"/>
          </p:nvPr>
        </p:nvSpPr>
        <p:spPr>
          <a:xfrm>
            <a:off x="3335481" y="591344"/>
            <a:ext cx="5179868" cy="5585619"/>
          </a:xfrm>
        </p:spPr>
        <p:txBody>
          <a:bodyPr anchor="ctr">
            <a:normAutofit lnSpcReduction="10000"/>
          </a:bodyPr>
          <a:lstStyle/>
          <a:p>
            <a:pPr>
              <a:lnSpc>
                <a:spcPct val="90000"/>
              </a:lnSpc>
            </a:pPr>
            <a:r>
              <a:rPr lang="en-GB" sz="2200" dirty="0"/>
              <a:t>Interview with </a:t>
            </a:r>
            <a:r>
              <a:rPr lang="en-GB" sz="2200" dirty="0">
                <a:hlinkClick r:id="rId2"/>
              </a:rPr>
              <a:t>Simon Tucker of Young Foundation </a:t>
            </a:r>
            <a:r>
              <a:rPr lang="en-GB" sz="2200" dirty="0"/>
              <a:t>talking about how to support social innovation</a:t>
            </a:r>
          </a:p>
          <a:p>
            <a:pPr>
              <a:lnSpc>
                <a:spcPct val="90000"/>
              </a:lnSpc>
            </a:pPr>
            <a:r>
              <a:rPr lang="en-GB" sz="2200" dirty="0" err="1">
                <a:hlinkClick r:id="rId3"/>
              </a:rPr>
              <a:t>Suzana</a:t>
            </a:r>
            <a:r>
              <a:rPr lang="en-GB" sz="2200" dirty="0">
                <a:hlinkClick r:id="rId3"/>
              </a:rPr>
              <a:t> Moreira of </a:t>
            </a:r>
            <a:r>
              <a:rPr lang="en-GB" sz="2200" dirty="0" err="1">
                <a:hlinkClick r:id="rId3"/>
              </a:rPr>
              <a:t>moWoza</a:t>
            </a:r>
            <a:r>
              <a:rPr lang="en-GB" sz="2200" dirty="0">
                <a:hlinkClick r:id="rId3"/>
              </a:rPr>
              <a:t>, </a:t>
            </a:r>
            <a:r>
              <a:rPr lang="en-GB" sz="2200" dirty="0"/>
              <a:t>talking about her social start-up in southern Africa</a:t>
            </a:r>
          </a:p>
          <a:p>
            <a:pPr>
              <a:lnSpc>
                <a:spcPct val="90000"/>
              </a:lnSpc>
            </a:pPr>
            <a:r>
              <a:rPr lang="en-GB" sz="2200" dirty="0">
                <a:hlinkClick r:id="rId4"/>
              </a:rPr>
              <a:t>Melissa Clark-Reynolds talking about </a:t>
            </a:r>
            <a:r>
              <a:rPr lang="en-GB" sz="2200" dirty="0" err="1">
                <a:hlinkClick r:id="rId4"/>
              </a:rPr>
              <a:t>MiniMonos</a:t>
            </a:r>
            <a:r>
              <a:rPr lang="en-GB" sz="2200" dirty="0">
                <a:hlinkClick r:id="rId4"/>
              </a:rPr>
              <a:t> </a:t>
            </a:r>
            <a:r>
              <a:rPr lang="en-GB" sz="2200" dirty="0"/>
              <a:t>her start-up in the sustainability space</a:t>
            </a:r>
          </a:p>
          <a:p>
            <a:pPr>
              <a:lnSpc>
                <a:spcPct val="90000"/>
              </a:lnSpc>
            </a:pPr>
            <a:r>
              <a:rPr lang="en-GB" sz="2200" dirty="0">
                <a:hlinkClick r:id="rId5"/>
              </a:rPr>
              <a:t>Mike Pitts talking about challenges in sustainable innovation</a:t>
            </a:r>
            <a:endParaRPr lang="en-GB" sz="2200" dirty="0"/>
          </a:p>
          <a:p>
            <a:pPr>
              <a:lnSpc>
                <a:spcPct val="90000"/>
              </a:lnSpc>
            </a:pPr>
            <a:r>
              <a:rPr lang="en-GB" sz="2200" dirty="0">
                <a:hlinkClick r:id="rId6"/>
              </a:rPr>
              <a:t>Pedro Oliveira talking about Patient Innovation</a:t>
            </a:r>
            <a:r>
              <a:rPr lang="en-GB" sz="2200" dirty="0"/>
              <a:t>, a social innovation platform for healthcare</a:t>
            </a:r>
          </a:p>
          <a:p>
            <a:pPr>
              <a:lnSpc>
                <a:spcPct val="90000"/>
              </a:lnSpc>
            </a:pPr>
            <a:r>
              <a:rPr lang="en-GB" sz="2200" dirty="0">
                <a:hlinkClick r:id="rId7"/>
              </a:rPr>
              <a:t>Short video on responsible innovation in healthcare</a:t>
            </a:r>
            <a:endParaRPr lang="en-GB" sz="2200" dirty="0"/>
          </a:p>
          <a:p>
            <a:pPr>
              <a:lnSpc>
                <a:spcPct val="90000"/>
              </a:lnSpc>
            </a:pPr>
            <a:r>
              <a:rPr lang="en-GB" sz="2200" dirty="0" err="1">
                <a:hlinkClick r:id="rId8"/>
              </a:rPr>
              <a:t>Let’sLocalise</a:t>
            </a:r>
            <a:r>
              <a:rPr lang="en-GB" sz="2200" dirty="0">
                <a:hlinkClick r:id="rId8"/>
              </a:rPr>
              <a:t>, </a:t>
            </a:r>
            <a:r>
              <a:rPr lang="en-GB" sz="2200" dirty="0"/>
              <a:t>a platform for community engagement</a:t>
            </a:r>
          </a:p>
        </p:txBody>
      </p:sp>
    </p:spTree>
    <p:extLst>
      <p:ext uri="{BB962C8B-B14F-4D97-AF65-F5344CB8AC3E}">
        <p14:creationId xmlns:p14="http://schemas.microsoft.com/office/powerpoint/2010/main" val="32224275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E62A27-A484-054F-AD6F-83F9A7EE0F99}"/>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26DBA6-AED5-234A-8BC4-E05C73FF3000}"/>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200" dirty="0"/>
              <a:t>Ray Anderson , founder of Interface ( a major floor coverings company) increased sales and doubled profits while turning the traditional “take / make / waste” industrial system on its head.  He was passionate about sustainability and pioneered a wave of innovation which still drives the business.</a:t>
            </a:r>
          </a:p>
          <a:p>
            <a:pPr marL="0" indent="0">
              <a:lnSpc>
                <a:spcPct val="90000"/>
              </a:lnSpc>
              <a:buNone/>
            </a:pPr>
            <a:r>
              <a:rPr lang="en-US" sz="2200" dirty="0"/>
              <a:t>In this TED talk he sets out his ideas about building a successful business driven by sustainable innovation</a:t>
            </a:r>
          </a:p>
          <a:p>
            <a:pPr marL="0" indent="0">
              <a:lnSpc>
                <a:spcPct val="90000"/>
              </a:lnSpc>
              <a:buNone/>
            </a:pPr>
            <a:endParaRPr lang="en-US" sz="2200" dirty="0"/>
          </a:p>
          <a:p>
            <a:pPr marL="0" indent="0">
              <a:lnSpc>
                <a:spcPct val="90000"/>
              </a:lnSpc>
              <a:buNone/>
            </a:pPr>
            <a:r>
              <a:rPr lang="en-US" sz="2200" dirty="0">
                <a:hlinkClick r:id="rId2"/>
              </a:rPr>
              <a:t>https://www.ted.com/talks/ray_anderson_the_business_logic_of_sustainability?language=en</a:t>
            </a:r>
            <a:endParaRPr lang="en-US" sz="2200" dirty="0"/>
          </a:p>
          <a:p>
            <a:pPr marL="0" indent="0">
              <a:lnSpc>
                <a:spcPct val="90000"/>
              </a:lnSpc>
              <a:buNone/>
            </a:pPr>
            <a:endParaRPr lang="en-US" sz="2200" dirty="0"/>
          </a:p>
          <a:p>
            <a:pPr>
              <a:lnSpc>
                <a:spcPct val="90000"/>
              </a:lnSpc>
            </a:pPr>
            <a:endParaRPr lang="en-US" sz="2200" dirty="0"/>
          </a:p>
        </p:txBody>
      </p:sp>
    </p:spTree>
    <p:extLst>
      <p:ext uri="{BB962C8B-B14F-4D97-AF65-F5344CB8AC3E}">
        <p14:creationId xmlns:p14="http://schemas.microsoft.com/office/powerpoint/2010/main" val="2003789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8CC178-C202-2041-B77E-18C03F5B21E6}"/>
              </a:ext>
            </a:extLst>
          </p:cNvPr>
          <p:cNvSpPr>
            <a:spLocks noGrp="1"/>
          </p:cNvSpPr>
          <p:nvPr>
            <p:ph type="title"/>
          </p:nvPr>
        </p:nvSpPr>
        <p:spPr>
          <a:xfrm>
            <a:off x="515125" y="1153572"/>
            <a:ext cx="2400300" cy="4461163"/>
          </a:xfrm>
        </p:spPr>
        <p:txBody>
          <a:bodyPr vert="horz" lIns="91440" tIns="45720" rIns="91440" bIns="45720" rtlCol="0">
            <a:normAutofit/>
          </a:bodyPr>
          <a:lstStyle/>
          <a:p>
            <a:r>
              <a:rPr lang="en-US" kern="1200">
                <a:solidFill>
                  <a:srgbClr val="FFFFFF"/>
                </a:solidFill>
                <a:latin typeface="+mj-lt"/>
                <a:ea typeface="+mj-ea"/>
                <a:cs typeface="+mj-cs"/>
              </a:rPr>
              <a:t>Podcasts and blogs</a:t>
            </a:r>
          </a:p>
        </p:txBody>
      </p:sp>
      <p:sp>
        <p:nvSpPr>
          <p:cNvPr id="27" name="Arc 2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88AF255-A7B9-BE43-955D-6B1B513060C2}"/>
              </a:ext>
            </a:extLst>
          </p:cNvPr>
          <p:cNvSpPr>
            <a:spLocks noGrp="1"/>
          </p:cNvSpPr>
          <p:nvPr>
            <p:ph idx="1"/>
          </p:nvPr>
        </p:nvSpPr>
        <p:spPr>
          <a:xfrm>
            <a:off x="3335481" y="591344"/>
            <a:ext cx="5179868" cy="5585619"/>
          </a:xfrm>
        </p:spPr>
        <p:txBody>
          <a:bodyPr vert="horz" lIns="91440" tIns="45720" rIns="91440" bIns="45720" rtlCol="0" anchor="ctr">
            <a:normAutofit/>
          </a:bodyPr>
          <a:lstStyle/>
          <a:p>
            <a:pPr marL="0" indent="0">
              <a:spcBef>
                <a:spcPts val="1000"/>
              </a:spcBef>
              <a:buNone/>
            </a:pPr>
            <a:r>
              <a:rPr lang="en-US" kern="1200" dirty="0">
                <a:latin typeface="+mn-lt"/>
                <a:ea typeface="+mn-ea"/>
                <a:cs typeface="+mn-cs"/>
              </a:rPr>
              <a:t>There are several </a:t>
            </a:r>
            <a:r>
              <a:rPr lang="en-US" kern="1200" dirty="0">
                <a:latin typeface="+mn-lt"/>
                <a:ea typeface="+mn-ea"/>
                <a:cs typeface="+mn-cs"/>
                <a:hlinkClick r:id="rId2"/>
              </a:rPr>
              <a:t>podcasts here</a:t>
            </a:r>
            <a:r>
              <a:rPr lang="en-US" kern="1200" dirty="0">
                <a:latin typeface="+mn-lt"/>
                <a:ea typeface="+mn-ea"/>
                <a:cs typeface="+mn-cs"/>
              </a:rPr>
              <a:t> and </a:t>
            </a:r>
            <a:r>
              <a:rPr lang="en-US" kern="1200" dirty="0">
                <a:latin typeface="+mn-lt"/>
                <a:ea typeface="+mn-ea"/>
                <a:cs typeface="+mn-cs"/>
                <a:hlinkClick r:id="rId3"/>
              </a:rPr>
              <a:t>blogs here </a:t>
            </a:r>
            <a:r>
              <a:rPr lang="en-US" kern="1200" dirty="0">
                <a:latin typeface="+mn-lt"/>
                <a:ea typeface="+mn-ea"/>
                <a:cs typeface="+mn-cs"/>
              </a:rPr>
              <a:t>which cover themes raised in this chapter.  In particular:</a:t>
            </a:r>
          </a:p>
          <a:p>
            <a:pPr>
              <a:spcBef>
                <a:spcPts val="1000"/>
              </a:spcBef>
            </a:pPr>
            <a:r>
              <a:rPr lang="en-US" kern="1200" dirty="0">
                <a:latin typeface="+mn-lt"/>
                <a:ea typeface="+mn-ea"/>
                <a:cs typeface="+mn-cs"/>
              </a:rPr>
              <a:t>Peanut-powered innovation, looking at the innovation legacy of Washington Carver</a:t>
            </a:r>
          </a:p>
          <a:p>
            <a:pPr>
              <a:spcBef>
                <a:spcPts val="1000"/>
              </a:spcBef>
            </a:pPr>
            <a:r>
              <a:rPr lang="en-US" dirty="0"/>
              <a:t>Why bother with user innovation?</a:t>
            </a:r>
            <a:endParaRPr lang="en-US" kern="1200" dirty="0">
              <a:latin typeface="+mn-lt"/>
              <a:ea typeface="+mn-ea"/>
              <a:cs typeface="+mn-cs"/>
            </a:endParaRPr>
          </a:p>
          <a:p>
            <a:pPr marL="0" indent="0">
              <a:spcBef>
                <a:spcPts val="1000"/>
              </a:spcBef>
              <a:buNone/>
            </a:pPr>
            <a:endParaRPr lang="en-US" kern="1200" dirty="0">
              <a:latin typeface="+mn-lt"/>
              <a:ea typeface="+mn-ea"/>
              <a:cs typeface="+mn-cs"/>
            </a:endParaRPr>
          </a:p>
        </p:txBody>
      </p:sp>
    </p:spTree>
    <p:extLst>
      <p:ext uri="{BB962C8B-B14F-4D97-AF65-F5344CB8AC3E}">
        <p14:creationId xmlns:p14="http://schemas.microsoft.com/office/powerpoint/2010/main" val="21906035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B3E7A6-BF47-7244-A195-B408F479B074}"/>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a:t>
            </a:r>
            <a:br>
              <a:rPr lang="en-US">
                <a:solidFill>
                  <a:srgbClr val="FFFFFF"/>
                </a:solidFill>
              </a:rPr>
            </a:b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8892999-033A-E948-8757-FC0FB2875514}"/>
              </a:ext>
            </a:extLst>
          </p:cNvPr>
          <p:cNvSpPr>
            <a:spLocks noGrp="1"/>
          </p:cNvSpPr>
          <p:nvPr>
            <p:ph idx="1"/>
          </p:nvPr>
        </p:nvSpPr>
        <p:spPr>
          <a:xfrm>
            <a:off x="3335481" y="591344"/>
            <a:ext cx="5179868" cy="5585619"/>
          </a:xfrm>
        </p:spPr>
        <p:txBody>
          <a:bodyPr anchor="ctr">
            <a:normAutofit fontScale="85000" lnSpcReduction="10000"/>
          </a:bodyPr>
          <a:lstStyle/>
          <a:p>
            <a:pPr marL="0" indent="0">
              <a:buNone/>
            </a:pPr>
            <a:r>
              <a:rPr lang="en-US" sz="2000" dirty="0"/>
              <a:t>There are several case studies which highlight themes in this chapter; </a:t>
            </a:r>
            <a:r>
              <a:rPr lang="en-US" sz="2000" dirty="0">
                <a:hlinkClick r:id="rId2"/>
              </a:rPr>
              <a:t>you can find them here.  </a:t>
            </a:r>
            <a:r>
              <a:rPr lang="en-US" sz="2000" dirty="0"/>
              <a:t>In particular:</a:t>
            </a:r>
          </a:p>
          <a:p>
            <a:pPr marL="0" indent="0">
              <a:buNone/>
            </a:pPr>
            <a:endParaRPr lang="en-US" sz="2000" dirty="0"/>
          </a:p>
          <a:p>
            <a:r>
              <a:rPr lang="en-US" sz="2000" dirty="0" err="1"/>
              <a:t>Luminaid</a:t>
            </a:r>
            <a:endParaRPr lang="en-US" sz="2000" dirty="0"/>
          </a:p>
          <a:p>
            <a:r>
              <a:rPr lang="en-US" sz="2000" dirty="0"/>
              <a:t>Eastville Community Shop</a:t>
            </a:r>
          </a:p>
          <a:p>
            <a:r>
              <a:rPr lang="en-US" sz="2000" dirty="0"/>
              <a:t>Aravind</a:t>
            </a:r>
          </a:p>
          <a:p>
            <a:r>
              <a:rPr lang="en-US" sz="2000" dirty="0"/>
              <a:t>NHL</a:t>
            </a:r>
          </a:p>
          <a:p>
            <a:r>
              <a:rPr lang="en-US" sz="2000" dirty="0" err="1"/>
              <a:t>Lifespring</a:t>
            </a:r>
            <a:endParaRPr lang="en-US" sz="2000" dirty="0"/>
          </a:p>
          <a:p>
            <a:r>
              <a:rPr lang="en-US" sz="2000" dirty="0" err="1"/>
              <a:t>Aquapax</a:t>
            </a:r>
            <a:endParaRPr lang="en-US" sz="2000" dirty="0"/>
          </a:p>
          <a:p>
            <a:r>
              <a:rPr lang="en-US" sz="2000" dirty="0"/>
              <a:t>Better Place</a:t>
            </a:r>
          </a:p>
          <a:p>
            <a:r>
              <a:rPr lang="en-US" sz="2000" dirty="0"/>
              <a:t>Espresso </a:t>
            </a:r>
            <a:r>
              <a:rPr lang="en-US" sz="2000" dirty="0" err="1"/>
              <a:t>Mushroon</a:t>
            </a:r>
            <a:endParaRPr lang="en-US" sz="2000" dirty="0"/>
          </a:p>
          <a:p>
            <a:r>
              <a:rPr lang="en-US" sz="2000" dirty="0"/>
              <a:t>Humanitarian innovation</a:t>
            </a:r>
          </a:p>
          <a:p>
            <a:r>
              <a:rPr lang="en-US" sz="2000" dirty="0" err="1"/>
              <a:t>Let’sLocalise</a:t>
            </a:r>
            <a:endParaRPr lang="en-US" sz="2000" dirty="0"/>
          </a:p>
          <a:p>
            <a:r>
              <a:rPr lang="en-US" sz="2000" dirty="0"/>
              <a:t>Lifeline Energy</a:t>
            </a:r>
          </a:p>
          <a:p>
            <a:r>
              <a:rPr lang="en-US" sz="2000" dirty="0"/>
              <a:t>Minimonos</a:t>
            </a:r>
          </a:p>
          <a:p>
            <a:r>
              <a:rPr lang="en-US" sz="2000" dirty="0" err="1"/>
              <a:t>Mowoza</a:t>
            </a:r>
            <a:endParaRPr lang="en-US" sz="2000" dirty="0"/>
          </a:p>
          <a:p>
            <a:r>
              <a:rPr lang="en-US" sz="2000" dirty="0"/>
              <a:t>Natura</a:t>
            </a:r>
          </a:p>
          <a:p>
            <a:r>
              <a:rPr lang="en-US" sz="2000" dirty="0" err="1"/>
              <a:t>Samasource</a:t>
            </a:r>
            <a:endParaRPr lang="en-US" sz="2000" dirty="0"/>
          </a:p>
          <a:p>
            <a:r>
              <a:rPr lang="en-US" sz="2000" dirty="0"/>
              <a:t>Philips journey to sustainability</a:t>
            </a:r>
          </a:p>
          <a:p>
            <a:endParaRPr lang="en-US" dirty="0"/>
          </a:p>
          <a:p>
            <a:endParaRPr lang="en-US" dirty="0"/>
          </a:p>
        </p:txBody>
      </p:sp>
    </p:spTree>
    <p:extLst>
      <p:ext uri="{BB962C8B-B14F-4D97-AF65-F5344CB8AC3E}">
        <p14:creationId xmlns:p14="http://schemas.microsoft.com/office/powerpoint/2010/main" val="35705476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A5CA78-3C4A-4C4C-958F-75E0E9E92624}"/>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D8FCE9D-0B66-2B48-96B1-8948C958E020}"/>
              </a:ext>
            </a:extLst>
          </p:cNvPr>
          <p:cNvSpPr>
            <a:spLocks noGrp="1"/>
          </p:cNvSpPr>
          <p:nvPr>
            <p:ph idx="1"/>
          </p:nvPr>
        </p:nvSpPr>
        <p:spPr>
          <a:xfrm>
            <a:off x="3335481" y="591344"/>
            <a:ext cx="5179868" cy="5585619"/>
          </a:xfrm>
        </p:spPr>
        <p:txBody>
          <a:bodyPr anchor="ctr">
            <a:normAutofit/>
          </a:bodyPr>
          <a:lstStyle/>
          <a:p>
            <a:pPr marL="0" indent="0">
              <a:buNone/>
            </a:pPr>
            <a:r>
              <a:rPr lang="en-US" dirty="0"/>
              <a:t>Another good resource is the NESTA website with reports, cases, tools and other information around social innovation. </a:t>
            </a:r>
            <a:endParaRPr lang="en-GB" dirty="0"/>
          </a:p>
          <a:p>
            <a:pPr marL="0" indent="0">
              <a:buNone/>
            </a:pPr>
            <a:r>
              <a:rPr lang="en-US" dirty="0"/>
              <a:t> </a:t>
            </a:r>
            <a:r>
              <a:rPr lang="en-US" u="sng" dirty="0">
                <a:hlinkClick r:id="rId2"/>
              </a:rPr>
              <a:t>http://www.nesta.org.uk/</a:t>
            </a:r>
            <a:endParaRPr lang="en-GB" dirty="0"/>
          </a:p>
          <a:p>
            <a:endParaRPr lang="en-US" dirty="0"/>
          </a:p>
        </p:txBody>
      </p:sp>
    </p:spTree>
    <p:extLst>
      <p:ext uri="{BB962C8B-B14F-4D97-AF65-F5344CB8AC3E}">
        <p14:creationId xmlns:p14="http://schemas.microsoft.com/office/powerpoint/2010/main" val="28414530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F13D12-AF0E-C945-95BD-1346C71A1691}"/>
              </a:ext>
            </a:extLst>
          </p:cNvPr>
          <p:cNvSpPr>
            <a:spLocks noGrp="1"/>
          </p:cNvSpPr>
          <p:nvPr>
            <p:ph type="title"/>
          </p:nvPr>
        </p:nvSpPr>
        <p:spPr>
          <a:xfrm>
            <a:off x="515125" y="1153572"/>
            <a:ext cx="2400300" cy="4461163"/>
          </a:xfrm>
        </p:spPr>
        <p:txBody>
          <a:bodyPr>
            <a:normAutofit/>
          </a:bodyPr>
          <a:lstStyle/>
          <a:p>
            <a:r>
              <a:rPr lang="en-US" dirty="0">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451B33A-AC6A-CF47-8BF6-8A9E07C79521}"/>
              </a:ext>
            </a:extLst>
          </p:cNvPr>
          <p:cNvSpPr>
            <a:spLocks noGrp="1"/>
          </p:cNvSpPr>
          <p:nvPr>
            <p:ph idx="1"/>
          </p:nvPr>
        </p:nvSpPr>
        <p:spPr>
          <a:xfrm>
            <a:off x="3335481" y="591344"/>
            <a:ext cx="5179868" cy="5585619"/>
          </a:xfrm>
        </p:spPr>
        <p:txBody>
          <a:bodyPr anchor="ctr">
            <a:normAutofit/>
          </a:bodyPr>
          <a:lstStyle/>
          <a:p>
            <a:r>
              <a:rPr lang="en-US" dirty="0"/>
              <a:t>There are several activities designed to help explore themes raised in this chapter – you can find a full list here.  In particular:</a:t>
            </a:r>
          </a:p>
        </p:txBody>
      </p:sp>
    </p:spTree>
    <p:extLst>
      <p:ext uri="{BB962C8B-B14F-4D97-AF65-F5344CB8AC3E}">
        <p14:creationId xmlns:p14="http://schemas.microsoft.com/office/powerpoint/2010/main" val="41411295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08503-9DB7-FB45-BD01-9D238B8F9E70}"/>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241B2CD-63A2-E74C-938E-BCDA00BA5FAE}"/>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dirty="0">
                <a:hlinkClick r:id="rId2"/>
              </a:rPr>
              <a:t>Look at the Lifeline Energy case study</a:t>
            </a:r>
            <a:endParaRPr lang="en-US" sz="3000" dirty="0"/>
          </a:p>
          <a:p>
            <a:pPr>
              <a:lnSpc>
                <a:spcPct val="90000"/>
              </a:lnSpc>
            </a:pPr>
            <a:r>
              <a:rPr lang="en-GB" sz="3000" dirty="0"/>
              <a:t>How could you reconcile the social agenda – make radios freely available – with the commercial challenges of running a business?  What problems do you think </a:t>
            </a:r>
            <a:r>
              <a:rPr lang="en-GB" sz="3000" dirty="0" err="1"/>
              <a:t>Freeplay</a:t>
            </a:r>
            <a:r>
              <a:rPr lang="en-GB" sz="3000" dirty="0"/>
              <a:t>/Lifeline Energy face in trying to sustain the business?</a:t>
            </a:r>
          </a:p>
          <a:p>
            <a:pPr>
              <a:lnSpc>
                <a:spcPct val="90000"/>
              </a:lnSpc>
            </a:pPr>
            <a:endParaRPr lang="en-US" sz="3000" dirty="0"/>
          </a:p>
        </p:txBody>
      </p:sp>
    </p:spTree>
    <p:extLst>
      <p:ext uri="{BB962C8B-B14F-4D97-AF65-F5344CB8AC3E}">
        <p14:creationId xmlns:p14="http://schemas.microsoft.com/office/powerpoint/2010/main" val="32472020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a:spLocks/>
          </p:cNvSpPr>
          <p:nvPr/>
        </p:nvSpPr>
        <p:spPr>
          <a:xfrm>
            <a:off x="515125" y="1153572"/>
            <a:ext cx="2400300" cy="4461163"/>
          </a:xfrm>
          <a:prstGeom prst="rect">
            <a:avLst/>
          </a:prstGeom>
        </p:spPr>
        <p:txBody>
          <a:bodyPr vert="horz" lIns="91440" tIns="45720" rIns="91440" bIns="45720" rtlCol="0" anchor="ctr">
            <a:normAutofit/>
          </a:bodyPr>
          <a:lstStyle/>
          <a:p>
            <a:pPr lvl="0">
              <a:lnSpc>
                <a:spcPct val="90000"/>
              </a:lnSpc>
              <a:spcBef>
                <a:spcPct val="0"/>
              </a:spcBef>
              <a:spcAft>
                <a:spcPts val="600"/>
              </a:spcAft>
              <a:defRPr/>
            </a:pPr>
            <a:r>
              <a:rPr lang="en-US" sz="4400" b="1" kern="1200" dirty="0">
                <a:solidFill>
                  <a:srgbClr val="FFFFFF"/>
                </a:solidFill>
                <a:latin typeface="+mj-lt"/>
                <a:ea typeface="+mj-ea"/>
                <a:cs typeface="+mj-cs"/>
              </a:rPr>
              <a:t>Activities</a:t>
            </a: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Content Placeholder 1"/>
          <p:cNvSpPr>
            <a:spLocks noGrp="1"/>
          </p:cNvSpPr>
          <p:nvPr>
            <p:ph idx="1"/>
          </p:nvPr>
        </p:nvSpPr>
        <p:spPr>
          <a:xfrm>
            <a:off x="3335480" y="591344"/>
            <a:ext cx="5389895" cy="5585619"/>
          </a:xfrm>
        </p:spPr>
        <p:txBody>
          <a:bodyPr vert="horz" lIns="91440" tIns="45720" rIns="91440" bIns="45720" rtlCol="0" anchor="ctr">
            <a:normAutofit/>
          </a:bodyPr>
          <a:lstStyle/>
          <a:p>
            <a:pPr indent="-228600">
              <a:lnSpc>
                <a:spcPct val="90000"/>
              </a:lnSpc>
            </a:pPr>
            <a:r>
              <a:rPr lang="en-US" dirty="0">
                <a:hlinkClick r:id="rId2"/>
              </a:rPr>
              <a:t>Read the case study of Eastville Community Shop </a:t>
            </a:r>
            <a:endParaRPr lang="en-US" dirty="0"/>
          </a:p>
          <a:p>
            <a:pPr indent="-228600">
              <a:lnSpc>
                <a:spcPct val="90000"/>
              </a:lnSpc>
            </a:pPr>
            <a:endParaRPr lang="en-US" dirty="0"/>
          </a:p>
          <a:p>
            <a:pPr indent="-228600">
              <a:lnSpc>
                <a:spcPct val="90000"/>
              </a:lnSpc>
            </a:pPr>
            <a:r>
              <a:rPr lang="en-US" dirty="0">
                <a:hlinkClick r:id="rId3"/>
              </a:rPr>
              <a:t>and then explore it using this activity</a:t>
            </a:r>
            <a:endParaRPr lang="en-US" dirty="0"/>
          </a:p>
          <a:p>
            <a:pPr indent="-228600">
              <a:lnSpc>
                <a:spcPct val="90000"/>
              </a:lnSpc>
            </a:pPr>
            <a:endParaRPr lang="en-US" dirty="0"/>
          </a:p>
          <a:p>
            <a:pPr indent="-228600">
              <a:lnSpc>
                <a:spcPct val="90000"/>
              </a:lnSpc>
            </a:pPr>
            <a:endParaRPr lang="en-US" dirty="0"/>
          </a:p>
        </p:txBody>
      </p:sp>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2365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15B951-7BB9-2441-80A1-8BDB594157E5}"/>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Activity: Sustainability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703F9DE-E0C7-D544-8EA9-B8EF82667A13}"/>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200"/>
              <a:t>Ask students to choose an organization and explore the sustainability challenges which it faces.</a:t>
            </a:r>
          </a:p>
          <a:p>
            <a:pPr marL="0" indent="0">
              <a:lnSpc>
                <a:spcPct val="90000"/>
              </a:lnSpc>
              <a:buNone/>
            </a:pPr>
            <a:r>
              <a:rPr lang="en-GB" sz="2200"/>
              <a:t>  </a:t>
            </a:r>
          </a:p>
          <a:p>
            <a:pPr>
              <a:lnSpc>
                <a:spcPct val="90000"/>
              </a:lnSpc>
            </a:pPr>
            <a:r>
              <a:rPr lang="en-GB" sz="2200"/>
              <a:t>What will they be forced to think about as a result of growing regulation? </a:t>
            </a:r>
          </a:p>
          <a:p>
            <a:pPr>
              <a:lnSpc>
                <a:spcPct val="90000"/>
              </a:lnSpc>
            </a:pPr>
            <a:r>
              <a:rPr lang="en-GB" sz="2200"/>
              <a:t>Where might there be opportunities to cut costs or grow the business? </a:t>
            </a:r>
          </a:p>
          <a:p>
            <a:pPr>
              <a:lnSpc>
                <a:spcPct val="90000"/>
              </a:lnSpc>
            </a:pPr>
            <a:r>
              <a:rPr lang="en-GB" sz="2200"/>
              <a:t>What might their strategy look like for sustainability-led innovation? </a:t>
            </a:r>
          </a:p>
          <a:p>
            <a:pPr>
              <a:lnSpc>
                <a:spcPct val="90000"/>
              </a:lnSpc>
            </a:pPr>
            <a:r>
              <a:rPr lang="en-GB" sz="2200"/>
              <a:t>What challenges might implementing it pose?</a:t>
            </a:r>
          </a:p>
          <a:p>
            <a:pPr>
              <a:lnSpc>
                <a:spcPct val="90000"/>
              </a:lnSpc>
            </a:pPr>
            <a:endParaRPr lang="en-US" sz="2200"/>
          </a:p>
        </p:txBody>
      </p:sp>
    </p:spTree>
    <p:extLst>
      <p:ext uri="{BB962C8B-B14F-4D97-AF65-F5344CB8AC3E}">
        <p14:creationId xmlns:p14="http://schemas.microsoft.com/office/powerpoint/2010/main" val="16688475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743EA9-DAC0-D24A-B241-CCF800DE8429}"/>
              </a:ext>
            </a:extLst>
          </p:cNvPr>
          <p:cNvSpPr>
            <a:spLocks noGrp="1"/>
          </p:cNvSpPr>
          <p:nvPr>
            <p:ph type="title"/>
          </p:nvPr>
        </p:nvSpPr>
        <p:spPr>
          <a:xfrm>
            <a:off x="515125" y="1153572"/>
            <a:ext cx="2400300" cy="4461163"/>
          </a:xfrm>
        </p:spPr>
        <p:txBody>
          <a:bodyPr>
            <a:normAutofit/>
          </a:bodyPr>
          <a:lstStyle/>
          <a:p>
            <a:r>
              <a:rPr lang="en-US" sz="2800">
                <a:solidFill>
                  <a:srgbClr val="FFFFFF"/>
                </a:solidFill>
              </a:rPr>
              <a:t>Activity: Exploring sustainability-led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79686CB-3D82-004A-8749-7F506BC63D2E}"/>
              </a:ext>
            </a:extLst>
          </p:cNvPr>
          <p:cNvSpPr>
            <a:spLocks noGrp="1"/>
          </p:cNvSpPr>
          <p:nvPr>
            <p:ph idx="1"/>
          </p:nvPr>
        </p:nvSpPr>
        <p:spPr>
          <a:xfrm>
            <a:off x="3335481" y="591344"/>
            <a:ext cx="5179868" cy="5585619"/>
          </a:xfrm>
        </p:spPr>
        <p:txBody>
          <a:bodyPr anchor="ctr">
            <a:normAutofit/>
          </a:bodyPr>
          <a:lstStyle/>
          <a:p>
            <a:pPr lvl="0">
              <a:lnSpc>
                <a:spcPct val="90000"/>
              </a:lnSpc>
            </a:pPr>
            <a:r>
              <a:rPr lang="en-GB" sz="2700"/>
              <a:t>Ask students to choose an organization to focus on and then, using the 4Ps framework,  explore and identify opportunities for sustainability-led innovation.</a:t>
            </a:r>
          </a:p>
          <a:p>
            <a:pPr lvl="0">
              <a:lnSpc>
                <a:spcPct val="90000"/>
              </a:lnSpc>
            </a:pPr>
            <a:endParaRPr lang="en-GB" sz="2700"/>
          </a:p>
          <a:p>
            <a:pPr lvl="0">
              <a:lnSpc>
                <a:spcPct val="90000"/>
              </a:lnSpc>
            </a:pPr>
            <a:r>
              <a:rPr lang="en-GB" sz="2700"/>
              <a:t>Prepare a short presentation highlighting the key ‘do better’ (incremental innovation) and ‘do different’ (radical innovation) options.  What might the challenges be in implementing such a strategy?</a:t>
            </a:r>
          </a:p>
          <a:p>
            <a:pPr>
              <a:lnSpc>
                <a:spcPct val="90000"/>
              </a:lnSpc>
            </a:pPr>
            <a:endParaRPr lang="en-US" sz="2700"/>
          </a:p>
        </p:txBody>
      </p:sp>
    </p:spTree>
    <p:extLst>
      <p:ext uri="{BB962C8B-B14F-4D97-AF65-F5344CB8AC3E}">
        <p14:creationId xmlns:p14="http://schemas.microsoft.com/office/powerpoint/2010/main" val="17586230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BE8F0F-9030-F143-BE9C-169F9794BCE0}"/>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16C1139-450D-4F43-B971-6617A972618A}"/>
              </a:ext>
            </a:extLst>
          </p:cNvPr>
          <p:cNvSpPr>
            <a:spLocks noGrp="1"/>
          </p:cNvSpPr>
          <p:nvPr>
            <p:ph idx="1"/>
          </p:nvPr>
        </p:nvSpPr>
        <p:spPr>
          <a:xfrm>
            <a:off x="3335481" y="591344"/>
            <a:ext cx="5179868" cy="5585619"/>
          </a:xfrm>
        </p:spPr>
        <p:txBody>
          <a:bodyPr anchor="ctr">
            <a:normAutofit/>
          </a:bodyPr>
          <a:lstStyle/>
          <a:p>
            <a:pPr>
              <a:lnSpc>
                <a:spcPct val="90000"/>
              </a:lnSpc>
            </a:pPr>
            <a:r>
              <a:rPr lang="en-GB" sz="2000" dirty="0"/>
              <a:t>‘Dragon’s Den’ is a popular BBC TV programme in which successful entrepreneurs and venture capitalists listen to would-be entrepreneurs pitch for money to fund their business ideas.  Appoint several team members to be the (tough, hard-nosed and business-minded ‘dragons’) and the remainder of the group should prepare ‘pitches’ setting out how they would carry through a social innovation.  </a:t>
            </a:r>
          </a:p>
          <a:p>
            <a:pPr>
              <a:lnSpc>
                <a:spcPct val="90000"/>
              </a:lnSpc>
            </a:pPr>
            <a:endParaRPr lang="en-GB" sz="2000" dirty="0"/>
          </a:p>
          <a:p>
            <a:pPr>
              <a:lnSpc>
                <a:spcPct val="90000"/>
              </a:lnSpc>
            </a:pPr>
            <a:r>
              <a:rPr lang="en-GB" sz="2000" dirty="0"/>
              <a:t>Groups should spend a few minutes brainstorming around key areas of social need – and at the same time the Dragons should think of the key questions to ask of any entrepreneur to assess whether and how far they have thought through their business idea.</a:t>
            </a:r>
          </a:p>
          <a:p>
            <a:pPr>
              <a:lnSpc>
                <a:spcPct val="90000"/>
              </a:lnSpc>
            </a:pPr>
            <a:endParaRPr lang="en-US" sz="2000" dirty="0"/>
          </a:p>
        </p:txBody>
      </p:sp>
    </p:spTree>
    <p:extLst>
      <p:ext uri="{BB962C8B-B14F-4D97-AF65-F5344CB8AC3E}">
        <p14:creationId xmlns:p14="http://schemas.microsoft.com/office/powerpoint/2010/main" val="11308950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BE7DF5-BABC-4140-BAD7-C722E80787C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C4C5F03-4C1F-D94F-BABA-A8AA5A7C720C}"/>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a:t> </a:t>
            </a:r>
            <a:r>
              <a:rPr lang="en-GB" sz="2200"/>
              <a:t>Identify an area of social need and develop some ideas for possible innovative solutions which might help deal with this challenge.  Then think about how you would turn this into a business plan and convince other people to back your idea or help you take it forward.  </a:t>
            </a:r>
          </a:p>
          <a:p>
            <a:pPr>
              <a:lnSpc>
                <a:spcPct val="90000"/>
              </a:lnSpc>
            </a:pPr>
            <a:endParaRPr lang="en-GB" sz="2200"/>
          </a:p>
          <a:p>
            <a:pPr>
              <a:lnSpc>
                <a:spcPct val="90000"/>
              </a:lnSpc>
            </a:pPr>
            <a:r>
              <a:rPr lang="en-GB" sz="2200"/>
              <a:t>Think about the likely questions they would ask and how you would make a strong case to convince the more sceptical members of your audience.  </a:t>
            </a:r>
          </a:p>
          <a:p>
            <a:pPr>
              <a:lnSpc>
                <a:spcPct val="90000"/>
              </a:lnSpc>
            </a:pPr>
            <a:endParaRPr lang="en-GB" sz="2200"/>
          </a:p>
          <a:p>
            <a:pPr>
              <a:lnSpc>
                <a:spcPct val="90000"/>
              </a:lnSpc>
            </a:pPr>
            <a:r>
              <a:rPr lang="en-GB" sz="2200"/>
              <a:t>Write your ideas up as an outline business plan.</a:t>
            </a:r>
          </a:p>
          <a:p>
            <a:pPr>
              <a:lnSpc>
                <a:spcPct val="90000"/>
              </a:lnSpc>
            </a:pPr>
            <a:endParaRPr lang="en-US" sz="2200"/>
          </a:p>
        </p:txBody>
      </p:sp>
    </p:spTree>
    <p:extLst>
      <p:ext uri="{BB962C8B-B14F-4D97-AF65-F5344CB8AC3E}">
        <p14:creationId xmlns:p14="http://schemas.microsoft.com/office/powerpoint/2010/main" val="13619072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563DA3-E948-F64A-A40A-D2A619E217E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479EBAA-610E-9A42-BFF7-F086C225EFA2}"/>
              </a:ext>
            </a:extLst>
          </p:cNvPr>
          <p:cNvSpPr>
            <a:spLocks noGrp="1"/>
          </p:cNvSpPr>
          <p:nvPr>
            <p:ph idx="1"/>
          </p:nvPr>
        </p:nvSpPr>
        <p:spPr>
          <a:xfrm>
            <a:off x="3335481" y="591344"/>
            <a:ext cx="5179868" cy="5585619"/>
          </a:xfrm>
        </p:spPr>
        <p:txBody>
          <a:bodyPr anchor="ctr">
            <a:normAutofit/>
          </a:bodyPr>
          <a:lstStyle/>
          <a:p>
            <a:pPr>
              <a:lnSpc>
                <a:spcPct val="90000"/>
              </a:lnSpc>
            </a:pPr>
            <a:r>
              <a:rPr lang="en-GB" sz="2700" dirty="0"/>
              <a:t>Read the ‘Better Place’ case study (on the Portal) and carry out additional research on the project.  Prepare an analysis which positions this innovation on the NBS framework and discuss why you think it failed.  What might the team have done differently and what lessons can you draw out for successful management of similar ventures in the future?</a:t>
            </a:r>
          </a:p>
          <a:p>
            <a:pPr>
              <a:lnSpc>
                <a:spcPct val="90000"/>
              </a:lnSpc>
            </a:pPr>
            <a:endParaRPr lang="en-US" sz="2700" dirty="0"/>
          </a:p>
        </p:txBody>
      </p:sp>
    </p:spTree>
    <p:extLst>
      <p:ext uri="{BB962C8B-B14F-4D97-AF65-F5344CB8AC3E}">
        <p14:creationId xmlns:p14="http://schemas.microsoft.com/office/powerpoint/2010/main" val="19759143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AD80B4-D55C-EB42-9714-AEF28F32476C}"/>
              </a:ext>
            </a:extLst>
          </p:cNvPr>
          <p:cNvSpPr>
            <a:spLocks noGrp="1"/>
          </p:cNvSpPr>
          <p:nvPr>
            <p:ph type="title"/>
          </p:nvPr>
        </p:nvSpPr>
        <p:spPr>
          <a:xfrm>
            <a:off x="515125" y="1153572"/>
            <a:ext cx="2400300" cy="4461163"/>
          </a:xfrm>
        </p:spPr>
        <p:txBody>
          <a:bodyPr>
            <a:normAutofit/>
          </a:bodyPr>
          <a:lstStyle/>
          <a:p>
            <a:r>
              <a:rPr lang="en-US">
                <a:solidFill>
                  <a:srgbClr val="FFFFFF"/>
                </a:solidFill>
              </a:rPr>
              <a:t>Tools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98C0A98-DEE9-C340-BEDA-4B37B2A6DEDC}"/>
              </a:ext>
            </a:extLst>
          </p:cNvPr>
          <p:cNvSpPr>
            <a:spLocks noGrp="1"/>
          </p:cNvSpPr>
          <p:nvPr>
            <p:ph idx="1"/>
          </p:nvPr>
        </p:nvSpPr>
        <p:spPr>
          <a:xfrm>
            <a:off x="3335481" y="591344"/>
            <a:ext cx="5179868" cy="5585619"/>
          </a:xfrm>
        </p:spPr>
        <p:txBody>
          <a:bodyPr anchor="ctr">
            <a:normAutofit/>
          </a:bodyPr>
          <a:lstStyle/>
          <a:p>
            <a:r>
              <a:rPr lang="en-GB" dirty="0"/>
              <a:t>This is a link to the </a:t>
            </a:r>
            <a:r>
              <a:rPr lang="en-GB" dirty="0">
                <a:hlinkClick r:id="rId2"/>
              </a:rPr>
              <a:t>core framework for responsible innovation</a:t>
            </a:r>
            <a:r>
              <a:rPr lang="en-GB" dirty="0"/>
              <a:t> developed by Richard Owen and colleagues.</a:t>
            </a:r>
          </a:p>
          <a:p>
            <a:endParaRPr lang="en-US" dirty="0"/>
          </a:p>
          <a:p>
            <a:endParaRPr lang="en-US" dirty="0"/>
          </a:p>
        </p:txBody>
      </p:sp>
    </p:spTree>
    <p:extLst>
      <p:ext uri="{BB962C8B-B14F-4D97-AF65-F5344CB8AC3E}">
        <p14:creationId xmlns:p14="http://schemas.microsoft.com/office/powerpoint/2010/main" val="25568999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BFA25C-7AD0-4146-A536-0579C06C0701}"/>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47E4F78-8809-7542-9483-0ACE5C7D74F2}"/>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700"/>
              <a:t>1.	Give a man a fish, and you feed him for a day.  Teach a man to fish and he can feed himself for life. How might you put this principle into practice through a social entrepreneurship venture –and what might stop you making a success of this?</a:t>
            </a:r>
          </a:p>
          <a:p>
            <a:pPr marL="0" indent="0">
              <a:lnSpc>
                <a:spcPct val="90000"/>
              </a:lnSpc>
              <a:buNone/>
            </a:pPr>
            <a:r>
              <a:rPr lang="en-GB" sz="2700"/>
              <a:t> </a:t>
            </a:r>
          </a:p>
          <a:p>
            <a:pPr marL="0" indent="0">
              <a:lnSpc>
                <a:spcPct val="90000"/>
              </a:lnSpc>
              <a:buNone/>
            </a:pPr>
            <a:r>
              <a:rPr lang="en-GB" sz="2700"/>
              <a:t>2.	‘Some problems have no solution’ – a somewhat pessimistic Japanese saying.  How might a social entrepreneur challenge this</a:t>
            </a:r>
            <a:endParaRPr lang="en-US" sz="2700"/>
          </a:p>
        </p:txBody>
      </p:sp>
    </p:spTree>
    <p:extLst>
      <p:ext uri="{BB962C8B-B14F-4D97-AF65-F5344CB8AC3E}">
        <p14:creationId xmlns:p14="http://schemas.microsoft.com/office/powerpoint/2010/main" val="12738534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BFA25C-7AD0-4146-A536-0579C06C0701}"/>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47E4F78-8809-7542-9483-0ACE5C7D74F2}"/>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700"/>
              <a:t>3.	Jasmine Chang has approached you – as an innovation advisor - with a novel treatment for childhood diarrhoea.  How would you advise her to take this idea forward to make a difference.</a:t>
            </a:r>
          </a:p>
          <a:p>
            <a:pPr marL="0" indent="0">
              <a:lnSpc>
                <a:spcPct val="90000"/>
              </a:lnSpc>
              <a:buNone/>
            </a:pPr>
            <a:r>
              <a:rPr lang="en-GB" sz="2700"/>
              <a:t> </a:t>
            </a:r>
          </a:p>
          <a:p>
            <a:pPr marL="0" indent="0">
              <a:lnSpc>
                <a:spcPct val="90000"/>
              </a:lnSpc>
              <a:buNone/>
            </a:pPr>
            <a:r>
              <a:rPr lang="en-GB" sz="2700"/>
              <a:t>4.	In many ways taking a socially valuable concept to market has much in common with ‘conventional’ new product development.  Where do you see the similarities and differences?</a:t>
            </a:r>
          </a:p>
        </p:txBody>
      </p:sp>
    </p:spTree>
    <p:extLst>
      <p:ext uri="{BB962C8B-B14F-4D97-AF65-F5344CB8AC3E}">
        <p14:creationId xmlns:p14="http://schemas.microsoft.com/office/powerpoint/2010/main" val="14854077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BFA25C-7AD0-4146-A536-0579C06C0701}"/>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47E4F78-8809-7542-9483-0ACE5C7D74F2}"/>
              </a:ext>
            </a:extLst>
          </p:cNvPr>
          <p:cNvSpPr>
            <a:spLocks noGrp="1"/>
          </p:cNvSpPr>
          <p:nvPr>
            <p:ph idx="1"/>
          </p:nvPr>
        </p:nvSpPr>
        <p:spPr>
          <a:xfrm>
            <a:off x="3335481" y="591344"/>
            <a:ext cx="5179868" cy="5585619"/>
          </a:xfrm>
        </p:spPr>
        <p:txBody>
          <a:bodyPr anchor="ctr">
            <a:normAutofit/>
          </a:bodyPr>
          <a:lstStyle/>
          <a:p>
            <a:pPr marL="514350" lvl="0" indent="-514350">
              <a:buNone/>
            </a:pPr>
            <a:r>
              <a:rPr lang="en-US" sz="1700"/>
              <a:t>5.		In what ways can innovation contribute to or potentially constrain sustainability?</a:t>
            </a:r>
          </a:p>
          <a:p>
            <a:pPr marL="514350" lvl="0" indent="-514350">
              <a:buAutoNum type="arabicPeriod"/>
            </a:pPr>
            <a:endParaRPr lang="en-US" sz="1700"/>
          </a:p>
          <a:p>
            <a:pPr marL="0" lvl="0" indent="0">
              <a:buNone/>
            </a:pPr>
            <a:r>
              <a:rPr lang="en-US" sz="1700"/>
              <a:t>6. 	Using the NBS framework, identify an example of an innovation which illustrates:</a:t>
            </a:r>
          </a:p>
          <a:p>
            <a:pPr lvl="1"/>
            <a:r>
              <a:rPr lang="en-US" sz="1700"/>
              <a:t>Operational optimization</a:t>
            </a:r>
          </a:p>
          <a:p>
            <a:pPr lvl="1"/>
            <a:r>
              <a:rPr lang="en-US" sz="1700"/>
              <a:t>Organizational transformation</a:t>
            </a:r>
          </a:p>
          <a:p>
            <a:pPr lvl="1"/>
            <a:r>
              <a:rPr lang="en-US" sz="1700"/>
              <a:t>Systems building</a:t>
            </a:r>
            <a:endParaRPr lang="en-GB" sz="1700"/>
          </a:p>
        </p:txBody>
      </p:sp>
    </p:spTree>
    <p:extLst>
      <p:ext uri="{BB962C8B-B14F-4D97-AF65-F5344CB8AC3E}">
        <p14:creationId xmlns:p14="http://schemas.microsoft.com/office/powerpoint/2010/main" val="30347395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BFA25C-7AD0-4146-A536-0579C06C0701}"/>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47E4F78-8809-7542-9483-0ACE5C7D74F2}"/>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a:t>7.		</a:t>
            </a:r>
            <a:r>
              <a:rPr lang="en-GB" sz="2500"/>
              <a:t>Jennifer Peters has an idea for water treatment which could help provide clean drinking water to millions of people in Africa.  Using ideas from the Lifeline story, what advice would you give her to help her take this forward?  </a:t>
            </a:r>
          </a:p>
          <a:p>
            <a:pPr>
              <a:lnSpc>
                <a:spcPct val="90000"/>
              </a:lnSpc>
            </a:pPr>
            <a:r>
              <a:rPr lang="en-GB" sz="2500"/>
              <a:t>And what should she watch out for?</a:t>
            </a:r>
          </a:p>
          <a:p>
            <a:pPr>
              <a:lnSpc>
                <a:spcPct val="90000"/>
              </a:lnSpc>
            </a:pPr>
            <a:endParaRPr lang="en-GB" sz="2500"/>
          </a:p>
          <a:p>
            <a:pPr>
              <a:lnSpc>
                <a:spcPct val="90000"/>
              </a:lnSpc>
            </a:pPr>
            <a:r>
              <a:rPr lang="en-GB" sz="2500"/>
              <a:t>Do you think it’s easier – or harder – to create a sustainable business venture with a social entrepreneurship idea?  Why?	</a:t>
            </a:r>
          </a:p>
        </p:txBody>
      </p:sp>
    </p:spTree>
    <p:extLst>
      <p:ext uri="{BB962C8B-B14F-4D97-AF65-F5344CB8AC3E}">
        <p14:creationId xmlns:p14="http://schemas.microsoft.com/office/powerpoint/2010/main" val="3682377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2966</TotalTime>
  <Words>2228</Words>
  <Application>Microsoft Macintosh PowerPoint</Application>
  <PresentationFormat>On-screen Show (4:3)</PresentationFormat>
  <Paragraphs>229</Paragraphs>
  <Slides>52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Teaching Resources and Instructors’ Guidelines</vt:lpstr>
      <vt:lpstr>Chapter 14: Capturing social value</vt:lpstr>
      <vt:lpstr>Learning objectives</vt:lpstr>
      <vt:lpstr>Core themes and material from the book</vt:lpstr>
      <vt:lpstr>PowerPoint Presentation</vt:lpstr>
      <vt:lpstr>PowerPoint Presentation</vt:lpstr>
      <vt:lpstr>Characteristics of social innovations</vt:lpstr>
      <vt:lpstr>Characteristics of social innovations</vt:lpstr>
      <vt:lpstr>Social innovators….</vt:lpstr>
      <vt:lpstr>Challenges in social innovation</vt:lpstr>
      <vt:lpstr>PowerPoint Presentation</vt:lpstr>
      <vt:lpstr>Social identity matters</vt:lpstr>
      <vt:lpstr>Corporate social responsibility</vt:lpstr>
      <vt:lpstr>Sustainability</vt:lpstr>
      <vt:lpstr>The threat….</vt:lpstr>
      <vt:lpstr>… and the opportunity</vt:lpstr>
      <vt:lpstr>Scope for innovation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typology of sustainable innovations</vt:lpstr>
      <vt:lpstr>Mapping sustainability to the innovation process</vt:lpstr>
      <vt:lpstr>Challenges in managing sustainability-led innovation</vt:lpstr>
      <vt:lpstr>Responsible innovation</vt:lpstr>
      <vt:lpstr>Summary</vt:lpstr>
      <vt:lpstr>Summary</vt:lpstr>
      <vt:lpstr>Summary</vt:lpstr>
      <vt:lpstr>Videos</vt:lpstr>
      <vt:lpstr>Videos</vt:lpstr>
      <vt:lpstr>Videos</vt:lpstr>
      <vt:lpstr>Podcasts and blogs</vt:lpstr>
      <vt:lpstr>Cases </vt:lpstr>
      <vt:lpstr>Cases</vt:lpstr>
      <vt:lpstr>Activities</vt:lpstr>
      <vt:lpstr>Activities</vt:lpstr>
      <vt:lpstr>PowerPoint Presentation</vt:lpstr>
      <vt:lpstr>Activity: Sustainability</vt:lpstr>
      <vt:lpstr>Activity: Exploring sustainability-led innovation</vt:lpstr>
      <vt:lpstr>Activities</vt:lpstr>
      <vt:lpstr>Activities</vt:lpstr>
      <vt:lpstr>Activities</vt:lpstr>
      <vt:lpstr>Tools </vt:lpstr>
      <vt:lpstr>Assessments and discussion questions</vt:lpstr>
      <vt:lpstr>Assessments and discussion questions</vt:lpstr>
      <vt:lpstr>Assessments and discussion questions</vt:lpstr>
      <vt:lpstr>Assessments and discussion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9</cp:revision>
  <dcterms:created xsi:type="dcterms:W3CDTF">2020-11-14T15:46:25Z</dcterms:created>
  <dcterms:modified xsi:type="dcterms:W3CDTF">2024-11-03T18:38:20Z</dcterms:modified>
</cp:coreProperties>
</file>