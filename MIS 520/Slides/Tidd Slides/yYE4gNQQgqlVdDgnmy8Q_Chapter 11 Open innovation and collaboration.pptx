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57" r:id="rId2"/>
    <p:sldId id="258" r:id="rId3"/>
    <p:sldId id="259" r:id="rId4"/>
    <p:sldId id="332" r:id="rId5"/>
    <p:sldId id="395" r:id="rId6"/>
    <p:sldId id="396" r:id="rId7"/>
    <p:sldId id="260" r:id="rId8"/>
    <p:sldId id="261" r:id="rId9"/>
    <p:sldId id="262" r:id="rId10"/>
    <p:sldId id="397" r:id="rId11"/>
    <p:sldId id="398" r:id="rId12"/>
    <p:sldId id="263" r:id="rId13"/>
    <p:sldId id="268" r:id="rId14"/>
    <p:sldId id="271" r:id="rId15"/>
    <p:sldId id="272" r:id="rId16"/>
    <p:sldId id="273" r:id="rId17"/>
    <p:sldId id="274" r:id="rId18"/>
    <p:sldId id="275" r:id="rId19"/>
    <p:sldId id="276" r:id="rId20"/>
    <p:sldId id="334" r:id="rId21"/>
    <p:sldId id="399" r:id="rId22"/>
    <p:sldId id="281" r:id="rId23"/>
    <p:sldId id="264" r:id="rId24"/>
    <p:sldId id="267" r:id="rId25"/>
    <p:sldId id="282" r:id="rId26"/>
    <p:sldId id="283" r:id="rId27"/>
    <p:sldId id="345" r:id="rId28"/>
    <p:sldId id="344" r:id="rId29"/>
    <p:sldId id="269" r:id="rId30"/>
    <p:sldId id="270" r:id="rId31"/>
    <p:sldId id="353" r:id="rId32"/>
    <p:sldId id="394" r:id="rId33"/>
    <p:sldId id="365" r:id="rId34"/>
    <p:sldId id="277" r:id="rId35"/>
    <p:sldId id="278" r:id="rId36"/>
    <p:sldId id="279" r:id="rId37"/>
    <p:sldId id="280" r:id="rId3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7"/>
    <p:restoredTop sz="94752"/>
  </p:normalViewPr>
  <p:slideViewPr>
    <p:cSldViewPr>
      <p:cViewPr varScale="1">
        <p:scale>
          <a:sx n="116" d="100"/>
          <a:sy n="116" d="100"/>
        </p:scale>
        <p:origin x="1760" y="184"/>
      </p:cViewPr>
      <p:guideLst>
        <p:guide orient="horz" pos="2160"/>
        <p:guide pos="2880"/>
      </p:guideLst>
    </p:cSldViewPr>
  </p:slideViewPr>
  <p:notesTextViewPr>
    <p:cViewPr>
      <p:scale>
        <a:sx n="100" d="100"/>
        <a:sy n="100" d="100"/>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2541E62-75A9-4624-8D0B-8EAEBAEEB06D}" type="doc">
      <dgm:prSet loTypeId="urn:microsoft.com/office/officeart/2005/8/layout/default" loCatId="list" qsTypeId="urn:microsoft.com/office/officeart/2005/8/quickstyle/simple1" qsCatId="simple" csTypeId="urn:microsoft.com/office/officeart/2005/8/colors/colorful2" csCatId="colorful"/>
      <dgm:spPr/>
      <dgm:t>
        <a:bodyPr/>
        <a:lstStyle/>
        <a:p>
          <a:endParaRPr lang="en-US"/>
        </a:p>
      </dgm:t>
    </dgm:pt>
    <dgm:pt modelId="{D02860C7-F84A-4F60-8A97-60E5154345E6}">
      <dgm:prSet/>
      <dgm:spPr/>
      <dgm:t>
        <a:bodyPr/>
        <a:lstStyle/>
        <a:p>
          <a:r>
            <a:rPr lang="en-GB"/>
            <a:t>• Joint ventures and alliances</a:t>
          </a:r>
          <a:endParaRPr lang="en-US"/>
        </a:p>
      </dgm:t>
    </dgm:pt>
    <dgm:pt modelId="{8405B9BD-7B70-4D4F-B886-E210FF45EEFF}" type="parTrans" cxnId="{C4EA73CD-294A-493F-86AD-B08348FEAD12}">
      <dgm:prSet/>
      <dgm:spPr/>
      <dgm:t>
        <a:bodyPr/>
        <a:lstStyle/>
        <a:p>
          <a:endParaRPr lang="en-US"/>
        </a:p>
      </dgm:t>
    </dgm:pt>
    <dgm:pt modelId="{68E71558-997A-444C-B1C5-C193C4F65D8F}" type="sibTrans" cxnId="{C4EA73CD-294A-493F-86AD-B08348FEAD12}">
      <dgm:prSet/>
      <dgm:spPr/>
      <dgm:t>
        <a:bodyPr/>
        <a:lstStyle/>
        <a:p>
          <a:endParaRPr lang="en-US"/>
        </a:p>
      </dgm:t>
    </dgm:pt>
    <dgm:pt modelId="{634A813D-161E-4E80-8E0D-34FB5D531CC6}">
      <dgm:prSet/>
      <dgm:spPr/>
      <dgm:t>
        <a:bodyPr/>
        <a:lstStyle/>
        <a:p>
          <a:r>
            <a:rPr lang="en-GB"/>
            <a:t>• Role of supplier innovation</a:t>
          </a:r>
          <a:endParaRPr lang="en-US"/>
        </a:p>
      </dgm:t>
    </dgm:pt>
    <dgm:pt modelId="{A7BFCFA8-05EE-49F3-B574-32DA5C82B9A6}" type="parTrans" cxnId="{910E873D-7BF8-446B-AE1E-A045DAC4B526}">
      <dgm:prSet/>
      <dgm:spPr/>
      <dgm:t>
        <a:bodyPr/>
        <a:lstStyle/>
        <a:p>
          <a:endParaRPr lang="en-US"/>
        </a:p>
      </dgm:t>
    </dgm:pt>
    <dgm:pt modelId="{BE713E88-DC19-48E6-B0A3-A55E199C67D7}" type="sibTrans" cxnId="{910E873D-7BF8-446B-AE1E-A045DAC4B526}">
      <dgm:prSet/>
      <dgm:spPr/>
      <dgm:t>
        <a:bodyPr/>
        <a:lstStyle/>
        <a:p>
          <a:endParaRPr lang="en-US"/>
        </a:p>
      </dgm:t>
    </dgm:pt>
    <dgm:pt modelId="{37793F5B-C8AF-466E-8FD5-88B1B503D287}">
      <dgm:prSet/>
      <dgm:spPr/>
      <dgm:t>
        <a:bodyPr/>
        <a:lstStyle/>
        <a:p>
          <a:r>
            <a:rPr lang="en-GB"/>
            <a:t>• Forms and patterns of collaboration</a:t>
          </a:r>
          <a:endParaRPr lang="en-US"/>
        </a:p>
      </dgm:t>
    </dgm:pt>
    <dgm:pt modelId="{B2F831D0-C3A7-4834-BBA1-4189B8694033}" type="parTrans" cxnId="{752E2592-59E9-4F45-9980-C1E5FB535B28}">
      <dgm:prSet/>
      <dgm:spPr/>
      <dgm:t>
        <a:bodyPr/>
        <a:lstStyle/>
        <a:p>
          <a:endParaRPr lang="en-US"/>
        </a:p>
      </dgm:t>
    </dgm:pt>
    <dgm:pt modelId="{FFAAE7EF-13DB-4BA2-B0CF-FCFD79DC0E97}" type="sibTrans" cxnId="{752E2592-59E9-4F45-9980-C1E5FB535B28}">
      <dgm:prSet/>
      <dgm:spPr/>
      <dgm:t>
        <a:bodyPr/>
        <a:lstStyle/>
        <a:p>
          <a:endParaRPr lang="en-US"/>
        </a:p>
      </dgm:t>
    </dgm:pt>
    <dgm:pt modelId="{AF77CAFE-2CF2-49E5-B420-EAC0DF9C0ACD}">
      <dgm:prSet/>
      <dgm:spPr/>
      <dgm:t>
        <a:bodyPr/>
        <a:lstStyle/>
        <a:p>
          <a:r>
            <a:rPr lang="en-GB"/>
            <a:t>• Influence of technology and organization</a:t>
          </a:r>
          <a:endParaRPr lang="en-US"/>
        </a:p>
      </dgm:t>
    </dgm:pt>
    <dgm:pt modelId="{7CFDAD97-DE59-4B7F-AB53-68DA305189E7}" type="parTrans" cxnId="{F10A6D17-1794-484E-860E-B95674D06E27}">
      <dgm:prSet/>
      <dgm:spPr/>
      <dgm:t>
        <a:bodyPr/>
        <a:lstStyle/>
        <a:p>
          <a:endParaRPr lang="en-US"/>
        </a:p>
      </dgm:t>
    </dgm:pt>
    <dgm:pt modelId="{7F7ED8B2-88A0-4A05-BBB2-CD3F57E43A77}" type="sibTrans" cxnId="{F10A6D17-1794-484E-860E-B95674D06E27}">
      <dgm:prSet/>
      <dgm:spPr/>
      <dgm:t>
        <a:bodyPr/>
        <a:lstStyle/>
        <a:p>
          <a:endParaRPr lang="en-US"/>
        </a:p>
      </dgm:t>
    </dgm:pt>
    <dgm:pt modelId="{08166340-FFF6-452A-9E27-AFEABE5F9D67}">
      <dgm:prSet/>
      <dgm:spPr/>
      <dgm:t>
        <a:bodyPr/>
        <a:lstStyle/>
        <a:p>
          <a:r>
            <a:rPr lang="en-GB"/>
            <a:t>• Supplier collaboration</a:t>
          </a:r>
          <a:endParaRPr lang="en-US"/>
        </a:p>
      </dgm:t>
    </dgm:pt>
    <dgm:pt modelId="{65C5ED98-1F2F-42E5-BA6F-2DD2F55E73E8}" type="parTrans" cxnId="{D303D027-0F21-4373-9111-19562F0D85B1}">
      <dgm:prSet/>
      <dgm:spPr/>
      <dgm:t>
        <a:bodyPr/>
        <a:lstStyle/>
        <a:p>
          <a:endParaRPr lang="en-US"/>
        </a:p>
      </dgm:t>
    </dgm:pt>
    <dgm:pt modelId="{9FE293D6-B52B-4AB9-889E-E72D7DF987EF}" type="sibTrans" cxnId="{D303D027-0F21-4373-9111-19562F0D85B1}">
      <dgm:prSet/>
      <dgm:spPr/>
      <dgm:t>
        <a:bodyPr/>
        <a:lstStyle/>
        <a:p>
          <a:endParaRPr lang="en-US"/>
        </a:p>
      </dgm:t>
    </dgm:pt>
    <dgm:pt modelId="{7CF1C73C-ECCF-424E-8BD9-BF693D66052A}">
      <dgm:prSet/>
      <dgm:spPr/>
      <dgm:t>
        <a:bodyPr/>
        <a:lstStyle/>
        <a:p>
          <a:r>
            <a:rPr lang="en-GB"/>
            <a:t>• User-led innovation</a:t>
          </a:r>
          <a:endParaRPr lang="en-US"/>
        </a:p>
      </dgm:t>
    </dgm:pt>
    <dgm:pt modelId="{5D35E9D8-AD4B-4C6F-B778-8CC685E985E3}" type="parTrans" cxnId="{191ADA06-7159-4144-99A9-13B679C99678}">
      <dgm:prSet/>
      <dgm:spPr/>
      <dgm:t>
        <a:bodyPr/>
        <a:lstStyle/>
        <a:p>
          <a:endParaRPr lang="en-US"/>
        </a:p>
      </dgm:t>
    </dgm:pt>
    <dgm:pt modelId="{EAEBA93B-1C55-462C-9B9A-5321F5171CE1}" type="sibTrans" cxnId="{191ADA06-7159-4144-99A9-13B679C99678}">
      <dgm:prSet/>
      <dgm:spPr/>
      <dgm:t>
        <a:bodyPr/>
        <a:lstStyle/>
        <a:p>
          <a:endParaRPr lang="en-US"/>
        </a:p>
      </dgm:t>
    </dgm:pt>
    <dgm:pt modelId="{17761828-C972-4275-BBFD-733A6D03A209}">
      <dgm:prSet/>
      <dgm:spPr/>
      <dgm:t>
        <a:bodyPr/>
        <a:lstStyle/>
        <a:p>
          <a:r>
            <a:rPr lang="en-GB"/>
            <a:t>• Extreme users</a:t>
          </a:r>
          <a:endParaRPr lang="en-US"/>
        </a:p>
      </dgm:t>
    </dgm:pt>
    <dgm:pt modelId="{FF48E595-D13D-422B-8E62-5CEED91244E7}" type="parTrans" cxnId="{6544A9BC-7561-48CE-B552-B9DA23771FBB}">
      <dgm:prSet/>
      <dgm:spPr/>
      <dgm:t>
        <a:bodyPr/>
        <a:lstStyle/>
        <a:p>
          <a:endParaRPr lang="en-US"/>
        </a:p>
      </dgm:t>
    </dgm:pt>
    <dgm:pt modelId="{9564AF2F-8720-44A7-BDBF-DACDBC336B0B}" type="sibTrans" cxnId="{6544A9BC-7561-48CE-B552-B9DA23771FBB}">
      <dgm:prSet/>
      <dgm:spPr/>
      <dgm:t>
        <a:bodyPr/>
        <a:lstStyle/>
        <a:p>
          <a:endParaRPr lang="en-US"/>
        </a:p>
      </dgm:t>
    </dgm:pt>
    <dgm:pt modelId="{1228D272-85AB-4A98-8AD0-C4BE5131600C}">
      <dgm:prSet/>
      <dgm:spPr/>
      <dgm:t>
        <a:bodyPr/>
        <a:lstStyle/>
        <a:p>
          <a:r>
            <a:rPr lang="en-GB"/>
            <a:t>• Benefits and limitations of open innovation</a:t>
          </a:r>
          <a:endParaRPr lang="en-US"/>
        </a:p>
      </dgm:t>
    </dgm:pt>
    <dgm:pt modelId="{C02EEF86-81FE-47FA-ADF5-5054DCCB4358}" type="parTrans" cxnId="{757B240A-A321-48C4-B860-33CD6D42CDEF}">
      <dgm:prSet/>
      <dgm:spPr/>
      <dgm:t>
        <a:bodyPr/>
        <a:lstStyle/>
        <a:p>
          <a:endParaRPr lang="en-US"/>
        </a:p>
      </dgm:t>
    </dgm:pt>
    <dgm:pt modelId="{D6A23F6B-5DA0-447D-A18D-B89B5F3E60BD}" type="sibTrans" cxnId="{757B240A-A321-48C4-B860-33CD6D42CDEF}">
      <dgm:prSet/>
      <dgm:spPr/>
      <dgm:t>
        <a:bodyPr/>
        <a:lstStyle/>
        <a:p>
          <a:endParaRPr lang="en-US"/>
        </a:p>
      </dgm:t>
    </dgm:pt>
    <dgm:pt modelId="{812B43A4-DE99-C74B-A9B8-3FB730029510}" type="pres">
      <dgm:prSet presAssocID="{72541E62-75A9-4624-8D0B-8EAEBAEEB06D}" presName="diagram" presStyleCnt="0">
        <dgm:presLayoutVars>
          <dgm:dir/>
          <dgm:resizeHandles val="exact"/>
        </dgm:presLayoutVars>
      </dgm:prSet>
      <dgm:spPr/>
    </dgm:pt>
    <dgm:pt modelId="{65185116-BEEA-4549-B83B-CB0C49EF91B9}" type="pres">
      <dgm:prSet presAssocID="{D02860C7-F84A-4F60-8A97-60E5154345E6}" presName="node" presStyleLbl="node1" presStyleIdx="0" presStyleCnt="8">
        <dgm:presLayoutVars>
          <dgm:bulletEnabled val="1"/>
        </dgm:presLayoutVars>
      </dgm:prSet>
      <dgm:spPr/>
    </dgm:pt>
    <dgm:pt modelId="{03BC87F7-FADA-2440-BD45-0BA95EC74CEF}" type="pres">
      <dgm:prSet presAssocID="{68E71558-997A-444C-B1C5-C193C4F65D8F}" presName="sibTrans" presStyleCnt="0"/>
      <dgm:spPr/>
    </dgm:pt>
    <dgm:pt modelId="{00CFFF8C-090E-5248-8D29-CAA3C4B390B9}" type="pres">
      <dgm:prSet presAssocID="{634A813D-161E-4E80-8E0D-34FB5D531CC6}" presName="node" presStyleLbl="node1" presStyleIdx="1" presStyleCnt="8">
        <dgm:presLayoutVars>
          <dgm:bulletEnabled val="1"/>
        </dgm:presLayoutVars>
      </dgm:prSet>
      <dgm:spPr/>
    </dgm:pt>
    <dgm:pt modelId="{2D6EAD55-2CCE-4A46-AC5C-9CB898AC2951}" type="pres">
      <dgm:prSet presAssocID="{BE713E88-DC19-48E6-B0A3-A55E199C67D7}" presName="sibTrans" presStyleCnt="0"/>
      <dgm:spPr/>
    </dgm:pt>
    <dgm:pt modelId="{382CBEE3-BDFD-3143-9F5A-1552A9E4D96D}" type="pres">
      <dgm:prSet presAssocID="{37793F5B-C8AF-466E-8FD5-88B1B503D287}" presName="node" presStyleLbl="node1" presStyleIdx="2" presStyleCnt="8">
        <dgm:presLayoutVars>
          <dgm:bulletEnabled val="1"/>
        </dgm:presLayoutVars>
      </dgm:prSet>
      <dgm:spPr/>
    </dgm:pt>
    <dgm:pt modelId="{11A79E5A-8B58-044E-A330-2B7E90BB773F}" type="pres">
      <dgm:prSet presAssocID="{FFAAE7EF-13DB-4BA2-B0CF-FCFD79DC0E97}" presName="sibTrans" presStyleCnt="0"/>
      <dgm:spPr/>
    </dgm:pt>
    <dgm:pt modelId="{50E62DAE-EC25-784A-85F7-57C5AB6341C2}" type="pres">
      <dgm:prSet presAssocID="{AF77CAFE-2CF2-49E5-B420-EAC0DF9C0ACD}" presName="node" presStyleLbl="node1" presStyleIdx="3" presStyleCnt="8">
        <dgm:presLayoutVars>
          <dgm:bulletEnabled val="1"/>
        </dgm:presLayoutVars>
      </dgm:prSet>
      <dgm:spPr/>
    </dgm:pt>
    <dgm:pt modelId="{34CB18B7-52BE-5049-9866-DD75AD1A3044}" type="pres">
      <dgm:prSet presAssocID="{7F7ED8B2-88A0-4A05-BBB2-CD3F57E43A77}" presName="sibTrans" presStyleCnt="0"/>
      <dgm:spPr/>
    </dgm:pt>
    <dgm:pt modelId="{555A4274-8643-6144-B4AF-6A16E46F180D}" type="pres">
      <dgm:prSet presAssocID="{08166340-FFF6-452A-9E27-AFEABE5F9D67}" presName="node" presStyleLbl="node1" presStyleIdx="4" presStyleCnt="8">
        <dgm:presLayoutVars>
          <dgm:bulletEnabled val="1"/>
        </dgm:presLayoutVars>
      </dgm:prSet>
      <dgm:spPr/>
    </dgm:pt>
    <dgm:pt modelId="{88DECE7C-1858-8E44-B454-A800F9425B06}" type="pres">
      <dgm:prSet presAssocID="{9FE293D6-B52B-4AB9-889E-E72D7DF987EF}" presName="sibTrans" presStyleCnt="0"/>
      <dgm:spPr/>
    </dgm:pt>
    <dgm:pt modelId="{760D7EED-146D-0743-A1AC-EFE2E18C36F9}" type="pres">
      <dgm:prSet presAssocID="{7CF1C73C-ECCF-424E-8BD9-BF693D66052A}" presName="node" presStyleLbl="node1" presStyleIdx="5" presStyleCnt="8">
        <dgm:presLayoutVars>
          <dgm:bulletEnabled val="1"/>
        </dgm:presLayoutVars>
      </dgm:prSet>
      <dgm:spPr/>
    </dgm:pt>
    <dgm:pt modelId="{3DD1D38E-432F-B849-92E2-579CEA33992F}" type="pres">
      <dgm:prSet presAssocID="{EAEBA93B-1C55-462C-9B9A-5321F5171CE1}" presName="sibTrans" presStyleCnt="0"/>
      <dgm:spPr/>
    </dgm:pt>
    <dgm:pt modelId="{2F35A374-D5CC-A148-8104-0EE0C2F4ED84}" type="pres">
      <dgm:prSet presAssocID="{17761828-C972-4275-BBFD-733A6D03A209}" presName="node" presStyleLbl="node1" presStyleIdx="6" presStyleCnt="8">
        <dgm:presLayoutVars>
          <dgm:bulletEnabled val="1"/>
        </dgm:presLayoutVars>
      </dgm:prSet>
      <dgm:spPr/>
    </dgm:pt>
    <dgm:pt modelId="{820A2526-9240-2342-80B6-4B33E1315E0D}" type="pres">
      <dgm:prSet presAssocID="{9564AF2F-8720-44A7-BDBF-DACDBC336B0B}" presName="sibTrans" presStyleCnt="0"/>
      <dgm:spPr/>
    </dgm:pt>
    <dgm:pt modelId="{58C1CB0A-A788-7849-9C1B-2DDAA797C296}" type="pres">
      <dgm:prSet presAssocID="{1228D272-85AB-4A98-8AD0-C4BE5131600C}" presName="node" presStyleLbl="node1" presStyleIdx="7" presStyleCnt="8">
        <dgm:presLayoutVars>
          <dgm:bulletEnabled val="1"/>
        </dgm:presLayoutVars>
      </dgm:prSet>
      <dgm:spPr/>
    </dgm:pt>
  </dgm:ptLst>
  <dgm:cxnLst>
    <dgm:cxn modelId="{191ADA06-7159-4144-99A9-13B679C99678}" srcId="{72541E62-75A9-4624-8D0B-8EAEBAEEB06D}" destId="{7CF1C73C-ECCF-424E-8BD9-BF693D66052A}" srcOrd="5" destOrd="0" parTransId="{5D35E9D8-AD4B-4C6F-B778-8CC685E985E3}" sibTransId="{EAEBA93B-1C55-462C-9B9A-5321F5171CE1}"/>
    <dgm:cxn modelId="{757B240A-A321-48C4-B860-33CD6D42CDEF}" srcId="{72541E62-75A9-4624-8D0B-8EAEBAEEB06D}" destId="{1228D272-85AB-4A98-8AD0-C4BE5131600C}" srcOrd="7" destOrd="0" parTransId="{C02EEF86-81FE-47FA-ADF5-5054DCCB4358}" sibTransId="{D6A23F6B-5DA0-447D-A18D-B89B5F3E60BD}"/>
    <dgm:cxn modelId="{8C22080D-A584-9A46-A534-CB765C32D7BC}" type="presOf" srcId="{17761828-C972-4275-BBFD-733A6D03A209}" destId="{2F35A374-D5CC-A148-8104-0EE0C2F4ED84}" srcOrd="0" destOrd="0" presId="urn:microsoft.com/office/officeart/2005/8/layout/default"/>
    <dgm:cxn modelId="{7CDBD50D-B6A8-C441-8244-D8CFDE60E4AB}" type="presOf" srcId="{AF77CAFE-2CF2-49E5-B420-EAC0DF9C0ACD}" destId="{50E62DAE-EC25-784A-85F7-57C5AB6341C2}" srcOrd="0" destOrd="0" presId="urn:microsoft.com/office/officeart/2005/8/layout/default"/>
    <dgm:cxn modelId="{F10A6D17-1794-484E-860E-B95674D06E27}" srcId="{72541E62-75A9-4624-8D0B-8EAEBAEEB06D}" destId="{AF77CAFE-2CF2-49E5-B420-EAC0DF9C0ACD}" srcOrd="3" destOrd="0" parTransId="{7CFDAD97-DE59-4B7F-AB53-68DA305189E7}" sibTransId="{7F7ED8B2-88A0-4A05-BBB2-CD3F57E43A77}"/>
    <dgm:cxn modelId="{D303D027-0F21-4373-9111-19562F0D85B1}" srcId="{72541E62-75A9-4624-8D0B-8EAEBAEEB06D}" destId="{08166340-FFF6-452A-9E27-AFEABE5F9D67}" srcOrd="4" destOrd="0" parTransId="{65C5ED98-1F2F-42E5-BA6F-2DD2F55E73E8}" sibTransId="{9FE293D6-B52B-4AB9-889E-E72D7DF987EF}"/>
    <dgm:cxn modelId="{0FEA162A-20E3-6841-A32A-03C35332C89A}" type="presOf" srcId="{72541E62-75A9-4624-8D0B-8EAEBAEEB06D}" destId="{812B43A4-DE99-C74B-A9B8-3FB730029510}" srcOrd="0" destOrd="0" presId="urn:microsoft.com/office/officeart/2005/8/layout/default"/>
    <dgm:cxn modelId="{910E873D-7BF8-446B-AE1E-A045DAC4B526}" srcId="{72541E62-75A9-4624-8D0B-8EAEBAEEB06D}" destId="{634A813D-161E-4E80-8E0D-34FB5D531CC6}" srcOrd="1" destOrd="0" parTransId="{A7BFCFA8-05EE-49F3-B574-32DA5C82B9A6}" sibTransId="{BE713E88-DC19-48E6-B0A3-A55E199C67D7}"/>
    <dgm:cxn modelId="{25D6D244-62B3-6B43-85D7-19051C01BAF9}" type="presOf" srcId="{D02860C7-F84A-4F60-8A97-60E5154345E6}" destId="{65185116-BEEA-4549-B83B-CB0C49EF91B9}" srcOrd="0" destOrd="0" presId="urn:microsoft.com/office/officeart/2005/8/layout/default"/>
    <dgm:cxn modelId="{18306B47-D785-3548-921A-AD4F90A87B7F}" type="presOf" srcId="{1228D272-85AB-4A98-8AD0-C4BE5131600C}" destId="{58C1CB0A-A788-7849-9C1B-2DDAA797C296}" srcOrd="0" destOrd="0" presId="urn:microsoft.com/office/officeart/2005/8/layout/default"/>
    <dgm:cxn modelId="{30CA986F-6C7E-EA4A-9A9E-4FF82B950225}" type="presOf" srcId="{634A813D-161E-4E80-8E0D-34FB5D531CC6}" destId="{00CFFF8C-090E-5248-8D29-CAA3C4B390B9}" srcOrd="0" destOrd="0" presId="urn:microsoft.com/office/officeart/2005/8/layout/default"/>
    <dgm:cxn modelId="{F1507C7F-03C4-3F4F-B3A5-8A574D915930}" type="presOf" srcId="{7CF1C73C-ECCF-424E-8BD9-BF693D66052A}" destId="{760D7EED-146D-0743-A1AC-EFE2E18C36F9}" srcOrd="0" destOrd="0" presId="urn:microsoft.com/office/officeart/2005/8/layout/default"/>
    <dgm:cxn modelId="{752E2592-59E9-4F45-9980-C1E5FB535B28}" srcId="{72541E62-75A9-4624-8D0B-8EAEBAEEB06D}" destId="{37793F5B-C8AF-466E-8FD5-88B1B503D287}" srcOrd="2" destOrd="0" parTransId="{B2F831D0-C3A7-4834-BBA1-4189B8694033}" sibTransId="{FFAAE7EF-13DB-4BA2-B0CF-FCFD79DC0E97}"/>
    <dgm:cxn modelId="{6544A9BC-7561-48CE-B552-B9DA23771FBB}" srcId="{72541E62-75A9-4624-8D0B-8EAEBAEEB06D}" destId="{17761828-C972-4275-BBFD-733A6D03A209}" srcOrd="6" destOrd="0" parTransId="{FF48E595-D13D-422B-8E62-5CEED91244E7}" sibTransId="{9564AF2F-8720-44A7-BDBF-DACDBC336B0B}"/>
    <dgm:cxn modelId="{C4EA73CD-294A-493F-86AD-B08348FEAD12}" srcId="{72541E62-75A9-4624-8D0B-8EAEBAEEB06D}" destId="{D02860C7-F84A-4F60-8A97-60E5154345E6}" srcOrd="0" destOrd="0" parTransId="{8405B9BD-7B70-4D4F-B886-E210FF45EEFF}" sibTransId="{68E71558-997A-444C-B1C5-C193C4F65D8F}"/>
    <dgm:cxn modelId="{57CC47E2-20CE-D546-AB04-8D3FAB4BAAAC}" type="presOf" srcId="{37793F5B-C8AF-466E-8FD5-88B1B503D287}" destId="{382CBEE3-BDFD-3143-9F5A-1552A9E4D96D}" srcOrd="0" destOrd="0" presId="urn:microsoft.com/office/officeart/2005/8/layout/default"/>
    <dgm:cxn modelId="{93F31AE6-4679-BA4D-951E-79C9DFDBDA20}" type="presOf" srcId="{08166340-FFF6-452A-9E27-AFEABE5F9D67}" destId="{555A4274-8643-6144-B4AF-6A16E46F180D}" srcOrd="0" destOrd="0" presId="urn:microsoft.com/office/officeart/2005/8/layout/default"/>
    <dgm:cxn modelId="{EC759FCE-EF5A-2B40-8975-880B5187753D}" type="presParOf" srcId="{812B43A4-DE99-C74B-A9B8-3FB730029510}" destId="{65185116-BEEA-4549-B83B-CB0C49EF91B9}" srcOrd="0" destOrd="0" presId="urn:microsoft.com/office/officeart/2005/8/layout/default"/>
    <dgm:cxn modelId="{7A193A79-0752-5D4C-AD89-4EAD3C71AC18}" type="presParOf" srcId="{812B43A4-DE99-C74B-A9B8-3FB730029510}" destId="{03BC87F7-FADA-2440-BD45-0BA95EC74CEF}" srcOrd="1" destOrd="0" presId="urn:microsoft.com/office/officeart/2005/8/layout/default"/>
    <dgm:cxn modelId="{C02BDFF4-D505-BA49-9F04-909DE29DC22D}" type="presParOf" srcId="{812B43A4-DE99-C74B-A9B8-3FB730029510}" destId="{00CFFF8C-090E-5248-8D29-CAA3C4B390B9}" srcOrd="2" destOrd="0" presId="urn:microsoft.com/office/officeart/2005/8/layout/default"/>
    <dgm:cxn modelId="{0A5F946F-2F8A-C54C-9377-BB5F3A84A87C}" type="presParOf" srcId="{812B43A4-DE99-C74B-A9B8-3FB730029510}" destId="{2D6EAD55-2CCE-4A46-AC5C-9CB898AC2951}" srcOrd="3" destOrd="0" presId="urn:microsoft.com/office/officeart/2005/8/layout/default"/>
    <dgm:cxn modelId="{7DEEEA16-6944-7641-BA21-D6D14723C679}" type="presParOf" srcId="{812B43A4-DE99-C74B-A9B8-3FB730029510}" destId="{382CBEE3-BDFD-3143-9F5A-1552A9E4D96D}" srcOrd="4" destOrd="0" presId="urn:microsoft.com/office/officeart/2005/8/layout/default"/>
    <dgm:cxn modelId="{F2C889B7-5D89-C448-ABDA-4AA95692EFD0}" type="presParOf" srcId="{812B43A4-DE99-C74B-A9B8-3FB730029510}" destId="{11A79E5A-8B58-044E-A330-2B7E90BB773F}" srcOrd="5" destOrd="0" presId="urn:microsoft.com/office/officeart/2005/8/layout/default"/>
    <dgm:cxn modelId="{3D19ACBD-28D9-C649-8C8C-7B5AB3FBD3D5}" type="presParOf" srcId="{812B43A4-DE99-C74B-A9B8-3FB730029510}" destId="{50E62DAE-EC25-784A-85F7-57C5AB6341C2}" srcOrd="6" destOrd="0" presId="urn:microsoft.com/office/officeart/2005/8/layout/default"/>
    <dgm:cxn modelId="{8A502250-2CE6-DB48-A146-5192BFFDD91F}" type="presParOf" srcId="{812B43A4-DE99-C74B-A9B8-3FB730029510}" destId="{34CB18B7-52BE-5049-9866-DD75AD1A3044}" srcOrd="7" destOrd="0" presId="urn:microsoft.com/office/officeart/2005/8/layout/default"/>
    <dgm:cxn modelId="{F7002B51-EC07-204B-AAB5-ED59265388D6}" type="presParOf" srcId="{812B43A4-DE99-C74B-A9B8-3FB730029510}" destId="{555A4274-8643-6144-B4AF-6A16E46F180D}" srcOrd="8" destOrd="0" presId="urn:microsoft.com/office/officeart/2005/8/layout/default"/>
    <dgm:cxn modelId="{34241B1B-031F-C045-A269-DE478BA968D3}" type="presParOf" srcId="{812B43A4-DE99-C74B-A9B8-3FB730029510}" destId="{88DECE7C-1858-8E44-B454-A800F9425B06}" srcOrd="9" destOrd="0" presId="urn:microsoft.com/office/officeart/2005/8/layout/default"/>
    <dgm:cxn modelId="{58BF4F8B-4AF9-5748-81CF-85F1587EEFDF}" type="presParOf" srcId="{812B43A4-DE99-C74B-A9B8-3FB730029510}" destId="{760D7EED-146D-0743-A1AC-EFE2E18C36F9}" srcOrd="10" destOrd="0" presId="urn:microsoft.com/office/officeart/2005/8/layout/default"/>
    <dgm:cxn modelId="{12720A54-21B9-A14A-BA37-BC293C832EC8}" type="presParOf" srcId="{812B43A4-DE99-C74B-A9B8-3FB730029510}" destId="{3DD1D38E-432F-B849-92E2-579CEA33992F}" srcOrd="11" destOrd="0" presId="urn:microsoft.com/office/officeart/2005/8/layout/default"/>
    <dgm:cxn modelId="{250C8D26-3AAD-E94C-BD04-05CF88BA9E35}" type="presParOf" srcId="{812B43A4-DE99-C74B-A9B8-3FB730029510}" destId="{2F35A374-D5CC-A148-8104-0EE0C2F4ED84}" srcOrd="12" destOrd="0" presId="urn:microsoft.com/office/officeart/2005/8/layout/default"/>
    <dgm:cxn modelId="{9FA5FE1B-B9E1-F94F-9234-88FA0637EBBA}" type="presParOf" srcId="{812B43A4-DE99-C74B-A9B8-3FB730029510}" destId="{820A2526-9240-2342-80B6-4B33E1315E0D}" srcOrd="13" destOrd="0" presId="urn:microsoft.com/office/officeart/2005/8/layout/default"/>
    <dgm:cxn modelId="{92E72140-6639-AC42-8995-33BE60A1C31C}" type="presParOf" srcId="{812B43A4-DE99-C74B-A9B8-3FB730029510}" destId="{58C1CB0A-A788-7849-9C1B-2DDAA797C296}" srcOrd="1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185116-BEEA-4549-B83B-CB0C49EF91B9}">
      <dsp:nvSpPr>
        <dsp:cNvPr id="0" name=""/>
        <dsp:cNvSpPr/>
      </dsp:nvSpPr>
      <dsp:spPr>
        <a:xfrm>
          <a:off x="802088" y="3344"/>
          <a:ext cx="2172324" cy="1303394"/>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GB" sz="2300" kern="1200"/>
            <a:t>• Joint ventures and alliances</a:t>
          </a:r>
          <a:endParaRPr lang="en-US" sz="2300" kern="1200"/>
        </a:p>
      </dsp:txBody>
      <dsp:txXfrm>
        <a:off x="802088" y="3344"/>
        <a:ext cx="2172324" cy="1303394"/>
      </dsp:txXfrm>
    </dsp:sp>
    <dsp:sp modelId="{00CFFF8C-090E-5248-8D29-CAA3C4B390B9}">
      <dsp:nvSpPr>
        <dsp:cNvPr id="0" name=""/>
        <dsp:cNvSpPr/>
      </dsp:nvSpPr>
      <dsp:spPr>
        <a:xfrm>
          <a:off x="3191645" y="3344"/>
          <a:ext cx="2172324" cy="1303394"/>
        </a:xfrm>
        <a:prstGeom prst="rect">
          <a:avLst/>
        </a:prstGeom>
        <a:solidFill>
          <a:schemeClr val="accent2">
            <a:hueOff val="668788"/>
            <a:satOff val="-834"/>
            <a:lumOff val="19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GB" sz="2300" kern="1200"/>
            <a:t>• Role of supplier innovation</a:t>
          </a:r>
          <a:endParaRPr lang="en-US" sz="2300" kern="1200"/>
        </a:p>
      </dsp:txBody>
      <dsp:txXfrm>
        <a:off x="3191645" y="3344"/>
        <a:ext cx="2172324" cy="1303394"/>
      </dsp:txXfrm>
    </dsp:sp>
    <dsp:sp modelId="{382CBEE3-BDFD-3143-9F5A-1552A9E4D96D}">
      <dsp:nvSpPr>
        <dsp:cNvPr id="0" name=""/>
        <dsp:cNvSpPr/>
      </dsp:nvSpPr>
      <dsp:spPr>
        <a:xfrm>
          <a:off x="5581201" y="3344"/>
          <a:ext cx="2172324" cy="1303394"/>
        </a:xfrm>
        <a:prstGeom prst="rect">
          <a:avLst/>
        </a:prstGeom>
        <a:solidFill>
          <a:schemeClr val="accent2">
            <a:hueOff val="1337577"/>
            <a:satOff val="-1668"/>
            <a:lumOff val="39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GB" sz="2300" kern="1200"/>
            <a:t>• Forms and patterns of collaboration</a:t>
          </a:r>
          <a:endParaRPr lang="en-US" sz="2300" kern="1200"/>
        </a:p>
      </dsp:txBody>
      <dsp:txXfrm>
        <a:off x="5581201" y="3344"/>
        <a:ext cx="2172324" cy="1303394"/>
      </dsp:txXfrm>
    </dsp:sp>
    <dsp:sp modelId="{50E62DAE-EC25-784A-85F7-57C5AB6341C2}">
      <dsp:nvSpPr>
        <dsp:cNvPr id="0" name=""/>
        <dsp:cNvSpPr/>
      </dsp:nvSpPr>
      <dsp:spPr>
        <a:xfrm>
          <a:off x="802088" y="1523971"/>
          <a:ext cx="2172324" cy="1303394"/>
        </a:xfrm>
        <a:prstGeom prst="rect">
          <a:avLst/>
        </a:prstGeom>
        <a:solidFill>
          <a:schemeClr val="accent2">
            <a:hueOff val="2006365"/>
            <a:satOff val="-2502"/>
            <a:lumOff val="58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GB" sz="2300" kern="1200"/>
            <a:t>• Influence of technology and organization</a:t>
          </a:r>
          <a:endParaRPr lang="en-US" sz="2300" kern="1200"/>
        </a:p>
      </dsp:txBody>
      <dsp:txXfrm>
        <a:off x="802088" y="1523971"/>
        <a:ext cx="2172324" cy="1303394"/>
      </dsp:txXfrm>
    </dsp:sp>
    <dsp:sp modelId="{555A4274-8643-6144-B4AF-6A16E46F180D}">
      <dsp:nvSpPr>
        <dsp:cNvPr id="0" name=""/>
        <dsp:cNvSpPr/>
      </dsp:nvSpPr>
      <dsp:spPr>
        <a:xfrm>
          <a:off x="3191645" y="1523971"/>
          <a:ext cx="2172324" cy="1303394"/>
        </a:xfrm>
        <a:prstGeom prst="rect">
          <a:avLst/>
        </a:prstGeom>
        <a:solidFill>
          <a:schemeClr val="accent2">
            <a:hueOff val="2675154"/>
            <a:satOff val="-3337"/>
            <a:lumOff val="78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GB" sz="2300" kern="1200"/>
            <a:t>• Supplier collaboration</a:t>
          </a:r>
          <a:endParaRPr lang="en-US" sz="2300" kern="1200"/>
        </a:p>
      </dsp:txBody>
      <dsp:txXfrm>
        <a:off x="3191645" y="1523971"/>
        <a:ext cx="2172324" cy="1303394"/>
      </dsp:txXfrm>
    </dsp:sp>
    <dsp:sp modelId="{760D7EED-146D-0743-A1AC-EFE2E18C36F9}">
      <dsp:nvSpPr>
        <dsp:cNvPr id="0" name=""/>
        <dsp:cNvSpPr/>
      </dsp:nvSpPr>
      <dsp:spPr>
        <a:xfrm>
          <a:off x="5581201" y="1523971"/>
          <a:ext cx="2172324" cy="1303394"/>
        </a:xfrm>
        <a:prstGeom prst="rect">
          <a:avLst/>
        </a:prstGeom>
        <a:solidFill>
          <a:schemeClr val="accent2">
            <a:hueOff val="3343942"/>
            <a:satOff val="-4171"/>
            <a:lumOff val="98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GB" sz="2300" kern="1200"/>
            <a:t>• User-led innovation</a:t>
          </a:r>
          <a:endParaRPr lang="en-US" sz="2300" kern="1200"/>
        </a:p>
      </dsp:txBody>
      <dsp:txXfrm>
        <a:off x="5581201" y="1523971"/>
        <a:ext cx="2172324" cy="1303394"/>
      </dsp:txXfrm>
    </dsp:sp>
    <dsp:sp modelId="{2F35A374-D5CC-A148-8104-0EE0C2F4ED84}">
      <dsp:nvSpPr>
        <dsp:cNvPr id="0" name=""/>
        <dsp:cNvSpPr/>
      </dsp:nvSpPr>
      <dsp:spPr>
        <a:xfrm>
          <a:off x="1996867" y="3044598"/>
          <a:ext cx="2172324" cy="1303394"/>
        </a:xfrm>
        <a:prstGeom prst="rect">
          <a:avLst/>
        </a:prstGeom>
        <a:solidFill>
          <a:schemeClr val="accent2">
            <a:hueOff val="4012731"/>
            <a:satOff val="-5005"/>
            <a:lumOff val="117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GB" sz="2300" kern="1200"/>
            <a:t>• Extreme users</a:t>
          </a:r>
          <a:endParaRPr lang="en-US" sz="2300" kern="1200"/>
        </a:p>
      </dsp:txBody>
      <dsp:txXfrm>
        <a:off x="1996867" y="3044598"/>
        <a:ext cx="2172324" cy="1303394"/>
      </dsp:txXfrm>
    </dsp:sp>
    <dsp:sp modelId="{58C1CB0A-A788-7849-9C1B-2DDAA797C296}">
      <dsp:nvSpPr>
        <dsp:cNvPr id="0" name=""/>
        <dsp:cNvSpPr/>
      </dsp:nvSpPr>
      <dsp:spPr>
        <a:xfrm>
          <a:off x="4386423" y="3044598"/>
          <a:ext cx="2172324" cy="1303394"/>
        </a:xfrm>
        <a:prstGeom prst="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GB" sz="2300" kern="1200"/>
            <a:t>• Benefits and limitations of open innovation</a:t>
          </a:r>
          <a:endParaRPr lang="en-US" sz="2300" kern="1200"/>
        </a:p>
      </dsp:txBody>
      <dsp:txXfrm>
        <a:off x="4386423" y="3044598"/>
        <a:ext cx="2172324" cy="1303394"/>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23F9F2-44F3-9F42-AFC2-F63C96EB7B24}" type="datetimeFigureOut">
              <a:rPr lang="en-US" smtClean="0"/>
              <a:t>11/2/24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100A0B-B985-2849-867C-A333CAE590DF}" type="slidenum">
              <a:rPr lang="en-US" smtClean="0"/>
              <a:t>‹#›</a:t>
            </a:fld>
            <a:endParaRPr lang="en-US"/>
          </a:p>
        </p:txBody>
      </p:sp>
    </p:spTree>
    <p:extLst>
      <p:ext uri="{BB962C8B-B14F-4D97-AF65-F5344CB8AC3E}">
        <p14:creationId xmlns:p14="http://schemas.microsoft.com/office/powerpoint/2010/main" val="11929349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videos </a:t>
            </a:r>
          </a:p>
        </p:txBody>
      </p:sp>
      <p:sp>
        <p:nvSpPr>
          <p:cNvPr id="4" name="Slide Number Placeholder 3"/>
          <p:cNvSpPr>
            <a:spLocks noGrp="1"/>
          </p:cNvSpPr>
          <p:nvPr>
            <p:ph type="sldNum" sz="quarter" idx="5"/>
          </p:nvPr>
        </p:nvSpPr>
        <p:spPr/>
        <p:txBody>
          <a:bodyPr/>
          <a:lstStyle/>
          <a:p>
            <a:fld id="{C43EEF7A-835F-4F95-B48D-CD2F7A44E3BA}" type="slidenum">
              <a:rPr lang="en-GB" smtClean="0"/>
              <a:pPr/>
              <a:t>20</a:t>
            </a:fld>
            <a:endParaRPr lang="en-GB"/>
          </a:p>
        </p:txBody>
      </p:sp>
    </p:spTree>
    <p:extLst>
      <p:ext uri="{BB962C8B-B14F-4D97-AF65-F5344CB8AC3E}">
        <p14:creationId xmlns:p14="http://schemas.microsoft.com/office/powerpoint/2010/main" val="30747920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7CC129D2-3D66-4417-B3E8-AA487E3A2A86}" type="datetimeFigureOut">
              <a:rPr lang="en-GB" smtClean="0"/>
              <a:pPr/>
              <a:t>02/11/2024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EF4293F-E0BF-484A-A182-8B9E683B48CB}" type="slidenum">
              <a:rPr lang="en-GB" smtClean="0"/>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7CC129D2-3D66-4417-B3E8-AA487E3A2A86}" type="datetimeFigureOut">
              <a:rPr lang="en-GB" smtClean="0"/>
              <a:pPr/>
              <a:t>02/11/2024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EF4293F-E0BF-484A-A182-8B9E683B48CB}" type="slidenum">
              <a:rPr lang="en-GB" smtClean="0"/>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CC129D2-3D66-4417-B3E8-AA487E3A2A86}" type="datetimeFigureOut">
              <a:rPr lang="en-GB" smtClean="0"/>
              <a:pPr/>
              <a:t>02/11/2024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EF4293F-E0BF-484A-A182-8B9E683B48CB}" type="slidenum">
              <a:rPr lang="en-GB" smtClean="0"/>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7CC129D2-3D66-4417-B3E8-AA487E3A2A86}" type="datetimeFigureOut">
              <a:rPr lang="en-GB" smtClean="0"/>
              <a:pPr/>
              <a:t>02/11/2024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EF4293F-E0BF-484A-A182-8B9E683B48CB}" type="slidenum">
              <a:rPr lang="en-GB" smtClean="0"/>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7CC129D2-3D66-4417-B3E8-AA487E3A2A86}" type="datetimeFigureOut">
              <a:rPr lang="en-GB" smtClean="0"/>
              <a:pPr/>
              <a:t>02/11/2024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CEF4293F-E0BF-484A-A182-8B9E683B48CB}" type="slidenum">
              <a:rPr lang="en-GB" smtClean="0"/>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7CC129D2-3D66-4417-B3E8-AA487E3A2A86}" type="datetimeFigureOut">
              <a:rPr lang="en-GB" smtClean="0"/>
              <a:pPr/>
              <a:t>02/11/2024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CEF4293F-E0BF-484A-A182-8B9E683B48CB}" type="slidenum">
              <a:rPr lang="en-GB" smtClean="0"/>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C129D2-3D66-4417-B3E8-AA487E3A2A86}" type="datetimeFigureOut">
              <a:rPr lang="en-GB" smtClean="0"/>
              <a:pPr/>
              <a:t>02/11/2024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CEF4293F-E0BF-484A-A182-8B9E683B48CB}" type="slidenum">
              <a:rPr lang="en-GB" smtClean="0"/>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CC129D2-3D66-4417-B3E8-AA487E3A2A86}" type="datetimeFigureOut">
              <a:rPr lang="en-GB" smtClean="0"/>
              <a:pPr/>
              <a:t>02/11/2024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EF4293F-E0BF-484A-A182-8B9E683B48CB}" type="slidenum">
              <a:rPr lang="en-GB" smtClean="0"/>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CC129D2-3D66-4417-B3E8-AA487E3A2A86}" type="datetimeFigureOut">
              <a:rPr lang="en-GB" smtClean="0"/>
              <a:pPr/>
              <a:t>02/11/2024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EF4293F-E0BF-484A-A182-8B9E683B48CB}" type="slidenum">
              <a:rPr lang="en-GB" smtClean="0"/>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7CC129D2-3D66-4417-B3E8-AA487E3A2A86}" type="datetimeFigureOut">
              <a:rPr lang="en-GB" smtClean="0"/>
              <a:pPr/>
              <a:t>02/11/2024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EF4293F-E0BF-484A-A182-8B9E683B48CB}" type="slidenum">
              <a:rPr lang="en-GB" smtClean="0"/>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7CC129D2-3D66-4417-B3E8-AA487E3A2A86}" type="datetimeFigureOut">
              <a:rPr lang="en-GB" smtClean="0"/>
              <a:pPr/>
              <a:t>02/11/2024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EF4293F-E0BF-484A-A182-8B9E683B48CB}" type="slidenum">
              <a:rPr lang="en-GB" smtClean="0"/>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CC129D2-3D66-4417-B3E8-AA487E3A2A86}" type="datetimeFigureOut">
              <a:rPr lang="en-GB" smtClean="0"/>
              <a:pPr/>
              <a:t>02/11/2024</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F4293F-E0BF-484A-A182-8B9E683B48CB}"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8" Type="http://schemas.openxmlformats.org/officeDocument/2006/relationships/hyperlink" Target="https://youtu.be/toh54wzPB1o" TargetMode="External"/><Relationship Id="rId3" Type="http://schemas.openxmlformats.org/officeDocument/2006/relationships/image" Target="../media/image12.jpeg"/><Relationship Id="rId7" Type="http://schemas.openxmlformats.org/officeDocument/2006/relationships/hyperlink" Target="https://youtu.be/X6ITSy6mweE"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s://youtu.be/Ksf33_KSnps" TargetMode="External"/><Relationship Id="rId5" Type="http://schemas.openxmlformats.org/officeDocument/2006/relationships/hyperlink" Target="https://youtu.be/d4rkitpEyPw" TargetMode="External"/><Relationship Id="rId4" Type="http://schemas.openxmlformats.org/officeDocument/2006/relationships/hyperlink" Target="https://youtu.be/yLzkoF5ww78"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s://www.youtube.com/watch?v=FU9aewJRX9I&amp;feature=youtu.be" TargetMode="External"/><Relationship Id="rId2" Type="http://schemas.openxmlformats.org/officeDocument/2006/relationships/hyperlink" Target="https://youtu.be/foL9Zxel-Js" TargetMode="External"/><Relationship Id="rId1" Type="http://schemas.openxmlformats.org/officeDocument/2006/relationships/slideLayout" Target="../slideLayouts/slideLayout2.xml"/><Relationship Id="rId5" Type="http://schemas.openxmlformats.org/officeDocument/2006/relationships/hyperlink" Target="https://www.youtube.com/watch?v=tu7178mH3oo&amp;feature=youtu.be" TargetMode="External"/><Relationship Id="rId4" Type="http://schemas.openxmlformats.org/officeDocument/2006/relationships/hyperlink" Target="https://www.youtube.com/watch?v=WkcnyY04mkY&amp;feature=youtu.be" TargetMode="External"/></Relationships>
</file>

<file path=ppt/slides/_rels/slide22.xml.rels><?xml version="1.0" encoding="UTF-8" standalone="yes"?>
<Relationships xmlns="http://schemas.openxmlformats.org/package/2006/relationships"><Relationship Id="rId2" Type="http://schemas.openxmlformats.org/officeDocument/2006/relationships/hyperlink" Target="https://www.youtube.com/watch?v=EvZEZfyBQ5E" TargetMode="Externa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hyperlink" Target="https://static.wixstatic.com/mp3/f6594a_c7ec7190b04a41bfb3b79de44eadffbe.mp3" TargetMode="Externa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hyperlink" Target="https://static.wixstatic.com/mp3/f6594a_f3d0bee1cec44ef192be395f4e8093aa.mp3"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www.ted.com/talks/charles_leadbeater_on_innovation"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www.ted.com/talks/howard_rheingold_on_collaboration"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www.johnbessant.org/feed" TargetMode="External"/><Relationship Id="rId2" Type="http://schemas.openxmlformats.org/officeDocument/2006/relationships/hyperlink" Target="https://www.buzzsprout.com/721626"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hyperlink" Target="https://www.johnbessant.org/cases"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www.johnbessant.org/tools"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5A8AFA4-5C32-4100-9C6D-839A47E15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6B5F253-7949-47C2-9DBD-1570ECDA2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4349" y="685800"/>
            <a:ext cx="4066277" cy="54864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251319" y="1254763"/>
            <a:ext cx="2583711" cy="2481729"/>
          </a:xfrm>
        </p:spPr>
        <p:txBody>
          <a:bodyPr vert="horz" lIns="91440" tIns="45720" rIns="91440" bIns="45720" rtlCol="0" anchor="b">
            <a:normAutofit/>
          </a:bodyPr>
          <a:lstStyle/>
          <a:p>
            <a:pPr>
              <a:lnSpc>
                <a:spcPct val="90000"/>
              </a:lnSpc>
            </a:pPr>
            <a:r>
              <a:rPr lang="en-US" sz="2800" b="1">
                <a:solidFill>
                  <a:srgbClr val="595959"/>
                </a:solidFill>
              </a:rPr>
              <a:t>Teaching Resources and Instructors’ Guidelines</a:t>
            </a:r>
            <a:endParaRPr lang="en-US" sz="2800" u="sng">
              <a:solidFill>
                <a:srgbClr val="595959"/>
              </a:solidFill>
            </a:endParaRPr>
          </a:p>
        </p:txBody>
      </p:sp>
      <p:sp>
        <p:nvSpPr>
          <p:cNvPr id="5" name="Rectangle 4"/>
          <p:cNvSpPr/>
          <p:nvPr/>
        </p:nvSpPr>
        <p:spPr>
          <a:xfrm>
            <a:off x="1386884" y="4046453"/>
            <a:ext cx="2312581" cy="1785506"/>
          </a:xfrm>
          <a:prstGeom prst="rect">
            <a:avLst/>
          </a:prstGeom>
        </p:spPr>
        <p:txBody>
          <a:bodyPr vert="horz" lIns="91440" tIns="45720" rIns="91440" bIns="45720" rtlCol="0" anchor="t">
            <a:normAutofit/>
          </a:bodyPr>
          <a:lstStyle/>
          <a:p>
            <a:pPr algn="ctr">
              <a:lnSpc>
                <a:spcPct val="90000"/>
              </a:lnSpc>
              <a:spcBef>
                <a:spcPts val="1000"/>
              </a:spcBef>
            </a:pPr>
            <a:r>
              <a:rPr lang="en-US" sz="1200">
                <a:solidFill>
                  <a:srgbClr val="595959"/>
                </a:solidFill>
              </a:rPr>
              <a:t>Chapter 11: Exploiting open innovation and collaboration</a:t>
            </a:r>
          </a:p>
        </p:txBody>
      </p:sp>
      <p:pic>
        <p:nvPicPr>
          <p:cNvPr id="7" name="Picture 6">
            <a:extLst>
              <a:ext uri="{FF2B5EF4-FFF2-40B4-BE49-F238E27FC236}">
                <a16:creationId xmlns:a16="http://schemas.microsoft.com/office/drawing/2014/main" id="{EA05075E-213D-748B-C7F6-94A4434263A5}"/>
              </a:ext>
            </a:extLst>
          </p:cNvPr>
          <p:cNvPicPr>
            <a:picLocks noChangeAspect="1"/>
          </p:cNvPicPr>
          <p:nvPr/>
        </p:nvPicPr>
        <p:blipFill>
          <a:blip r:embed="rId2">
            <a:extLst>
              <a:ext uri="{28A0092B-C50C-407E-A947-70E740481C1C}">
                <a14:useLocalDpi xmlns:a14="http://schemas.microsoft.com/office/drawing/2010/main" val="0"/>
              </a:ext>
            </a:extLst>
          </a:blip>
          <a:srcRect l="2202" r="22522"/>
          <a:stretch/>
        </p:blipFill>
        <p:spPr>
          <a:xfrm>
            <a:off x="4580627" y="685799"/>
            <a:ext cx="4057650" cy="5486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515125" y="1153572"/>
            <a:ext cx="2400300" cy="4461163"/>
          </a:xfrm>
        </p:spPr>
        <p:txBody>
          <a:bodyPr vert="horz" lIns="91440" tIns="45720" rIns="91440" bIns="45720" rtlCol="0" anchor="ctr">
            <a:normAutofit/>
          </a:bodyPr>
          <a:lstStyle/>
          <a:p>
            <a:pPr algn="l">
              <a:lnSpc>
                <a:spcPct val="90000"/>
              </a:lnSpc>
            </a:pPr>
            <a:r>
              <a:rPr lang="en-US" sz="3100" b="1" kern="1200">
                <a:solidFill>
                  <a:srgbClr val="FFFFFF"/>
                </a:solidFill>
                <a:latin typeface="+mj-lt"/>
                <a:ea typeface="+mj-ea"/>
                <a:cs typeface="+mj-cs"/>
              </a:rPr>
              <a:t>Chapter 11: Exploiting open innovation</a:t>
            </a:r>
            <a:br>
              <a:rPr lang="en-US" sz="3100" b="1" kern="1200">
                <a:solidFill>
                  <a:srgbClr val="FFFFFF"/>
                </a:solidFill>
                <a:latin typeface="+mj-lt"/>
                <a:ea typeface="+mj-ea"/>
                <a:cs typeface="+mj-cs"/>
              </a:rPr>
            </a:br>
            <a:r>
              <a:rPr lang="en-US" sz="3100" b="1" kern="1200">
                <a:solidFill>
                  <a:srgbClr val="FFFFFF"/>
                </a:solidFill>
                <a:latin typeface="+mj-lt"/>
                <a:ea typeface="+mj-ea"/>
                <a:cs typeface="+mj-cs"/>
              </a:rPr>
              <a:t>and collaboration</a:t>
            </a:r>
            <a:endParaRPr lang="en-US" sz="3100" kern="1200">
              <a:solidFill>
                <a:srgbClr val="FFFFFF"/>
              </a:solidFill>
              <a:latin typeface="+mj-lt"/>
              <a:ea typeface="+mj-ea"/>
              <a:cs typeface="+mj-cs"/>
            </a:endParaRPr>
          </a:p>
        </p:txBody>
      </p:sp>
      <p:sp>
        <p:nvSpPr>
          <p:cNvPr id="16" name="Arc 15">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 name="Title 1"/>
          <p:cNvSpPr txBox="1">
            <a:spLocks/>
          </p:cNvSpPr>
          <p:nvPr/>
        </p:nvSpPr>
        <p:spPr>
          <a:xfrm>
            <a:off x="3335481" y="591344"/>
            <a:ext cx="5179868" cy="5585619"/>
          </a:xfrm>
          <a:prstGeom prst="rect">
            <a:avLst/>
          </a:prstGeom>
        </p:spPr>
        <p:txBody>
          <a:bodyPr vert="horz" lIns="91440" tIns="45720" rIns="91440" bIns="45720" rtlCol="0" anchor="ctr">
            <a:normAutofit/>
          </a:bodyPr>
          <a:lstStyle/>
          <a:p>
            <a:pPr marL="0" marR="0" lvl="0" indent="-228600" fontAlgn="auto">
              <a:lnSpc>
                <a:spcPct val="90000"/>
              </a:lnSpc>
              <a:spcAft>
                <a:spcPts val="600"/>
              </a:spcAft>
              <a:buClrTx/>
              <a:buSzTx/>
              <a:buFont typeface="Arial" panose="020B0604020202020204" pitchFamily="34" charset="0"/>
              <a:buChar char="•"/>
              <a:tabLst/>
              <a:defRPr/>
            </a:pPr>
            <a:endParaRPr kumimoji="0" lang="en-US" b="1" u="none" strike="noStrike" cap="none" spc="0" normalizeH="0" baseline="0" noProof="0">
              <a:ln>
                <a:noFill/>
              </a:ln>
              <a:effectLst/>
              <a:uLnTx/>
              <a:uFillTx/>
            </a:endParaRPr>
          </a:p>
          <a:p>
            <a:pPr indent="-228600">
              <a:lnSpc>
                <a:spcPct val="90000"/>
              </a:lnSpc>
              <a:spcAft>
                <a:spcPts val="600"/>
              </a:spcAft>
              <a:buFont typeface="Arial" panose="020B0604020202020204" pitchFamily="34" charset="0"/>
              <a:buChar char="•"/>
            </a:pPr>
            <a:r>
              <a:rPr lang="en-US" i="1"/>
              <a:t> In the following PowerPoint slides you will find the key headings from </a:t>
            </a:r>
            <a:r>
              <a:rPr lang="en-US" b="1"/>
              <a:t>CHAPTER 11</a:t>
            </a:r>
            <a:r>
              <a:rPr lang="en-US" i="1"/>
              <a:t> together with the main illustrations, tables, etc.  </a:t>
            </a:r>
          </a:p>
          <a:p>
            <a:pPr indent="-228600">
              <a:lnSpc>
                <a:spcPct val="90000"/>
              </a:lnSpc>
              <a:spcAft>
                <a:spcPts val="600"/>
              </a:spcAft>
              <a:buFont typeface="Arial" panose="020B0604020202020204" pitchFamily="34" charset="0"/>
              <a:buChar char="•"/>
            </a:pPr>
            <a:endParaRPr lang="en-US" i="1"/>
          </a:p>
          <a:p>
            <a:pPr indent="-228600">
              <a:lnSpc>
                <a:spcPct val="90000"/>
              </a:lnSpc>
              <a:spcAft>
                <a:spcPts val="600"/>
              </a:spcAft>
              <a:buFont typeface="Arial" panose="020B0604020202020204" pitchFamily="34" charset="0"/>
              <a:buChar char="•"/>
            </a:pPr>
            <a:r>
              <a:rPr lang="en-US" i="1"/>
              <a:t>There are also slides summarizing the key messages in bullet-point fashion, and a wide range of activities which you can use to help students explore around these themes.  </a:t>
            </a:r>
          </a:p>
          <a:p>
            <a:pPr indent="-228600">
              <a:lnSpc>
                <a:spcPct val="90000"/>
              </a:lnSpc>
              <a:spcAft>
                <a:spcPts val="600"/>
              </a:spcAft>
              <a:buFont typeface="Arial" panose="020B0604020202020204" pitchFamily="34" charset="0"/>
              <a:buChar char="•"/>
            </a:pPr>
            <a:endParaRPr lang="en-US" i="1"/>
          </a:p>
          <a:p>
            <a:pPr indent="-228600">
              <a:lnSpc>
                <a:spcPct val="90000"/>
              </a:lnSpc>
              <a:spcAft>
                <a:spcPts val="600"/>
              </a:spcAft>
              <a:buFont typeface="Arial" panose="020B0604020202020204" pitchFamily="34" charset="0"/>
              <a:buChar char="•"/>
            </a:pPr>
            <a:r>
              <a:rPr lang="en-US" i="1"/>
              <a:t>Finally there are some reflection questions which can be used as the basis for discussion or assignments.</a:t>
            </a:r>
          </a:p>
          <a:p>
            <a:pPr indent="-228600">
              <a:lnSpc>
                <a:spcPct val="90000"/>
              </a:lnSpc>
              <a:spcAft>
                <a:spcPts val="600"/>
              </a:spcAft>
              <a:buFont typeface="Arial" panose="020B0604020202020204" pitchFamily="34" charset="0"/>
              <a:buChar char="•"/>
            </a:pPr>
            <a:endParaRPr lang="en-US" i="1"/>
          </a:p>
        </p:txBody>
      </p:sp>
      <p:cxnSp>
        <p:nvCxnSpPr>
          <p:cNvPr id="7" name="Straight Connector 6"/>
          <p:cNvCxnSpPr/>
          <p:nvPr/>
        </p:nvCxnSpPr>
        <p:spPr>
          <a:xfrm>
            <a:off x="458167" y="1507529"/>
            <a:ext cx="8478016" cy="1588"/>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515125" y="1153572"/>
            <a:ext cx="2400300" cy="4461163"/>
          </a:xfrm>
        </p:spPr>
        <p:txBody>
          <a:bodyPr vert="horz" lIns="91440" tIns="45720" rIns="91440" bIns="45720" rtlCol="0" anchor="ctr">
            <a:normAutofit/>
          </a:bodyPr>
          <a:lstStyle/>
          <a:p>
            <a:pPr lvl="0" algn="l">
              <a:lnSpc>
                <a:spcPct val="90000"/>
              </a:lnSpc>
              <a:defRPr/>
            </a:pPr>
            <a:r>
              <a:rPr lang="en-US" sz="3700" b="1" kern="1200">
                <a:solidFill>
                  <a:srgbClr val="FFFFFF"/>
                </a:solidFill>
                <a:latin typeface="+mj-lt"/>
                <a:ea typeface="+mj-ea"/>
                <a:cs typeface="+mj-cs"/>
              </a:rPr>
              <a:t>Learning Objectives</a:t>
            </a:r>
          </a:p>
        </p:txBody>
      </p:sp>
      <p:sp>
        <p:nvSpPr>
          <p:cNvPr id="16" name="Arc 15">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 name="Title 1"/>
          <p:cNvSpPr txBox="1">
            <a:spLocks/>
          </p:cNvSpPr>
          <p:nvPr/>
        </p:nvSpPr>
        <p:spPr>
          <a:xfrm>
            <a:off x="3335481" y="591344"/>
            <a:ext cx="5179868" cy="5585619"/>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a:t>After this chapter you should be able to:</a:t>
            </a:r>
          </a:p>
          <a:p>
            <a:pPr indent="-228600">
              <a:lnSpc>
                <a:spcPct val="90000"/>
              </a:lnSpc>
              <a:spcAft>
                <a:spcPts val="600"/>
              </a:spcAft>
              <a:buFont typeface="Arial" panose="020B0604020202020204" pitchFamily="34" charset="0"/>
              <a:buChar char="•"/>
            </a:pPr>
            <a:endParaRPr lang="en-US"/>
          </a:p>
          <a:p>
            <a:pPr marL="457200" lvl="0" indent="-228600">
              <a:lnSpc>
                <a:spcPct val="90000"/>
              </a:lnSpc>
              <a:spcAft>
                <a:spcPts val="600"/>
              </a:spcAft>
              <a:buFont typeface="Arial" panose="020B0604020202020204" pitchFamily="34" charset="0"/>
              <a:buChar char="•"/>
            </a:pPr>
            <a:r>
              <a:rPr lang="en-US"/>
              <a:t>understand what open innovation is, and the range of strategies and mechanisms available to apply it in practice </a:t>
            </a:r>
          </a:p>
          <a:p>
            <a:pPr marL="457200" lvl="0" indent="-228600">
              <a:lnSpc>
                <a:spcPct val="90000"/>
              </a:lnSpc>
              <a:spcAft>
                <a:spcPts val="600"/>
              </a:spcAft>
              <a:buFont typeface="Arial" panose="020B0604020202020204" pitchFamily="34" charset="0"/>
              <a:buChar char="•"/>
            </a:pPr>
            <a:r>
              <a:rPr lang="en-US"/>
              <a:t>assess the advantages and limitations of different strategies, such as outsourcing, licensing, joint ventures and strategic alliances </a:t>
            </a:r>
          </a:p>
          <a:p>
            <a:pPr marL="457200" lvl="0" indent="-228600">
              <a:lnSpc>
                <a:spcPct val="90000"/>
              </a:lnSpc>
              <a:spcAft>
                <a:spcPts val="600"/>
              </a:spcAft>
              <a:buFont typeface="Arial" panose="020B0604020202020204" pitchFamily="34" charset="0"/>
              <a:buChar char="•"/>
            </a:pPr>
            <a:r>
              <a:rPr lang="en-US"/>
              <a:t>identify the factors which influence the motives, outcomes and success of open innovation and strategic alliances. </a:t>
            </a:r>
          </a:p>
          <a:p>
            <a:pPr indent="-228600">
              <a:lnSpc>
                <a:spcPct val="90000"/>
              </a:lnSpc>
              <a:spcAft>
                <a:spcPts val="600"/>
              </a:spcAft>
              <a:buFont typeface="Arial" panose="020B0604020202020204" pitchFamily="34" charset="0"/>
              <a:buChar char="•"/>
            </a:pPr>
            <a:endParaRPr lang="en-US"/>
          </a:p>
        </p:txBody>
      </p:sp>
      <p:cxnSp>
        <p:nvCxnSpPr>
          <p:cNvPr id="7" name="Straight Connector 6"/>
          <p:cNvCxnSpPr/>
          <p:nvPr/>
        </p:nvCxnSpPr>
        <p:spPr>
          <a:xfrm>
            <a:off x="458167" y="1433555"/>
            <a:ext cx="8478016" cy="1588"/>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767886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301E07F-4F79-4B58-8698-EF24DC1ECD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Arc 13">
            <a:extLst>
              <a:ext uri="{FF2B5EF4-FFF2-40B4-BE49-F238E27FC236}">
                <a16:creationId xmlns:a16="http://schemas.microsoft.com/office/drawing/2014/main" id="{E58B2195-5055-402F-A3E7-53FF0E4980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94377" y="775849"/>
            <a:ext cx="2240924"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2FF829E-164C-C647-862D-C0E45AB0C1E5}"/>
              </a:ext>
            </a:extLst>
          </p:cNvPr>
          <p:cNvSpPr>
            <a:spLocks noGrp="1"/>
          </p:cNvSpPr>
          <p:nvPr>
            <p:ph type="title"/>
          </p:nvPr>
        </p:nvSpPr>
        <p:spPr>
          <a:xfrm>
            <a:off x="5310553" y="647593"/>
            <a:ext cx="3350844" cy="3060541"/>
          </a:xfrm>
        </p:spPr>
        <p:txBody>
          <a:bodyPr vert="horz" lIns="91440" tIns="45720" rIns="91440" bIns="45720" rtlCol="0" anchor="b">
            <a:normAutofit/>
          </a:bodyPr>
          <a:lstStyle/>
          <a:p>
            <a:pPr>
              <a:lnSpc>
                <a:spcPct val="90000"/>
              </a:lnSpc>
            </a:pPr>
            <a:r>
              <a:rPr lang="en-US" sz="4700" kern="1200">
                <a:solidFill>
                  <a:srgbClr val="FFFFFF"/>
                </a:solidFill>
                <a:latin typeface="+mj-lt"/>
                <a:ea typeface="+mj-ea"/>
                <a:cs typeface="+mj-cs"/>
              </a:rPr>
              <a:t>Core themes and material from the book</a:t>
            </a:r>
          </a:p>
        </p:txBody>
      </p:sp>
      <p:sp>
        <p:nvSpPr>
          <p:cNvPr id="16" name="Oval 15">
            <a:extLst>
              <a:ext uri="{FF2B5EF4-FFF2-40B4-BE49-F238E27FC236}">
                <a16:creationId xmlns:a16="http://schemas.microsoft.com/office/drawing/2014/main" id="{9EE6F773-742A-491A-9A00-A2A150DF50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8276" y="366810"/>
            <a:ext cx="4593285" cy="612438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Books">
            <a:extLst>
              <a:ext uri="{FF2B5EF4-FFF2-40B4-BE49-F238E27FC236}">
                <a16:creationId xmlns:a16="http://schemas.microsoft.com/office/drawing/2014/main" id="{047FB8FE-B6DD-411D-B9FE-1BD2B5EA19B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0060" y="1834479"/>
            <a:ext cx="3189041" cy="3189041"/>
          </a:xfrm>
          <a:custGeom>
            <a:avLst/>
            <a:gdLst/>
            <a:ahLst/>
            <a:cxnLst/>
            <a:rect l="l" t="t" r="r" b="b"/>
            <a:pathLst>
              <a:path w="4273177" h="4470400">
                <a:moveTo>
                  <a:pt x="75080" y="0"/>
                </a:moveTo>
                <a:lnTo>
                  <a:pt x="4198097" y="0"/>
                </a:lnTo>
                <a:cubicBezTo>
                  <a:pt x="4239563" y="0"/>
                  <a:pt x="4273177" y="33614"/>
                  <a:pt x="4273177" y="75080"/>
                </a:cubicBezTo>
                <a:lnTo>
                  <a:pt x="4273177" y="4395320"/>
                </a:lnTo>
                <a:cubicBezTo>
                  <a:pt x="4273177" y="4436786"/>
                  <a:pt x="4239563" y="4470400"/>
                  <a:pt x="4198097" y="4470400"/>
                </a:cubicBezTo>
                <a:lnTo>
                  <a:pt x="75080" y="4470400"/>
                </a:lnTo>
                <a:cubicBezTo>
                  <a:pt x="33614" y="4470400"/>
                  <a:pt x="0" y="4436786"/>
                  <a:pt x="0" y="4395320"/>
                </a:cubicBezTo>
                <a:lnTo>
                  <a:pt x="0" y="75080"/>
                </a:lnTo>
                <a:cubicBezTo>
                  <a:pt x="0" y="33614"/>
                  <a:pt x="33614" y="0"/>
                  <a:pt x="75080" y="0"/>
                </a:cubicBezTo>
                <a:close/>
              </a:path>
            </a:pathLst>
          </a:custGeom>
        </p:spPr>
      </p:pic>
    </p:spTree>
    <p:extLst>
      <p:ext uri="{BB962C8B-B14F-4D97-AF65-F5344CB8AC3E}">
        <p14:creationId xmlns:p14="http://schemas.microsoft.com/office/powerpoint/2010/main" val="40092405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00CFC-CE12-184A-A2E2-AB5632EAB913}"/>
              </a:ext>
            </a:extLst>
          </p:cNvPr>
          <p:cNvSpPr>
            <a:spLocks noGrp="1"/>
          </p:cNvSpPr>
          <p:nvPr>
            <p:ph type="title"/>
          </p:nvPr>
        </p:nvSpPr>
        <p:spPr>
          <a:xfrm>
            <a:off x="293533" y="320675"/>
            <a:ext cx="8555615" cy="1325563"/>
          </a:xfrm>
        </p:spPr>
        <p:txBody>
          <a:bodyPr>
            <a:normAutofit/>
          </a:bodyPr>
          <a:lstStyle/>
          <a:p>
            <a:r>
              <a:rPr lang="en-US" sz="4700">
                <a:solidFill>
                  <a:schemeClr val="accent5"/>
                </a:solidFill>
              </a:rPr>
              <a:t>Core themes</a:t>
            </a:r>
          </a:p>
        </p:txBody>
      </p:sp>
      <p:graphicFrame>
        <p:nvGraphicFramePr>
          <p:cNvPr id="5" name="Content Placeholder 2">
            <a:extLst>
              <a:ext uri="{FF2B5EF4-FFF2-40B4-BE49-F238E27FC236}">
                <a16:creationId xmlns:a16="http://schemas.microsoft.com/office/drawing/2014/main" id="{0CE12F6A-4E18-4E15-8755-7FE442991D5E}"/>
              </a:ext>
            </a:extLst>
          </p:cNvPr>
          <p:cNvGraphicFramePr>
            <a:graphicFrameLocks noGrp="1"/>
          </p:cNvGraphicFramePr>
          <p:nvPr>
            <p:ph idx="1"/>
            <p:extLst>
              <p:ext uri="{D42A27DB-BD31-4B8C-83A1-F6EECF244321}">
                <p14:modId xmlns:p14="http://schemas.microsoft.com/office/powerpoint/2010/main" val="3557297991"/>
              </p:ext>
            </p:extLst>
          </p:nvPr>
        </p:nvGraphicFramePr>
        <p:xfrm>
          <a:off x="293534" y="1825625"/>
          <a:ext cx="8555615"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194029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88DF7-7829-EE47-B0EF-67D119363507}"/>
              </a:ext>
            </a:extLst>
          </p:cNvPr>
          <p:cNvSpPr>
            <a:spLocks noGrp="1"/>
          </p:cNvSpPr>
          <p:nvPr>
            <p:ph type="title"/>
          </p:nvPr>
        </p:nvSpPr>
        <p:spPr/>
        <p:txBody>
          <a:bodyPr/>
          <a:lstStyle/>
          <a:p>
            <a:r>
              <a:rPr lang="en-US" dirty="0"/>
              <a:t>A model for collaboration</a:t>
            </a:r>
          </a:p>
        </p:txBody>
      </p:sp>
      <p:pic>
        <p:nvPicPr>
          <p:cNvPr id="5" name="Picture 4" descr="Diagram&#10;&#10;Description automatically generated">
            <a:extLst>
              <a:ext uri="{FF2B5EF4-FFF2-40B4-BE49-F238E27FC236}">
                <a16:creationId xmlns:a16="http://schemas.microsoft.com/office/drawing/2014/main" id="{198B2487-3624-CC4D-A7EB-DFEEB2A161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4076" y="1239346"/>
            <a:ext cx="7775848" cy="5319806"/>
          </a:xfrm>
          <a:prstGeom prst="rect">
            <a:avLst/>
          </a:prstGeom>
        </p:spPr>
      </p:pic>
    </p:spTree>
    <p:extLst>
      <p:ext uri="{BB962C8B-B14F-4D97-AF65-F5344CB8AC3E}">
        <p14:creationId xmlns:p14="http://schemas.microsoft.com/office/powerpoint/2010/main" val="39616798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12898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539552" y="1556792"/>
            <a:ext cx="8331472" cy="3108543"/>
          </a:xfrm>
          <a:prstGeom prst="rect">
            <a:avLst/>
          </a:prstGeom>
        </p:spPr>
        <p:txBody>
          <a:bodyPr wrap="square">
            <a:spAutoFit/>
          </a:bodyPr>
          <a:lstStyle/>
          <a:p>
            <a:r>
              <a:rPr lang="en-US" sz="2800" dirty="0">
                <a:solidFill>
                  <a:schemeClr val="tx1">
                    <a:lumMod val="50000"/>
                    <a:lumOff val="50000"/>
                  </a:schemeClr>
                </a:solidFill>
              </a:rPr>
              <a:t>Why?</a:t>
            </a:r>
          </a:p>
          <a:p>
            <a:endParaRPr lang="en-GB" sz="2800" dirty="0"/>
          </a:p>
          <a:p>
            <a:r>
              <a:rPr lang="en-US" sz="2800" b="1" dirty="0"/>
              <a:t>• </a:t>
            </a:r>
            <a:r>
              <a:rPr lang="en-US" sz="2800" dirty="0"/>
              <a:t>To build critical mass through co-option. </a:t>
            </a:r>
            <a:endParaRPr lang="en-GB" sz="2800" dirty="0"/>
          </a:p>
          <a:p>
            <a:r>
              <a:rPr lang="en-US" sz="2800" b="1" dirty="0"/>
              <a:t>• </a:t>
            </a:r>
            <a:r>
              <a:rPr lang="en-US" sz="2800" dirty="0"/>
              <a:t>To reach new markets by leveraging co-specialized resources. </a:t>
            </a:r>
            <a:endParaRPr lang="en-GB" sz="2800" dirty="0"/>
          </a:p>
          <a:p>
            <a:r>
              <a:rPr lang="en-US" sz="2800" b="1" dirty="0"/>
              <a:t>• </a:t>
            </a:r>
            <a:r>
              <a:rPr lang="en-US" sz="2800" dirty="0"/>
              <a:t>To gain new competencies through organizational learning.</a:t>
            </a:r>
            <a:endParaRPr lang="en-GB" sz="2800" dirty="0"/>
          </a:p>
        </p:txBody>
      </p:sp>
      <p:sp>
        <p:nvSpPr>
          <p:cNvPr id="6" name="Title 1"/>
          <p:cNvSpPr txBox="1">
            <a:spLocks/>
          </p:cNvSpPr>
          <p:nvPr/>
        </p:nvSpPr>
        <p:spPr>
          <a:xfrm>
            <a:off x="827584" y="188640"/>
            <a:ext cx="7275302" cy="917864"/>
          </a:xfrm>
          <a:prstGeom prst="rect">
            <a:avLst/>
          </a:prstGeom>
        </p:spPr>
        <p:txBody>
          <a:bodyPr vert="horz" lIns="91440" tIns="45720" rIns="91440" bIns="45720" rtlCol="0" anchor="ctr">
            <a:noAutofit/>
          </a:bodyPr>
          <a:lstStyle/>
          <a:p>
            <a:pPr lvl="0" algn="ctr">
              <a:spcBef>
                <a:spcPct val="0"/>
              </a:spcBef>
              <a:defRPr/>
            </a:pPr>
            <a:r>
              <a:rPr lang="en-GB" sz="3600" b="1" dirty="0">
                <a:solidFill>
                  <a:srgbClr val="008000"/>
                </a:solidFill>
                <a:latin typeface="+mj-lt"/>
                <a:ea typeface="+mj-ea"/>
                <a:cs typeface="+mj-cs"/>
              </a:rPr>
              <a:t>Joint ventures and strategic alliances </a:t>
            </a:r>
          </a:p>
        </p:txBody>
      </p:sp>
      <p:pic>
        <p:nvPicPr>
          <p:cNvPr id="21506" name="Picture 2" descr="Image result for joint ventures"/>
          <p:cNvPicPr>
            <a:picLocks noChangeAspect="1" noChangeArrowheads="1"/>
          </p:cNvPicPr>
          <p:nvPr/>
        </p:nvPicPr>
        <p:blipFill>
          <a:blip r:embed="rId2" cstate="print"/>
          <a:srcRect/>
          <a:stretch>
            <a:fillRect/>
          </a:stretch>
        </p:blipFill>
        <p:spPr bwMode="auto">
          <a:xfrm>
            <a:off x="2987824" y="4653136"/>
            <a:ext cx="2919220" cy="1946895"/>
          </a:xfrm>
          <a:prstGeom prst="rect">
            <a:avLst/>
          </a:prstGeom>
          <a:noFill/>
        </p:spPr>
      </p:pic>
    </p:spTree>
    <p:extLst>
      <p:ext uri="{BB962C8B-B14F-4D97-AF65-F5344CB8AC3E}">
        <p14:creationId xmlns:p14="http://schemas.microsoft.com/office/powerpoint/2010/main" val="8024489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49531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9" name="Title 1"/>
          <p:cNvSpPr txBox="1">
            <a:spLocks/>
          </p:cNvSpPr>
          <p:nvPr/>
        </p:nvSpPr>
        <p:spPr>
          <a:xfrm>
            <a:off x="841505" y="319883"/>
            <a:ext cx="7187698" cy="917864"/>
          </a:xfrm>
          <a:prstGeom prst="rect">
            <a:avLst/>
          </a:prstGeom>
        </p:spPr>
        <p:txBody>
          <a:bodyPr vert="horz" lIns="91440" tIns="45720" rIns="91440" bIns="45720" rtlCol="0" anchor="ctr">
            <a:noAutofit/>
          </a:bodyPr>
          <a:lstStyle/>
          <a:p>
            <a:pPr lvl="0" algn="ctr">
              <a:spcBef>
                <a:spcPct val="0"/>
              </a:spcBef>
              <a:defRPr/>
            </a:pPr>
            <a:r>
              <a:rPr lang="en-US" sz="3600" b="1" dirty="0">
                <a:solidFill>
                  <a:srgbClr val="008000"/>
                </a:solidFill>
                <a:latin typeface="+mj-lt"/>
                <a:ea typeface="+mj-ea"/>
                <a:cs typeface="+mj-cs"/>
              </a:rPr>
              <a:t>Alliances or joint ventures?</a:t>
            </a:r>
            <a:endParaRPr lang="en-GB" sz="3600" b="1" dirty="0">
              <a:solidFill>
                <a:srgbClr val="008000"/>
              </a:solidFill>
              <a:latin typeface="+mj-lt"/>
              <a:ea typeface="+mj-ea"/>
              <a:cs typeface="+mj-cs"/>
            </a:endParaRPr>
          </a:p>
        </p:txBody>
      </p:sp>
      <p:sp>
        <p:nvSpPr>
          <p:cNvPr id="2" name="Content Placeholder 1"/>
          <p:cNvSpPr>
            <a:spLocks noGrp="1"/>
          </p:cNvSpPr>
          <p:nvPr>
            <p:ph idx="1"/>
          </p:nvPr>
        </p:nvSpPr>
        <p:spPr/>
        <p:txBody>
          <a:bodyPr>
            <a:normAutofit/>
          </a:bodyPr>
          <a:lstStyle/>
          <a:p>
            <a:r>
              <a:rPr lang="en-US" i="1" dirty="0">
                <a:solidFill>
                  <a:schemeClr val="tx1">
                    <a:lumMod val="50000"/>
                    <a:lumOff val="50000"/>
                  </a:schemeClr>
                </a:solidFill>
              </a:rPr>
              <a:t>Speed</a:t>
            </a:r>
            <a:r>
              <a:rPr lang="en-US" dirty="0"/>
              <a:t>: transitory alliances versus careful planning. </a:t>
            </a:r>
            <a:endParaRPr lang="en-GB" dirty="0"/>
          </a:p>
          <a:p>
            <a:r>
              <a:rPr lang="en-US" i="1" dirty="0">
                <a:solidFill>
                  <a:schemeClr val="tx1">
                    <a:lumMod val="50000"/>
                    <a:lumOff val="50000"/>
                  </a:schemeClr>
                </a:solidFill>
              </a:rPr>
              <a:t>Partner fit</a:t>
            </a:r>
            <a:r>
              <a:rPr lang="en-US" dirty="0"/>
              <a:t>: network versus dyadic fit.</a:t>
            </a:r>
            <a:endParaRPr lang="en-GB" dirty="0"/>
          </a:p>
          <a:p>
            <a:r>
              <a:rPr lang="en-US" i="1" dirty="0">
                <a:solidFill>
                  <a:schemeClr val="tx1">
                    <a:lumMod val="50000"/>
                    <a:lumOff val="50000"/>
                  </a:schemeClr>
                </a:solidFill>
              </a:rPr>
              <a:t>Partner type</a:t>
            </a:r>
            <a:r>
              <a:rPr lang="en-US" dirty="0"/>
              <a:t>: complementarity versus familiarity. </a:t>
            </a:r>
            <a:endParaRPr lang="en-GB" dirty="0"/>
          </a:p>
          <a:p>
            <a:r>
              <a:rPr lang="en-US" i="1" dirty="0">
                <a:solidFill>
                  <a:schemeClr val="tx1">
                    <a:lumMod val="50000"/>
                    <a:lumOff val="50000"/>
                  </a:schemeClr>
                </a:solidFill>
              </a:rPr>
              <a:t>Commitment</a:t>
            </a:r>
            <a:r>
              <a:rPr lang="en-US" dirty="0"/>
              <a:t>: aligned objectives versus trust.</a:t>
            </a:r>
            <a:endParaRPr lang="en-GB" dirty="0">
              <a:solidFill>
                <a:schemeClr val="tx1">
                  <a:lumMod val="50000"/>
                  <a:lumOff val="50000"/>
                </a:schemeClr>
              </a:solidFill>
            </a:endParaRPr>
          </a:p>
          <a:p>
            <a:r>
              <a:rPr lang="en-US" i="1" dirty="0">
                <a:solidFill>
                  <a:schemeClr val="tx1">
                    <a:lumMod val="50000"/>
                    <a:lumOff val="50000"/>
                  </a:schemeClr>
                </a:solidFill>
              </a:rPr>
              <a:t>Focus</a:t>
            </a:r>
            <a:r>
              <a:rPr lang="en-US" dirty="0"/>
              <a:t>: few, specific tasks versus multiple roles.</a:t>
            </a:r>
            <a:endParaRPr lang="en-GB" dirty="0"/>
          </a:p>
          <a:p>
            <a:endParaRPr lang="en-US" dirty="0"/>
          </a:p>
        </p:txBody>
      </p:sp>
    </p:spTree>
    <p:extLst>
      <p:ext uri="{BB962C8B-B14F-4D97-AF65-F5344CB8AC3E}">
        <p14:creationId xmlns:p14="http://schemas.microsoft.com/office/powerpoint/2010/main" val="18894615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49531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9" name="Title 1"/>
          <p:cNvSpPr txBox="1">
            <a:spLocks/>
          </p:cNvSpPr>
          <p:nvPr/>
        </p:nvSpPr>
        <p:spPr>
          <a:xfrm>
            <a:off x="971600" y="260648"/>
            <a:ext cx="7187698" cy="917864"/>
          </a:xfrm>
          <a:prstGeom prst="rect">
            <a:avLst/>
          </a:prstGeom>
        </p:spPr>
        <p:txBody>
          <a:bodyPr vert="horz" lIns="91440" tIns="45720" rIns="91440" bIns="45720" rtlCol="0" anchor="ctr">
            <a:noAutofit/>
          </a:bodyPr>
          <a:lstStyle/>
          <a:p>
            <a:pPr lvl="0" algn="ctr">
              <a:spcBef>
                <a:spcPct val="0"/>
              </a:spcBef>
              <a:defRPr/>
            </a:pPr>
            <a:r>
              <a:rPr lang="en-US" sz="3600" b="1" dirty="0">
                <a:solidFill>
                  <a:srgbClr val="008000"/>
                </a:solidFill>
                <a:latin typeface="+mj-lt"/>
                <a:ea typeface="+mj-ea"/>
                <a:cs typeface="+mj-cs"/>
              </a:rPr>
              <a:t>Why alliances fail</a:t>
            </a:r>
            <a:endParaRPr lang="en-GB" sz="3600" b="1" dirty="0">
              <a:solidFill>
                <a:srgbClr val="008000"/>
              </a:solidFill>
              <a:latin typeface="+mj-lt"/>
              <a:ea typeface="+mj-ea"/>
              <a:cs typeface="+mj-cs"/>
            </a:endParaRPr>
          </a:p>
        </p:txBody>
      </p:sp>
      <p:pic>
        <p:nvPicPr>
          <p:cNvPr id="8" name="Picture 7"/>
          <p:cNvPicPr/>
          <p:nvPr/>
        </p:nvPicPr>
        <p:blipFill>
          <a:blip r:embed="rId2" cstate="print">
            <a:extLst>
              <a:ext uri="{28A0092B-C50C-407E-A947-70E740481C1C}">
                <a14:useLocalDpi xmlns:a14="http://schemas.microsoft.com/office/drawing/2010/main" val="0"/>
              </a:ext>
            </a:extLst>
          </a:blip>
          <a:stretch>
            <a:fillRect/>
          </a:stretch>
        </p:blipFill>
        <p:spPr>
          <a:xfrm>
            <a:off x="1115616" y="1772816"/>
            <a:ext cx="7331117" cy="4496713"/>
          </a:xfrm>
          <a:prstGeom prst="rect">
            <a:avLst/>
          </a:prstGeom>
        </p:spPr>
      </p:pic>
      <p:sp>
        <p:nvSpPr>
          <p:cNvPr id="2" name="TextBox 1">
            <a:extLst>
              <a:ext uri="{FF2B5EF4-FFF2-40B4-BE49-F238E27FC236}">
                <a16:creationId xmlns:a16="http://schemas.microsoft.com/office/drawing/2014/main" id="{63A402F9-8335-F34B-9C42-5E903499BD22}"/>
              </a:ext>
            </a:extLst>
          </p:cNvPr>
          <p:cNvSpPr txBox="1"/>
          <p:nvPr/>
        </p:nvSpPr>
        <p:spPr>
          <a:xfrm>
            <a:off x="1403648" y="1988840"/>
            <a:ext cx="1080120" cy="369332"/>
          </a:xfrm>
          <a:prstGeom prst="rect">
            <a:avLst/>
          </a:prstGeom>
          <a:solidFill>
            <a:schemeClr val="accent3">
              <a:lumMod val="20000"/>
              <a:lumOff val="80000"/>
            </a:schemeClr>
          </a:solidFill>
        </p:spPr>
        <p:txBody>
          <a:bodyPr wrap="square" rtlCol="0">
            <a:spAutoFit/>
          </a:bodyPr>
          <a:lstStyle/>
          <a:p>
            <a:endParaRPr lang="en-US" dirty="0"/>
          </a:p>
        </p:txBody>
      </p:sp>
    </p:spTree>
    <p:extLst>
      <p:ext uri="{BB962C8B-B14F-4D97-AF65-F5344CB8AC3E}">
        <p14:creationId xmlns:p14="http://schemas.microsoft.com/office/powerpoint/2010/main" val="24503787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1F976-26E8-9E48-A9CB-1E5AC2B3AD0F}"/>
              </a:ext>
            </a:extLst>
          </p:cNvPr>
          <p:cNvSpPr>
            <a:spLocks noGrp="1"/>
          </p:cNvSpPr>
          <p:nvPr>
            <p:ph type="title"/>
          </p:nvPr>
        </p:nvSpPr>
        <p:spPr/>
        <p:txBody>
          <a:bodyPr/>
          <a:lstStyle/>
          <a:p>
            <a:r>
              <a:rPr lang="en-US" dirty="0"/>
              <a:t>Supplier relationships</a:t>
            </a:r>
          </a:p>
        </p:txBody>
      </p:sp>
      <p:pic>
        <p:nvPicPr>
          <p:cNvPr id="5" name="Picture 4" descr="Diagram&#10;&#10;Description automatically generated">
            <a:extLst>
              <a:ext uri="{FF2B5EF4-FFF2-40B4-BE49-F238E27FC236}">
                <a16:creationId xmlns:a16="http://schemas.microsoft.com/office/drawing/2014/main" id="{C71EFC32-22C2-3940-8048-1E40C868CA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1850" y="1268760"/>
            <a:ext cx="7480300" cy="5181600"/>
          </a:xfrm>
          <a:prstGeom prst="rect">
            <a:avLst/>
          </a:prstGeom>
        </p:spPr>
      </p:pic>
    </p:spTree>
    <p:extLst>
      <p:ext uri="{BB962C8B-B14F-4D97-AF65-F5344CB8AC3E}">
        <p14:creationId xmlns:p14="http://schemas.microsoft.com/office/powerpoint/2010/main" val="2825286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A4FD5-EFBF-0644-BBF3-34EFF0E76D52}"/>
              </a:ext>
            </a:extLst>
          </p:cNvPr>
          <p:cNvSpPr>
            <a:spLocks noGrp="1"/>
          </p:cNvSpPr>
          <p:nvPr>
            <p:ph type="title"/>
          </p:nvPr>
        </p:nvSpPr>
        <p:spPr/>
        <p:txBody>
          <a:bodyPr/>
          <a:lstStyle/>
          <a:p>
            <a:r>
              <a:rPr lang="en-US" dirty="0"/>
              <a:t>Types of user innovation</a:t>
            </a:r>
          </a:p>
        </p:txBody>
      </p:sp>
      <p:pic>
        <p:nvPicPr>
          <p:cNvPr id="5" name="Picture 4" descr="Diagram&#10;&#10;Description automatically generated">
            <a:extLst>
              <a:ext uri="{FF2B5EF4-FFF2-40B4-BE49-F238E27FC236}">
                <a16:creationId xmlns:a16="http://schemas.microsoft.com/office/drawing/2014/main" id="{4A919136-70F9-2447-BAB6-2D71F3B08D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3350" y="1178108"/>
            <a:ext cx="6337300" cy="5435600"/>
          </a:xfrm>
          <a:prstGeom prst="rect">
            <a:avLst/>
          </a:prstGeom>
        </p:spPr>
      </p:pic>
    </p:spTree>
    <p:extLst>
      <p:ext uri="{BB962C8B-B14F-4D97-AF65-F5344CB8AC3E}">
        <p14:creationId xmlns:p14="http://schemas.microsoft.com/office/powerpoint/2010/main" val="16597322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187624" y="332656"/>
            <a:ext cx="6973715" cy="917864"/>
          </a:xfrm>
          <a:prstGeom prst="rect">
            <a:avLst/>
          </a:prstGeom>
        </p:spPr>
        <p:txBody>
          <a:bodyPr vert="horz" lIns="91440" tIns="45720" rIns="91440" bIns="45720" rtlCol="0" anchor="ctr">
            <a:noAutofit/>
          </a:bodyPr>
          <a:lstStyle/>
          <a:p>
            <a:pPr lvl="0" algn="ctr">
              <a:spcBef>
                <a:spcPct val="0"/>
              </a:spcBef>
              <a:defRPr/>
            </a:pPr>
            <a:r>
              <a:rPr lang="en-US" sz="3600" b="1" dirty="0">
                <a:solidFill>
                  <a:srgbClr val="008000"/>
                </a:solidFill>
                <a:latin typeface="+mj-lt"/>
                <a:ea typeface="+mj-ea"/>
                <a:cs typeface="+mj-cs"/>
              </a:rPr>
              <a:t>Open innovation</a:t>
            </a:r>
            <a:endParaRPr lang="en-GB" sz="3600" b="1" dirty="0">
              <a:solidFill>
                <a:srgbClr val="008000"/>
              </a:solidFill>
              <a:latin typeface="+mj-lt"/>
              <a:ea typeface="+mj-ea"/>
              <a:cs typeface="+mj-cs"/>
            </a:endParaRPr>
          </a:p>
        </p:txBody>
      </p:sp>
      <p:pic>
        <p:nvPicPr>
          <p:cNvPr id="11" name="Picture 10"/>
          <p:cNvPicPr/>
          <p:nvPr/>
        </p:nvPicPr>
        <p:blipFill>
          <a:blip r:embed="rId2" cstate="print">
            <a:extLst>
              <a:ext uri="{28A0092B-C50C-407E-A947-70E740481C1C}">
                <a14:useLocalDpi xmlns:a14="http://schemas.microsoft.com/office/drawing/2010/main" val="0"/>
              </a:ext>
            </a:extLst>
          </a:blip>
          <a:stretch>
            <a:fillRect/>
          </a:stretch>
        </p:blipFill>
        <p:spPr>
          <a:xfrm>
            <a:off x="971600" y="1772816"/>
            <a:ext cx="7261477" cy="4464496"/>
          </a:xfrm>
          <a:prstGeom prst="rect">
            <a:avLst/>
          </a:prstGeom>
        </p:spPr>
      </p:pic>
    </p:spTree>
    <p:extLst>
      <p:ext uri="{BB962C8B-B14F-4D97-AF65-F5344CB8AC3E}">
        <p14:creationId xmlns:p14="http://schemas.microsoft.com/office/powerpoint/2010/main" val="535639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20706"/>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458167" y="280890"/>
            <a:ext cx="7686519"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rPr>
              <a:t>Models for open innovation</a:t>
            </a:r>
            <a:endParaRPr lang="en-GB" sz="3600" b="1" dirty="0">
              <a:solidFill>
                <a:srgbClr val="008000"/>
              </a:solidFill>
            </a:endParaRPr>
          </a:p>
        </p:txBody>
      </p:sp>
      <p:sp>
        <p:nvSpPr>
          <p:cNvPr id="9" name="Rectangle 8"/>
          <p:cNvSpPr/>
          <p:nvPr/>
        </p:nvSpPr>
        <p:spPr>
          <a:xfrm>
            <a:off x="899592" y="1700808"/>
            <a:ext cx="8518336" cy="5693866"/>
          </a:xfrm>
          <a:prstGeom prst="rect">
            <a:avLst/>
          </a:prstGeom>
        </p:spPr>
        <p:txBody>
          <a:bodyPr wrap="square">
            <a:spAutoFit/>
          </a:bodyPr>
          <a:lstStyle/>
          <a:p>
            <a:pPr marL="457200" indent="-457200">
              <a:buFont typeface="Arial"/>
              <a:buChar char="•"/>
            </a:pPr>
            <a:r>
              <a:rPr lang="en-US" sz="2800" dirty="0"/>
              <a:t>Orchestra</a:t>
            </a:r>
          </a:p>
          <a:p>
            <a:pPr marL="457200" indent="-457200">
              <a:buFont typeface="Arial"/>
              <a:buChar char="•"/>
            </a:pPr>
            <a:endParaRPr lang="en-GB" sz="2800" dirty="0"/>
          </a:p>
          <a:p>
            <a:pPr marL="457200" indent="-457200">
              <a:buFont typeface="Arial"/>
              <a:buChar char="•"/>
            </a:pPr>
            <a:r>
              <a:rPr lang="en-US" sz="2800" dirty="0"/>
              <a:t>Creative bazaar</a:t>
            </a:r>
          </a:p>
          <a:p>
            <a:pPr marL="457200" indent="-457200">
              <a:buFont typeface="Arial"/>
              <a:buChar char="•"/>
            </a:pPr>
            <a:endParaRPr lang="en-GB" sz="2800" dirty="0"/>
          </a:p>
          <a:p>
            <a:pPr marL="457200" indent="-457200">
              <a:buFont typeface="Arial"/>
              <a:buChar char="•"/>
            </a:pPr>
            <a:r>
              <a:rPr lang="en-US" sz="2800" dirty="0"/>
              <a:t>Jam Central</a:t>
            </a:r>
          </a:p>
          <a:p>
            <a:pPr marL="457200" indent="-457200">
              <a:buFont typeface="Arial"/>
              <a:buChar char="•"/>
            </a:pPr>
            <a:endParaRPr lang="en-GB" sz="2800" dirty="0"/>
          </a:p>
          <a:p>
            <a:pPr marL="457200" indent="-457200">
              <a:buFont typeface="Arial"/>
              <a:buChar char="•"/>
            </a:pPr>
            <a:r>
              <a:rPr lang="en-US" sz="2800" dirty="0"/>
              <a:t>Mod station</a:t>
            </a:r>
          </a:p>
          <a:p>
            <a:pPr marL="457200" indent="-457200">
              <a:buFont typeface="Arial"/>
              <a:buChar char="•"/>
            </a:pPr>
            <a:endParaRPr lang="en-GB" sz="2800" dirty="0"/>
          </a:p>
          <a:p>
            <a:pPr marL="457200" indent="-457200">
              <a:buFont typeface="Arial"/>
              <a:buChar char="•"/>
            </a:pPr>
            <a:r>
              <a:rPr lang="en-US" sz="2800" dirty="0"/>
              <a:t>Infusion</a:t>
            </a:r>
            <a:endParaRPr lang="en-GB" sz="2800" dirty="0"/>
          </a:p>
          <a:p>
            <a:endParaRPr lang="en-GB" sz="2800" dirty="0"/>
          </a:p>
          <a:p>
            <a:endParaRPr lang="en-GB" sz="2800" dirty="0"/>
          </a:p>
          <a:p>
            <a:r>
              <a:rPr lang="en-US" sz="2800" dirty="0"/>
              <a:t> </a:t>
            </a:r>
            <a:endParaRPr lang="en-GB" sz="2800" dirty="0"/>
          </a:p>
          <a:p>
            <a:endParaRPr lang="en-GB" sz="2800" dirty="0"/>
          </a:p>
        </p:txBody>
      </p:sp>
    </p:spTree>
    <p:extLst>
      <p:ext uri="{BB962C8B-B14F-4D97-AF65-F5344CB8AC3E}">
        <p14:creationId xmlns:p14="http://schemas.microsoft.com/office/powerpoint/2010/main" val="36883020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12898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812528" y="1916832"/>
            <a:ext cx="8331472" cy="3539430"/>
          </a:xfrm>
          <a:prstGeom prst="rect">
            <a:avLst/>
          </a:prstGeom>
        </p:spPr>
        <p:txBody>
          <a:bodyPr wrap="square">
            <a:spAutoFit/>
          </a:bodyPr>
          <a:lstStyle/>
          <a:p>
            <a:r>
              <a:rPr lang="en-US" sz="2800" b="1" dirty="0"/>
              <a:t>• </a:t>
            </a:r>
            <a:r>
              <a:rPr lang="en-US" sz="2800" dirty="0">
                <a:solidFill>
                  <a:schemeClr val="tx1">
                    <a:lumMod val="50000"/>
                    <a:lumOff val="50000"/>
                  </a:schemeClr>
                </a:solidFill>
              </a:rPr>
              <a:t>conditions and context</a:t>
            </a:r>
            <a:r>
              <a:rPr lang="en-US" sz="2800" dirty="0"/>
              <a:t>, e.g. environmental uncertainty and project complexity </a:t>
            </a:r>
          </a:p>
          <a:p>
            <a:endParaRPr lang="en-US" sz="2800" b="1" dirty="0"/>
          </a:p>
          <a:p>
            <a:r>
              <a:rPr lang="en-US" sz="2800" b="1" dirty="0"/>
              <a:t>• </a:t>
            </a:r>
            <a:r>
              <a:rPr lang="en-US" sz="2800" dirty="0">
                <a:solidFill>
                  <a:schemeClr val="tx1">
                    <a:lumMod val="50000"/>
                    <a:lumOff val="50000"/>
                  </a:schemeClr>
                </a:solidFill>
              </a:rPr>
              <a:t>control and ownership </a:t>
            </a:r>
            <a:r>
              <a:rPr lang="en-US" sz="2800" dirty="0"/>
              <a:t>of resources</a:t>
            </a:r>
          </a:p>
          <a:p>
            <a:endParaRPr lang="en-GB" sz="2800" dirty="0"/>
          </a:p>
          <a:p>
            <a:r>
              <a:rPr lang="en-US" sz="2800" dirty="0"/>
              <a:t> </a:t>
            </a:r>
            <a:r>
              <a:rPr lang="en-US" sz="2800" b="1" dirty="0"/>
              <a:t>• </a:t>
            </a:r>
            <a:r>
              <a:rPr lang="en-US" sz="2800" dirty="0">
                <a:solidFill>
                  <a:schemeClr val="tx1">
                    <a:lumMod val="50000"/>
                    <a:lumOff val="50000"/>
                  </a:schemeClr>
                </a:solidFill>
              </a:rPr>
              <a:t>coordination</a:t>
            </a:r>
            <a:r>
              <a:rPr lang="en-US" sz="2800" dirty="0"/>
              <a:t> of knowledge flows </a:t>
            </a:r>
          </a:p>
          <a:p>
            <a:endParaRPr lang="en-GB" sz="2800" dirty="0"/>
          </a:p>
          <a:p>
            <a:r>
              <a:rPr lang="en-US" sz="2800" b="1" dirty="0"/>
              <a:t>• </a:t>
            </a:r>
            <a:r>
              <a:rPr lang="en-US" sz="2800" dirty="0">
                <a:solidFill>
                  <a:schemeClr val="tx1">
                    <a:lumMod val="50000"/>
                    <a:lumOff val="50000"/>
                  </a:schemeClr>
                </a:solidFill>
              </a:rPr>
              <a:t>creation and capture </a:t>
            </a:r>
            <a:r>
              <a:rPr lang="en-US" sz="2800" dirty="0"/>
              <a:t>of value.</a:t>
            </a:r>
            <a:endParaRPr lang="en-GB" sz="2800" dirty="0"/>
          </a:p>
        </p:txBody>
      </p:sp>
      <p:sp>
        <p:nvSpPr>
          <p:cNvPr id="6" name="Title 1"/>
          <p:cNvSpPr txBox="1">
            <a:spLocks/>
          </p:cNvSpPr>
          <p:nvPr/>
        </p:nvSpPr>
        <p:spPr>
          <a:xfrm>
            <a:off x="971600" y="188640"/>
            <a:ext cx="7275302" cy="917864"/>
          </a:xfrm>
          <a:prstGeom prst="rect">
            <a:avLst/>
          </a:prstGeom>
        </p:spPr>
        <p:txBody>
          <a:bodyPr vert="horz" lIns="91440" tIns="45720" rIns="91440" bIns="45720" rtlCol="0" anchor="ctr">
            <a:noAutofit/>
          </a:bodyPr>
          <a:lstStyle/>
          <a:p>
            <a:pPr lvl="0" algn="ctr">
              <a:spcBef>
                <a:spcPct val="0"/>
              </a:spcBef>
              <a:defRPr/>
            </a:pPr>
            <a:r>
              <a:rPr kumimoji="0" lang="en-GB" sz="3600" b="1" i="0" u="none" strike="noStrike" kern="1200" cap="none" spc="0" normalizeH="0" baseline="0" noProof="0" dirty="0">
                <a:ln>
                  <a:noFill/>
                </a:ln>
                <a:solidFill>
                  <a:srgbClr val="008000"/>
                </a:solidFill>
                <a:effectLst/>
                <a:uLnTx/>
                <a:uFillTx/>
                <a:latin typeface="+mj-lt"/>
                <a:ea typeface="+mj-ea"/>
                <a:cs typeface="+mj-cs"/>
              </a:rPr>
              <a:t>Challenges in open innovation</a:t>
            </a:r>
            <a:endParaRPr lang="en-GB" sz="3600" b="1" dirty="0">
              <a:solidFill>
                <a:srgbClr val="008000"/>
              </a:solidFill>
              <a:latin typeface="+mj-lt"/>
              <a:ea typeface="+mj-ea"/>
              <a:cs typeface="+mj-cs"/>
            </a:endParaRPr>
          </a:p>
        </p:txBody>
      </p:sp>
    </p:spTree>
    <p:extLst>
      <p:ext uri="{BB962C8B-B14F-4D97-AF65-F5344CB8AC3E}">
        <p14:creationId xmlns:p14="http://schemas.microsoft.com/office/powerpoint/2010/main" val="13137769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49531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9" name="Title 1"/>
          <p:cNvSpPr txBox="1">
            <a:spLocks/>
          </p:cNvSpPr>
          <p:nvPr/>
        </p:nvSpPr>
        <p:spPr>
          <a:xfrm>
            <a:off x="1043608" y="332656"/>
            <a:ext cx="7187698" cy="917864"/>
          </a:xfrm>
          <a:prstGeom prst="rect">
            <a:avLst/>
          </a:prstGeom>
        </p:spPr>
        <p:txBody>
          <a:bodyPr vert="horz" lIns="91440" tIns="45720" rIns="91440" bIns="45720" rtlCol="0" anchor="ctr">
            <a:noAutofit/>
          </a:bodyPr>
          <a:lstStyle/>
          <a:p>
            <a:pPr lvl="0" algn="ctr">
              <a:spcBef>
                <a:spcPct val="0"/>
              </a:spcBef>
              <a:defRPr/>
            </a:pPr>
            <a:r>
              <a:rPr lang="en-US" sz="3600" b="1" dirty="0">
                <a:solidFill>
                  <a:srgbClr val="008000"/>
                </a:solidFill>
                <a:latin typeface="+mj-lt"/>
                <a:ea typeface="+mj-ea"/>
                <a:cs typeface="+mj-cs"/>
              </a:rPr>
              <a:t>Challenges in open innovation</a:t>
            </a:r>
            <a:endParaRPr lang="en-GB" sz="3600" b="1" dirty="0">
              <a:solidFill>
                <a:srgbClr val="008000"/>
              </a:solidFill>
              <a:latin typeface="+mj-lt"/>
              <a:ea typeface="+mj-ea"/>
              <a:cs typeface="+mj-cs"/>
            </a:endParaRPr>
          </a:p>
        </p:txBody>
      </p:sp>
      <p:pic>
        <p:nvPicPr>
          <p:cNvPr id="8" name="Picture 7"/>
          <p:cNvPicPr/>
          <p:nvPr/>
        </p:nvPicPr>
        <p:blipFill>
          <a:blip r:embed="rId2" cstate="print">
            <a:extLst>
              <a:ext uri="{28A0092B-C50C-407E-A947-70E740481C1C}">
                <a14:useLocalDpi xmlns:a14="http://schemas.microsoft.com/office/drawing/2010/main" val="0"/>
              </a:ext>
            </a:extLst>
          </a:blip>
          <a:stretch>
            <a:fillRect/>
          </a:stretch>
        </p:blipFill>
        <p:spPr>
          <a:xfrm>
            <a:off x="2123728" y="1628800"/>
            <a:ext cx="5270500" cy="5735955"/>
          </a:xfrm>
          <a:prstGeom prst="rect">
            <a:avLst/>
          </a:prstGeom>
        </p:spPr>
      </p:pic>
      <p:sp>
        <p:nvSpPr>
          <p:cNvPr id="2" name="TextBox 1">
            <a:extLst>
              <a:ext uri="{FF2B5EF4-FFF2-40B4-BE49-F238E27FC236}">
                <a16:creationId xmlns:a16="http://schemas.microsoft.com/office/drawing/2014/main" id="{7BE9474D-7D8D-124C-96DA-9C9D79456723}"/>
              </a:ext>
            </a:extLst>
          </p:cNvPr>
          <p:cNvSpPr txBox="1"/>
          <p:nvPr/>
        </p:nvSpPr>
        <p:spPr>
          <a:xfrm>
            <a:off x="2339752" y="1700808"/>
            <a:ext cx="792088" cy="369332"/>
          </a:xfrm>
          <a:prstGeom prst="rect">
            <a:avLst/>
          </a:prstGeom>
          <a:solidFill>
            <a:schemeClr val="bg2"/>
          </a:solidFill>
        </p:spPr>
        <p:txBody>
          <a:bodyPr wrap="square" rtlCol="0">
            <a:spAutoFit/>
          </a:bodyPr>
          <a:lstStyle/>
          <a:p>
            <a:endParaRPr lang="en-US" dirty="0"/>
          </a:p>
        </p:txBody>
      </p:sp>
    </p:spTree>
    <p:extLst>
      <p:ext uri="{BB962C8B-B14F-4D97-AF65-F5344CB8AC3E}">
        <p14:creationId xmlns:p14="http://schemas.microsoft.com/office/powerpoint/2010/main" val="19373995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67544" y="134076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043608" y="188640"/>
            <a:ext cx="6924762"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Strategies to support open innovation</a:t>
            </a:r>
            <a:endParaRPr lang="en-GB" sz="3600" b="1" dirty="0">
              <a:solidFill>
                <a:srgbClr val="008000"/>
              </a:solidFill>
              <a:latin typeface="+mj-lt"/>
              <a:ea typeface="+mj-ea"/>
              <a:cs typeface="+mj-cs"/>
            </a:endParaRPr>
          </a:p>
        </p:txBody>
      </p:sp>
      <p:pic>
        <p:nvPicPr>
          <p:cNvPr id="8" name="Picture 7"/>
          <p:cNvPicPr/>
          <p:nvPr/>
        </p:nvPicPr>
        <p:blipFill>
          <a:blip r:embed="rId2" cstate="print">
            <a:extLst>
              <a:ext uri="{28A0092B-C50C-407E-A947-70E740481C1C}">
                <a14:useLocalDpi xmlns:a14="http://schemas.microsoft.com/office/drawing/2010/main" val="0"/>
              </a:ext>
            </a:extLst>
          </a:blip>
          <a:stretch>
            <a:fillRect/>
          </a:stretch>
        </p:blipFill>
        <p:spPr>
          <a:xfrm>
            <a:off x="755576" y="1628800"/>
            <a:ext cx="7200800" cy="4952936"/>
          </a:xfrm>
          <a:prstGeom prst="rect">
            <a:avLst/>
          </a:prstGeom>
        </p:spPr>
      </p:pic>
      <p:sp>
        <p:nvSpPr>
          <p:cNvPr id="2" name="TextBox 1">
            <a:extLst>
              <a:ext uri="{FF2B5EF4-FFF2-40B4-BE49-F238E27FC236}">
                <a16:creationId xmlns:a16="http://schemas.microsoft.com/office/drawing/2014/main" id="{65679449-EF43-3E4A-B2A8-D357C5182B6E}"/>
              </a:ext>
            </a:extLst>
          </p:cNvPr>
          <p:cNvSpPr txBox="1"/>
          <p:nvPr/>
        </p:nvSpPr>
        <p:spPr>
          <a:xfrm>
            <a:off x="1115616" y="5805264"/>
            <a:ext cx="1224136" cy="504056"/>
          </a:xfrm>
          <a:prstGeom prst="rect">
            <a:avLst/>
          </a:prstGeom>
          <a:solidFill>
            <a:schemeClr val="bg1"/>
          </a:solidFill>
        </p:spPr>
        <p:txBody>
          <a:bodyPr wrap="square" rtlCol="0">
            <a:spAutoFit/>
          </a:bodyPr>
          <a:lstStyle/>
          <a:p>
            <a:endParaRPr lang="en-US"/>
          </a:p>
        </p:txBody>
      </p:sp>
    </p:spTree>
    <p:extLst>
      <p:ext uri="{BB962C8B-B14F-4D97-AF65-F5344CB8AC3E}">
        <p14:creationId xmlns:p14="http://schemas.microsoft.com/office/powerpoint/2010/main" val="1163779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22482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424040" y="204072"/>
            <a:ext cx="6442297" cy="971912"/>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Summary</a:t>
            </a:r>
            <a:endParaRPr lang="en-GB" sz="3600" b="1" dirty="0">
              <a:solidFill>
                <a:srgbClr val="008000"/>
              </a:solidFill>
              <a:latin typeface="+mj-lt"/>
              <a:ea typeface="+mj-ea"/>
              <a:cs typeface="+mj-cs"/>
            </a:endParaRPr>
          </a:p>
        </p:txBody>
      </p:sp>
      <p:sp>
        <p:nvSpPr>
          <p:cNvPr id="9" name="Rectangle 8"/>
          <p:cNvSpPr/>
          <p:nvPr/>
        </p:nvSpPr>
        <p:spPr>
          <a:xfrm>
            <a:off x="458167" y="1486293"/>
            <a:ext cx="8478016" cy="4401205"/>
          </a:xfrm>
          <a:prstGeom prst="rect">
            <a:avLst/>
          </a:prstGeom>
        </p:spPr>
        <p:txBody>
          <a:bodyPr wrap="square">
            <a:spAutoFit/>
          </a:bodyPr>
          <a:lstStyle/>
          <a:p>
            <a:pPr marL="457200" lvl="0" indent="-457200">
              <a:buFont typeface="Arial"/>
              <a:buChar char="•"/>
            </a:pPr>
            <a:r>
              <a:rPr lang="en-US" sz="2800" dirty="0"/>
              <a:t>Organizations collaborate for many reasons, to reduce the cost, time or risk of access to unfamiliar technologies or markets. </a:t>
            </a:r>
          </a:p>
          <a:p>
            <a:pPr marL="457200" lvl="0" indent="-457200">
              <a:buFont typeface="Arial"/>
              <a:buChar char="•"/>
            </a:pPr>
            <a:endParaRPr lang="en-GB" sz="2800" dirty="0"/>
          </a:p>
          <a:p>
            <a:pPr marL="457200" lvl="0" indent="-457200">
              <a:buFont typeface="Arial"/>
              <a:buChar char="•"/>
            </a:pPr>
            <a:r>
              <a:rPr lang="en-US" sz="2800" dirty="0"/>
              <a:t>The precise form of collaboration will be determined by the motives and preferences of the partners, but their choice will be constrained by the nature of the technologies and markets, specifically the degree of knowledge complexity and </a:t>
            </a:r>
            <a:r>
              <a:rPr lang="en-US" sz="2800" dirty="0" err="1"/>
              <a:t>tacitness</a:t>
            </a:r>
            <a:r>
              <a:rPr lang="en-US" sz="2800" dirty="0"/>
              <a:t>. </a:t>
            </a:r>
            <a:endParaRPr lang="en-GB" sz="2800" dirty="0"/>
          </a:p>
          <a:p>
            <a:pPr marL="457200" lvl="0" indent="-457200">
              <a:buFont typeface="Arial"/>
              <a:buChar char="•"/>
            </a:pPr>
            <a:endParaRPr lang="en-GB" sz="2800" dirty="0"/>
          </a:p>
        </p:txBody>
      </p:sp>
    </p:spTree>
    <p:extLst>
      <p:ext uri="{BB962C8B-B14F-4D97-AF65-F5344CB8AC3E}">
        <p14:creationId xmlns:p14="http://schemas.microsoft.com/office/powerpoint/2010/main" val="24076872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22482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424040" y="204072"/>
            <a:ext cx="6442297" cy="971912"/>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Summary</a:t>
            </a:r>
            <a:endParaRPr lang="en-GB" sz="3600" b="1" dirty="0">
              <a:solidFill>
                <a:srgbClr val="008000"/>
              </a:solidFill>
              <a:latin typeface="+mj-lt"/>
              <a:ea typeface="+mj-ea"/>
              <a:cs typeface="+mj-cs"/>
            </a:endParaRPr>
          </a:p>
        </p:txBody>
      </p:sp>
      <p:sp>
        <p:nvSpPr>
          <p:cNvPr id="9" name="Rectangle 8"/>
          <p:cNvSpPr/>
          <p:nvPr/>
        </p:nvSpPr>
        <p:spPr>
          <a:xfrm>
            <a:off x="458167" y="1486293"/>
            <a:ext cx="8478016" cy="5262980"/>
          </a:xfrm>
          <a:prstGeom prst="rect">
            <a:avLst/>
          </a:prstGeom>
        </p:spPr>
        <p:txBody>
          <a:bodyPr wrap="square">
            <a:spAutoFit/>
          </a:bodyPr>
          <a:lstStyle/>
          <a:p>
            <a:pPr marL="457200" lvl="0" indent="-457200">
              <a:buFont typeface="Arial"/>
              <a:buChar char="•"/>
            </a:pPr>
            <a:r>
              <a:rPr lang="en-US" sz="2800" dirty="0"/>
              <a:t>The success of an alliance depends on a number of factors, but organizational issues dominate, such as the degree of mutual trust and level of communication. </a:t>
            </a:r>
          </a:p>
          <a:p>
            <a:pPr marL="457200" lvl="0" indent="-457200">
              <a:buFont typeface="Arial"/>
              <a:buChar char="•"/>
            </a:pPr>
            <a:endParaRPr lang="en-GB" sz="2800" dirty="0"/>
          </a:p>
          <a:p>
            <a:pPr marL="457200" lvl="0" indent="-457200">
              <a:buFont typeface="Arial"/>
              <a:buChar char="•"/>
            </a:pPr>
            <a:r>
              <a:rPr lang="en-US" sz="2800" dirty="0"/>
              <a:t>Open innovation is a very broad and therefore popular concept, but needs to be applied with care as its relevance is sensitive to the context. The appropriate choice of partner and specific mechanisms will depend on the type of innovation project and environmental uncertainty. </a:t>
            </a:r>
            <a:endParaRPr lang="en-GB" sz="2800" dirty="0"/>
          </a:p>
          <a:p>
            <a:pPr lvl="0"/>
            <a:endParaRPr lang="en-GB" sz="2800" b="1" dirty="0"/>
          </a:p>
        </p:txBody>
      </p:sp>
    </p:spTree>
    <p:extLst>
      <p:ext uri="{BB962C8B-B14F-4D97-AF65-F5344CB8AC3E}">
        <p14:creationId xmlns:p14="http://schemas.microsoft.com/office/powerpoint/2010/main" val="22112710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22482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424040" y="204072"/>
            <a:ext cx="6442297" cy="971912"/>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Summary</a:t>
            </a:r>
            <a:endParaRPr lang="en-GB" sz="3600" b="1" dirty="0">
              <a:solidFill>
                <a:srgbClr val="008000"/>
              </a:solidFill>
              <a:latin typeface="+mj-lt"/>
              <a:ea typeface="+mj-ea"/>
              <a:cs typeface="+mj-cs"/>
            </a:endParaRPr>
          </a:p>
        </p:txBody>
      </p:sp>
      <p:sp>
        <p:nvSpPr>
          <p:cNvPr id="9" name="Rectangle 8"/>
          <p:cNvSpPr/>
          <p:nvPr/>
        </p:nvSpPr>
        <p:spPr>
          <a:xfrm>
            <a:off x="458167" y="1486293"/>
            <a:ext cx="8478016" cy="1815882"/>
          </a:xfrm>
          <a:prstGeom prst="rect">
            <a:avLst/>
          </a:prstGeom>
        </p:spPr>
        <p:txBody>
          <a:bodyPr wrap="square">
            <a:spAutoFit/>
          </a:bodyPr>
          <a:lstStyle/>
          <a:p>
            <a:pPr marL="457200" lvl="0" indent="-457200">
              <a:buFont typeface="Arial"/>
              <a:buChar char="•"/>
            </a:pPr>
            <a:r>
              <a:rPr lang="en-US" sz="2800" dirty="0"/>
              <a:t>In most cases open innovation and internal innovation capabilities are complementary, rather than substitutes. </a:t>
            </a:r>
            <a:endParaRPr lang="en-GB" sz="2800" dirty="0"/>
          </a:p>
          <a:p>
            <a:pPr lvl="0"/>
            <a:endParaRPr lang="en-GB" sz="2800" b="1" dirty="0"/>
          </a:p>
        </p:txBody>
      </p:sp>
    </p:spTree>
    <p:extLst>
      <p:ext uri="{BB962C8B-B14F-4D97-AF65-F5344CB8AC3E}">
        <p14:creationId xmlns:p14="http://schemas.microsoft.com/office/powerpoint/2010/main" val="6221753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50BCDA0-42BA-42AB-8E58-A25C965D01F9}"/>
              </a:ext>
            </a:extLst>
          </p:cNvPr>
          <p:cNvPicPr>
            <a:picLocks noChangeAspect="1"/>
          </p:cNvPicPr>
          <p:nvPr/>
        </p:nvPicPr>
        <p:blipFill rotWithShape="1">
          <a:blip r:embed="rId3"/>
          <a:srcRect l="19722" r="44833" b="-1"/>
          <a:stretch/>
        </p:blipFill>
        <p:spPr>
          <a:xfrm>
            <a:off x="-5524" y="10"/>
            <a:ext cx="3641692" cy="6857990"/>
          </a:xfrm>
          <a:custGeom>
            <a:avLst/>
            <a:gdLst/>
            <a:ahLst/>
            <a:cxnLst/>
            <a:rect l="l" t="t" r="r" b="b"/>
            <a:pathLst>
              <a:path w="4636517" h="6858000">
                <a:moveTo>
                  <a:pt x="0" y="0"/>
                </a:moveTo>
                <a:lnTo>
                  <a:pt x="4636517" y="0"/>
                </a:lnTo>
                <a:lnTo>
                  <a:pt x="4636517" y="6858000"/>
                </a:lnTo>
                <a:lnTo>
                  <a:pt x="0" y="6858000"/>
                </a:lnTo>
                <a:close/>
              </a:path>
            </a:pathLst>
          </a:custGeom>
        </p:spPr>
      </p:pic>
      <p:sp>
        <p:nvSpPr>
          <p:cNvPr id="2" name="Title 1">
            <a:extLst>
              <a:ext uri="{FF2B5EF4-FFF2-40B4-BE49-F238E27FC236}">
                <a16:creationId xmlns:a16="http://schemas.microsoft.com/office/drawing/2014/main" id="{614D8143-9088-1A4A-858B-DB874C43BBC6}"/>
              </a:ext>
            </a:extLst>
          </p:cNvPr>
          <p:cNvSpPr>
            <a:spLocks noGrp="1"/>
          </p:cNvSpPr>
          <p:nvPr>
            <p:ph type="title"/>
          </p:nvPr>
        </p:nvSpPr>
        <p:spPr>
          <a:xfrm>
            <a:off x="4370286" y="407987"/>
            <a:ext cx="4291113" cy="1325563"/>
          </a:xfrm>
        </p:spPr>
        <p:txBody>
          <a:bodyPr>
            <a:normAutofit/>
          </a:bodyPr>
          <a:lstStyle/>
          <a:p>
            <a:r>
              <a:rPr lang="en-US" dirty="0"/>
              <a:t>Videos</a:t>
            </a:r>
          </a:p>
        </p:txBody>
      </p:sp>
      <p:sp>
        <p:nvSpPr>
          <p:cNvPr id="3" name="Content Placeholder 2">
            <a:extLst>
              <a:ext uri="{FF2B5EF4-FFF2-40B4-BE49-F238E27FC236}">
                <a16:creationId xmlns:a16="http://schemas.microsoft.com/office/drawing/2014/main" id="{49BFE31F-7315-164A-BF78-744336F5540D}"/>
              </a:ext>
            </a:extLst>
          </p:cNvPr>
          <p:cNvSpPr>
            <a:spLocks noGrp="1"/>
          </p:cNvSpPr>
          <p:nvPr>
            <p:ph idx="1"/>
          </p:nvPr>
        </p:nvSpPr>
        <p:spPr>
          <a:xfrm>
            <a:off x="4370286" y="1868487"/>
            <a:ext cx="4291113" cy="4351338"/>
          </a:xfrm>
        </p:spPr>
        <p:txBody>
          <a:bodyPr>
            <a:normAutofit/>
          </a:bodyPr>
          <a:lstStyle/>
          <a:p>
            <a:pPr marL="0" indent="0">
              <a:lnSpc>
                <a:spcPct val="90000"/>
              </a:lnSpc>
              <a:buNone/>
            </a:pPr>
            <a:r>
              <a:rPr lang="en-US" sz="2000" dirty="0"/>
              <a:t>There are several videos which can help explore and present the key themes of the chapter:</a:t>
            </a:r>
          </a:p>
          <a:p>
            <a:pPr marL="0" indent="0">
              <a:lnSpc>
                <a:spcPct val="90000"/>
              </a:lnSpc>
              <a:buNone/>
            </a:pPr>
            <a:r>
              <a:rPr lang="en-GB" sz="2000" u="sng" dirty="0">
                <a:hlinkClick r:id="rId4"/>
              </a:rPr>
              <a:t>Open innovation – a golden opportunity?</a:t>
            </a:r>
            <a:r>
              <a:rPr lang="en-GB" sz="2000" dirty="0"/>
              <a:t> </a:t>
            </a:r>
          </a:p>
          <a:p>
            <a:pPr marL="0" indent="0">
              <a:lnSpc>
                <a:spcPct val="90000"/>
              </a:lnSpc>
              <a:buNone/>
            </a:pPr>
            <a:r>
              <a:rPr lang="en-GB" sz="2000" u="sng" dirty="0">
                <a:hlinkClick r:id="rId5"/>
              </a:rPr>
              <a:t>Open innovation – managing knowledge spaghetti</a:t>
            </a:r>
            <a:r>
              <a:rPr lang="en-GB" sz="2000" dirty="0"/>
              <a:t> </a:t>
            </a:r>
          </a:p>
          <a:p>
            <a:pPr marL="0" indent="0">
              <a:lnSpc>
                <a:spcPct val="90000"/>
              </a:lnSpc>
              <a:buNone/>
            </a:pPr>
            <a:r>
              <a:rPr lang="en-GB" sz="2000" u="sng" dirty="0">
                <a:hlinkClick r:id="rId6"/>
              </a:rPr>
              <a:t>Strategies for open innovation</a:t>
            </a:r>
            <a:r>
              <a:rPr lang="en-GB" sz="2000" dirty="0"/>
              <a:t> </a:t>
            </a:r>
          </a:p>
          <a:p>
            <a:pPr marL="0" indent="0">
              <a:lnSpc>
                <a:spcPct val="90000"/>
              </a:lnSpc>
              <a:buNone/>
            </a:pPr>
            <a:r>
              <a:rPr lang="en-GB" sz="2000" u="sng" dirty="0">
                <a:hlinkClick r:id="rId7"/>
              </a:rPr>
              <a:t>Innovation contests and markets</a:t>
            </a:r>
            <a:r>
              <a:rPr lang="en-GB" sz="2000" dirty="0"/>
              <a:t> </a:t>
            </a:r>
          </a:p>
          <a:p>
            <a:pPr marL="0" indent="0">
              <a:lnSpc>
                <a:spcPct val="90000"/>
              </a:lnSpc>
              <a:buNone/>
            </a:pPr>
            <a:r>
              <a:rPr lang="en-GB" sz="2000" u="sng" dirty="0">
                <a:hlinkClick r:id="rId8"/>
              </a:rPr>
              <a:t>Platforms for open innovation</a:t>
            </a:r>
            <a:r>
              <a:rPr lang="en-GB" sz="2000" dirty="0"/>
              <a:t> </a:t>
            </a:r>
            <a:endParaRPr lang="en-US" sz="2000" dirty="0"/>
          </a:p>
          <a:p>
            <a:pPr marL="0" indent="0">
              <a:lnSpc>
                <a:spcPct val="90000"/>
              </a:lnSpc>
              <a:buNone/>
            </a:pPr>
            <a:endParaRPr lang="en-US" sz="2000" dirty="0"/>
          </a:p>
        </p:txBody>
      </p:sp>
    </p:spTree>
    <p:extLst>
      <p:ext uri="{BB962C8B-B14F-4D97-AF65-F5344CB8AC3E}">
        <p14:creationId xmlns:p14="http://schemas.microsoft.com/office/powerpoint/2010/main" val="2279984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0EDDC-336A-FA4F-B1A4-45E89288A911}"/>
              </a:ext>
            </a:extLst>
          </p:cNvPr>
          <p:cNvSpPr>
            <a:spLocks noGrp="1"/>
          </p:cNvSpPr>
          <p:nvPr>
            <p:ph type="title"/>
          </p:nvPr>
        </p:nvSpPr>
        <p:spPr/>
        <p:txBody>
          <a:bodyPr/>
          <a:lstStyle/>
          <a:p>
            <a:r>
              <a:rPr lang="en-US" dirty="0"/>
              <a:t>Videos</a:t>
            </a:r>
          </a:p>
        </p:txBody>
      </p:sp>
      <p:sp>
        <p:nvSpPr>
          <p:cNvPr id="3" name="Content Placeholder 2">
            <a:extLst>
              <a:ext uri="{FF2B5EF4-FFF2-40B4-BE49-F238E27FC236}">
                <a16:creationId xmlns:a16="http://schemas.microsoft.com/office/drawing/2014/main" id="{8C189D54-45FA-E24D-AF91-1561977F4A73}"/>
              </a:ext>
            </a:extLst>
          </p:cNvPr>
          <p:cNvSpPr>
            <a:spLocks noGrp="1"/>
          </p:cNvSpPr>
          <p:nvPr>
            <p:ph idx="1"/>
          </p:nvPr>
        </p:nvSpPr>
        <p:spPr/>
        <p:txBody>
          <a:bodyPr/>
          <a:lstStyle/>
          <a:p>
            <a:r>
              <a:rPr lang="en-GB" u="sng" dirty="0">
                <a:hlinkClick r:id="rId2"/>
              </a:rPr>
              <a:t>Making the most of open innovation – David Simoes Brown</a:t>
            </a:r>
            <a:r>
              <a:rPr lang="en-GB" dirty="0"/>
              <a:t> </a:t>
            </a:r>
          </a:p>
          <a:p>
            <a:r>
              <a:rPr lang="en-GB" dirty="0">
                <a:hlinkClick r:id="rId3"/>
              </a:rPr>
              <a:t>Outside in – part 1 of ITN /ISPIM film on user innovation</a:t>
            </a:r>
            <a:endParaRPr lang="en-GB" dirty="0"/>
          </a:p>
          <a:p>
            <a:r>
              <a:rPr lang="en-GB" dirty="0">
                <a:hlinkClick r:id="rId4"/>
              </a:rPr>
              <a:t>Part 2</a:t>
            </a:r>
            <a:endParaRPr lang="en-GB" dirty="0"/>
          </a:p>
          <a:p>
            <a:r>
              <a:rPr lang="en-GB" dirty="0">
                <a:hlinkClick r:id="rId5"/>
              </a:rPr>
              <a:t>John Bessant keynote speech on open innovation</a:t>
            </a:r>
            <a:endParaRPr lang="en-GB" dirty="0"/>
          </a:p>
          <a:p>
            <a:endParaRPr lang="en-US" dirty="0"/>
          </a:p>
        </p:txBody>
      </p:sp>
    </p:spTree>
    <p:extLst>
      <p:ext uri="{BB962C8B-B14F-4D97-AF65-F5344CB8AC3E}">
        <p14:creationId xmlns:p14="http://schemas.microsoft.com/office/powerpoint/2010/main" val="39240984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67544" y="1196752"/>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539552" y="1556792"/>
            <a:ext cx="8331472" cy="3539430"/>
          </a:xfrm>
          <a:prstGeom prst="rect">
            <a:avLst/>
          </a:prstGeom>
        </p:spPr>
        <p:txBody>
          <a:bodyPr wrap="square">
            <a:spAutoFit/>
          </a:bodyPr>
          <a:lstStyle/>
          <a:p>
            <a:r>
              <a:rPr lang="en-GB" sz="2800" dirty="0"/>
              <a:t>Follow the link below to hear an interview with Melissa and Doug Bernstein, founders of Melissa &amp; Doug</a:t>
            </a:r>
          </a:p>
          <a:p>
            <a:endParaRPr lang="en-GB" sz="2800" dirty="0"/>
          </a:p>
          <a:p>
            <a:endParaRPr lang="en-GB" sz="2800" dirty="0"/>
          </a:p>
          <a:p>
            <a:r>
              <a:rPr lang="en-GB" sz="2800" dirty="0">
                <a:hlinkClick r:id="rId2"/>
              </a:rPr>
              <a:t>https://www.youtube.com/watch?v=EvZEZfyBQ5E</a:t>
            </a:r>
            <a:endParaRPr lang="en-GB" sz="2800" dirty="0"/>
          </a:p>
          <a:p>
            <a:endParaRPr lang="en-GB" sz="2800" dirty="0"/>
          </a:p>
          <a:p>
            <a:endParaRPr lang="en-GB" sz="2800" dirty="0"/>
          </a:p>
          <a:p>
            <a:endParaRPr lang="en-GB" sz="2800" dirty="0"/>
          </a:p>
        </p:txBody>
      </p:sp>
      <p:sp>
        <p:nvSpPr>
          <p:cNvPr id="6" name="Title 1"/>
          <p:cNvSpPr txBox="1">
            <a:spLocks/>
          </p:cNvSpPr>
          <p:nvPr/>
        </p:nvSpPr>
        <p:spPr>
          <a:xfrm>
            <a:off x="827584" y="188640"/>
            <a:ext cx="7275302" cy="917864"/>
          </a:xfrm>
          <a:prstGeom prst="rect">
            <a:avLst/>
          </a:prstGeom>
        </p:spPr>
        <p:txBody>
          <a:bodyPr vert="horz" lIns="91440" tIns="45720" rIns="91440" bIns="45720" rtlCol="0" anchor="ctr">
            <a:noAutofit/>
          </a:bodyPr>
          <a:lstStyle/>
          <a:p>
            <a:pPr lvl="0" algn="ctr">
              <a:spcBef>
                <a:spcPct val="0"/>
              </a:spcBef>
              <a:defRPr/>
            </a:pPr>
            <a:r>
              <a:rPr lang="en-GB" sz="3600" b="1" dirty="0">
                <a:solidFill>
                  <a:srgbClr val="008000"/>
                </a:solidFill>
                <a:latin typeface="+mj-lt"/>
                <a:ea typeface="+mj-ea"/>
                <a:cs typeface="+mj-cs"/>
              </a:rPr>
              <a:t>Media: Joint ventures and strategic alliances </a:t>
            </a:r>
          </a:p>
        </p:txBody>
      </p:sp>
    </p:spTree>
    <p:extLst>
      <p:ext uri="{BB962C8B-B14F-4D97-AF65-F5344CB8AC3E}">
        <p14:creationId xmlns:p14="http://schemas.microsoft.com/office/powerpoint/2010/main" val="17311681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251520" y="332656"/>
            <a:ext cx="6814948"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rPr>
              <a:t>Connect and develop</a:t>
            </a:r>
            <a:endParaRPr lang="en-GB" sz="3600" b="1" dirty="0">
              <a:solidFill>
                <a:srgbClr val="008000"/>
              </a:solidFill>
            </a:endParaRPr>
          </a:p>
        </p:txBody>
      </p:sp>
      <p:sp>
        <p:nvSpPr>
          <p:cNvPr id="12" name="Rectangle 11"/>
          <p:cNvSpPr/>
          <p:nvPr/>
        </p:nvSpPr>
        <p:spPr>
          <a:xfrm>
            <a:off x="539552" y="1700808"/>
            <a:ext cx="8331472" cy="4832092"/>
          </a:xfrm>
          <a:prstGeom prst="rect">
            <a:avLst/>
          </a:prstGeom>
        </p:spPr>
        <p:txBody>
          <a:bodyPr wrap="square">
            <a:spAutoFit/>
          </a:bodyPr>
          <a:lstStyle/>
          <a:p>
            <a:r>
              <a:rPr lang="en-US" sz="2400" dirty="0">
                <a:hlinkClick r:id="rId2"/>
              </a:rPr>
              <a:t>This audio interview describes experience with the ‘Connect and develop’ programme within Procter and Gamble.  </a:t>
            </a:r>
            <a:endParaRPr lang="en-GB" sz="2400" dirty="0"/>
          </a:p>
          <a:p>
            <a:r>
              <a:rPr lang="en-US" sz="2400" dirty="0"/>
              <a:t> </a:t>
            </a:r>
          </a:p>
          <a:p>
            <a:r>
              <a:rPr lang="en-US" sz="2400" dirty="0"/>
              <a:t>The company website has more information and a wide range of examples</a:t>
            </a:r>
            <a:endParaRPr lang="en-GB" sz="2400" dirty="0"/>
          </a:p>
          <a:p>
            <a:r>
              <a:rPr lang="en-US" sz="2400" dirty="0"/>
              <a:t> </a:t>
            </a:r>
            <a:endParaRPr lang="en-GB" sz="2400" dirty="0"/>
          </a:p>
          <a:p>
            <a:r>
              <a:rPr lang="en-US" sz="2400" dirty="0"/>
              <a:t>http://</a:t>
            </a:r>
            <a:r>
              <a:rPr lang="en-US" sz="2400" dirty="0" err="1"/>
              <a:t>www.pgconnectdevelop.com</a:t>
            </a:r>
            <a:r>
              <a:rPr lang="en-US" sz="2400" dirty="0"/>
              <a:t>/</a:t>
            </a:r>
            <a:endParaRPr lang="en-GB" sz="2400" dirty="0"/>
          </a:p>
          <a:p>
            <a:endParaRPr lang="en-GB" sz="2800" dirty="0"/>
          </a:p>
          <a:p>
            <a:r>
              <a:rPr lang="en-US" sz="2800" dirty="0"/>
              <a:t> </a:t>
            </a:r>
            <a:endParaRPr lang="en-GB" sz="2800" dirty="0"/>
          </a:p>
          <a:p>
            <a:r>
              <a:rPr lang="en-US" sz="2800" dirty="0"/>
              <a:t> </a:t>
            </a:r>
            <a:endParaRPr lang="en-GB" sz="2800" dirty="0"/>
          </a:p>
          <a:p>
            <a:r>
              <a:rPr lang="en-US" sz="2800" dirty="0"/>
              <a:t> </a:t>
            </a:r>
            <a:endParaRPr lang="en-GB" sz="2800" dirty="0"/>
          </a:p>
          <a:p>
            <a:endParaRPr lang="en-US" sz="2800" dirty="0"/>
          </a:p>
        </p:txBody>
      </p:sp>
      <p:pic>
        <p:nvPicPr>
          <p:cNvPr id="17410" name="Picture 2" descr="Image result for connect"/>
          <p:cNvPicPr>
            <a:picLocks noChangeAspect="1" noChangeArrowheads="1"/>
          </p:cNvPicPr>
          <p:nvPr/>
        </p:nvPicPr>
        <p:blipFill>
          <a:blip r:embed="rId3" cstate="print"/>
          <a:srcRect/>
          <a:stretch>
            <a:fillRect/>
          </a:stretch>
        </p:blipFill>
        <p:spPr bwMode="auto">
          <a:xfrm>
            <a:off x="6444208" y="0"/>
            <a:ext cx="1944216" cy="1459810"/>
          </a:xfrm>
          <a:prstGeom prst="rect">
            <a:avLst/>
          </a:prstGeom>
          <a:noFill/>
        </p:spPr>
      </p:pic>
    </p:spTree>
    <p:extLst>
      <p:ext uri="{BB962C8B-B14F-4D97-AF65-F5344CB8AC3E}">
        <p14:creationId xmlns:p14="http://schemas.microsoft.com/office/powerpoint/2010/main" val="10531637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20706"/>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539552" y="260648"/>
            <a:ext cx="7686519"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rPr>
              <a:t>Media: Ordnance Survey</a:t>
            </a:r>
            <a:endParaRPr lang="en-GB" sz="3600" b="1" dirty="0">
              <a:solidFill>
                <a:srgbClr val="008000"/>
              </a:solidFill>
            </a:endParaRPr>
          </a:p>
        </p:txBody>
      </p:sp>
      <p:sp>
        <p:nvSpPr>
          <p:cNvPr id="5" name="Content Placeholder 4"/>
          <p:cNvSpPr>
            <a:spLocks noGrp="1"/>
          </p:cNvSpPr>
          <p:nvPr>
            <p:ph idx="1"/>
          </p:nvPr>
        </p:nvSpPr>
        <p:spPr>
          <a:xfrm>
            <a:off x="467544" y="1484784"/>
            <a:ext cx="8229600" cy="4525963"/>
          </a:xfrm>
        </p:spPr>
        <p:txBody>
          <a:bodyPr>
            <a:normAutofit/>
          </a:bodyPr>
          <a:lstStyle/>
          <a:p>
            <a:pPr marL="0" indent="0">
              <a:buNone/>
            </a:pPr>
            <a:r>
              <a:rPr lang="en-US" dirty="0"/>
              <a:t> </a:t>
            </a:r>
            <a:endParaRPr lang="en-GB" dirty="0"/>
          </a:p>
          <a:p>
            <a:pPr marL="0" indent="0">
              <a:buNone/>
            </a:pPr>
            <a:r>
              <a:rPr lang="en-US" dirty="0">
                <a:hlinkClick r:id="rId2"/>
              </a:rPr>
              <a:t>This is an audio interview with David Overton describing </a:t>
            </a:r>
            <a:r>
              <a:rPr lang="en-US" dirty="0"/>
              <a:t>the approach of a large knowledge-based organization to try and extend the range of products and services using their core knowledge base.</a:t>
            </a:r>
            <a:endParaRPr lang="en-GB" dirty="0"/>
          </a:p>
          <a:p>
            <a:pPr marL="0" indent="0">
              <a:buNone/>
            </a:pPr>
            <a:r>
              <a:rPr lang="en-US" dirty="0"/>
              <a:t> </a:t>
            </a:r>
          </a:p>
        </p:txBody>
      </p:sp>
    </p:spTree>
    <p:extLst>
      <p:ext uri="{BB962C8B-B14F-4D97-AF65-F5344CB8AC3E}">
        <p14:creationId xmlns:p14="http://schemas.microsoft.com/office/powerpoint/2010/main" val="9620745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49531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9" name="Title 1"/>
          <p:cNvSpPr txBox="1">
            <a:spLocks/>
          </p:cNvSpPr>
          <p:nvPr/>
        </p:nvSpPr>
        <p:spPr>
          <a:xfrm>
            <a:off x="1331640" y="260648"/>
            <a:ext cx="6439259" cy="917864"/>
          </a:xfrm>
          <a:prstGeom prst="rect">
            <a:avLst/>
          </a:prstGeom>
        </p:spPr>
        <p:txBody>
          <a:bodyPr vert="horz" lIns="91440" tIns="45720" rIns="91440" bIns="45720" rtlCol="0" anchor="ctr">
            <a:noAutofit/>
          </a:bodyPr>
          <a:lstStyle/>
          <a:p>
            <a:pPr lvl="0" algn="ctr">
              <a:spcBef>
                <a:spcPct val="0"/>
              </a:spcBef>
              <a:defRPr/>
            </a:pPr>
            <a:r>
              <a:rPr lang="en-US" sz="3600" b="1" dirty="0">
                <a:solidFill>
                  <a:srgbClr val="008000"/>
                </a:solidFill>
                <a:latin typeface="+mj-lt"/>
                <a:ea typeface="+mj-ea"/>
                <a:cs typeface="+mj-cs"/>
              </a:rPr>
              <a:t>Media: Open Innovation</a:t>
            </a:r>
            <a:endParaRPr lang="en-GB" sz="3600" b="1" dirty="0">
              <a:solidFill>
                <a:srgbClr val="008000"/>
              </a:solidFill>
              <a:latin typeface="+mj-lt"/>
              <a:ea typeface="+mj-ea"/>
              <a:cs typeface="+mj-cs"/>
            </a:endParaRPr>
          </a:p>
        </p:txBody>
      </p:sp>
      <p:sp>
        <p:nvSpPr>
          <p:cNvPr id="3" name="Content Placeholder 2"/>
          <p:cNvSpPr>
            <a:spLocks noGrp="1"/>
          </p:cNvSpPr>
          <p:nvPr>
            <p:ph idx="1"/>
          </p:nvPr>
        </p:nvSpPr>
        <p:spPr>
          <a:xfrm>
            <a:off x="611560" y="1988840"/>
            <a:ext cx="8229600" cy="4525963"/>
          </a:xfrm>
        </p:spPr>
        <p:txBody>
          <a:bodyPr>
            <a:normAutofit/>
          </a:bodyPr>
          <a:lstStyle/>
          <a:p>
            <a:pPr lvl="0">
              <a:buNone/>
            </a:pPr>
            <a:r>
              <a:rPr lang="en-GB" sz="2400" dirty="0"/>
              <a:t>Follow the link below to watch Charles </a:t>
            </a:r>
            <a:r>
              <a:rPr lang="en-GB" sz="2400" dirty="0" err="1"/>
              <a:t>Leadbetter’s</a:t>
            </a:r>
            <a:r>
              <a:rPr lang="en-GB" sz="2400" dirty="0"/>
              <a:t> TED Talk, ‘The era of open innovation’ </a:t>
            </a:r>
          </a:p>
          <a:p>
            <a:pPr lvl="0">
              <a:buNone/>
            </a:pPr>
            <a:endParaRPr lang="en-GB" dirty="0"/>
          </a:p>
          <a:p>
            <a:pPr lvl="0">
              <a:buNone/>
            </a:pPr>
            <a:endParaRPr lang="en-GB" dirty="0"/>
          </a:p>
          <a:p>
            <a:pPr lvl="0">
              <a:buNone/>
            </a:pPr>
            <a:r>
              <a:rPr lang="en-GB" sz="2400" dirty="0">
                <a:hlinkClick r:id="rId2"/>
              </a:rPr>
              <a:t>https://www.ted.com/talks/charles_leadbeater_on_innovation</a:t>
            </a:r>
            <a:endParaRPr lang="en-GB" sz="2400" dirty="0"/>
          </a:p>
          <a:p>
            <a:pPr lvl="0">
              <a:buNone/>
            </a:pPr>
            <a:endParaRPr lang="en-GB" dirty="0"/>
          </a:p>
          <a:p>
            <a:pPr lvl="0"/>
            <a:endParaRPr lang="en-GB" dirty="0"/>
          </a:p>
          <a:p>
            <a:endParaRPr lang="en-US" dirty="0"/>
          </a:p>
        </p:txBody>
      </p:sp>
    </p:spTree>
    <p:extLst>
      <p:ext uri="{BB962C8B-B14F-4D97-AF65-F5344CB8AC3E}">
        <p14:creationId xmlns:p14="http://schemas.microsoft.com/office/powerpoint/2010/main" val="32899575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49531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9" name="Title 1"/>
          <p:cNvSpPr txBox="1">
            <a:spLocks/>
          </p:cNvSpPr>
          <p:nvPr/>
        </p:nvSpPr>
        <p:spPr>
          <a:xfrm>
            <a:off x="1331640" y="260648"/>
            <a:ext cx="6439259" cy="917864"/>
          </a:xfrm>
          <a:prstGeom prst="rect">
            <a:avLst/>
          </a:prstGeom>
        </p:spPr>
        <p:txBody>
          <a:bodyPr vert="horz" lIns="91440" tIns="45720" rIns="91440" bIns="45720" rtlCol="0" anchor="ctr">
            <a:noAutofit/>
          </a:bodyPr>
          <a:lstStyle/>
          <a:p>
            <a:pPr lvl="0" algn="ctr">
              <a:spcBef>
                <a:spcPct val="0"/>
              </a:spcBef>
              <a:defRPr/>
            </a:pPr>
            <a:r>
              <a:rPr lang="en-US" sz="3600" b="1" dirty="0">
                <a:solidFill>
                  <a:srgbClr val="008000"/>
                </a:solidFill>
                <a:latin typeface="+mj-lt"/>
                <a:ea typeface="+mj-ea"/>
                <a:cs typeface="+mj-cs"/>
              </a:rPr>
              <a:t>Media: Open Innovation</a:t>
            </a:r>
            <a:endParaRPr lang="en-GB" sz="3600" b="1" dirty="0">
              <a:solidFill>
                <a:srgbClr val="008000"/>
              </a:solidFill>
              <a:latin typeface="+mj-lt"/>
              <a:ea typeface="+mj-ea"/>
              <a:cs typeface="+mj-cs"/>
            </a:endParaRPr>
          </a:p>
        </p:txBody>
      </p:sp>
      <p:sp>
        <p:nvSpPr>
          <p:cNvPr id="6" name="TextBox 5"/>
          <p:cNvSpPr txBox="1"/>
          <p:nvPr/>
        </p:nvSpPr>
        <p:spPr>
          <a:xfrm>
            <a:off x="539552" y="1988840"/>
            <a:ext cx="8064896" cy="2677656"/>
          </a:xfrm>
          <a:prstGeom prst="rect">
            <a:avLst/>
          </a:prstGeom>
          <a:noFill/>
        </p:spPr>
        <p:txBody>
          <a:bodyPr wrap="square" rtlCol="0">
            <a:spAutoFit/>
          </a:bodyPr>
          <a:lstStyle/>
          <a:p>
            <a:r>
              <a:rPr lang="en-GB" sz="2400" dirty="0"/>
              <a:t>Follow the link below to watch Howard Rheingold’s TED Talk, ‘The new power of collaboration’</a:t>
            </a:r>
          </a:p>
          <a:p>
            <a:endParaRPr lang="en-GB" sz="2400" dirty="0"/>
          </a:p>
          <a:p>
            <a:endParaRPr lang="en-GB" sz="2400" dirty="0"/>
          </a:p>
          <a:p>
            <a:endParaRPr lang="en-GB" sz="2400" dirty="0">
              <a:hlinkClick r:id="rId2"/>
            </a:endParaRPr>
          </a:p>
          <a:p>
            <a:r>
              <a:rPr lang="en-GB" sz="2400" dirty="0">
                <a:hlinkClick r:id="rId2"/>
              </a:rPr>
              <a:t>https://www.ted.com/talks/howard_rheingold_on_collaboration</a:t>
            </a:r>
            <a:endParaRPr lang="en-GB" sz="2400" dirty="0"/>
          </a:p>
        </p:txBody>
      </p:sp>
    </p:spTree>
    <p:extLst>
      <p:ext uri="{BB962C8B-B14F-4D97-AF65-F5344CB8AC3E}">
        <p14:creationId xmlns:p14="http://schemas.microsoft.com/office/powerpoint/2010/main" val="16992822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987897-E368-6B40-A432-FCFC66E718D4}"/>
              </a:ext>
            </a:extLst>
          </p:cNvPr>
          <p:cNvSpPr>
            <a:spLocks noGrp="1"/>
          </p:cNvSpPr>
          <p:nvPr>
            <p:ph type="title"/>
          </p:nvPr>
        </p:nvSpPr>
        <p:spPr>
          <a:xfrm>
            <a:off x="515125" y="1153572"/>
            <a:ext cx="2400300" cy="4461163"/>
          </a:xfrm>
        </p:spPr>
        <p:txBody>
          <a:bodyPr>
            <a:normAutofit/>
          </a:bodyPr>
          <a:lstStyle/>
          <a:p>
            <a:r>
              <a:rPr lang="en-US">
                <a:solidFill>
                  <a:srgbClr val="FFFFFF"/>
                </a:solidFill>
              </a:rPr>
              <a:t>Blogs and podcasts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60F7953-C336-3B4A-8A1A-58F5A985ACE7}"/>
              </a:ext>
            </a:extLst>
          </p:cNvPr>
          <p:cNvSpPr>
            <a:spLocks noGrp="1"/>
          </p:cNvSpPr>
          <p:nvPr>
            <p:ph idx="1"/>
          </p:nvPr>
        </p:nvSpPr>
        <p:spPr>
          <a:xfrm>
            <a:off x="3335481" y="591344"/>
            <a:ext cx="5179868" cy="5585619"/>
          </a:xfrm>
        </p:spPr>
        <p:txBody>
          <a:bodyPr anchor="ctr">
            <a:normAutofit/>
          </a:bodyPr>
          <a:lstStyle/>
          <a:p>
            <a:r>
              <a:rPr lang="en-US" dirty="0"/>
              <a:t>There are </a:t>
            </a:r>
            <a:r>
              <a:rPr lang="en-US" dirty="0">
                <a:hlinkClick r:id="rId2"/>
              </a:rPr>
              <a:t>several podcasts </a:t>
            </a:r>
            <a:r>
              <a:rPr lang="en-US" dirty="0"/>
              <a:t> and </a:t>
            </a:r>
            <a:r>
              <a:rPr lang="en-US" dirty="0">
                <a:hlinkClick r:id="rId3"/>
              </a:rPr>
              <a:t>blogs </a:t>
            </a:r>
            <a:r>
              <a:rPr lang="en-US" dirty="0"/>
              <a:t>picking up key themes around managing innovation as a process and some of the key variables:</a:t>
            </a:r>
          </a:p>
          <a:p>
            <a:endParaRPr lang="en-US" dirty="0"/>
          </a:p>
          <a:p>
            <a:endParaRPr lang="en-US" dirty="0"/>
          </a:p>
        </p:txBody>
      </p:sp>
    </p:spTree>
    <p:extLst>
      <p:ext uri="{BB962C8B-B14F-4D97-AF65-F5344CB8AC3E}">
        <p14:creationId xmlns:p14="http://schemas.microsoft.com/office/powerpoint/2010/main" val="514110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E829F1-84C0-044B-BBE4-ABFAD581D452}"/>
              </a:ext>
            </a:extLst>
          </p:cNvPr>
          <p:cNvSpPr>
            <a:spLocks noGrp="1"/>
          </p:cNvSpPr>
          <p:nvPr>
            <p:ph type="title"/>
          </p:nvPr>
        </p:nvSpPr>
        <p:spPr>
          <a:xfrm>
            <a:off x="515125" y="1153572"/>
            <a:ext cx="2400300" cy="4461163"/>
          </a:xfrm>
        </p:spPr>
        <p:txBody>
          <a:bodyPr>
            <a:normAutofit/>
          </a:bodyPr>
          <a:lstStyle/>
          <a:p>
            <a:r>
              <a:rPr lang="en-US">
                <a:solidFill>
                  <a:srgbClr val="FFFFFF"/>
                </a:solidFill>
              </a:rPr>
              <a:t>Activities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2B2D3D1-2581-F94B-9851-1F31823967E9}"/>
              </a:ext>
            </a:extLst>
          </p:cNvPr>
          <p:cNvSpPr>
            <a:spLocks noGrp="1"/>
          </p:cNvSpPr>
          <p:nvPr>
            <p:ph idx="1"/>
          </p:nvPr>
        </p:nvSpPr>
        <p:spPr>
          <a:xfrm>
            <a:off x="3335481" y="591344"/>
            <a:ext cx="5179868" cy="5585619"/>
          </a:xfrm>
        </p:spPr>
        <p:txBody>
          <a:bodyPr anchor="ctr">
            <a:normAutofit/>
          </a:bodyPr>
          <a:lstStyle/>
          <a:p>
            <a:r>
              <a:rPr lang="en-US" dirty="0"/>
              <a:t>There are a variety of activities (for both groups and individuals and for online as well as offline work.  These include:</a:t>
            </a:r>
          </a:p>
        </p:txBody>
      </p:sp>
    </p:spTree>
    <p:extLst>
      <p:ext uri="{BB962C8B-B14F-4D97-AF65-F5344CB8AC3E}">
        <p14:creationId xmlns:p14="http://schemas.microsoft.com/office/powerpoint/2010/main" val="39245882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49531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9" name="Title 1"/>
          <p:cNvSpPr txBox="1">
            <a:spLocks/>
          </p:cNvSpPr>
          <p:nvPr/>
        </p:nvSpPr>
        <p:spPr>
          <a:xfrm>
            <a:off x="1331640" y="260648"/>
            <a:ext cx="6439259" cy="917864"/>
          </a:xfrm>
          <a:prstGeom prst="rect">
            <a:avLst/>
          </a:prstGeom>
        </p:spPr>
        <p:txBody>
          <a:bodyPr vert="horz" lIns="91440" tIns="45720" rIns="91440" bIns="45720" rtlCol="0" anchor="ctr">
            <a:noAutofit/>
          </a:bodyPr>
          <a:lstStyle/>
          <a:p>
            <a:pPr lvl="0" algn="ctr">
              <a:spcBef>
                <a:spcPct val="0"/>
              </a:spcBef>
              <a:defRPr/>
            </a:pPr>
            <a:r>
              <a:rPr lang="en-US" sz="3600" b="1" dirty="0">
                <a:solidFill>
                  <a:srgbClr val="008000"/>
                </a:solidFill>
                <a:latin typeface="+mj-lt"/>
                <a:ea typeface="+mj-ea"/>
                <a:cs typeface="+mj-cs"/>
              </a:rPr>
              <a:t>Activity: Open innovation in practice</a:t>
            </a:r>
            <a:endParaRPr lang="en-GB" sz="3600" b="1" dirty="0">
              <a:solidFill>
                <a:srgbClr val="008000"/>
              </a:solidFill>
              <a:latin typeface="+mj-lt"/>
              <a:ea typeface="+mj-ea"/>
              <a:cs typeface="+mj-cs"/>
            </a:endParaRPr>
          </a:p>
        </p:txBody>
      </p:sp>
      <p:sp>
        <p:nvSpPr>
          <p:cNvPr id="3" name="Content Placeholder 2"/>
          <p:cNvSpPr>
            <a:spLocks noGrp="1"/>
          </p:cNvSpPr>
          <p:nvPr>
            <p:ph idx="1"/>
          </p:nvPr>
        </p:nvSpPr>
        <p:spPr>
          <a:xfrm>
            <a:off x="611560" y="2332037"/>
            <a:ext cx="8229600" cy="4525963"/>
          </a:xfrm>
        </p:spPr>
        <p:txBody>
          <a:bodyPr>
            <a:normAutofit/>
          </a:bodyPr>
          <a:lstStyle/>
          <a:p>
            <a:r>
              <a:rPr lang="en-US" sz="2400" dirty="0"/>
              <a:t>Ask students to find examples of open innovation practices and try to classify against the models</a:t>
            </a:r>
            <a:endParaRPr lang="en-GB" sz="2400" dirty="0"/>
          </a:p>
          <a:p>
            <a:pPr lvl="0"/>
            <a:endParaRPr lang="en-GB" dirty="0"/>
          </a:p>
          <a:p>
            <a:pPr lvl="0"/>
            <a:endParaRPr lang="en-GB" dirty="0"/>
          </a:p>
          <a:p>
            <a:endParaRPr lang="en-US" dirty="0"/>
          </a:p>
        </p:txBody>
      </p:sp>
    </p:spTree>
    <p:extLst>
      <p:ext uri="{BB962C8B-B14F-4D97-AF65-F5344CB8AC3E}">
        <p14:creationId xmlns:p14="http://schemas.microsoft.com/office/powerpoint/2010/main" val="32093422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259632" y="332656"/>
            <a:ext cx="6618203" cy="917864"/>
          </a:xfrm>
          <a:prstGeom prst="rect">
            <a:avLst/>
          </a:prstGeom>
        </p:spPr>
        <p:txBody>
          <a:bodyPr vert="horz" lIns="91440" tIns="45720" rIns="91440" bIns="45720" rtlCol="0" anchor="ctr">
            <a:noAutofit/>
          </a:bodyPr>
          <a:lstStyle/>
          <a:p>
            <a:pPr algn="ctr">
              <a:spcBef>
                <a:spcPct val="0"/>
              </a:spcBef>
              <a:defRPr/>
            </a:pPr>
            <a:r>
              <a:rPr lang="en-GB" sz="3600" b="1" dirty="0">
                <a:solidFill>
                  <a:srgbClr val="008000"/>
                </a:solidFill>
                <a:latin typeface="+mj-lt"/>
                <a:ea typeface="+mj-ea"/>
                <a:cs typeface="+mj-cs"/>
              </a:rPr>
              <a:t>Activity: Strengths and weaknesses of open innovation</a:t>
            </a:r>
          </a:p>
        </p:txBody>
      </p:sp>
      <p:sp>
        <p:nvSpPr>
          <p:cNvPr id="13" name="Rectangle 12"/>
          <p:cNvSpPr/>
          <p:nvPr/>
        </p:nvSpPr>
        <p:spPr>
          <a:xfrm>
            <a:off x="467544" y="1628800"/>
            <a:ext cx="8331472" cy="3939541"/>
          </a:xfrm>
          <a:prstGeom prst="rect">
            <a:avLst/>
          </a:prstGeom>
        </p:spPr>
        <p:txBody>
          <a:bodyPr wrap="square">
            <a:spAutoFit/>
          </a:bodyPr>
          <a:lstStyle/>
          <a:p>
            <a:endParaRPr lang="en-US" sz="2600" dirty="0"/>
          </a:p>
          <a:p>
            <a:r>
              <a:rPr lang="en-US" sz="2800" dirty="0"/>
              <a:t>Ask students to discuss (with examples) the strengths and weaknesses of taking a more open approach.  For example, open innovation spreads the net more widely to find ideas – but it also raises big problems around intellectual property protection.</a:t>
            </a:r>
            <a:endParaRPr lang="en-GB" sz="2800" dirty="0"/>
          </a:p>
          <a:p>
            <a:r>
              <a:rPr lang="en-US" sz="2800" dirty="0"/>
              <a:t> </a:t>
            </a:r>
            <a:endParaRPr lang="en-GB" sz="2800" dirty="0"/>
          </a:p>
          <a:p>
            <a:r>
              <a:rPr lang="en-US" sz="2800" dirty="0"/>
              <a:t>Present the results in the form of a table contrasting the two.</a:t>
            </a:r>
            <a:endParaRPr lang="en-GB" sz="2800" dirty="0"/>
          </a:p>
        </p:txBody>
      </p:sp>
    </p:spTree>
    <p:extLst>
      <p:ext uri="{BB962C8B-B14F-4D97-AF65-F5344CB8AC3E}">
        <p14:creationId xmlns:p14="http://schemas.microsoft.com/office/powerpoint/2010/main" val="4978186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F3E2-DE82-684F-AB96-D65AACA856AA}"/>
              </a:ext>
            </a:extLst>
          </p:cNvPr>
          <p:cNvSpPr>
            <a:spLocks noGrp="1"/>
          </p:cNvSpPr>
          <p:nvPr>
            <p:ph type="title"/>
          </p:nvPr>
        </p:nvSpPr>
        <p:spPr>
          <a:xfrm>
            <a:off x="515125" y="1153572"/>
            <a:ext cx="2400300" cy="4461163"/>
          </a:xfrm>
        </p:spPr>
        <p:txBody>
          <a:bodyPr>
            <a:normAutofit/>
          </a:bodyPr>
          <a:lstStyle/>
          <a:p>
            <a:r>
              <a:rPr lang="en-US">
                <a:solidFill>
                  <a:srgbClr val="FFFFFF"/>
                </a:solidFill>
              </a:rPr>
              <a:t>Cases </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7FC5492F-86A8-4E4C-88C3-DE87089A6DE2}"/>
              </a:ext>
            </a:extLst>
          </p:cNvPr>
          <p:cNvSpPr>
            <a:spLocks noGrp="1"/>
          </p:cNvSpPr>
          <p:nvPr>
            <p:ph idx="1"/>
          </p:nvPr>
        </p:nvSpPr>
        <p:spPr>
          <a:xfrm>
            <a:off x="3335481" y="591344"/>
            <a:ext cx="5179868" cy="5585619"/>
          </a:xfrm>
        </p:spPr>
        <p:txBody>
          <a:bodyPr anchor="ctr">
            <a:normAutofit/>
          </a:bodyPr>
          <a:lstStyle/>
          <a:p>
            <a:pPr marL="0" indent="0">
              <a:lnSpc>
                <a:spcPct val="90000"/>
              </a:lnSpc>
              <a:buNone/>
            </a:pPr>
            <a:r>
              <a:rPr lang="en-US" sz="3000" dirty="0"/>
              <a:t>There are several </a:t>
            </a:r>
            <a:r>
              <a:rPr lang="en-US" sz="3000" dirty="0">
                <a:hlinkClick r:id="rId2"/>
              </a:rPr>
              <a:t>case studies </a:t>
            </a:r>
            <a:r>
              <a:rPr lang="en-US" sz="3000" dirty="0"/>
              <a:t>which highlight key themes in the chapter, including:</a:t>
            </a:r>
          </a:p>
          <a:p>
            <a:pPr marL="0" indent="0">
              <a:lnSpc>
                <a:spcPct val="90000"/>
              </a:lnSpc>
              <a:buNone/>
            </a:pPr>
            <a:endParaRPr lang="en-US" sz="3000" dirty="0"/>
          </a:p>
          <a:p>
            <a:pPr>
              <a:lnSpc>
                <a:spcPct val="90000"/>
              </a:lnSpc>
            </a:pPr>
            <a:r>
              <a:rPr lang="en-GB" sz="3000" dirty="0"/>
              <a:t>Lego, Threadless and Local Motors, examples of organizations using open innovation approaches built around communities</a:t>
            </a:r>
          </a:p>
          <a:p>
            <a:pPr>
              <a:lnSpc>
                <a:spcPct val="90000"/>
              </a:lnSpc>
            </a:pPr>
            <a:r>
              <a:rPr lang="en-GB" sz="3000" dirty="0"/>
              <a:t>Connect and develop at Procter &amp; Gamble</a:t>
            </a:r>
          </a:p>
          <a:p>
            <a:pPr>
              <a:lnSpc>
                <a:spcPct val="90000"/>
              </a:lnSpc>
            </a:pPr>
            <a:r>
              <a:rPr lang="en-GB" sz="3000" dirty="0"/>
              <a:t>Adidas</a:t>
            </a:r>
          </a:p>
          <a:p>
            <a:pPr>
              <a:lnSpc>
                <a:spcPct val="90000"/>
              </a:lnSpc>
            </a:pPr>
            <a:endParaRPr lang="en-US" sz="3000" dirty="0"/>
          </a:p>
        </p:txBody>
      </p:sp>
    </p:spTree>
    <p:extLst>
      <p:ext uri="{BB962C8B-B14F-4D97-AF65-F5344CB8AC3E}">
        <p14:creationId xmlns:p14="http://schemas.microsoft.com/office/powerpoint/2010/main" val="32914934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AD80B4-D55C-EB42-9714-AEF28F32476C}"/>
              </a:ext>
            </a:extLst>
          </p:cNvPr>
          <p:cNvSpPr>
            <a:spLocks noGrp="1"/>
          </p:cNvSpPr>
          <p:nvPr>
            <p:ph type="title"/>
          </p:nvPr>
        </p:nvSpPr>
        <p:spPr>
          <a:xfrm>
            <a:off x="515125" y="1153572"/>
            <a:ext cx="2400300" cy="4461163"/>
          </a:xfrm>
        </p:spPr>
        <p:txBody>
          <a:bodyPr>
            <a:normAutofit/>
          </a:bodyPr>
          <a:lstStyle/>
          <a:p>
            <a:r>
              <a:rPr lang="en-US">
                <a:solidFill>
                  <a:srgbClr val="FFFFFF"/>
                </a:solidFill>
              </a:rPr>
              <a:t>Tools </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698C0A98-DEE9-C340-BEDA-4B37B2A6DEDC}"/>
              </a:ext>
            </a:extLst>
          </p:cNvPr>
          <p:cNvSpPr>
            <a:spLocks noGrp="1"/>
          </p:cNvSpPr>
          <p:nvPr>
            <p:ph idx="1"/>
          </p:nvPr>
        </p:nvSpPr>
        <p:spPr>
          <a:xfrm>
            <a:off x="3335481" y="591344"/>
            <a:ext cx="5179868" cy="5585619"/>
          </a:xfrm>
        </p:spPr>
        <p:txBody>
          <a:bodyPr anchor="ctr">
            <a:normAutofit/>
          </a:bodyPr>
          <a:lstStyle/>
          <a:p>
            <a:pPr>
              <a:lnSpc>
                <a:spcPct val="90000"/>
              </a:lnSpc>
            </a:pPr>
            <a:r>
              <a:rPr lang="en-US" sz="2000" dirty="0"/>
              <a:t>There are a variety of tools which can help deal with themes raised in this chapter.  </a:t>
            </a:r>
            <a:r>
              <a:rPr lang="en-US" sz="2000" dirty="0">
                <a:hlinkClick r:id="rId2"/>
              </a:rPr>
              <a:t>You can find them on the website here</a:t>
            </a:r>
            <a:endParaRPr lang="en-US" sz="2000" dirty="0"/>
          </a:p>
          <a:p>
            <a:r>
              <a:rPr lang="en-GB" sz="2000" dirty="0"/>
              <a:t>Design thinking</a:t>
            </a:r>
          </a:p>
          <a:p>
            <a:r>
              <a:rPr lang="en-GB" sz="2000" dirty="0"/>
              <a:t>User-led innovation toolkit</a:t>
            </a:r>
          </a:p>
          <a:p>
            <a:r>
              <a:rPr lang="en-GB" sz="2000" dirty="0"/>
              <a:t>Absorptive capacity audit</a:t>
            </a:r>
          </a:p>
          <a:p>
            <a:r>
              <a:rPr lang="en-GB" sz="2000" dirty="0"/>
              <a:t>Ethnography</a:t>
            </a:r>
          </a:p>
          <a:p>
            <a:r>
              <a:rPr lang="en-GB" sz="2000" dirty="0"/>
              <a:t>Lead user method</a:t>
            </a:r>
          </a:p>
          <a:p>
            <a:pPr>
              <a:lnSpc>
                <a:spcPct val="90000"/>
              </a:lnSpc>
            </a:pPr>
            <a:endParaRPr lang="en-US" sz="2000" dirty="0"/>
          </a:p>
          <a:p>
            <a:pPr>
              <a:lnSpc>
                <a:spcPct val="90000"/>
              </a:lnSpc>
            </a:pPr>
            <a:endParaRPr lang="en-US" sz="2000" dirty="0"/>
          </a:p>
        </p:txBody>
      </p:sp>
    </p:spTree>
    <p:extLst>
      <p:ext uri="{BB962C8B-B14F-4D97-AF65-F5344CB8AC3E}">
        <p14:creationId xmlns:p14="http://schemas.microsoft.com/office/powerpoint/2010/main" val="28402512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62F87A-B1B7-FD4A-A39A-50818E83FC0B}"/>
              </a:ext>
            </a:extLst>
          </p:cNvPr>
          <p:cNvSpPr>
            <a:spLocks noGrp="1"/>
          </p:cNvSpPr>
          <p:nvPr>
            <p:ph type="title"/>
          </p:nvPr>
        </p:nvSpPr>
        <p:spPr>
          <a:xfrm>
            <a:off x="515125" y="1153572"/>
            <a:ext cx="2400300" cy="4461163"/>
          </a:xfrm>
        </p:spPr>
        <p:txBody>
          <a:bodyPr>
            <a:normAutofit/>
          </a:bodyPr>
          <a:lstStyle/>
          <a:p>
            <a:r>
              <a:rPr lang="en-US" sz="3100">
                <a:solidFill>
                  <a:srgbClr val="FFFFFF"/>
                </a:solidFill>
              </a:rPr>
              <a:t>Assessments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300B727-214E-D140-B0D9-8DF9906E14FF}"/>
              </a:ext>
            </a:extLst>
          </p:cNvPr>
          <p:cNvSpPr>
            <a:spLocks noGrp="1"/>
          </p:cNvSpPr>
          <p:nvPr>
            <p:ph idx="1"/>
          </p:nvPr>
        </p:nvSpPr>
        <p:spPr>
          <a:xfrm>
            <a:off x="3335481" y="591344"/>
            <a:ext cx="5179868" cy="5585619"/>
          </a:xfrm>
        </p:spPr>
        <p:txBody>
          <a:bodyPr anchor="ctr">
            <a:normAutofit/>
          </a:bodyPr>
          <a:lstStyle/>
          <a:p>
            <a:r>
              <a:rPr lang="en-US" dirty="0"/>
              <a:t>The following slides offer some example assessment questions and discussion themes for individual or group activity</a:t>
            </a:r>
          </a:p>
          <a:p>
            <a:endParaRPr lang="en-US" dirty="0"/>
          </a:p>
        </p:txBody>
      </p:sp>
    </p:spTree>
    <p:extLst>
      <p:ext uri="{BB962C8B-B14F-4D97-AF65-F5344CB8AC3E}">
        <p14:creationId xmlns:p14="http://schemas.microsoft.com/office/powerpoint/2010/main" val="38840984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433555"/>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424040" y="204072"/>
            <a:ext cx="6442297" cy="971912"/>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Assessment questions</a:t>
            </a:r>
            <a:endParaRPr lang="en-GB" sz="3600" b="1" dirty="0">
              <a:solidFill>
                <a:srgbClr val="008000"/>
              </a:solidFill>
              <a:latin typeface="+mj-lt"/>
              <a:ea typeface="+mj-ea"/>
              <a:cs typeface="+mj-cs"/>
            </a:endParaRPr>
          </a:p>
        </p:txBody>
      </p:sp>
      <p:sp>
        <p:nvSpPr>
          <p:cNvPr id="8" name="Rectangle 7"/>
          <p:cNvSpPr/>
          <p:nvPr/>
        </p:nvSpPr>
        <p:spPr>
          <a:xfrm>
            <a:off x="458167" y="1714500"/>
            <a:ext cx="8478016" cy="1661993"/>
          </a:xfrm>
          <a:prstGeom prst="rect">
            <a:avLst/>
          </a:prstGeom>
        </p:spPr>
        <p:txBody>
          <a:bodyPr wrap="square">
            <a:spAutoFit/>
          </a:bodyPr>
          <a:lstStyle/>
          <a:p>
            <a:pPr marL="514350" indent="-514350">
              <a:buAutoNum type="arabicPeriod"/>
            </a:pPr>
            <a:endParaRPr lang="en-GB" sz="2800" dirty="0"/>
          </a:p>
          <a:p>
            <a:r>
              <a:rPr lang="en-GB" sz="2800" dirty="0"/>
              <a:t>	</a:t>
            </a:r>
            <a:r>
              <a:rPr lang="en-GB" sz="2000" dirty="0"/>
              <a:t> </a:t>
            </a:r>
          </a:p>
          <a:p>
            <a:r>
              <a:rPr lang="en-GB" dirty="0"/>
              <a:t>  </a:t>
            </a:r>
            <a:endParaRPr lang="en-GB" sz="2800" dirty="0"/>
          </a:p>
          <a:p>
            <a:pPr marL="514350" indent="-514350">
              <a:buAutoNum type="arabicPeriod"/>
            </a:pPr>
            <a:endParaRPr lang="en-GB" sz="2800" dirty="0"/>
          </a:p>
        </p:txBody>
      </p:sp>
      <p:sp>
        <p:nvSpPr>
          <p:cNvPr id="3" name="Content Placeholder 2"/>
          <p:cNvSpPr>
            <a:spLocks noGrp="1"/>
          </p:cNvSpPr>
          <p:nvPr>
            <p:ph idx="1"/>
          </p:nvPr>
        </p:nvSpPr>
        <p:spPr/>
        <p:txBody>
          <a:bodyPr>
            <a:normAutofit fontScale="77500" lnSpcReduction="20000"/>
          </a:bodyPr>
          <a:lstStyle/>
          <a:p>
            <a:pPr marL="0" indent="0">
              <a:buNone/>
            </a:pPr>
            <a:r>
              <a:rPr lang="en-GB" dirty="0"/>
              <a:t>1. 	Michael Dell didn’t invent the computer – but he built one of the most successful businesses selling them.  Discuss how he makes use of a networking approach to build and sustain a competitive edge in his business.</a:t>
            </a:r>
          </a:p>
          <a:p>
            <a:pPr marL="0" indent="0">
              <a:buNone/>
            </a:pPr>
            <a:r>
              <a:rPr lang="en-GB" dirty="0"/>
              <a:t> </a:t>
            </a:r>
          </a:p>
          <a:p>
            <a:pPr marL="0" indent="0">
              <a:buNone/>
            </a:pPr>
            <a:r>
              <a:rPr lang="en-GB" dirty="0"/>
              <a:t>2.        	Why might Joe </a:t>
            </a:r>
            <a:r>
              <a:rPr lang="en-GB" dirty="0" err="1"/>
              <a:t>Bloggs</a:t>
            </a:r>
            <a:r>
              <a:rPr lang="en-GB" dirty="0"/>
              <a:t>, famous inventor, need help in getting his great idea into widespread use?  And how might a networking approach help him?</a:t>
            </a:r>
          </a:p>
          <a:p>
            <a:pPr marL="0" indent="0">
              <a:buNone/>
            </a:pPr>
            <a:r>
              <a:rPr lang="en-GB" dirty="0"/>
              <a:t> </a:t>
            </a:r>
          </a:p>
          <a:p>
            <a:pPr marL="0" indent="0">
              <a:buNone/>
            </a:pPr>
            <a:r>
              <a:rPr lang="en-GB" dirty="0"/>
              <a:t>3.        	Innovation is a solo act – the product of the lone genius?  Show how successful entrepreneurs make use of networks to help take their ideas forward.</a:t>
            </a:r>
          </a:p>
          <a:p>
            <a:pPr marL="0" indent="0">
              <a:buNone/>
            </a:pPr>
            <a:r>
              <a:rPr lang="en-GB" dirty="0"/>
              <a:t> </a:t>
            </a:r>
            <a:endParaRPr lang="en-GB" dirty="0">
              <a:effectLst/>
            </a:endParaRPr>
          </a:p>
        </p:txBody>
      </p:sp>
    </p:spTree>
    <p:extLst>
      <p:ext uri="{BB962C8B-B14F-4D97-AF65-F5344CB8AC3E}">
        <p14:creationId xmlns:p14="http://schemas.microsoft.com/office/powerpoint/2010/main" val="23895759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433555"/>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424040" y="204072"/>
            <a:ext cx="6442297" cy="971912"/>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Assessment questions</a:t>
            </a:r>
            <a:endParaRPr lang="en-GB" sz="3600" b="1" dirty="0">
              <a:solidFill>
                <a:srgbClr val="008000"/>
              </a:solidFill>
              <a:latin typeface="+mj-lt"/>
              <a:ea typeface="+mj-ea"/>
              <a:cs typeface="+mj-cs"/>
            </a:endParaRPr>
          </a:p>
        </p:txBody>
      </p:sp>
      <p:sp>
        <p:nvSpPr>
          <p:cNvPr id="8" name="Rectangle 7"/>
          <p:cNvSpPr/>
          <p:nvPr/>
        </p:nvSpPr>
        <p:spPr>
          <a:xfrm>
            <a:off x="458167" y="1714500"/>
            <a:ext cx="8478016" cy="1661993"/>
          </a:xfrm>
          <a:prstGeom prst="rect">
            <a:avLst/>
          </a:prstGeom>
        </p:spPr>
        <p:txBody>
          <a:bodyPr wrap="square">
            <a:spAutoFit/>
          </a:bodyPr>
          <a:lstStyle/>
          <a:p>
            <a:pPr marL="514350" indent="-514350">
              <a:buAutoNum type="arabicPeriod"/>
            </a:pPr>
            <a:endParaRPr lang="en-GB" sz="2800" dirty="0"/>
          </a:p>
          <a:p>
            <a:r>
              <a:rPr lang="en-GB" sz="2800" dirty="0"/>
              <a:t>	</a:t>
            </a:r>
            <a:r>
              <a:rPr lang="en-GB" sz="2000" dirty="0"/>
              <a:t> </a:t>
            </a:r>
          </a:p>
          <a:p>
            <a:r>
              <a:rPr lang="en-GB" dirty="0"/>
              <a:t>  </a:t>
            </a:r>
            <a:endParaRPr lang="en-GB" sz="2800" dirty="0"/>
          </a:p>
          <a:p>
            <a:pPr marL="514350" indent="-514350">
              <a:buAutoNum type="arabicPeriod"/>
            </a:pPr>
            <a:endParaRPr lang="en-GB" sz="2800" dirty="0"/>
          </a:p>
        </p:txBody>
      </p:sp>
      <p:sp>
        <p:nvSpPr>
          <p:cNvPr id="3" name="Content Placeholder 2"/>
          <p:cNvSpPr>
            <a:spLocks noGrp="1"/>
          </p:cNvSpPr>
          <p:nvPr>
            <p:ph idx="1"/>
          </p:nvPr>
        </p:nvSpPr>
        <p:spPr/>
        <p:txBody>
          <a:bodyPr>
            <a:normAutofit fontScale="92500" lnSpcReduction="20000"/>
          </a:bodyPr>
          <a:lstStyle/>
          <a:p>
            <a:pPr marL="0" indent="0">
              <a:buNone/>
            </a:pPr>
            <a:r>
              <a:rPr lang="en-GB" dirty="0"/>
              <a:t>4.        	List three advantages of co-operating across networks in innovation as opposed to a ‘go –it-alone’ approach</a:t>
            </a:r>
          </a:p>
          <a:p>
            <a:pPr marL="0" indent="0">
              <a:buNone/>
            </a:pPr>
            <a:r>
              <a:rPr lang="en-GB" dirty="0"/>
              <a:t> </a:t>
            </a:r>
          </a:p>
          <a:p>
            <a:pPr marL="0" indent="0">
              <a:buNone/>
            </a:pPr>
            <a:r>
              <a:rPr lang="en-GB" dirty="0"/>
              <a:t>5.       	Jane Wilson has come up with a great new idea for a medical sensor to help in monitoring babies while they sleep.  How could she improve her chances of success with her new product idea by using a networking approach to taking it forward?</a:t>
            </a:r>
          </a:p>
          <a:p>
            <a:pPr marL="0" indent="0">
              <a:buNone/>
            </a:pPr>
            <a:r>
              <a:rPr lang="en-GB" dirty="0"/>
              <a:t> </a:t>
            </a:r>
            <a:endParaRPr lang="en-GB" dirty="0">
              <a:effectLst/>
            </a:endParaRPr>
          </a:p>
        </p:txBody>
      </p:sp>
    </p:spTree>
    <p:extLst>
      <p:ext uri="{BB962C8B-B14F-4D97-AF65-F5344CB8AC3E}">
        <p14:creationId xmlns:p14="http://schemas.microsoft.com/office/powerpoint/2010/main" val="15435941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433555"/>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424040" y="204072"/>
            <a:ext cx="6442297" cy="971912"/>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Assessment questions</a:t>
            </a:r>
            <a:endParaRPr lang="en-GB" sz="3600" b="1" dirty="0">
              <a:solidFill>
                <a:srgbClr val="008000"/>
              </a:solidFill>
              <a:latin typeface="+mj-lt"/>
              <a:ea typeface="+mj-ea"/>
              <a:cs typeface="+mj-cs"/>
            </a:endParaRPr>
          </a:p>
        </p:txBody>
      </p:sp>
      <p:sp>
        <p:nvSpPr>
          <p:cNvPr id="8" name="Rectangle 7"/>
          <p:cNvSpPr/>
          <p:nvPr/>
        </p:nvSpPr>
        <p:spPr>
          <a:xfrm>
            <a:off x="458167" y="1714500"/>
            <a:ext cx="8478016" cy="1661993"/>
          </a:xfrm>
          <a:prstGeom prst="rect">
            <a:avLst/>
          </a:prstGeom>
        </p:spPr>
        <p:txBody>
          <a:bodyPr wrap="square">
            <a:spAutoFit/>
          </a:bodyPr>
          <a:lstStyle/>
          <a:p>
            <a:pPr marL="514350" indent="-514350">
              <a:buAutoNum type="arabicPeriod"/>
            </a:pPr>
            <a:endParaRPr lang="en-GB" sz="2800" dirty="0"/>
          </a:p>
          <a:p>
            <a:r>
              <a:rPr lang="en-GB" sz="2800" dirty="0"/>
              <a:t>	</a:t>
            </a:r>
            <a:r>
              <a:rPr lang="en-GB" sz="2000" dirty="0"/>
              <a:t> </a:t>
            </a:r>
          </a:p>
          <a:p>
            <a:r>
              <a:rPr lang="en-GB" dirty="0"/>
              <a:t>  </a:t>
            </a:r>
            <a:endParaRPr lang="en-GB" sz="2800" dirty="0"/>
          </a:p>
          <a:p>
            <a:pPr marL="514350" indent="-514350">
              <a:buAutoNum type="arabicPeriod"/>
            </a:pPr>
            <a:endParaRPr lang="en-GB" sz="2800" dirty="0"/>
          </a:p>
        </p:txBody>
      </p:sp>
      <p:sp>
        <p:nvSpPr>
          <p:cNvPr id="3" name="Content Placeholder 2"/>
          <p:cNvSpPr>
            <a:spLocks noGrp="1"/>
          </p:cNvSpPr>
          <p:nvPr>
            <p:ph idx="1"/>
          </p:nvPr>
        </p:nvSpPr>
        <p:spPr/>
        <p:txBody>
          <a:bodyPr>
            <a:normAutofit fontScale="70000" lnSpcReduction="20000"/>
          </a:bodyPr>
          <a:lstStyle/>
          <a:p>
            <a:pPr marL="0" indent="0">
              <a:buNone/>
            </a:pPr>
            <a:r>
              <a:rPr lang="en-GB" dirty="0"/>
              <a:t>6.       	‘The problem for small firms isn’t that they’re small – it’s that they’re isolated’.  How might networking help deal with the challenges of being an innovative small firm and what advantages might this approach offer?</a:t>
            </a:r>
          </a:p>
          <a:p>
            <a:pPr marL="0" indent="0">
              <a:buNone/>
            </a:pPr>
            <a:r>
              <a:rPr lang="en-GB" dirty="0"/>
              <a:t> </a:t>
            </a:r>
          </a:p>
          <a:p>
            <a:pPr marL="0" indent="0">
              <a:buNone/>
            </a:pPr>
            <a:r>
              <a:rPr lang="en-GB" dirty="0"/>
              <a:t>7.        	XYZ Electronics want to launch a supplier development programme to get their 180 suppliers to participate more fully in the innovation process- contributing new ideas for products and services and helping improve processes around quality, delivery and cost reduction.  What issues should they think about in designing and implementing such a programme?</a:t>
            </a:r>
          </a:p>
          <a:p>
            <a:pPr marL="0" indent="0">
              <a:buNone/>
            </a:pPr>
            <a:r>
              <a:rPr lang="en-GB" dirty="0"/>
              <a:t> </a:t>
            </a:r>
          </a:p>
          <a:p>
            <a:pPr marL="0" indent="0">
              <a:buNone/>
            </a:pPr>
            <a:r>
              <a:rPr lang="en-GB" dirty="0"/>
              <a:t>8.        	‘Open innovation’ is becoming a fashionable approach to innovation, building on the advantages of networking.  But what problems might the implementation of such an approach throw up?</a:t>
            </a:r>
          </a:p>
        </p:txBody>
      </p:sp>
    </p:spTree>
    <p:extLst>
      <p:ext uri="{BB962C8B-B14F-4D97-AF65-F5344CB8AC3E}">
        <p14:creationId xmlns:p14="http://schemas.microsoft.com/office/powerpoint/2010/main" val="25889153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2317980" y="332094"/>
            <a:ext cx="4783089"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Team-based exercises</a:t>
            </a:r>
            <a:endParaRPr lang="en-GB" sz="3600" b="1" dirty="0">
              <a:solidFill>
                <a:srgbClr val="008000"/>
              </a:solidFill>
              <a:latin typeface="+mj-lt"/>
              <a:ea typeface="+mj-ea"/>
              <a:cs typeface="+mj-cs"/>
            </a:endParaRPr>
          </a:p>
        </p:txBody>
      </p:sp>
      <p:sp>
        <p:nvSpPr>
          <p:cNvPr id="13" name="Rectangle 12"/>
          <p:cNvSpPr/>
          <p:nvPr/>
        </p:nvSpPr>
        <p:spPr>
          <a:xfrm>
            <a:off x="604711" y="1657451"/>
            <a:ext cx="8331472" cy="5262980"/>
          </a:xfrm>
          <a:prstGeom prst="rect">
            <a:avLst/>
          </a:prstGeom>
        </p:spPr>
        <p:txBody>
          <a:bodyPr wrap="square">
            <a:spAutoFit/>
          </a:bodyPr>
          <a:lstStyle/>
          <a:p>
            <a:r>
              <a:rPr lang="en-US" sz="2800" dirty="0"/>
              <a:t> </a:t>
            </a:r>
            <a:r>
              <a:rPr lang="en-GB" sz="2800" dirty="0"/>
              <a:t>1.        	‘Many hands make light work’ – or ‘Too many cooks spoil the broth’?  Using examples show why networking may be a positive or negative element in enabling successful innovation.  Split the group to present both sides of this argument and run the discussion as a debate.</a:t>
            </a:r>
          </a:p>
          <a:p>
            <a:r>
              <a:rPr lang="en-GB" sz="2800" dirty="0"/>
              <a:t> </a:t>
            </a:r>
          </a:p>
          <a:p>
            <a:r>
              <a:rPr lang="en-GB" sz="2800" dirty="0"/>
              <a:t> </a:t>
            </a:r>
          </a:p>
          <a:p>
            <a:r>
              <a:rPr lang="en-GB" sz="2800" dirty="0"/>
              <a:t>2.        	Try and construct a map of the innovation network which leads to creating and delivering a new product like a new mobile phone or mp3 player.</a:t>
            </a:r>
          </a:p>
          <a:p>
            <a:r>
              <a:rPr lang="en-GB" sz="2800" dirty="0"/>
              <a:t> </a:t>
            </a:r>
            <a:endParaRPr lang="en-GB" sz="2800" dirty="0">
              <a:effectLst/>
            </a:endParaRPr>
          </a:p>
        </p:txBody>
      </p:sp>
    </p:spTree>
    <p:extLst>
      <p:ext uri="{BB962C8B-B14F-4D97-AF65-F5344CB8AC3E}">
        <p14:creationId xmlns:p14="http://schemas.microsoft.com/office/powerpoint/2010/main" val="33934104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1459</Words>
  <Application>Microsoft Macintosh PowerPoint</Application>
  <PresentationFormat>On-screen Show (4:3)</PresentationFormat>
  <Paragraphs>181</Paragraphs>
  <Slides>37</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Teaching Resources and Instructors’ Guidelines</vt:lpstr>
      <vt:lpstr>Chapter 11: Exploiting open innovation and collaboration</vt:lpstr>
      <vt:lpstr>Learning Objectives</vt:lpstr>
      <vt:lpstr>Core themes and material from the book</vt:lpstr>
      <vt:lpstr>Core themes</vt:lpstr>
      <vt:lpstr>A model for collaboration</vt:lpstr>
      <vt:lpstr>PowerPoint Presentation</vt:lpstr>
      <vt:lpstr>PowerPoint Presentation</vt:lpstr>
      <vt:lpstr>PowerPoint Presentation</vt:lpstr>
      <vt:lpstr>Supplier relationships</vt:lpstr>
      <vt:lpstr>Types of user innovation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Videos</vt:lpstr>
      <vt:lpstr>Videos</vt:lpstr>
      <vt:lpstr>PowerPoint Presentation</vt:lpstr>
      <vt:lpstr>PowerPoint Presentation</vt:lpstr>
      <vt:lpstr>PowerPoint Presentation</vt:lpstr>
      <vt:lpstr>PowerPoint Presentation</vt:lpstr>
      <vt:lpstr>PowerPoint Presentation</vt:lpstr>
      <vt:lpstr>Blogs and podcasts</vt:lpstr>
      <vt:lpstr>Activities</vt:lpstr>
      <vt:lpstr>PowerPoint Presentation</vt:lpstr>
      <vt:lpstr>PowerPoint Presentation</vt:lpstr>
      <vt:lpstr>Cases </vt:lpstr>
      <vt:lpstr>Tools </vt:lpstr>
      <vt:lpstr>Assessments</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Teaching Resources and Instructors’ Guidelines</dc:title>
  <dc:creator>john bessant</dc:creator>
  <cp:lastModifiedBy>john bessant</cp:lastModifiedBy>
  <cp:revision>5</cp:revision>
  <dcterms:created xsi:type="dcterms:W3CDTF">2020-11-14T21:02:02Z</dcterms:created>
  <dcterms:modified xsi:type="dcterms:W3CDTF">2024-11-02T08:06:07Z</dcterms:modified>
</cp:coreProperties>
</file>