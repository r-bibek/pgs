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9" r:id="rId4"/>
    <p:sldId id="294" r:id="rId5"/>
    <p:sldId id="318" r:id="rId6"/>
    <p:sldId id="321" r:id="rId7"/>
    <p:sldId id="319" r:id="rId8"/>
    <p:sldId id="320" r:id="rId9"/>
    <p:sldId id="322" r:id="rId10"/>
    <p:sldId id="323" r:id="rId11"/>
    <p:sldId id="324" r:id="rId12"/>
    <p:sldId id="269" r:id="rId13"/>
    <p:sldId id="325" r:id="rId14"/>
    <p:sldId id="271" r:id="rId15"/>
    <p:sldId id="326" r:id="rId16"/>
    <p:sldId id="327" r:id="rId17"/>
    <p:sldId id="328" r:id="rId18"/>
    <p:sldId id="329" r:id="rId19"/>
    <p:sldId id="330" r:id="rId20"/>
    <p:sldId id="274" r:id="rId21"/>
    <p:sldId id="331" r:id="rId22"/>
    <p:sldId id="332" r:id="rId23"/>
    <p:sldId id="333" r:id="rId24"/>
    <p:sldId id="334" r:id="rId25"/>
    <p:sldId id="335" r:id="rId26"/>
    <p:sldId id="337" r:id="rId27"/>
    <p:sldId id="367" r:id="rId28"/>
    <p:sldId id="280" r:id="rId29"/>
    <p:sldId id="285" r:id="rId30"/>
    <p:sldId id="287" r:id="rId31"/>
    <p:sldId id="291" r:id="rId32"/>
    <p:sldId id="288" r:id="rId33"/>
    <p:sldId id="292" r:id="rId34"/>
    <p:sldId id="344" r:id="rId35"/>
    <p:sldId id="345" r:id="rId36"/>
    <p:sldId id="346" r:id="rId37"/>
    <p:sldId id="281" r:id="rId38"/>
    <p:sldId id="353" r:id="rId39"/>
    <p:sldId id="370" r:id="rId40"/>
    <p:sldId id="354" r:id="rId41"/>
    <p:sldId id="369" r:id="rId42"/>
    <p:sldId id="366"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94752"/>
  </p:normalViewPr>
  <p:slideViewPr>
    <p:cSldViewPr>
      <p:cViewPr varScale="1">
        <p:scale>
          <a:sx n="116" d="100"/>
          <a:sy n="116" d="100"/>
        </p:scale>
        <p:origin x="48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B9624E-2235-416D-A0FE-8934302029C0}"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F9FDEF36-3C6B-4551-B7EA-7B6C43F99831}">
      <dgm:prSet/>
      <dgm:spPr/>
      <dgm:t>
        <a:bodyPr/>
        <a:lstStyle/>
        <a:p>
          <a:r>
            <a:rPr lang="en-US" b="1"/>
            <a:t>By the end of this chapter you will develop an understanding of: </a:t>
          </a:r>
          <a:endParaRPr lang="en-US"/>
        </a:p>
      </dgm:t>
    </dgm:pt>
    <dgm:pt modelId="{4786BF94-4E73-4D75-A133-3E8C811C5C99}" type="parTrans" cxnId="{C72DA17C-AE3F-4B19-BF14-595D1B89D39D}">
      <dgm:prSet/>
      <dgm:spPr/>
      <dgm:t>
        <a:bodyPr/>
        <a:lstStyle/>
        <a:p>
          <a:endParaRPr lang="en-US"/>
        </a:p>
      </dgm:t>
    </dgm:pt>
    <dgm:pt modelId="{DB1BA676-112A-4161-A451-6B77675EE232}" type="sibTrans" cxnId="{C72DA17C-AE3F-4B19-BF14-595D1B89D39D}">
      <dgm:prSet/>
      <dgm:spPr/>
      <dgm:t>
        <a:bodyPr/>
        <a:lstStyle/>
        <a:p>
          <a:endParaRPr lang="en-US"/>
        </a:p>
      </dgm:t>
    </dgm:pt>
    <dgm:pt modelId="{23FAF534-AEF7-4A26-A75A-351D2C378386}">
      <dgm:prSet/>
      <dgm:spPr/>
      <dgm:t>
        <a:bodyPr/>
        <a:lstStyle/>
        <a:p>
          <a:r>
            <a:rPr lang="en-GB"/>
            <a:t>the different kinds of opportunity being sought in terms of incremental or radical change </a:t>
          </a:r>
          <a:endParaRPr lang="en-US"/>
        </a:p>
      </dgm:t>
    </dgm:pt>
    <dgm:pt modelId="{0D80AA96-A951-4553-9308-B14E9E2FB2E1}" type="parTrans" cxnId="{10D8A621-B3B8-4ECD-AD7E-4E92DE9284C0}">
      <dgm:prSet/>
      <dgm:spPr/>
      <dgm:t>
        <a:bodyPr/>
        <a:lstStyle/>
        <a:p>
          <a:endParaRPr lang="en-US"/>
        </a:p>
      </dgm:t>
    </dgm:pt>
    <dgm:pt modelId="{8C783896-7E9D-4960-A536-B08354F451E1}" type="sibTrans" cxnId="{10D8A621-B3B8-4ECD-AD7E-4E92DE9284C0}">
      <dgm:prSet/>
      <dgm:spPr/>
      <dgm:t>
        <a:bodyPr/>
        <a:lstStyle/>
        <a:p>
          <a:endParaRPr lang="en-US"/>
        </a:p>
      </dgm:t>
    </dgm:pt>
    <dgm:pt modelId="{CA378D3D-4340-4456-BD1A-A170FBEB8C8B}">
      <dgm:prSet/>
      <dgm:spPr/>
      <dgm:t>
        <a:bodyPr/>
        <a:lstStyle/>
        <a:p>
          <a:r>
            <a:rPr lang="en-GB"/>
            <a:t>the different search needs at different stages of the innovation process </a:t>
          </a:r>
          <a:endParaRPr lang="en-US"/>
        </a:p>
      </dgm:t>
    </dgm:pt>
    <dgm:pt modelId="{43B83C48-9655-40E7-B433-3BC4E408E04D}" type="parTrans" cxnId="{3B486ACC-3FEB-4099-B6D7-4C74979DCF8B}">
      <dgm:prSet/>
      <dgm:spPr/>
      <dgm:t>
        <a:bodyPr/>
        <a:lstStyle/>
        <a:p>
          <a:endParaRPr lang="en-US"/>
        </a:p>
      </dgm:t>
    </dgm:pt>
    <dgm:pt modelId="{A88A16D3-7169-4D1A-BF78-68165DC302D2}" type="sibTrans" cxnId="{3B486ACC-3FEB-4099-B6D7-4C74979DCF8B}">
      <dgm:prSet/>
      <dgm:spPr/>
      <dgm:t>
        <a:bodyPr/>
        <a:lstStyle/>
        <a:p>
          <a:endParaRPr lang="en-US"/>
        </a:p>
      </dgm:t>
    </dgm:pt>
    <dgm:pt modelId="{8ED69ACD-4A12-4758-A9AF-B056D9E24348}">
      <dgm:prSet/>
      <dgm:spPr/>
      <dgm:t>
        <a:bodyPr/>
        <a:lstStyle/>
        <a:p>
          <a:r>
            <a:rPr lang="en-GB"/>
            <a:t>the different players involved in the search process, and in particular the growing engagement of more people inside and outside the organization </a:t>
          </a:r>
          <a:endParaRPr lang="en-US"/>
        </a:p>
      </dgm:t>
    </dgm:pt>
    <dgm:pt modelId="{4F6F5FEF-AFB7-4C14-95DC-18235599C702}" type="parTrans" cxnId="{7B21D9EF-DBE6-46FB-9045-2052C7100FC0}">
      <dgm:prSet/>
      <dgm:spPr/>
      <dgm:t>
        <a:bodyPr/>
        <a:lstStyle/>
        <a:p>
          <a:endParaRPr lang="en-US"/>
        </a:p>
      </dgm:t>
    </dgm:pt>
    <dgm:pt modelId="{B2BFAE60-938D-407D-8BB9-42C1A23A98C7}" type="sibTrans" cxnId="{7B21D9EF-DBE6-46FB-9045-2052C7100FC0}">
      <dgm:prSet/>
      <dgm:spPr/>
      <dgm:t>
        <a:bodyPr/>
        <a:lstStyle/>
        <a:p>
          <a:endParaRPr lang="en-US"/>
        </a:p>
      </dgm:t>
    </dgm:pt>
    <dgm:pt modelId="{19F471D0-81A0-4AEF-9B2B-56F11B2F59FB}">
      <dgm:prSet/>
      <dgm:spPr/>
      <dgm:t>
        <a:bodyPr/>
        <a:lstStyle/>
        <a:p>
          <a:r>
            <a:rPr lang="en-GB"/>
            <a:t>local search aiming to exploit existing knowledge through to radical and beyond into new frames</a:t>
          </a:r>
          <a:endParaRPr lang="en-US"/>
        </a:p>
      </dgm:t>
    </dgm:pt>
    <dgm:pt modelId="{4B7F30EF-6BA5-49C3-A609-95FDD6DE0E8F}" type="parTrans" cxnId="{8797A2BF-C6D6-4952-AD0A-FFBA0FB469CB}">
      <dgm:prSet/>
      <dgm:spPr/>
      <dgm:t>
        <a:bodyPr/>
        <a:lstStyle/>
        <a:p>
          <a:endParaRPr lang="en-US"/>
        </a:p>
      </dgm:t>
    </dgm:pt>
    <dgm:pt modelId="{9A186E1C-D10E-4783-9B93-460E6F292854}" type="sibTrans" cxnId="{8797A2BF-C6D6-4952-AD0A-FFBA0FB469CB}">
      <dgm:prSet/>
      <dgm:spPr/>
      <dgm:t>
        <a:bodyPr/>
        <a:lstStyle/>
        <a:p>
          <a:endParaRPr lang="en-US"/>
        </a:p>
      </dgm:t>
    </dgm:pt>
    <dgm:pt modelId="{2D6350FB-552B-4494-8FA0-6C743D0599DF}">
      <dgm:prSet/>
      <dgm:spPr/>
      <dgm:t>
        <a:bodyPr/>
        <a:lstStyle/>
        <a:p>
          <a:r>
            <a:rPr lang="en-GB"/>
            <a:t>mechanisms for enabling search</a:t>
          </a:r>
          <a:endParaRPr lang="en-US"/>
        </a:p>
      </dgm:t>
    </dgm:pt>
    <dgm:pt modelId="{3DB0558B-B749-497D-B9F7-AED6C9A29702}" type="parTrans" cxnId="{5D6EA84F-4F3E-496B-9CB4-3562BE775611}">
      <dgm:prSet/>
      <dgm:spPr/>
      <dgm:t>
        <a:bodyPr/>
        <a:lstStyle/>
        <a:p>
          <a:endParaRPr lang="en-US"/>
        </a:p>
      </dgm:t>
    </dgm:pt>
    <dgm:pt modelId="{07AB4C10-677F-45A3-8921-C14463C8EB35}" type="sibTrans" cxnId="{5D6EA84F-4F3E-496B-9CB4-3562BE775611}">
      <dgm:prSet/>
      <dgm:spPr/>
      <dgm:t>
        <a:bodyPr/>
        <a:lstStyle/>
        <a:p>
          <a:endParaRPr lang="en-US"/>
        </a:p>
      </dgm:t>
    </dgm:pt>
    <dgm:pt modelId="{D8A1D7CD-DC26-384B-A195-5881B085C603}" type="pres">
      <dgm:prSet presAssocID="{BFB9624E-2235-416D-A0FE-8934302029C0}" presName="linear" presStyleCnt="0">
        <dgm:presLayoutVars>
          <dgm:animLvl val="lvl"/>
          <dgm:resizeHandles val="exact"/>
        </dgm:presLayoutVars>
      </dgm:prSet>
      <dgm:spPr/>
    </dgm:pt>
    <dgm:pt modelId="{2C585FB6-BF9A-A84C-9939-77C947A1603E}" type="pres">
      <dgm:prSet presAssocID="{F9FDEF36-3C6B-4551-B7EA-7B6C43F99831}" presName="parentText" presStyleLbl="node1" presStyleIdx="0" presStyleCnt="6">
        <dgm:presLayoutVars>
          <dgm:chMax val="0"/>
          <dgm:bulletEnabled val="1"/>
        </dgm:presLayoutVars>
      </dgm:prSet>
      <dgm:spPr/>
    </dgm:pt>
    <dgm:pt modelId="{BCF4AE9F-8AEF-2446-A46E-956BF4301393}" type="pres">
      <dgm:prSet presAssocID="{DB1BA676-112A-4161-A451-6B77675EE232}" presName="spacer" presStyleCnt="0"/>
      <dgm:spPr/>
    </dgm:pt>
    <dgm:pt modelId="{485A94A2-F377-D641-95A3-E219F0B40DA5}" type="pres">
      <dgm:prSet presAssocID="{23FAF534-AEF7-4A26-A75A-351D2C378386}" presName="parentText" presStyleLbl="node1" presStyleIdx="1" presStyleCnt="6">
        <dgm:presLayoutVars>
          <dgm:chMax val="0"/>
          <dgm:bulletEnabled val="1"/>
        </dgm:presLayoutVars>
      </dgm:prSet>
      <dgm:spPr/>
    </dgm:pt>
    <dgm:pt modelId="{E8183DAC-A734-5741-AF7D-AA2455F21629}" type="pres">
      <dgm:prSet presAssocID="{8C783896-7E9D-4960-A536-B08354F451E1}" presName="spacer" presStyleCnt="0"/>
      <dgm:spPr/>
    </dgm:pt>
    <dgm:pt modelId="{46B163BE-CEB6-F340-9F34-6F69C1739763}" type="pres">
      <dgm:prSet presAssocID="{CA378D3D-4340-4456-BD1A-A170FBEB8C8B}" presName="parentText" presStyleLbl="node1" presStyleIdx="2" presStyleCnt="6">
        <dgm:presLayoutVars>
          <dgm:chMax val="0"/>
          <dgm:bulletEnabled val="1"/>
        </dgm:presLayoutVars>
      </dgm:prSet>
      <dgm:spPr/>
    </dgm:pt>
    <dgm:pt modelId="{C5E5D489-3DBF-A34F-953B-8AC3DFAE1778}" type="pres">
      <dgm:prSet presAssocID="{A88A16D3-7169-4D1A-BF78-68165DC302D2}" presName="spacer" presStyleCnt="0"/>
      <dgm:spPr/>
    </dgm:pt>
    <dgm:pt modelId="{D91DD585-E9D8-7440-B01F-56864EFE9492}" type="pres">
      <dgm:prSet presAssocID="{8ED69ACD-4A12-4758-A9AF-B056D9E24348}" presName="parentText" presStyleLbl="node1" presStyleIdx="3" presStyleCnt="6">
        <dgm:presLayoutVars>
          <dgm:chMax val="0"/>
          <dgm:bulletEnabled val="1"/>
        </dgm:presLayoutVars>
      </dgm:prSet>
      <dgm:spPr/>
    </dgm:pt>
    <dgm:pt modelId="{8433115E-0DC2-9346-8545-14015F4D0D8E}" type="pres">
      <dgm:prSet presAssocID="{B2BFAE60-938D-407D-8BB9-42C1A23A98C7}" presName="spacer" presStyleCnt="0"/>
      <dgm:spPr/>
    </dgm:pt>
    <dgm:pt modelId="{93FD6031-6CB5-EB4F-A775-F588050CC339}" type="pres">
      <dgm:prSet presAssocID="{19F471D0-81A0-4AEF-9B2B-56F11B2F59FB}" presName="parentText" presStyleLbl="node1" presStyleIdx="4" presStyleCnt="6">
        <dgm:presLayoutVars>
          <dgm:chMax val="0"/>
          <dgm:bulletEnabled val="1"/>
        </dgm:presLayoutVars>
      </dgm:prSet>
      <dgm:spPr/>
    </dgm:pt>
    <dgm:pt modelId="{3C4735CC-3BE9-3B45-98F7-1D4D8840D11A}" type="pres">
      <dgm:prSet presAssocID="{9A186E1C-D10E-4783-9B93-460E6F292854}" presName="spacer" presStyleCnt="0"/>
      <dgm:spPr/>
    </dgm:pt>
    <dgm:pt modelId="{827C5435-8E90-F14E-95CA-91B9E8A9BB66}" type="pres">
      <dgm:prSet presAssocID="{2D6350FB-552B-4494-8FA0-6C743D0599DF}" presName="parentText" presStyleLbl="node1" presStyleIdx="5" presStyleCnt="6">
        <dgm:presLayoutVars>
          <dgm:chMax val="0"/>
          <dgm:bulletEnabled val="1"/>
        </dgm:presLayoutVars>
      </dgm:prSet>
      <dgm:spPr/>
    </dgm:pt>
  </dgm:ptLst>
  <dgm:cxnLst>
    <dgm:cxn modelId="{D73EA212-53C7-9142-B8CB-AD97F9DC1A7D}" type="presOf" srcId="{19F471D0-81A0-4AEF-9B2B-56F11B2F59FB}" destId="{93FD6031-6CB5-EB4F-A775-F588050CC339}" srcOrd="0" destOrd="0" presId="urn:microsoft.com/office/officeart/2005/8/layout/vList2"/>
    <dgm:cxn modelId="{10D8A621-B3B8-4ECD-AD7E-4E92DE9284C0}" srcId="{BFB9624E-2235-416D-A0FE-8934302029C0}" destId="{23FAF534-AEF7-4A26-A75A-351D2C378386}" srcOrd="1" destOrd="0" parTransId="{0D80AA96-A951-4553-9308-B14E9E2FB2E1}" sibTransId="{8C783896-7E9D-4960-A536-B08354F451E1}"/>
    <dgm:cxn modelId="{5D6EA84F-4F3E-496B-9CB4-3562BE775611}" srcId="{BFB9624E-2235-416D-A0FE-8934302029C0}" destId="{2D6350FB-552B-4494-8FA0-6C743D0599DF}" srcOrd="5" destOrd="0" parTransId="{3DB0558B-B749-497D-B9F7-AED6C9A29702}" sibTransId="{07AB4C10-677F-45A3-8921-C14463C8EB35}"/>
    <dgm:cxn modelId="{345EF354-AB47-0849-A851-95BAEF5EC79E}" type="presOf" srcId="{F9FDEF36-3C6B-4551-B7EA-7B6C43F99831}" destId="{2C585FB6-BF9A-A84C-9939-77C947A1603E}" srcOrd="0" destOrd="0" presId="urn:microsoft.com/office/officeart/2005/8/layout/vList2"/>
    <dgm:cxn modelId="{1DC5506F-9A58-CB47-B620-6EEB0D5EBFFF}" type="presOf" srcId="{23FAF534-AEF7-4A26-A75A-351D2C378386}" destId="{485A94A2-F377-D641-95A3-E219F0B40DA5}" srcOrd="0" destOrd="0" presId="urn:microsoft.com/office/officeart/2005/8/layout/vList2"/>
    <dgm:cxn modelId="{C72DA17C-AE3F-4B19-BF14-595D1B89D39D}" srcId="{BFB9624E-2235-416D-A0FE-8934302029C0}" destId="{F9FDEF36-3C6B-4551-B7EA-7B6C43F99831}" srcOrd="0" destOrd="0" parTransId="{4786BF94-4E73-4D75-A133-3E8C811C5C99}" sibTransId="{DB1BA676-112A-4161-A451-6B77675EE232}"/>
    <dgm:cxn modelId="{02958786-DE8E-1A48-8301-AEB291952E60}" type="presOf" srcId="{BFB9624E-2235-416D-A0FE-8934302029C0}" destId="{D8A1D7CD-DC26-384B-A195-5881B085C603}" srcOrd="0" destOrd="0" presId="urn:microsoft.com/office/officeart/2005/8/layout/vList2"/>
    <dgm:cxn modelId="{DA0CDAA0-81DC-ED4C-BBD7-EA54AF935BC4}" type="presOf" srcId="{2D6350FB-552B-4494-8FA0-6C743D0599DF}" destId="{827C5435-8E90-F14E-95CA-91B9E8A9BB66}" srcOrd="0" destOrd="0" presId="urn:microsoft.com/office/officeart/2005/8/layout/vList2"/>
    <dgm:cxn modelId="{8797A2BF-C6D6-4952-AD0A-FFBA0FB469CB}" srcId="{BFB9624E-2235-416D-A0FE-8934302029C0}" destId="{19F471D0-81A0-4AEF-9B2B-56F11B2F59FB}" srcOrd="4" destOrd="0" parTransId="{4B7F30EF-6BA5-49C3-A609-95FDD6DE0E8F}" sibTransId="{9A186E1C-D10E-4783-9B93-460E6F292854}"/>
    <dgm:cxn modelId="{3B486ACC-3FEB-4099-B6D7-4C74979DCF8B}" srcId="{BFB9624E-2235-416D-A0FE-8934302029C0}" destId="{CA378D3D-4340-4456-BD1A-A170FBEB8C8B}" srcOrd="2" destOrd="0" parTransId="{43B83C48-9655-40E7-B433-3BC4E408E04D}" sibTransId="{A88A16D3-7169-4D1A-BF78-68165DC302D2}"/>
    <dgm:cxn modelId="{ADC6A7E8-38AB-AE44-9B79-6C4ECBFE2B33}" type="presOf" srcId="{CA378D3D-4340-4456-BD1A-A170FBEB8C8B}" destId="{46B163BE-CEB6-F340-9F34-6F69C1739763}" srcOrd="0" destOrd="0" presId="urn:microsoft.com/office/officeart/2005/8/layout/vList2"/>
    <dgm:cxn modelId="{7B21D9EF-DBE6-46FB-9045-2052C7100FC0}" srcId="{BFB9624E-2235-416D-A0FE-8934302029C0}" destId="{8ED69ACD-4A12-4758-A9AF-B056D9E24348}" srcOrd="3" destOrd="0" parTransId="{4F6F5FEF-AFB7-4C14-95DC-18235599C702}" sibTransId="{B2BFAE60-938D-407D-8BB9-42C1A23A98C7}"/>
    <dgm:cxn modelId="{0E8D67FE-BC5E-DB40-94AF-385697E0DB63}" type="presOf" srcId="{8ED69ACD-4A12-4758-A9AF-B056D9E24348}" destId="{D91DD585-E9D8-7440-B01F-56864EFE9492}" srcOrd="0" destOrd="0" presId="urn:microsoft.com/office/officeart/2005/8/layout/vList2"/>
    <dgm:cxn modelId="{68C07D66-10F0-6F45-B10F-07C57EAF0DD7}" type="presParOf" srcId="{D8A1D7CD-DC26-384B-A195-5881B085C603}" destId="{2C585FB6-BF9A-A84C-9939-77C947A1603E}" srcOrd="0" destOrd="0" presId="urn:microsoft.com/office/officeart/2005/8/layout/vList2"/>
    <dgm:cxn modelId="{F9681ABC-34E3-F949-AE2B-9A97856AA806}" type="presParOf" srcId="{D8A1D7CD-DC26-384B-A195-5881B085C603}" destId="{BCF4AE9F-8AEF-2446-A46E-956BF4301393}" srcOrd="1" destOrd="0" presId="urn:microsoft.com/office/officeart/2005/8/layout/vList2"/>
    <dgm:cxn modelId="{F0D8A697-191F-3340-B96D-8FB35CDAEBA3}" type="presParOf" srcId="{D8A1D7CD-DC26-384B-A195-5881B085C603}" destId="{485A94A2-F377-D641-95A3-E219F0B40DA5}" srcOrd="2" destOrd="0" presId="urn:microsoft.com/office/officeart/2005/8/layout/vList2"/>
    <dgm:cxn modelId="{13373A4E-6D1C-9F4F-A88C-1699B5EC95AF}" type="presParOf" srcId="{D8A1D7CD-DC26-384B-A195-5881B085C603}" destId="{E8183DAC-A734-5741-AF7D-AA2455F21629}" srcOrd="3" destOrd="0" presId="urn:microsoft.com/office/officeart/2005/8/layout/vList2"/>
    <dgm:cxn modelId="{819C6709-0018-CC48-8788-408CE84C360C}" type="presParOf" srcId="{D8A1D7CD-DC26-384B-A195-5881B085C603}" destId="{46B163BE-CEB6-F340-9F34-6F69C1739763}" srcOrd="4" destOrd="0" presId="urn:microsoft.com/office/officeart/2005/8/layout/vList2"/>
    <dgm:cxn modelId="{29ABC28F-E0E0-DC44-AEA5-596643DE8A96}" type="presParOf" srcId="{D8A1D7CD-DC26-384B-A195-5881B085C603}" destId="{C5E5D489-3DBF-A34F-953B-8AC3DFAE1778}" srcOrd="5" destOrd="0" presId="urn:microsoft.com/office/officeart/2005/8/layout/vList2"/>
    <dgm:cxn modelId="{18BBCB12-76C7-A64F-A45E-7A2F3068D884}" type="presParOf" srcId="{D8A1D7CD-DC26-384B-A195-5881B085C603}" destId="{D91DD585-E9D8-7440-B01F-56864EFE9492}" srcOrd="6" destOrd="0" presId="urn:microsoft.com/office/officeart/2005/8/layout/vList2"/>
    <dgm:cxn modelId="{6D8B8AED-88DB-CA4B-8D90-4F38D1B2E5D7}" type="presParOf" srcId="{D8A1D7CD-DC26-384B-A195-5881B085C603}" destId="{8433115E-0DC2-9346-8545-14015F4D0D8E}" srcOrd="7" destOrd="0" presId="urn:microsoft.com/office/officeart/2005/8/layout/vList2"/>
    <dgm:cxn modelId="{D1853C02-21E3-554D-8C92-9C03D0539BA1}" type="presParOf" srcId="{D8A1D7CD-DC26-384B-A195-5881B085C603}" destId="{93FD6031-6CB5-EB4F-A775-F588050CC339}" srcOrd="8" destOrd="0" presId="urn:microsoft.com/office/officeart/2005/8/layout/vList2"/>
    <dgm:cxn modelId="{160C3A20-1035-7043-A92D-E1D2AD79894F}" type="presParOf" srcId="{D8A1D7CD-DC26-384B-A195-5881B085C603}" destId="{3C4735CC-3BE9-3B45-98F7-1D4D8840D11A}" srcOrd="9" destOrd="0" presId="urn:microsoft.com/office/officeart/2005/8/layout/vList2"/>
    <dgm:cxn modelId="{F529DEDF-2A97-5A40-8453-85B92D5787CF}" type="presParOf" srcId="{D8A1D7CD-DC26-384B-A195-5881B085C603}" destId="{827C5435-8E90-F14E-95CA-91B9E8A9BB6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AA1A6F-0D90-49EE-9222-F0C78B40C83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EF84112-23DA-4901-BAFD-531EB9E88428}">
      <dgm:prSet/>
      <dgm:spPr/>
      <dgm:t>
        <a:bodyPr/>
        <a:lstStyle/>
        <a:p>
          <a:pPr>
            <a:defRPr cap="all"/>
          </a:pPr>
          <a:r>
            <a:rPr lang="en-GB" b="1"/>
            <a:t>Knowledge networks</a:t>
          </a:r>
          <a:endParaRPr lang="en-GB"/>
        </a:p>
      </dgm:t>
    </dgm:pt>
    <dgm:pt modelId="{FB3578E4-C672-477A-B1FC-C3B01AA641F6}" type="parTrans" cxnId="{8C51EBD0-8C44-4D25-BCEF-D75F041DA218}">
      <dgm:prSet/>
      <dgm:spPr/>
      <dgm:t>
        <a:bodyPr/>
        <a:lstStyle/>
        <a:p>
          <a:endParaRPr lang="en-US"/>
        </a:p>
      </dgm:t>
    </dgm:pt>
    <dgm:pt modelId="{01EEC9B4-D672-4A30-9BDA-F964095B23E2}" type="sibTrans" cxnId="{8C51EBD0-8C44-4D25-BCEF-D75F041DA218}">
      <dgm:prSet/>
      <dgm:spPr/>
      <dgm:t>
        <a:bodyPr/>
        <a:lstStyle/>
        <a:p>
          <a:endParaRPr lang="en-US"/>
        </a:p>
      </dgm:t>
    </dgm:pt>
    <dgm:pt modelId="{FBCDDA87-3B16-4140-B61D-CA6318A8A718}">
      <dgm:prSet/>
      <dgm:spPr/>
      <dgm:t>
        <a:bodyPr/>
        <a:lstStyle/>
        <a:p>
          <a:pPr>
            <a:defRPr cap="all"/>
          </a:pPr>
          <a:r>
            <a:rPr lang="en-GB" b="1"/>
            <a:t>Knowledge connectors</a:t>
          </a:r>
          <a:endParaRPr lang="en-US"/>
        </a:p>
      </dgm:t>
    </dgm:pt>
    <dgm:pt modelId="{7DF4C729-2A0B-4E65-8B84-BC507C4CC7F5}" type="parTrans" cxnId="{0545470F-914D-40D8-8507-9B15143533A3}">
      <dgm:prSet/>
      <dgm:spPr/>
      <dgm:t>
        <a:bodyPr/>
        <a:lstStyle/>
        <a:p>
          <a:endParaRPr lang="en-US"/>
        </a:p>
      </dgm:t>
    </dgm:pt>
    <dgm:pt modelId="{E6C9BD97-464D-4B64-B60A-1486199AEA79}" type="sibTrans" cxnId="{0545470F-914D-40D8-8507-9B15143533A3}">
      <dgm:prSet/>
      <dgm:spPr/>
      <dgm:t>
        <a:bodyPr/>
        <a:lstStyle/>
        <a:p>
          <a:endParaRPr lang="en-US"/>
        </a:p>
      </dgm:t>
    </dgm:pt>
    <dgm:pt modelId="{AB26EB30-B55B-4DCE-92A3-6E4CDF39E414}">
      <dgm:prSet/>
      <dgm:spPr/>
      <dgm:t>
        <a:bodyPr/>
        <a:lstStyle/>
        <a:p>
          <a:pPr>
            <a:defRPr cap="all"/>
          </a:pPr>
          <a:r>
            <a:rPr lang="en-GB" b="1"/>
            <a:t>Knowledge flow</a:t>
          </a:r>
          <a:endParaRPr lang="en-US"/>
        </a:p>
      </dgm:t>
    </dgm:pt>
    <dgm:pt modelId="{9AFB32BA-E2F2-475A-9B28-FBECA3BC7737}" type="parTrans" cxnId="{E36983DD-748C-4A7C-AC6F-0411CD408E4D}">
      <dgm:prSet/>
      <dgm:spPr/>
      <dgm:t>
        <a:bodyPr/>
        <a:lstStyle/>
        <a:p>
          <a:endParaRPr lang="en-US"/>
        </a:p>
      </dgm:t>
    </dgm:pt>
    <dgm:pt modelId="{51D69857-1283-45D8-BB6B-B3F03EC3EDA5}" type="sibTrans" cxnId="{E36983DD-748C-4A7C-AC6F-0411CD408E4D}">
      <dgm:prSet/>
      <dgm:spPr/>
      <dgm:t>
        <a:bodyPr/>
        <a:lstStyle/>
        <a:p>
          <a:endParaRPr lang="en-US"/>
        </a:p>
      </dgm:t>
    </dgm:pt>
    <dgm:pt modelId="{34D459B4-0C7A-44C1-9F8C-40AB38F9EDCE}">
      <dgm:prSet/>
      <dgm:spPr/>
      <dgm:t>
        <a:bodyPr/>
        <a:lstStyle/>
        <a:p>
          <a:pPr>
            <a:defRPr cap="all"/>
          </a:pPr>
          <a:r>
            <a:rPr lang="en-GB" b="1"/>
            <a:t>Knowledge concentration</a:t>
          </a:r>
          <a:endParaRPr lang="en-US"/>
        </a:p>
      </dgm:t>
    </dgm:pt>
    <dgm:pt modelId="{F60FD86A-4A92-4454-81CB-EB0EA293F2F7}" type="parTrans" cxnId="{6704E0C7-B6EB-41EB-8222-4B1FFD7095F2}">
      <dgm:prSet/>
      <dgm:spPr/>
      <dgm:t>
        <a:bodyPr/>
        <a:lstStyle/>
        <a:p>
          <a:endParaRPr lang="en-US"/>
        </a:p>
      </dgm:t>
    </dgm:pt>
    <dgm:pt modelId="{17EDDEAD-9AC0-4F02-8D64-3FDE3547356D}" type="sibTrans" cxnId="{6704E0C7-B6EB-41EB-8222-4B1FFD7095F2}">
      <dgm:prSet/>
      <dgm:spPr/>
      <dgm:t>
        <a:bodyPr/>
        <a:lstStyle/>
        <a:p>
          <a:endParaRPr lang="en-US"/>
        </a:p>
      </dgm:t>
    </dgm:pt>
    <dgm:pt modelId="{EB46453A-637B-42E2-82DB-60A740938D69}">
      <dgm:prSet/>
      <dgm:spPr/>
      <dgm:t>
        <a:bodyPr/>
        <a:lstStyle/>
        <a:p>
          <a:pPr>
            <a:defRPr cap="all"/>
          </a:pPr>
          <a:r>
            <a:rPr lang="en-GB" b="1"/>
            <a:t>Knowledge architecture</a:t>
          </a:r>
          <a:endParaRPr lang="en-US"/>
        </a:p>
      </dgm:t>
    </dgm:pt>
    <dgm:pt modelId="{01CD9BFC-8B8B-4DAC-BBAE-FE063452F08B}" type="parTrans" cxnId="{0F3886B7-C418-4425-95F3-247F5B1B4C0D}">
      <dgm:prSet/>
      <dgm:spPr/>
      <dgm:t>
        <a:bodyPr/>
        <a:lstStyle/>
        <a:p>
          <a:endParaRPr lang="en-US"/>
        </a:p>
      </dgm:t>
    </dgm:pt>
    <dgm:pt modelId="{762FD723-8ABA-4246-891F-BF191587AC97}" type="sibTrans" cxnId="{0F3886B7-C418-4425-95F3-247F5B1B4C0D}">
      <dgm:prSet/>
      <dgm:spPr/>
      <dgm:t>
        <a:bodyPr/>
        <a:lstStyle/>
        <a:p>
          <a:endParaRPr lang="en-US"/>
        </a:p>
      </dgm:t>
    </dgm:pt>
    <dgm:pt modelId="{3E20BC2D-CF29-463C-AB5A-8C636618A8CB}">
      <dgm:prSet/>
      <dgm:spPr/>
      <dgm:t>
        <a:bodyPr/>
        <a:lstStyle/>
        <a:p>
          <a:pPr>
            <a:defRPr cap="all"/>
          </a:pPr>
          <a:r>
            <a:rPr lang="en-GB" b="1"/>
            <a:t>Knowledge transformation, articulation </a:t>
          </a:r>
          <a:r>
            <a:rPr lang="en-GB"/>
            <a:t>and </a:t>
          </a:r>
          <a:r>
            <a:rPr lang="en-GB" b="1"/>
            <a:t>assimilation</a:t>
          </a:r>
          <a:endParaRPr lang="en-US"/>
        </a:p>
      </dgm:t>
    </dgm:pt>
    <dgm:pt modelId="{3C02FC93-A10E-4ADC-B67B-59B8C465F62E}" type="parTrans" cxnId="{8F02CA4C-8DB1-4EFC-96AF-BA73FAA6C3FD}">
      <dgm:prSet/>
      <dgm:spPr/>
      <dgm:t>
        <a:bodyPr/>
        <a:lstStyle/>
        <a:p>
          <a:endParaRPr lang="en-US"/>
        </a:p>
      </dgm:t>
    </dgm:pt>
    <dgm:pt modelId="{82471DD3-9130-4731-917E-670876082418}" type="sibTrans" cxnId="{8F02CA4C-8DB1-4EFC-96AF-BA73FAA6C3FD}">
      <dgm:prSet/>
      <dgm:spPr/>
      <dgm:t>
        <a:bodyPr/>
        <a:lstStyle/>
        <a:p>
          <a:endParaRPr lang="en-US"/>
        </a:p>
      </dgm:t>
    </dgm:pt>
    <dgm:pt modelId="{DC46399D-619F-445D-B194-904C4C4E2174}" type="pres">
      <dgm:prSet presAssocID="{F5AA1A6F-0D90-49EE-9222-F0C78B40C835}" presName="root" presStyleCnt="0">
        <dgm:presLayoutVars>
          <dgm:dir/>
          <dgm:resizeHandles val="exact"/>
        </dgm:presLayoutVars>
      </dgm:prSet>
      <dgm:spPr/>
    </dgm:pt>
    <dgm:pt modelId="{2E724689-9BD9-4477-BDEF-0701A8B34CA1}" type="pres">
      <dgm:prSet presAssocID="{EEF84112-23DA-4901-BAFD-531EB9E88428}" presName="compNode" presStyleCnt="0"/>
      <dgm:spPr/>
    </dgm:pt>
    <dgm:pt modelId="{4970320F-7CCD-48E7-B5EC-B2C59722B4E6}" type="pres">
      <dgm:prSet presAssocID="{EEF84112-23DA-4901-BAFD-531EB9E88428}" presName="iconBgRect" presStyleLbl="bgShp" presStyleIdx="0" presStyleCnt="6"/>
      <dgm:spPr/>
    </dgm:pt>
    <dgm:pt modelId="{8822FD3A-D366-45D0-A443-2C7C784ACB03}" type="pres">
      <dgm:prSet presAssocID="{EEF84112-23DA-4901-BAFD-531EB9E8842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munications"/>
        </a:ext>
      </dgm:extLst>
    </dgm:pt>
    <dgm:pt modelId="{B77B9C73-C884-4545-8CBE-AEBCA80091E5}" type="pres">
      <dgm:prSet presAssocID="{EEF84112-23DA-4901-BAFD-531EB9E88428}" presName="spaceRect" presStyleCnt="0"/>
      <dgm:spPr/>
    </dgm:pt>
    <dgm:pt modelId="{C7129BEE-1EDA-47E8-B3A9-FBCA86856E04}" type="pres">
      <dgm:prSet presAssocID="{EEF84112-23DA-4901-BAFD-531EB9E88428}" presName="textRect" presStyleLbl="revTx" presStyleIdx="0" presStyleCnt="6">
        <dgm:presLayoutVars>
          <dgm:chMax val="1"/>
          <dgm:chPref val="1"/>
        </dgm:presLayoutVars>
      </dgm:prSet>
      <dgm:spPr/>
    </dgm:pt>
    <dgm:pt modelId="{1463F61E-8F52-4C30-92D1-D144F76F39D7}" type="pres">
      <dgm:prSet presAssocID="{01EEC9B4-D672-4A30-9BDA-F964095B23E2}" presName="sibTrans" presStyleCnt="0"/>
      <dgm:spPr/>
    </dgm:pt>
    <dgm:pt modelId="{38C7AF97-7A7B-457C-AF04-B917FAFF1718}" type="pres">
      <dgm:prSet presAssocID="{FBCDDA87-3B16-4140-B61D-CA6318A8A718}" presName="compNode" presStyleCnt="0"/>
      <dgm:spPr/>
    </dgm:pt>
    <dgm:pt modelId="{2835FBE6-AAC5-40CB-9ECB-20EE8FE187B4}" type="pres">
      <dgm:prSet presAssocID="{FBCDDA87-3B16-4140-B61D-CA6318A8A718}" presName="iconBgRect" presStyleLbl="bgShp" presStyleIdx="1" presStyleCnt="6"/>
      <dgm:spPr/>
    </dgm:pt>
    <dgm:pt modelId="{68F65CEF-E7FE-4C81-8E3A-984D04C0AB53}" type="pres">
      <dgm:prSet presAssocID="{FBCDDA87-3B16-4140-B61D-CA6318A8A71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ug Solid"/>
        </a:ext>
      </dgm:extLst>
    </dgm:pt>
    <dgm:pt modelId="{5B2F9DB0-F268-49C4-93D2-1BE1D3A598FE}" type="pres">
      <dgm:prSet presAssocID="{FBCDDA87-3B16-4140-B61D-CA6318A8A718}" presName="spaceRect" presStyleCnt="0"/>
      <dgm:spPr/>
    </dgm:pt>
    <dgm:pt modelId="{25603C15-D05A-4C90-9827-45D798538953}" type="pres">
      <dgm:prSet presAssocID="{FBCDDA87-3B16-4140-B61D-CA6318A8A718}" presName="textRect" presStyleLbl="revTx" presStyleIdx="1" presStyleCnt="6">
        <dgm:presLayoutVars>
          <dgm:chMax val="1"/>
          <dgm:chPref val="1"/>
        </dgm:presLayoutVars>
      </dgm:prSet>
      <dgm:spPr/>
    </dgm:pt>
    <dgm:pt modelId="{4AAAB552-1949-4FD5-A69C-093AB904DF80}" type="pres">
      <dgm:prSet presAssocID="{E6C9BD97-464D-4B64-B60A-1486199AEA79}" presName="sibTrans" presStyleCnt="0"/>
      <dgm:spPr/>
    </dgm:pt>
    <dgm:pt modelId="{6D6FCEC5-93A0-4880-9552-A256595E310F}" type="pres">
      <dgm:prSet presAssocID="{AB26EB30-B55B-4DCE-92A3-6E4CDF39E414}" presName="compNode" presStyleCnt="0"/>
      <dgm:spPr/>
    </dgm:pt>
    <dgm:pt modelId="{EDA90887-A3EC-43AC-9A70-ACC6EDA9D85A}" type="pres">
      <dgm:prSet presAssocID="{AB26EB30-B55B-4DCE-92A3-6E4CDF39E414}" presName="iconBgRect" presStyleLbl="bgShp" presStyleIdx="2" presStyleCnt="6"/>
      <dgm:spPr/>
    </dgm:pt>
    <dgm:pt modelId="{773CA598-46DA-4D97-89FD-C63FAA7E247A}" type="pres">
      <dgm:prSet presAssocID="{AB26EB30-B55B-4DCE-92A3-6E4CDF39E41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
        </a:ext>
      </dgm:extLst>
    </dgm:pt>
    <dgm:pt modelId="{F7FDCFAA-582B-4D85-9629-46FFCF38F92C}" type="pres">
      <dgm:prSet presAssocID="{AB26EB30-B55B-4DCE-92A3-6E4CDF39E414}" presName="spaceRect" presStyleCnt="0"/>
      <dgm:spPr/>
    </dgm:pt>
    <dgm:pt modelId="{64CE9065-6E1F-47AB-B025-60E48706E1CA}" type="pres">
      <dgm:prSet presAssocID="{AB26EB30-B55B-4DCE-92A3-6E4CDF39E414}" presName="textRect" presStyleLbl="revTx" presStyleIdx="2" presStyleCnt="6">
        <dgm:presLayoutVars>
          <dgm:chMax val="1"/>
          <dgm:chPref val="1"/>
        </dgm:presLayoutVars>
      </dgm:prSet>
      <dgm:spPr/>
    </dgm:pt>
    <dgm:pt modelId="{0B3F4550-AD93-4EB6-903F-AAF08B66E9E0}" type="pres">
      <dgm:prSet presAssocID="{51D69857-1283-45D8-BB6B-B3F03EC3EDA5}" presName="sibTrans" presStyleCnt="0"/>
      <dgm:spPr/>
    </dgm:pt>
    <dgm:pt modelId="{F86AFAB4-EED2-4D37-A3D2-EFE2C72C8A28}" type="pres">
      <dgm:prSet presAssocID="{34D459B4-0C7A-44C1-9F8C-40AB38F9EDCE}" presName="compNode" presStyleCnt="0"/>
      <dgm:spPr/>
    </dgm:pt>
    <dgm:pt modelId="{E326F298-A9EC-47FD-84E3-AEFD9A68C6C3}" type="pres">
      <dgm:prSet presAssocID="{34D459B4-0C7A-44C1-9F8C-40AB38F9EDCE}" presName="iconBgRect" presStyleLbl="bgShp" presStyleIdx="3" presStyleCnt="6"/>
      <dgm:spPr/>
    </dgm:pt>
    <dgm:pt modelId="{0D7622C2-2C69-498D-A2D2-0F0F8BCC2F1A}" type="pres">
      <dgm:prSet presAssocID="{34D459B4-0C7A-44C1-9F8C-40AB38F9EDC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ducation"/>
        </a:ext>
      </dgm:extLst>
    </dgm:pt>
    <dgm:pt modelId="{81E88C73-87C7-41D1-A60D-7570A2332C55}" type="pres">
      <dgm:prSet presAssocID="{34D459B4-0C7A-44C1-9F8C-40AB38F9EDCE}" presName="spaceRect" presStyleCnt="0"/>
      <dgm:spPr/>
    </dgm:pt>
    <dgm:pt modelId="{E3DAA1D8-1AD1-4538-95FB-357C67CF49DB}" type="pres">
      <dgm:prSet presAssocID="{34D459B4-0C7A-44C1-9F8C-40AB38F9EDCE}" presName="textRect" presStyleLbl="revTx" presStyleIdx="3" presStyleCnt="6">
        <dgm:presLayoutVars>
          <dgm:chMax val="1"/>
          <dgm:chPref val="1"/>
        </dgm:presLayoutVars>
      </dgm:prSet>
      <dgm:spPr/>
    </dgm:pt>
    <dgm:pt modelId="{0B9EE882-EC0C-4605-B9B9-CBFB1CECC70F}" type="pres">
      <dgm:prSet presAssocID="{17EDDEAD-9AC0-4F02-8D64-3FDE3547356D}" presName="sibTrans" presStyleCnt="0"/>
      <dgm:spPr/>
    </dgm:pt>
    <dgm:pt modelId="{C348D7EC-40AB-4EAC-B839-E2F9B9EBFCCC}" type="pres">
      <dgm:prSet presAssocID="{EB46453A-637B-42E2-82DB-60A740938D69}" presName="compNode" presStyleCnt="0"/>
      <dgm:spPr/>
    </dgm:pt>
    <dgm:pt modelId="{876E7DB3-58A9-4405-B2DE-30D855A76711}" type="pres">
      <dgm:prSet presAssocID="{EB46453A-637B-42E2-82DB-60A740938D69}" presName="iconBgRect" presStyleLbl="bgShp" presStyleIdx="4" presStyleCnt="6"/>
      <dgm:spPr/>
    </dgm:pt>
    <dgm:pt modelId="{949D39D3-ED0A-4CB2-AD9F-3036FEA96C04}" type="pres">
      <dgm:prSet presAssocID="{EB46453A-637B-42E2-82DB-60A740938D6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esign"/>
        </a:ext>
      </dgm:extLst>
    </dgm:pt>
    <dgm:pt modelId="{FDACEED0-7CD6-4F66-83C9-9CE2D91FDE8E}" type="pres">
      <dgm:prSet presAssocID="{EB46453A-637B-42E2-82DB-60A740938D69}" presName="spaceRect" presStyleCnt="0"/>
      <dgm:spPr/>
    </dgm:pt>
    <dgm:pt modelId="{9C2FF5F2-A050-4AD2-8784-82C5DE27EB99}" type="pres">
      <dgm:prSet presAssocID="{EB46453A-637B-42E2-82DB-60A740938D69}" presName="textRect" presStyleLbl="revTx" presStyleIdx="4" presStyleCnt="6">
        <dgm:presLayoutVars>
          <dgm:chMax val="1"/>
          <dgm:chPref val="1"/>
        </dgm:presLayoutVars>
      </dgm:prSet>
      <dgm:spPr/>
    </dgm:pt>
    <dgm:pt modelId="{8EB242E1-B1DE-4D7E-95FB-C77FD0762E8B}" type="pres">
      <dgm:prSet presAssocID="{762FD723-8ABA-4246-891F-BF191587AC97}" presName="sibTrans" presStyleCnt="0"/>
      <dgm:spPr/>
    </dgm:pt>
    <dgm:pt modelId="{3790B9B8-8FC1-4D97-BA8D-73CA651D2249}" type="pres">
      <dgm:prSet presAssocID="{3E20BC2D-CF29-463C-AB5A-8C636618A8CB}" presName="compNode" presStyleCnt="0"/>
      <dgm:spPr/>
    </dgm:pt>
    <dgm:pt modelId="{DEBDDE96-D611-4654-ACC4-C4572241D122}" type="pres">
      <dgm:prSet presAssocID="{3E20BC2D-CF29-463C-AB5A-8C636618A8CB}" presName="iconBgRect" presStyleLbl="bgShp" presStyleIdx="5" presStyleCnt="6"/>
      <dgm:spPr/>
    </dgm:pt>
    <dgm:pt modelId="{2A5D0CFB-53D5-4789-BFA6-909945F82AEA}" type="pres">
      <dgm:prSet presAssocID="{3E20BC2D-CF29-463C-AB5A-8C636618A8C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ranslate"/>
        </a:ext>
      </dgm:extLst>
    </dgm:pt>
    <dgm:pt modelId="{CA69D73D-8C0E-48AC-B393-8BBC44EB5DAD}" type="pres">
      <dgm:prSet presAssocID="{3E20BC2D-CF29-463C-AB5A-8C636618A8CB}" presName="spaceRect" presStyleCnt="0"/>
      <dgm:spPr/>
    </dgm:pt>
    <dgm:pt modelId="{BD7AFCE7-3ED0-4D2C-857F-526935B403FC}" type="pres">
      <dgm:prSet presAssocID="{3E20BC2D-CF29-463C-AB5A-8C636618A8CB}" presName="textRect" presStyleLbl="revTx" presStyleIdx="5" presStyleCnt="6">
        <dgm:presLayoutVars>
          <dgm:chMax val="1"/>
          <dgm:chPref val="1"/>
        </dgm:presLayoutVars>
      </dgm:prSet>
      <dgm:spPr/>
    </dgm:pt>
  </dgm:ptLst>
  <dgm:cxnLst>
    <dgm:cxn modelId="{9CD79600-2449-4020-A64A-56CBA07031A1}" type="presOf" srcId="{AB26EB30-B55B-4DCE-92A3-6E4CDF39E414}" destId="{64CE9065-6E1F-47AB-B025-60E48706E1CA}" srcOrd="0" destOrd="0" presId="urn:microsoft.com/office/officeart/2018/5/layout/IconCircleLabelList"/>
    <dgm:cxn modelId="{0545470F-914D-40D8-8507-9B15143533A3}" srcId="{F5AA1A6F-0D90-49EE-9222-F0C78B40C835}" destId="{FBCDDA87-3B16-4140-B61D-CA6318A8A718}" srcOrd="1" destOrd="0" parTransId="{7DF4C729-2A0B-4E65-8B84-BC507C4CC7F5}" sibTransId="{E6C9BD97-464D-4B64-B60A-1486199AEA79}"/>
    <dgm:cxn modelId="{71F10414-A298-4718-AB7B-5A88F80EDE4D}" type="presOf" srcId="{34D459B4-0C7A-44C1-9F8C-40AB38F9EDCE}" destId="{E3DAA1D8-1AD1-4538-95FB-357C67CF49DB}" srcOrd="0" destOrd="0" presId="urn:microsoft.com/office/officeart/2018/5/layout/IconCircleLabelList"/>
    <dgm:cxn modelId="{8F02CA4C-8DB1-4EFC-96AF-BA73FAA6C3FD}" srcId="{F5AA1A6F-0D90-49EE-9222-F0C78B40C835}" destId="{3E20BC2D-CF29-463C-AB5A-8C636618A8CB}" srcOrd="5" destOrd="0" parTransId="{3C02FC93-A10E-4ADC-B67B-59B8C465F62E}" sibTransId="{82471DD3-9130-4731-917E-670876082418}"/>
    <dgm:cxn modelId="{37848168-5734-476C-BED7-E391C3B7A0B5}" type="presOf" srcId="{FBCDDA87-3B16-4140-B61D-CA6318A8A718}" destId="{25603C15-D05A-4C90-9827-45D798538953}" srcOrd="0" destOrd="0" presId="urn:microsoft.com/office/officeart/2018/5/layout/IconCircleLabelList"/>
    <dgm:cxn modelId="{1135EC8D-8A84-4F13-A2CF-75DD7229BB52}" type="presOf" srcId="{3E20BC2D-CF29-463C-AB5A-8C636618A8CB}" destId="{BD7AFCE7-3ED0-4D2C-857F-526935B403FC}" srcOrd="0" destOrd="0" presId="urn:microsoft.com/office/officeart/2018/5/layout/IconCircleLabelList"/>
    <dgm:cxn modelId="{A12AA0A9-6338-4F37-8849-03E907439429}" type="presOf" srcId="{EEF84112-23DA-4901-BAFD-531EB9E88428}" destId="{C7129BEE-1EDA-47E8-B3A9-FBCA86856E04}" srcOrd="0" destOrd="0" presId="urn:microsoft.com/office/officeart/2018/5/layout/IconCircleLabelList"/>
    <dgm:cxn modelId="{8EBBBCB2-FB2A-4762-8E84-BA4B66E333D2}" type="presOf" srcId="{EB46453A-637B-42E2-82DB-60A740938D69}" destId="{9C2FF5F2-A050-4AD2-8784-82C5DE27EB99}" srcOrd="0" destOrd="0" presId="urn:microsoft.com/office/officeart/2018/5/layout/IconCircleLabelList"/>
    <dgm:cxn modelId="{0F3886B7-C418-4425-95F3-247F5B1B4C0D}" srcId="{F5AA1A6F-0D90-49EE-9222-F0C78B40C835}" destId="{EB46453A-637B-42E2-82DB-60A740938D69}" srcOrd="4" destOrd="0" parTransId="{01CD9BFC-8B8B-4DAC-BBAE-FE063452F08B}" sibTransId="{762FD723-8ABA-4246-891F-BF191587AC97}"/>
    <dgm:cxn modelId="{6704E0C7-B6EB-41EB-8222-4B1FFD7095F2}" srcId="{F5AA1A6F-0D90-49EE-9222-F0C78B40C835}" destId="{34D459B4-0C7A-44C1-9F8C-40AB38F9EDCE}" srcOrd="3" destOrd="0" parTransId="{F60FD86A-4A92-4454-81CB-EB0EA293F2F7}" sibTransId="{17EDDEAD-9AC0-4F02-8D64-3FDE3547356D}"/>
    <dgm:cxn modelId="{8C51EBD0-8C44-4D25-BCEF-D75F041DA218}" srcId="{F5AA1A6F-0D90-49EE-9222-F0C78B40C835}" destId="{EEF84112-23DA-4901-BAFD-531EB9E88428}" srcOrd="0" destOrd="0" parTransId="{FB3578E4-C672-477A-B1FC-C3B01AA641F6}" sibTransId="{01EEC9B4-D672-4A30-9BDA-F964095B23E2}"/>
    <dgm:cxn modelId="{E36983DD-748C-4A7C-AC6F-0411CD408E4D}" srcId="{F5AA1A6F-0D90-49EE-9222-F0C78B40C835}" destId="{AB26EB30-B55B-4DCE-92A3-6E4CDF39E414}" srcOrd="2" destOrd="0" parTransId="{9AFB32BA-E2F2-475A-9B28-FBECA3BC7737}" sibTransId="{51D69857-1283-45D8-BB6B-B3F03EC3EDA5}"/>
    <dgm:cxn modelId="{BAF944FE-07DF-4E43-8C68-99476A697FE5}" type="presOf" srcId="{F5AA1A6F-0D90-49EE-9222-F0C78B40C835}" destId="{DC46399D-619F-445D-B194-904C4C4E2174}" srcOrd="0" destOrd="0" presId="urn:microsoft.com/office/officeart/2018/5/layout/IconCircleLabelList"/>
    <dgm:cxn modelId="{53206542-341A-4022-BA03-16C37A04D4B1}" type="presParOf" srcId="{DC46399D-619F-445D-B194-904C4C4E2174}" destId="{2E724689-9BD9-4477-BDEF-0701A8B34CA1}" srcOrd="0" destOrd="0" presId="urn:microsoft.com/office/officeart/2018/5/layout/IconCircleLabelList"/>
    <dgm:cxn modelId="{565082DB-4922-4E57-B510-0FC315428E51}" type="presParOf" srcId="{2E724689-9BD9-4477-BDEF-0701A8B34CA1}" destId="{4970320F-7CCD-48E7-B5EC-B2C59722B4E6}" srcOrd="0" destOrd="0" presId="urn:microsoft.com/office/officeart/2018/5/layout/IconCircleLabelList"/>
    <dgm:cxn modelId="{8CE245DD-50B8-4322-BE30-5922CD62B827}" type="presParOf" srcId="{2E724689-9BD9-4477-BDEF-0701A8B34CA1}" destId="{8822FD3A-D366-45D0-A443-2C7C784ACB03}" srcOrd="1" destOrd="0" presId="urn:microsoft.com/office/officeart/2018/5/layout/IconCircleLabelList"/>
    <dgm:cxn modelId="{3F80A24E-2358-4A42-9910-25BEC2B6C963}" type="presParOf" srcId="{2E724689-9BD9-4477-BDEF-0701A8B34CA1}" destId="{B77B9C73-C884-4545-8CBE-AEBCA80091E5}" srcOrd="2" destOrd="0" presId="urn:microsoft.com/office/officeart/2018/5/layout/IconCircleLabelList"/>
    <dgm:cxn modelId="{19D9FB57-5FB8-4E4D-851B-2D1640EC15B2}" type="presParOf" srcId="{2E724689-9BD9-4477-BDEF-0701A8B34CA1}" destId="{C7129BEE-1EDA-47E8-B3A9-FBCA86856E04}" srcOrd="3" destOrd="0" presId="urn:microsoft.com/office/officeart/2018/5/layout/IconCircleLabelList"/>
    <dgm:cxn modelId="{8EE44F5B-DD44-4872-91EE-BCF9787A5520}" type="presParOf" srcId="{DC46399D-619F-445D-B194-904C4C4E2174}" destId="{1463F61E-8F52-4C30-92D1-D144F76F39D7}" srcOrd="1" destOrd="0" presId="urn:microsoft.com/office/officeart/2018/5/layout/IconCircleLabelList"/>
    <dgm:cxn modelId="{4F96FE5E-A56C-4F93-BFDB-AD21C254E9E1}" type="presParOf" srcId="{DC46399D-619F-445D-B194-904C4C4E2174}" destId="{38C7AF97-7A7B-457C-AF04-B917FAFF1718}" srcOrd="2" destOrd="0" presId="urn:microsoft.com/office/officeart/2018/5/layout/IconCircleLabelList"/>
    <dgm:cxn modelId="{66FD8AC0-F247-4D23-8986-A9269EAB0A68}" type="presParOf" srcId="{38C7AF97-7A7B-457C-AF04-B917FAFF1718}" destId="{2835FBE6-AAC5-40CB-9ECB-20EE8FE187B4}" srcOrd="0" destOrd="0" presId="urn:microsoft.com/office/officeart/2018/5/layout/IconCircleLabelList"/>
    <dgm:cxn modelId="{5EA6439D-E82E-4DEB-A1CD-B9AE4192565C}" type="presParOf" srcId="{38C7AF97-7A7B-457C-AF04-B917FAFF1718}" destId="{68F65CEF-E7FE-4C81-8E3A-984D04C0AB53}" srcOrd="1" destOrd="0" presId="urn:microsoft.com/office/officeart/2018/5/layout/IconCircleLabelList"/>
    <dgm:cxn modelId="{46A64729-D3B1-4695-985D-CE7B87069146}" type="presParOf" srcId="{38C7AF97-7A7B-457C-AF04-B917FAFF1718}" destId="{5B2F9DB0-F268-49C4-93D2-1BE1D3A598FE}" srcOrd="2" destOrd="0" presId="urn:microsoft.com/office/officeart/2018/5/layout/IconCircleLabelList"/>
    <dgm:cxn modelId="{613A918F-716E-4668-BF30-4E3A4F426C98}" type="presParOf" srcId="{38C7AF97-7A7B-457C-AF04-B917FAFF1718}" destId="{25603C15-D05A-4C90-9827-45D798538953}" srcOrd="3" destOrd="0" presId="urn:microsoft.com/office/officeart/2018/5/layout/IconCircleLabelList"/>
    <dgm:cxn modelId="{C599C133-89A9-4EFC-963D-C4AA47EDE6D3}" type="presParOf" srcId="{DC46399D-619F-445D-B194-904C4C4E2174}" destId="{4AAAB552-1949-4FD5-A69C-093AB904DF80}" srcOrd="3" destOrd="0" presId="urn:microsoft.com/office/officeart/2018/5/layout/IconCircleLabelList"/>
    <dgm:cxn modelId="{36BF5911-B4B3-486F-9FF1-0620210405CA}" type="presParOf" srcId="{DC46399D-619F-445D-B194-904C4C4E2174}" destId="{6D6FCEC5-93A0-4880-9552-A256595E310F}" srcOrd="4" destOrd="0" presId="urn:microsoft.com/office/officeart/2018/5/layout/IconCircleLabelList"/>
    <dgm:cxn modelId="{D773FA4E-22B4-4746-A5C2-E394A165867E}" type="presParOf" srcId="{6D6FCEC5-93A0-4880-9552-A256595E310F}" destId="{EDA90887-A3EC-43AC-9A70-ACC6EDA9D85A}" srcOrd="0" destOrd="0" presId="urn:microsoft.com/office/officeart/2018/5/layout/IconCircleLabelList"/>
    <dgm:cxn modelId="{7903E6DA-EEAD-48A9-AFC7-F5D2AF3A0121}" type="presParOf" srcId="{6D6FCEC5-93A0-4880-9552-A256595E310F}" destId="{773CA598-46DA-4D97-89FD-C63FAA7E247A}" srcOrd="1" destOrd="0" presId="urn:microsoft.com/office/officeart/2018/5/layout/IconCircleLabelList"/>
    <dgm:cxn modelId="{D2592BFD-EB75-4558-BCB4-DAB1A6E66D2B}" type="presParOf" srcId="{6D6FCEC5-93A0-4880-9552-A256595E310F}" destId="{F7FDCFAA-582B-4D85-9629-46FFCF38F92C}" srcOrd="2" destOrd="0" presId="urn:microsoft.com/office/officeart/2018/5/layout/IconCircleLabelList"/>
    <dgm:cxn modelId="{4CE6D256-283C-44E1-8826-6990C96B0BDD}" type="presParOf" srcId="{6D6FCEC5-93A0-4880-9552-A256595E310F}" destId="{64CE9065-6E1F-47AB-B025-60E48706E1CA}" srcOrd="3" destOrd="0" presId="urn:microsoft.com/office/officeart/2018/5/layout/IconCircleLabelList"/>
    <dgm:cxn modelId="{6B537FE0-BA83-4742-995B-9471EA09A98A}" type="presParOf" srcId="{DC46399D-619F-445D-B194-904C4C4E2174}" destId="{0B3F4550-AD93-4EB6-903F-AAF08B66E9E0}" srcOrd="5" destOrd="0" presId="urn:microsoft.com/office/officeart/2018/5/layout/IconCircleLabelList"/>
    <dgm:cxn modelId="{2A813880-4B4C-4278-AF66-911AB86AE484}" type="presParOf" srcId="{DC46399D-619F-445D-B194-904C4C4E2174}" destId="{F86AFAB4-EED2-4D37-A3D2-EFE2C72C8A28}" srcOrd="6" destOrd="0" presId="urn:microsoft.com/office/officeart/2018/5/layout/IconCircleLabelList"/>
    <dgm:cxn modelId="{62E852C2-4709-4B9D-AB2F-25A2AF78B35C}" type="presParOf" srcId="{F86AFAB4-EED2-4D37-A3D2-EFE2C72C8A28}" destId="{E326F298-A9EC-47FD-84E3-AEFD9A68C6C3}" srcOrd="0" destOrd="0" presId="urn:microsoft.com/office/officeart/2018/5/layout/IconCircleLabelList"/>
    <dgm:cxn modelId="{F332912B-F620-4C72-AD47-F19C91BB8D39}" type="presParOf" srcId="{F86AFAB4-EED2-4D37-A3D2-EFE2C72C8A28}" destId="{0D7622C2-2C69-498D-A2D2-0F0F8BCC2F1A}" srcOrd="1" destOrd="0" presId="urn:microsoft.com/office/officeart/2018/5/layout/IconCircleLabelList"/>
    <dgm:cxn modelId="{D0A2FFFD-0012-4B2A-A0F7-BCD52A298CA1}" type="presParOf" srcId="{F86AFAB4-EED2-4D37-A3D2-EFE2C72C8A28}" destId="{81E88C73-87C7-41D1-A60D-7570A2332C55}" srcOrd="2" destOrd="0" presId="urn:microsoft.com/office/officeart/2018/5/layout/IconCircleLabelList"/>
    <dgm:cxn modelId="{52CA093B-3856-4AD5-B32D-2220966080CC}" type="presParOf" srcId="{F86AFAB4-EED2-4D37-A3D2-EFE2C72C8A28}" destId="{E3DAA1D8-1AD1-4538-95FB-357C67CF49DB}" srcOrd="3" destOrd="0" presId="urn:microsoft.com/office/officeart/2018/5/layout/IconCircleLabelList"/>
    <dgm:cxn modelId="{93097B6E-1FA9-4C87-9380-CFE135715930}" type="presParOf" srcId="{DC46399D-619F-445D-B194-904C4C4E2174}" destId="{0B9EE882-EC0C-4605-B9B9-CBFB1CECC70F}" srcOrd="7" destOrd="0" presId="urn:microsoft.com/office/officeart/2018/5/layout/IconCircleLabelList"/>
    <dgm:cxn modelId="{182325D2-E2C0-416E-9442-27A0F52C78C6}" type="presParOf" srcId="{DC46399D-619F-445D-B194-904C4C4E2174}" destId="{C348D7EC-40AB-4EAC-B839-E2F9B9EBFCCC}" srcOrd="8" destOrd="0" presId="urn:microsoft.com/office/officeart/2018/5/layout/IconCircleLabelList"/>
    <dgm:cxn modelId="{3A455E79-EC25-4949-8483-4E7E61E22157}" type="presParOf" srcId="{C348D7EC-40AB-4EAC-B839-E2F9B9EBFCCC}" destId="{876E7DB3-58A9-4405-B2DE-30D855A76711}" srcOrd="0" destOrd="0" presId="urn:microsoft.com/office/officeart/2018/5/layout/IconCircleLabelList"/>
    <dgm:cxn modelId="{2DC31BD0-A8CD-482B-A136-42390ED3BD7A}" type="presParOf" srcId="{C348D7EC-40AB-4EAC-B839-E2F9B9EBFCCC}" destId="{949D39D3-ED0A-4CB2-AD9F-3036FEA96C04}" srcOrd="1" destOrd="0" presId="urn:microsoft.com/office/officeart/2018/5/layout/IconCircleLabelList"/>
    <dgm:cxn modelId="{6393BB0E-A5E8-4681-9F6E-CA474FC9E93D}" type="presParOf" srcId="{C348D7EC-40AB-4EAC-B839-E2F9B9EBFCCC}" destId="{FDACEED0-7CD6-4F66-83C9-9CE2D91FDE8E}" srcOrd="2" destOrd="0" presId="urn:microsoft.com/office/officeart/2018/5/layout/IconCircleLabelList"/>
    <dgm:cxn modelId="{1E8B6C02-7113-4931-A4FB-F7D4544487D6}" type="presParOf" srcId="{C348D7EC-40AB-4EAC-B839-E2F9B9EBFCCC}" destId="{9C2FF5F2-A050-4AD2-8784-82C5DE27EB99}" srcOrd="3" destOrd="0" presId="urn:microsoft.com/office/officeart/2018/5/layout/IconCircleLabelList"/>
    <dgm:cxn modelId="{68F787CE-E463-473C-922B-28D2E5D9C6AE}" type="presParOf" srcId="{DC46399D-619F-445D-B194-904C4C4E2174}" destId="{8EB242E1-B1DE-4D7E-95FB-C77FD0762E8B}" srcOrd="9" destOrd="0" presId="urn:microsoft.com/office/officeart/2018/5/layout/IconCircleLabelList"/>
    <dgm:cxn modelId="{0B3FEEA0-F596-485D-804A-B2E28C2C1A98}" type="presParOf" srcId="{DC46399D-619F-445D-B194-904C4C4E2174}" destId="{3790B9B8-8FC1-4D97-BA8D-73CA651D2249}" srcOrd="10" destOrd="0" presId="urn:microsoft.com/office/officeart/2018/5/layout/IconCircleLabelList"/>
    <dgm:cxn modelId="{2899E4F0-CAD3-4949-8713-FE012EB2A826}" type="presParOf" srcId="{3790B9B8-8FC1-4D97-BA8D-73CA651D2249}" destId="{DEBDDE96-D611-4654-ACC4-C4572241D122}" srcOrd="0" destOrd="0" presId="urn:microsoft.com/office/officeart/2018/5/layout/IconCircleLabelList"/>
    <dgm:cxn modelId="{9B9909E7-9D3C-47B9-9283-58AA956FCF44}" type="presParOf" srcId="{3790B9B8-8FC1-4D97-BA8D-73CA651D2249}" destId="{2A5D0CFB-53D5-4789-BFA6-909945F82AEA}" srcOrd="1" destOrd="0" presId="urn:microsoft.com/office/officeart/2018/5/layout/IconCircleLabelList"/>
    <dgm:cxn modelId="{4B07FF08-8A84-46A5-AD40-7A32BA4F890B}" type="presParOf" srcId="{3790B9B8-8FC1-4D97-BA8D-73CA651D2249}" destId="{CA69D73D-8C0E-48AC-B393-8BBC44EB5DAD}" srcOrd="2" destOrd="0" presId="urn:microsoft.com/office/officeart/2018/5/layout/IconCircleLabelList"/>
    <dgm:cxn modelId="{881AD7E4-1B0B-418A-8B43-826081705C38}" type="presParOf" srcId="{3790B9B8-8FC1-4D97-BA8D-73CA651D2249}" destId="{BD7AFCE7-3ED0-4D2C-857F-526935B403F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85FB6-BF9A-A84C-9939-77C947A1603E}">
      <dsp:nvSpPr>
        <dsp:cNvPr id="0" name=""/>
        <dsp:cNvSpPr/>
      </dsp:nvSpPr>
      <dsp:spPr>
        <a:xfrm>
          <a:off x="0" y="302037"/>
          <a:ext cx="3943350" cy="78316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By the end of this chapter you will develop an understanding of: </a:t>
          </a:r>
          <a:endParaRPr lang="en-US" sz="1400" kern="1200"/>
        </a:p>
      </dsp:txBody>
      <dsp:txXfrm>
        <a:off x="38231" y="340268"/>
        <a:ext cx="3866888" cy="706706"/>
      </dsp:txXfrm>
    </dsp:sp>
    <dsp:sp modelId="{485A94A2-F377-D641-95A3-E219F0B40DA5}">
      <dsp:nvSpPr>
        <dsp:cNvPr id="0" name=""/>
        <dsp:cNvSpPr/>
      </dsp:nvSpPr>
      <dsp:spPr>
        <a:xfrm>
          <a:off x="0" y="1125526"/>
          <a:ext cx="3943350" cy="78316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the different kinds of opportunity being sought in terms of incremental or radical change </a:t>
          </a:r>
          <a:endParaRPr lang="en-US" sz="1400" kern="1200"/>
        </a:p>
      </dsp:txBody>
      <dsp:txXfrm>
        <a:off x="38231" y="1163757"/>
        <a:ext cx="3866888" cy="706706"/>
      </dsp:txXfrm>
    </dsp:sp>
    <dsp:sp modelId="{46B163BE-CEB6-F340-9F34-6F69C1739763}">
      <dsp:nvSpPr>
        <dsp:cNvPr id="0" name=""/>
        <dsp:cNvSpPr/>
      </dsp:nvSpPr>
      <dsp:spPr>
        <a:xfrm>
          <a:off x="0" y="1949015"/>
          <a:ext cx="3943350" cy="783168"/>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the different search needs at different stages of the innovation process </a:t>
          </a:r>
          <a:endParaRPr lang="en-US" sz="1400" kern="1200"/>
        </a:p>
      </dsp:txBody>
      <dsp:txXfrm>
        <a:off x="38231" y="1987246"/>
        <a:ext cx="3866888" cy="706706"/>
      </dsp:txXfrm>
    </dsp:sp>
    <dsp:sp modelId="{D91DD585-E9D8-7440-B01F-56864EFE9492}">
      <dsp:nvSpPr>
        <dsp:cNvPr id="0" name=""/>
        <dsp:cNvSpPr/>
      </dsp:nvSpPr>
      <dsp:spPr>
        <a:xfrm>
          <a:off x="0" y="2772504"/>
          <a:ext cx="3943350" cy="78316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the different players involved in the search process, and in particular the growing engagement of more people inside and outside the organization </a:t>
          </a:r>
          <a:endParaRPr lang="en-US" sz="1400" kern="1200"/>
        </a:p>
      </dsp:txBody>
      <dsp:txXfrm>
        <a:off x="38231" y="2810735"/>
        <a:ext cx="3866888" cy="706706"/>
      </dsp:txXfrm>
    </dsp:sp>
    <dsp:sp modelId="{93FD6031-6CB5-EB4F-A775-F588050CC339}">
      <dsp:nvSpPr>
        <dsp:cNvPr id="0" name=""/>
        <dsp:cNvSpPr/>
      </dsp:nvSpPr>
      <dsp:spPr>
        <a:xfrm>
          <a:off x="0" y="3595992"/>
          <a:ext cx="3943350" cy="78316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local search aiming to exploit existing knowledge through to radical and beyond into new frames</a:t>
          </a:r>
          <a:endParaRPr lang="en-US" sz="1400" kern="1200"/>
        </a:p>
      </dsp:txBody>
      <dsp:txXfrm>
        <a:off x="38231" y="3634223"/>
        <a:ext cx="3866888" cy="706706"/>
      </dsp:txXfrm>
    </dsp:sp>
    <dsp:sp modelId="{827C5435-8E90-F14E-95CA-91B9E8A9BB66}">
      <dsp:nvSpPr>
        <dsp:cNvPr id="0" name=""/>
        <dsp:cNvSpPr/>
      </dsp:nvSpPr>
      <dsp:spPr>
        <a:xfrm>
          <a:off x="0" y="4419481"/>
          <a:ext cx="3943350" cy="78316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t>mechanisms for enabling search</a:t>
          </a:r>
          <a:endParaRPr lang="en-US" sz="1400" kern="1200"/>
        </a:p>
      </dsp:txBody>
      <dsp:txXfrm>
        <a:off x="38231" y="4457712"/>
        <a:ext cx="3866888" cy="706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0320F-7CCD-48E7-B5EC-B2C59722B4E6}">
      <dsp:nvSpPr>
        <dsp:cNvPr id="0" name=""/>
        <dsp:cNvSpPr/>
      </dsp:nvSpPr>
      <dsp:spPr>
        <a:xfrm>
          <a:off x="548934" y="288"/>
          <a:ext cx="1001496" cy="10014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2FD3A-D366-45D0-A443-2C7C784ACB03}">
      <dsp:nvSpPr>
        <dsp:cNvPr id="0" name=""/>
        <dsp:cNvSpPr/>
      </dsp:nvSpPr>
      <dsp:spPr>
        <a:xfrm>
          <a:off x="762368" y="213721"/>
          <a:ext cx="574628" cy="574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129BEE-1EDA-47E8-B3A9-FBCA86856E04}">
      <dsp:nvSpPr>
        <dsp:cNvPr id="0" name=""/>
        <dsp:cNvSpPr/>
      </dsp:nvSpPr>
      <dsp:spPr>
        <a:xfrm>
          <a:off x="228784"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networks</a:t>
          </a:r>
          <a:endParaRPr lang="en-GB" sz="1100" kern="1200"/>
        </a:p>
      </dsp:txBody>
      <dsp:txXfrm>
        <a:off x="228784" y="1313725"/>
        <a:ext cx="1641796" cy="656718"/>
      </dsp:txXfrm>
    </dsp:sp>
    <dsp:sp modelId="{2835FBE6-AAC5-40CB-9ECB-20EE8FE187B4}">
      <dsp:nvSpPr>
        <dsp:cNvPr id="0" name=""/>
        <dsp:cNvSpPr/>
      </dsp:nvSpPr>
      <dsp:spPr>
        <a:xfrm>
          <a:off x="2478046" y="288"/>
          <a:ext cx="1001496" cy="10014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F65CEF-E7FE-4C81-8E3A-984D04C0AB53}">
      <dsp:nvSpPr>
        <dsp:cNvPr id="0" name=""/>
        <dsp:cNvSpPr/>
      </dsp:nvSpPr>
      <dsp:spPr>
        <a:xfrm>
          <a:off x="2691479" y="213721"/>
          <a:ext cx="574628" cy="574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5603C15-D05A-4C90-9827-45D798538953}">
      <dsp:nvSpPr>
        <dsp:cNvPr id="0" name=""/>
        <dsp:cNvSpPr/>
      </dsp:nvSpPr>
      <dsp:spPr>
        <a:xfrm>
          <a:off x="2157895"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connectors</a:t>
          </a:r>
          <a:endParaRPr lang="en-US" sz="1100" kern="1200"/>
        </a:p>
      </dsp:txBody>
      <dsp:txXfrm>
        <a:off x="2157895" y="1313725"/>
        <a:ext cx="1641796" cy="656718"/>
      </dsp:txXfrm>
    </dsp:sp>
    <dsp:sp modelId="{EDA90887-A3EC-43AC-9A70-ACC6EDA9D85A}">
      <dsp:nvSpPr>
        <dsp:cNvPr id="0" name=""/>
        <dsp:cNvSpPr/>
      </dsp:nvSpPr>
      <dsp:spPr>
        <a:xfrm>
          <a:off x="4407157" y="288"/>
          <a:ext cx="1001496" cy="10014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3CA598-46DA-4D97-89FD-C63FAA7E247A}">
      <dsp:nvSpPr>
        <dsp:cNvPr id="0" name=""/>
        <dsp:cNvSpPr/>
      </dsp:nvSpPr>
      <dsp:spPr>
        <a:xfrm>
          <a:off x="4620591" y="213721"/>
          <a:ext cx="574628" cy="574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CE9065-6E1F-47AB-B025-60E48706E1CA}">
      <dsp:nvSpPr>
        <dsp:cNvPr id="0" name=""/>
        <dsp:cNvSpPr/>
      </dsp:nvSpPr>
      <dsp:spPr>
        <a:xfrm>
          <a:off x="4087007"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flow</a:t>
          </a:r>
          <a:endParaRPr lang="en-US" sz="1100" kern="1200"/>
        </a:p>
      </dsp:txBody>
      <dsp:txXfrm>
        <a:off x="4087007" y="1313725"/>
        <a:ext cx="1641796" cy="656718"/>
      </dsp:txXfrm>
    </dsp:sp>
    <dsp:sp modelId="{E326F298-A9EC-47FD-84E3-AEFD9A68C6C3}">
      <dsp:nvSpPr>
        <dsp:cNvPr id="0" name=""/>
        <dsp:cNvSpPr/>
      </dsp:nvSpPr>
      <dsp:spPr>
        <a:xfrm>
          <a:off x="6336268" y="288"/>
          <a:ext cx="1001496" cy="100149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7622C2-2C69-498D-A2D2-0F0F8BCC2F1A}">
      <dsp:nvSpPr>
        <dsp:cNvPr id="0" name=""/>
        <dsp:cNvSpPr/>
      </dsp:nvSpPr>
      <dsp:spPr>
        <a:xfrm>
          <a:off x="6549702" y="213721"/>
          <a:ext cx="574628" cy="574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DAA1D8-1AD1-4538-95FB-357C67CF49DB}">
      <dsp:nvSpPr>
        <dsp:cNvPr id="0" name=""/>
        <dsp:cNvSpPr/>
      </dsp:nvSpPr>
      <dsp:spPr>
        <a:xfrm>
          <a:off x="6016118"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concentration</a:t>
          </a:r>
          <a:endParaRPr lang="en-US" sz="1100" kern="1200"/>
        </a:p>
      </dsp:txBody>
      <dsp:txXfrm>
        <a:off x="6016118" y="1313725"/>
        <a:ext cx="1641796" cy="656718"/>
      </dsp:txXfrm>
    </dsp:sp>
    <dsp:sp modelId="{876E7DB3-58A9-4405-B2DE-30D855A76711}">
      <dsp:nvSpPr>
        <dsp:cNvPr id="0" name=""/>
        <dsp:cNvSpPr/>
      </dsp:nvSpPr>
      <dsp:spPr>
        <a:xfrm>
          <a:off x="2478046" y="2380893"/>
          <a:ext cx="1001496" cy="100149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9D39D3-ED0A-4CB2-AD9F-3036FEA96C04}">
      <dsp:nvSpPr>
        <dsp:cNvPr id="0" name=""/>
        <dsp:cNvSpPr/>
      </dsp:nvSpPr>
      <dsp:spPr>
        <a:xfrm>
          <a:off x="2691479" y="2594327"/>
          <a:ext cx="574628" cy="5746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2FF5F2-A050-4AD2-8784-82C5DE27EB99}">
      <dsp:nvSpPr>
        <dsp:cNvPr id="0" name=""/>
        <dsp:cNvSpPr/>
      </dsp:nvSpPr>
      <dsp:spPr>
        <a:xfrm>
          <a:off x="2157895"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architecture</a:t>
          </a:r>
          <a:endParaRPr lang="en-US" sz="1100" kern="1200"/>
        </a:p>
      </dsp:txBody>
      <dsp:txXfrm>
        <a:off x="2157895" y="3694331"/>
        <a:ext cx="1641796" cy="656718"/>
      </dsp:txXfrm>
    </dsp:sp>
    <dsp:sp modelId="{DEBDDE96-D611-4654-ACC4-C4572241D122}">
      <dsp:nvSpPr>
        <dsp:cNvPr id="0" name=""/>
        <dsp:cNvSpPr/>
      </dsp:nvSpPr>
      <dsp:spPr>
        <a:xfrm>
          <a:off x="4407157" y="2380893"/>
          <a:ext cx="1001496" cy="10014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5D0CFB-53D5-4789-BFA6-909945F82AEA}">
      <dsp:nvSpPr>
        <dsp:cNvPr id="0" name=""/>
        <dsp:cNvSpPr/>
      </dsp:nvSpPr>
      <dsp:spPr>
        <a:xfrm>
          <a:off x="4620591" y="2594327"/>
          <a:ext cx="574628" cy="5746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7AFCE7-3ED0-4D2C-857F-526935B403FC}">
      <dsp:nvSpPr>
        <dsp:cNvPr id="0" name=""/>
        <dsp:cNvSpPr/>
      </dsp:nvSpPr>
      <dsp:spPr>
        <a:xfrm>
          <a:off x="4087007"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GB" sz="1100" b="1" kern="1200"/>
            <a:t>Knowledge transformation, articulation </a:t>
          </a:r>
          <a:r>
            <a:rPr lang="en-GB" sz="1100" kern="1200"/>
            <a:t>and </a:t>
          </a:r>
          <a:r>
            <a:rPr lang="en-GB" sz="1100" b="1" kern="1200"/>
            <a:t>assimilation</a:t>
          </a:r>
          <a:endParaRPr lang="en-US" sz="1100" kern="1200"/>
        </a:p>
      </dsp:txBody>
      <dsp:txXfrm>
        <a:off x="4087007" y="3694331"/>
        <a:ext cx="1641796" cy="6567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F0D856-9CDF-8B48-BAE3-9285DFF4AAC8}" type="datetimeFigureOut">
              <a:rPr lang="en-US" smtClean="0"/>
              <a:t>10/31/24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2BAD6-A9BF-D546-BAE8-7A7EDF6334B3}" type="slidenum">
              <a:rPr lang="en-US" smtClean="0"/>
              <a:t>‹#›</a:t>
            </a:fld>
            <a:endParaRPr lang="en-US"/>
          </a:p>
        </p:txBody>
      </p:sp>
    </p:spTree>
    <p:extLst>
      <p:ext uri="{BB962C8B-B14F-4D97-AF65-F5344CB8AC3E}">
        <p14:creationId xmlns:p14="http://schemas.microsoft.com/office/powerpoint/2010/main" val="807752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26</a:t>
            </a:fld>
            <a:endParaRPr lang="en-GB"/>
          </a:p>
        </p:txBody>
      </p:sp>
    </p:spTree>
    <p:extLst>
      <p:ext uri="{BB962C8B-B14F-4D97-AF65-F5344CB8AC3E}">
        <p14:creationId xmlns:p14="http://schemas.microsoft.com/office/powerpoint/2010/main" val="1912732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4F62B05-36FB-46BD-8571-548DF2292032}" type="datetimeFigureOut">
              <a:rPr lang="en-GB" smtClean="0"/>
              <a:pPr/>
              <a:t>31/10/2024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495FB7-D589-4493-8C14-CE3E002C37E0}"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62B05-36FB-46BD-8571-548DF2292032}" type="datetimeFigureOut">
              <a:rPr lang="en-GB" smtClean="0"/>
              <a:pPr/>
              <a:t>31/10/2024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95FB7-D589-4493-8C14-CE3E002C37E0}"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youtube.com/watch?v=fZEXJgSfMD0&amp;feature=youtu.be" TargetMode="External"/><Relationship Id="rId4" Type="http://schemas.openxmlformats.org/officeDocument/2006/relationships/hyperlink" Target="https://www.youtube.com/watch?v=UupeZK4FEOw&amp;feature=youtu.be"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static.wixstatic.com/mp3/f6594a_151573bd163a473aaab115e11144d937.mp3" TargetMode="External"/><Relationship Id="rId3" Type="http://schemas.openxmlformats.org/officeDocument/2006/relationships/hyperlink" Target="https://www.youtube.com/watch?v=TynAUjG2jus&amp;feature=youtu.be" TargetMode="External"/><Relationship Id="rId7" Type="http://schemas.openxmlformats.org/officeDocument/2006/relationships/hyperlink" Target="https://static.wixstatic.com/mp3/f6594a_a76306a038fe4deca3ee66f49560cfec.mp3" TargetMode="External"/><Relationship Id="rId2" Type="http://schemas.openxmlformats.org/officeDocument/2006/relationships/hyperlink" Target="https://www.youtube.com/watch?v=bHbwflRnM6A&amp;feature=youtu.be" TargetMode="External"/><Relationship Id="rId1" Type="http://schemas.openxmlformats.org/officeDocument/2006/relationships/slideLayout" Target="../slideLayouts/slideLayout2.xml"/><Relationship Id="rId6" Type="http://schemas.openxmlformats.org/officeDocument/2006/relationships/hyperlink" Target="https://www.youtube.com/watch?v=x5n2AkB5vNk&amp;feature=youtu.be" TargetMode="External"/><Relationship Id="rId5" Type="http://schemas.openxmlformats.org/officeDocument/2006/relationships/hyperlink" Target="https://www.youtube.com/watch?v=h9p4RmAHKbI&amp;feature=youtu.be" TargetMode="External"/><Relationship Id="rId4" Type="http://schemas.openxmlformats.org/officeDocument/2006/relationships/hyperlink" Target="https://youtu.be/7e2zXQ3YfYs" TargetMode="External"/><Relationship Id="rId9" Type="http://schemas.openxmlformats.org/officeDocument/2006/relationships/hyperlink" Target="https://evhippel.mit.edu/"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youtu.be/Bd0S7bFZjTk"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vimeo.com/34083247"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twitter.com/intent/tweet?url=https://www.ft.com/video/a0fc02bc-fdef-30aa-8b64-6cd10a77065f&amp;text=How%20Unipart%20tackles%20productivity&amp;via=FT" TargetMode="External"/><Relationship Id="rId2" Type="http://schemas.openxmlformats.org/officeDocument/2006/relationships/hyperlink" Target="https://www.ft.com/video/a0fc02bc-fdef-30aa-8b64-6cd10a77065f" TargetMode="Externa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hyperlink" Target="https://twitter.com/intent/tweet?url=https://www.ft.com/video/a0fc02bc-fdef-30aa-8b64-6cd10a77065f&amp;text=How%20Unipart%20tackles%20productivity&amp;via=FT" TargetMode="External"/><Relationship Id="rId2" Type="http://schemas.openxmlformats.org/officeDocument/2006/relationships/hyperlink" Target="https://www.bbc.co.uk/programmes/p059zb6n" TargetMode="Externa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2.xml.rels><?xml version="1.0" encoding="UTF-8" standalone="yes"?>
<Relationships xmlns="http://schemas.openxmlformats.org/package/2006/relationships"><Relationship Id="rId2" Type="http://schemas.openxmlformats.org/officeDocument/2006/relationships/hyperlink" Target="https://www.stitcher.com/podcast/national-public-radio/how-i-built-this/e/50961272"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bbc.co.uk/programmes/w3csv3g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johnbessant.org/activitie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7: Search strategies for innovation</a:t>
            </a:r>
          </a:p>
        </p:txBody>
      </p:sp>
      <p:pic>
        <p:nvPicPr>
          <p:cNvPr id="2" name="Picture 1">
            <a:extLst>
              <a:ext uri="{FF2B5EF4-FFF2-40B4-BE49-F238E27FC236}">
                <a16:creationId xmlns:a16="http://schemas.microsoft.com/office/drawing/2014/main" id="{47E51C0B-CFEC-2074-B2B9-BB9B78952021}"/>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700" b="1" kern="1200">
                <a:solidFill>
                  <a:srgbClr val="FFFFFF"/>
                </a:solidFill>
                <a:latin typeface="+mj-lt"/>
                <a:ea typeface="+mj-ea"/>
                <a:cs typeface="+mj-cs"/>
              </a:rPr>
              <a:t>Chapter 7: </a:t>
            </a:r>
            <a:r>
              <a:rPr lang="en-US" sz="3700" kern="1200">
                <a:solidFill>
                  <a:srgbClr val="FFFFFF"/>
                </a:solidFill>
                <a:latin typeface="+mj-lt"/>
                <a:ea typeface="+mj-ea"/>
                <a:cs typeface="+mj-cs"/>
              </a:rPr>
              <a:t>Search strategies for innovation</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7</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9658" y="621792"/>
            <a:ext cx="3886128" cy="5504688"/>
          </a:xfrm>
        </p:spPr>
        <p:txBody>
          <a:bodyPr>
            <a:normAutofit/>
          </a:bodyPr>
          <a:lstStyle/>
          <a:p>
            <a:pPr lvl="0">
              <a:defRPr/>
            </a:pPr>
            <a:r>
              <a:rPr lang="en-GB" sz="4200" b="1"/>
              <a:t>Learning Objectives</a:t>
            </a:r>
          </a:p>
        </p:txBody>
      </p:sp>
      <p:sp>
        <p:nvSpPr>
          <p:cNvPr id="19" name="Rectangle 1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4593"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8" name="Straight Connector 7"/>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15" name="Content Placeholder 12">
            <a:extLst>
              <a:ext uri="{FF2B5EF4-FFF2-40B4-BE49-F238E27FC236}">
                <a16:creationId xmlns:a16="http://schemas.microsoft.com/office/drawing/2014/main" id="{9B518CF7-7DBC-4559-B9F7-A5198CB01782}"/>
              </a:ext>
            </a:extLst>
          </p:cNvPr>
          <p:cNvGraphicFramePr>
            <a:graphicFrameLocks noGrp="1"/>
          </p:cNvGraphicFramePr>
          <p:nvPr>
            <p:ph idx="1"/>
            <p:extLst>
              <p:ext uri="{D42A27DB-BD31-4B8C-83A1-F6EECF244321}">
                <p14:modId xmlns:p14="http://schemas.microsoft.com/office/powerpoint/2010/main" val="4223653363"/>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92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0" y="0"/>
            <a:ext cx="8610371" cy="2753936"/>
          </a:xfrm>
          <a:prstGeom prst="rect">
            <a:avLst/>
          </a:prstGeom>
          <a:gradFill>
            <a:gsLst>
              <a:gs pos="0">
                <a:schemeClr val="accent5"/>
              </a:gs>
              <a:gs pos="25000">
                <a:schemeClr val="accent5"/>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02DD2BC0-6F29-4B4F-8D61-2DCF6D2E8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7" name="Graphic 6" descr="Head with Gears">
            <a:extLst>
              <a:ext uri="{FF2B5EF4-FFF2-40B4-BE49-F238E27FC236}">
                <a16:creationId xmlns:a16="http://schemas.microsoft.com/office/drawing/2014/main" id="{6DD3D37C-1726-49E0-AEB8-6BC2A28232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171" y="2636912"/>
            <a:ext cx="1271364" cy="1265367"/>
          </a:xfrm>
          <a:custGeom>
            <a:avLst/>
            <a:gdLst/>
            <a:ahLst/>
            <a:cxnLst/>
            <a:rect l="l" t="t" r="r" b="b"/>
            <a:pathLst>
              <a:path w="4141760" h="4377846">
                <a:moveTo>
                  <a:pt x="0" y="0"/>
                </a:moveTo>
                <a:lnTo>
                  <a:pt x="4141760" y="0"/>
                </a:lnTo>
                <a:lnTo>
                  <a:pt x="4141760" y="4377846"/>
                </a:lnTo>
                <a:lnTo>
                  <a:pt x="0" y="4377846"/>
                </a:lnTo>
                <a:close/>
              </a:path>
            </a:pathLst>
          </a:custGeom>
        </p:spPr>
      </p:pic>
      <p:pic>
        <p:nvPicPr>
          <p:cNvPr id="8" name="Picture 7" descr="Diagram&#10;&#10;Description automatically generated">
            <a:extLst>
              <a:ext uri="{FF2B5EF4-FFF2-40B4-BE49-F238E27FC236}">
                <a16:creationId xmlns:a16="http://schemas.microsoft.com/office/drawing/2014/main" id="{AB5C1DF0-D39E-9F44-832C-E531084DE37C}"/>
              </a:ext>
            </a:extLst>
          </p:cNvPr>
          <p:cNvPicPr>
            <a:picLocks noChangeAspect="1"/>
          </p:cNvPicPr>
          <p:nvPr/>
        </p:nvPicPr>
        <p:blipFill rotWithShape="1">
          <a:blip r:embed="rId5">
            <a:extLst>
              <a:ext uri="{28A0092B-C50C-407E-A947-70E740481C1C}">
                <a14:useLocalDpi xmlns:a14="http://schemas.microsoft.com/office/drawing/2010/main" val="0"/>
              </a:ext>
            </a:extLst>
          </a:blip>
          <a:srcRect t="3828" r="1" b="9795"/>
          <a:stretch/>
        </p:blipFill>
        <p:spPr>
          <a:xfrm>
            <a:off x="2267744" y="3004819"/>
            <a:ext cx="4813300" cy="2679700"/>
          </a:xfrm>
          <a:prstGeom prst="rect">
            <a:avLst/>
          </a:prstGeom>
        </p:spPr>
      </p:pic>
      <p:sp>
        <p:nvSpPr>
          <p:cNvPr id="2" name="Title 1">
            <a:extLst>
              <a:ext uri="{FF2B5EF4-FFF2-40B4-BE49-F238E27FC236}">
                <a16:creationId xmlns:a16="http://schemas.microsoft.com/office/drawing/2014/main" id="{9CDA91A1-6B12-5146-A49B-3F2B023F4592}"/>
              </a:ext>
            </a:extLst>
          </p:cNvPr>
          <p:cNvSpPr>
            <a:spLocks noGrp="1"/>
          </p:cNvSpPr>
          <p:nvPr>
            <p:ph type="title"/>
          </p:nvPr>
        </p:nvSpPr>
        <p:spPr>
          <a:xfrm>
            <a:off x="884419" y="826680"/>
            <a:ext cx="7375161" cy="1325563"/>
          </a:xfrm>
        </p:spPr>
        <p:txBody>
          <a:bodyPr vert="horz" lIns="91440" tIns="45720" rIns="91440" bIns="45720" rtlCol="0">
            <a:normAutofit/>
          </a:bodyPr>
          <a:lstStyle/>
          <a:p>
            <a:r>
              <a:rPr lang="en-US" sz="3500" kern="1200">
                <a:solidFill>
                  <a:srgbClr val="FFFFFF"/>
                </a:solidFill>
                <a:latin typeface="+mj-lt"/>
                <a:ea typeface="+mj-ea"/>
                <a:cs typeface="+mj-cs"/>
              </a:rPr>
              <a:t>Mind map</a:t>
            </a:r>
            <a:br>
              <a:rPr lang="en-US" sz="3500" kern="1200">
                <a:solidFill>
                  <a:srgbClr val="FFFFFF"/>
                </a:solidFill>
                <a:latin typeface="+mj-lt"/>
                <a:ea typeface="+mj-ea"/>
                <a:cs typeface="+mj-cs"/>
              </a:rPr>
            </a:br>
            <a:endParaRPr lang="en-US" sz="3500" kern="1200">
              <a:solidFill>
                <a:srgbClr val="FFFFFF"/>
              </a:solidFill>
              <a:latin typeface="+mj-lt"/>
              <a:ea typeface="+mj-ea"/>
              <a:cs typeface="+mj-cs"/>
            </a:endParaRPr>
          </a:p>
        </p:txBody>
      </p:sp>
    </p:spTree>
    <p:extLst>
      <p:ext uri="{BB962C8B-B14F-4D97-AF65-F5344CB8AC3E}">
        <p14:creationId xmlns:p14="http://schemas.microsoft.com/office/powerpoint/2010/main" val="1568475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868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22064" y="366810"/>
            <a:ext cx="4593286"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628650"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13848"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460782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7E7B95-B8F1-6D4C-B8C3-509B27C94A6F}"/>
              </a:ext>
            </a:extLst>
          </p:cNvPr>
          <p:cNvSpPr>
            <a:spLocks noGrp="1"/>
          </p:cNvSpPr>
          <p:nvPr>
            <p:ph type="title"/>
          </p:nvPr>
        </p:nvSpPr>
        <p:spPr>
          <a:xfrm>
            <a:off x="628650" y="562271"/>
            <a:ext cx="7886700" cy="1128417"/>
          </a:xfrm>
        </p:spPr>
        <p:txBody>
          <a:bodyPr vert="horz" lIns="91440" tIns="45720" rIns="91440" bIns="45720" rtlCol="0" anchor="ctr">
            <a:normAutofit/>
          </a:bodyPr>
          <a:lstStyle/>
          <a:p>
            <a:pPr algn="l">
              <a:lnSpc>
                <a:spcPct val="90000"/>
              </a:lnSpc>
            </a:pPr>
            <a:r>
              <a:rPr lang="en-US" sz="3800"/>
              <a:t>A framework for thinking about search</a:t>
            </a:r>
          </a:p>
        </p:txBody>
      </p:sp>
      <p:pic>
        <p:nvPicPr>
          <p:cNvPr id="5" name="Picture 4" descr="Diagram&#10;&#10;Description automatically generated">
            <a:extLst>
              <a:ext uri="{FF2B5EF4-FFF2-40B4-BE49-F238E27FC236}">
                <a16:creationId xmlns:a16="http://schemas.microsoft.com/office/drawing/2014/main" id="{D67EDDB4-5CCE-5A47-A0F0-4D31E0C7A4C6}"/>
              </a:ext>
            </a:extLst>
          </p:cNvPr>
          <p:cNvPicPr>
            <a:picLocks noChangeAspect="1"/>
          </p:cNvPicPr>
          <p:nvPr/>
        </p:nvPicPr>
        <p:blipFill rotWithShape="1">
          <a:blip r:embed="rId2">
            <a:extLst>
              <a:ext uri="{28A0092B-C50C-407E-A947-70E740481C1C}">
                <a14:useLocalDpi xmlns:a14="http://schemas.microsoft.com/office/drawing/2010/main" val="0"/>
              </a:ext>
            </a:extLst>
          </a:blip>
          <a:srcRect t="3828" r="1" b="9795"/>
          <a:stretch/>
        </p:blipFill>
        <p:spPr>
          <a:xfrm>
            <a:off x="628650" y="1845426"/>
            <a:ext cx="7884410" cy="4450303"/>
          </a:xfrm>
          <a:prstGeom prst="rect">
            <a:avLst/>
          </a:prstGeom>
        </p:spPr>
      </p:pic>
    </p:spTree>
    <p:extLst>
      <p:ext uri="{BB962C8B-B14F-4D97-AF65-F5344CB8AC3E}">
        <p14:creationId xmlns:p14="http://schemas.microsoft.com/office/powerpoint/2010/main" val="1599158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5D312-B330-0E42-8163-6F15F0D819E5}"/>
              </a:ext>
            </a:extLst>
          </p:cNvPr>
          <p:cNvSpPr>
            <a:spLocks noGrp="1"/>
          </p:cNvSpPr>
          <p:nvPr>
            <p:ph type="title"/>
          </p:nvPr>
        </p:nvSpPr>
        <p:spPr>
          <a:xfrm>
            <a:off x="515125" y="1153572"/>
            <a:ext cx="2400300" cy="4461163"/>
          </a:xfrm>
        </p:spPr>
        <p:txBody>
          <a:bodyPr>
            <a:normAutofit/>
          </a:bodyPr>
          <a:lstStyle/>
          <a:p>
            <a:r>
              <a:rPr lang="en-US">
                <a:solidFill>
                  <a:srgbClr val="FFFFFF"/>
                </a:solidFill>
              </a:rPr>
              <a:t>Push or pull?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2A3D098-5A1F-5A44-8830-356250DAC4C6}"/>
              </a:ext>
            </a:extLst>
          </p:cNvPr>
          <p:cNvSpPr>
            <a:spLocks noGrp="1"/>
          </p:cNvSpPr>
          <p:nvPr>
            <p:ph idx="1"/>
          </p:nvPr>
        </p:nvSpPr>
        <p:spPr>
          <a:xfrm>
            <a:off x="3335481" y="591344"/>
            <a:ext cx="5179868" cy="5585619"/>
          </a:xfrm>
        </p:spPr>
        <p:txBody>
          <a:bodyPr anchor="ctr">
            <a:normAutofit/>
          </a:bodyPr>
          <a:lstStyle/>
          <a:p>
            <a:pPr>
              <a:lnSpc>
                <a:spcPct val="90000"/>
              </a:lnSpc>
            </a:pPr>
            <a:r>
              <a:rPr lang="en-GB" sz="2200" dirty="0"/>
              <a:t>- The reality is that innovation is never a simple matter of push or</a:t>
            </a:r>
          </a:p>
          <a:p>
            <a:pPr>
              <a:lnSpc>
                <a:spcPct val="90000"/>
              </a:lnSpc>
            </a:pPr>
            <a:r>
              <a:rPr lang="en-GB" sz="2200" dirty="0"/>
              <a:t>pull but rather their interaction; as Chris Freeman, one of the pioneers of innovation research said, ‘</a:t>
            </a:r>
            <a:r>
              <a:rPr lang="en-GB" sz="2200" i="1" dirty="0"/>
              <a:t>necessity may be the mother of invention but procreation needs a partner!’.</a:t>
            </a:r>
          </a:p>
          <a:p>
            <a:pPr marL="0" indent="0">
              <a:lnSpc>
                <a:spcPct val="90000"/>
              </a:lnSpc>
              <a:buNone/>
            </a:pPr>
            <a:endParaRPr lang="en-GB" sz="2200" i="1" dirty="0"/>
          </a:p>
          <a:p>
            <a:pPr>
              <a:lnSpc>
                <a:spcPct val="90000"/>
              </a:lnSpc>
            </a:pPr>
            <a:r>
              <a:rPr lang="en-GB" sz="2200" i="1" dirty="0"/>
              <a:t>- </a:t>
            </a:r>
            <a:r>
              <a:rPr lang="en-GB" sz="2200" dirty="0"/>
              <a:t>There is a risk in focusing on either of the ‘pure’ forms of push or pull sources. If we put all our eggs in one basket we risk being excellent at invention but without turning our ideas into successful innovations –a fate shared by too many would-be entrepreneurs.</a:t>
            </a:r>
          </a:p>
          <a:p>
            <a:pPr>
              <a:lnSpc>
                <a:spcPct val="90000"/>
              </a:lnSpc>
            </a:pPr>
            <a:endParaRPr lang="en-GB" sz="2200" dirty="0"/>
          </a:p>
          <a:p>
            <a:pPr>
              <a:lnSpc>
                <a:spcPct val="90000"/>
              </a:lnSpc>
            </a:pPr>
            <a:endParaRPr lang="en-GB" sz="2200" dirty="0"/>
          </a:p>
          <a:p>
            <a:pPr>
              <a:lnSpc>
                <a:spcPct val="90000"/>
              </a:lnSpc>
            </a:pPr>
            <a:endParaRPr lang="en-US" sz="2200" dirty="0"/>
          </a:p>
        </p:txBody>
      </p:sp>
      <p:pic>
        <p:nvPicPr>
          <p:cNvPr id="7" name="Picture 2" descr="Image result for push">
            <a:extLst>
              <a:ext uri="{FF2B5EF4-FFF2-40B4-BE49-F238E27FC236}">
                <a16:creationId xmlns:a16="http://schemas.microsoft.com/office/drawing/2014/main" id="{C3712C0C-A003-4141-AF65-62AA36C37BB6}"/>
              </a:ext>
            </a:extLst>
          </p:cNvPr>
          <p:cNvPicPr>
            <a:picLocks noChangeAspect="1" noChangeArrowheads="1"/>
          </p:cNvPicPr>
          <p:nvPr/>
        </p:nvPicPr>
        <p:blipFill>
          <a:blip r:embed="rId2" cstate="print"/>
          <a:srcRect/>
          <a:stretch>
            <a:fillRect/>
          </a:stretch>
        </p:blipFill>
        <p:spPr bwMode="auto">
          <a:xfrm>
            <a:off x="789520" y="930325"/>
            <a:ext cx="1487279" cy="1312120"/>
          </a:xfrm>
          <a:prstGeom prst="rect">
            <a:avLst/>
          </a:prstGeom>
          <a:noFill/>
        </p:spPr>
      </p:pic>
      <p:pic>
        <p:nvPicPr>
          <p:cNvPr id="9" name="Picture 4" descr="Image result for pull">
            <a:extLst>
              <a:ext uri="{FF2B5EF4-FFF2-40B4-BE49-F238E27FC236}">
                <a16:creationId xmlns:a16="http://schemas.microsoft.com/office/drawing/2014/main" id="{62C83D09-1EC4-504F-B4A2-5ACA757782D2}"/>
              </a:ext>
            </a:extLst>
          </p:cNvPr>
          <p:cNvPicPr>
            <a:picLocks noChangeAspect="1" noChangeArrowheads="1"/>
          </p:cNvPicPr>
          <p:nvPr/>
        </p:nvPicPr>
        <p:blipFill>
          <a:blip r:embed="rId3" cstate="print"/>
          <a:srcRect/>
          <a:stretch>
            <a:fillRect/>
          </a:stretch>
        </p:blipFill>
        <p:spPr bwMode="auto">
          <a:xfrm>
            <a:off x="544907" y="4497195"/>
            <a:ext cx="1296144" cy="1296144"/>
          </a:xfrm>
          <a:prstGeom prst="rect">
            <a:avLst/>
          </a:prstGeom>
          <a:noFill/>
        </p:spPr>
      </p:pic>
    </p:spTree>
    <p:extLst>
      <p:ext uri="{BB962C8B-B14F-4D97-AF65-F5344CB8AC3E}">
        <p14:creationId xmlns:p14="http://schemas.microsoft.com/office/powerpoint/2010/main" val="3943616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11804-F6FB-634C-B5D8-113531283C27}"/>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Incremental or radical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E9D7C0-1050-D744-A635-06CD2A6914CC}"/>
              </a:ext>
            </a:extLst>
          </p:cNvPr>
          <p:cNvSpPr>
            <a:spLocks noGrp="1"/>
          </p:cNvSpPr>
          <p:nvPr>
            <p:ph idx="1"/>
          </p:nvPr>
        </p:nvSpPr>
        <p:spPr>
          <a:xfrm>
            <a:off x="3335481" y="591344"/>
            <a:ext cx="5179868" cy="5585619"/>
          </a:xfrm>
        </p:spPr>
        <p:txBody>
          <a:bodyPr anchor="ctr">
            <a:normAutofit/>
          </a:bodyPr>
          <a:lstStyle/>
          <a:p>
            <a:pPr>
              <a:lnSpc>
                <a:spcPct val="90000"/>
              </a:lnSpc>
              <a:buFontTx/>
              <a:buChar char="-"/>
            </a:pPr>
            <a:r>
              <a:rPr lang="en-GB" sz="1800"/>
              <a:t> Innovation can happen along a spectrum running from incremental (‘do what we do, but better’) through to radical (‘do something completely different’).</a:t>
            </a:r>
          </a:p>
          <a:p>
            <a:pPr>
              <a:lnSpc>
                <a:spcPct val="90000"/>
              </a:lnSpc>
              <a:buFontTx/>
              <a:buChar char="-"/>
            </a:pPr>
            <a:endParaRPr lang="en-GB" sz="1800"/>
          </a:p>
          <a:p>
            <a:pPr>
              <a:lnSpc>
                <a:spcPct val="90000"/>
              </a:lnSpc>
            </a:pPr>
            <a:r>
              <a:rPr lang="en-GB" sz="1800"/>
              <a:t>- We’ve also seen that there is a pattern of what could be termed ‘punctuated equilibrium’ with innovation – most of the time innovation is about exploiting and elaborating, creating variations on a theme within an established technical, market or regulatory trajectory.</a:t>
            </a:r>
          </a:p>
          <a:p>
            <a:pPr>
              <a:lnSpc>
                <a:spcPct val="90000"/>
              </a:lnSpc>
              <a:buFontTx/>
              <a:buChar char="-"/>
            </a:pPr>
            <a:endParaRPr lang="en-GB" sz="1800"/>
          </a:p>
          <a:p>
            <a:pPr>
              <a:lnSpc>
                <a:spcPct val="90000"/>
              </a:lnSpc>
            </a:pPr>
            <a:r>
              <a:rPr lang="en-GB" sz="1800"/>
              <a:t>- Occasionally there is a breakthrough which creates a new trajectory –and the cycle repeats itself.</a:t>
            </a:r>
          </a:p>
          <a:p>
            <a:pPr>
              <a:lnSpc>
                <a:spcPct val="90000"/>
              </a:lnSpc>
              <a:buFontTx/>
              <a:buChar char="-"/>
            </a:pPr>
            <a:endParaRPr lang="en-GB" sz="1800"/>
          </a:p>
          <a:p>
            <a:pPr>
              <a:lnSpc>
                <a:spcPct val="90000"/>
              </a:lnSpc>
            </a:pPr>
            <a:r>
              <a:rPr lang="en-GB" sz="1800"/>
              <a:t>- This suggests that much of our attention in searching for innovation triggers will be around incremental improvement innovation.</a:t>
            </a:r>
          </a:p>
          <a:p>
            <a:pPr>
              <a:lnSpc>
                <a:spcPct val="90000"/>
              </a:lnSpc>
            </a:pPr>
            <a:endParaRPr lang="en-US" sz="1800"/>
          </a:p>
        </p:txBody>
      </p:sp>
    </p:spTree>
    <p:extLst>
      <p:ext uri="{BB962C8B-B14F-4D97-AF65-F5344CB8AC3E}">
        <p14:creationId xmlns:p14="http://schemas.microsoft.com/office/powerpoint/2010/main" val="2189852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17288E-49BF-C443-B136-D57330786F85}"/>
              </a:ext>
            </a:extLst>
          </p:cNvPr>
          <p:cNvSpPr>
            <a:spLocks noGrp="1"/>
          </p:cNvSpPr>
          <p:nvPr>
            <p:ph type="title"/>
          </p:nvPr>
        </p:nvSpPr>
        <p:spPr>
          <a:xfrm>
            <a:off x="628650" y="562271"/>
            <a:ext cx="7886700" cy="1128417"/>
          </a:xfrm>
        </p:spPr>
        <p:txBody>
          <a:bodyPr vert="horz" lIns="91440" tIns="45720" rIns="91440" bIns="45720" rtlCol="0" anchor="ctr">
            <a:normAutofit/>
          </a:bodyPr>
          <a:lstStyle/>
          <a:p>
            <a:pPr algn="l">
              <a:lnSpc>
                <a:spcPct val="90000"/>
              </a:lnSpc>
            </a:pPr>
            <a:r>
              <a:rPr lang="en-US" sz="4500"/>
              <a:t>Exploit or explore?</a:t>
            </a:r>
          </a:p>
        </p:txBody>
      </p:sp>
      <p:pic>
        <p:nvPicPr>
          <p:cNvPr id="5" name="Picture 4" descr="Diagram&#10;&#10;Description automatically generated">
            <a:extLst>
              <a:ext uri="{FF2B5EF4-FFF2-40B4-BE49-F238E27FC236}">
                <a16:creationId xmlns:a16="http://schemas.microsoft.com/office/drawing/2014/main" id="{2AD46E23-91D6-EB4C-A714-9EDA6DCDADE8}"/>
              </a:ext>
            </a:extLst>
          </p:cNvPr>
          <p:cNvPicPr>
            <a:picLocks noChangeAspect="1"/>
          </p:cNvPicPr>
          <p:nvPr/>
        </p:nvPicPr>
        <p:blipFill rotWithShape="1">
          <a:blip r:embed="rId2">
            <a:extLst>
              <a:ext uri="{28A0092B-C50C-407E-A947-70E740481C1C}">
                <a14:useLocalDpi xmlns:a14="http://schemas.microsoft.com/office/drawing/2010/main" val="0"/>
              </a:ext>
            </a:extLst>
          </a:blip>
          <a:srcRect t="2327" r="-1" b="3028"/>
          <a:stretch/>
        </p:blipFill>
        <p:spPr>
          <a:xfrm>
            <a:off x="628650" y="1845426"/>
            <a:ext cx="7884410" cy="4450303"/>
          </a:xfrm>
          <a:prstGeom prst="rect">
            <a:avLst/>
          </a:prstGeom>
        </p:spPr>
      </p:pic>
    </p:spTree>
    <p:extLst>
      <p:ext uri="{BB962C8B-B14F-4D97-AF65-F5344CB8AC3E}">
        <p14:creationId xmlns:p14="http://schemas.microsoft.com/office/powerpoint/2010/main" val="4143305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27434C-0014-9344-A53C-845548C7DC5C}"/>
              </a:ext>
            </a:extLst>
          </p:cNvPr>
          <p:cNvSpPr>
            <a:spLocks noGrp="1"/>
          </p:cNvSpPr>
          <p:nvPr>
            <p:ph type="title"/>
          </p:nvPr>
        </p:nvSpPr>
        <p:spPr>
          <a:xfrm>
            <a:off x="515125" y="1153572"/>
            <a:ext cx="2400300" cy="4461163"/>
          </a:xfrm>
        </p:spPr>
        <p:txBody>
          <a:bodyPr>
            <a:normAutofit/>
          </a:bodyPr>
          <a:lstStyle/>
          <a:p>
            <a:r>
              <a:rPr lang="en-US" sz="2400">
                <a:solidFill>
                  <a:srgbClr val="FFFFFF"/>
                </a:solidFill>
              </a:rPr>
              <a:t>Exploit/explore?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08E2025-4A8B-2443-B7C5-F339D89871EB}"/>
              </a:ext>
            </a:extLst>
          </p:cNvPr>
          <p:cNvSpPr>
            <a:spLocks noGrp="1"/>
          </p:cNvSpPr>
          <p:nvPr>
            <p:ph idx="1"/>
          </p:nvPr>
        </p:nvSpPr>
        <p:spPr>
          <a:xfrm>
            <a:off x="3335481" y="591344"/>
            <a:ext cx="5179868" cy="5585619"/>
          </a:xfrm>
        </p:spPr>
        <p:txBody>
          <a:bodyPr anchor="ctr">
            <a:normAutofit/>
          </a:bodyPr>
          <a:lstStyle/>
          <a:p>
            <a:pPr>
              <a:lnSpc>
                <a:spcPct val="90000"/>
              </a:lnSpc>
            </a:pPr>
            <a:r>
              <a:rPr lang="en-GB" sz="1800"/>
              <a:t>- On the one hand firms need to deploy knowledge resources and other assets to secure returns and a ‘safe’ way of doing so is to harvest a steady flow of benefits derived from ‘doing what we do better’. This has been termed ‘exploitation’ by innovation researchers, and it essentially involves ‘</a:t>
            </a:r>
            <a:r>
              <a:rPr lang="en-GB" sz="1800" i="1"/>
              <a:t>the use and development of things already known’.</a:t>
            </a:r>
          </a:p>
          <a:p>
            <a:pPr>
              <a:lnSpc>
                <a:spcPct val="90000"/>
              </a:lnSpc>
            </a:pPr>
            <a:endParaRPr lang="en-GB" sz="1800" i="1"/>
          </a:p>
          <a:p>
            <a:pPr>
              <a:lnSpc>
                <a:spcPct val="90000"/>
              </a:lnSpc>
            </a:pPr>
            <a:r>
              <a:rPr lang="en-GB" sz="1800" i="1"/>
              <a:t>- </a:t>
            </a:r>
            <a:r>
              <a:rPr lang="en-GB" sz="1800"/>
              <a:t>The trouble is that in an uncertain environment the potential to secure and defend a competitive position depends on ‘doing something different’, i.e. radical product or process innovation rather than imitations and variants of what others are also offering. This kind of search had been term ‘exploration’ and is the kind which involves ‘l</a:t>
            </a:r>
            <a:r>
              <a:rPr lang="en-GB" sz="1800" i="1"/>
              <a:t>ong jumps or re-orientations that enable a firm to adopt new attributes and attain new knowledge outside its domain’.</a:t>
            </a:r>
          </a:p>
          <a:p>
            <a:pPr>
              <a:lnSpc>
                <a:spcPct val="90000"/>
              </a:lnSpc>
            </a:pPr>
            <a:endParaRPr lang="en-US" sz="1800"/>
          </a:p>
        </p:txBody>
      </p:sp>
    </p:spTree>
    <p:extLst>
      <p:ext uri="{BB962C8B-B14F-4D97-AF65-F5344CB8AC3E}">
        <p14:creationId xmlns:p14="http://schemas.microsoft.com/office/powerpoint/2010/main" val="1210913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10C624-48C3-7947-9726-81FC1D51E9A1}"/>
              </a:ext>
            </a:extLst>
          </p:cNvPr>
          <p:cNvSpPr>
            <a:spLocks noGrp="1"/>
          </p:cNvSpPr>
          <p:nvPr>
            <p:ph type="title"/>
          </p:nvPr>
        </p:nvSpPr>
        <p:spPr>
          <a:xfrm>
            <a:off x="515125" y="1153572"/>
            <a:ext cx="2400300" cy="4461163"/>
          </a:xfrm>
        </p:spPr>
        <p:txBody>
          <a:bodyPr>
            <a:normAutofit/>
          </a:bodyPr>
          <a:lstStyle/>
          <a:p>
            <a:r>
              <a:rPr lang="en-US">
                <a:solidFill>
                  <a:srgbClr val="FFFFFF"/>
                </a:solidFill>
              </a:rPr>
              <a:t>When?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77D8F89-8640-574B-81C0-BA1CAE54E1A9}"/>
              </a:ext>
            </a:extLst>
          </p:cNvPr>
          <p:cNvSpPr>
            <a:spLocks noGrp="1"/>
          </p:cNvSpPr>
          <p:nvPr>
            <p:ph idx="1"/>
          </p:nvPr>
        </p:nvSpPr>
        <p:spPr>
          <a:xfrm>
            <a:off x="3335481" y="591344"/>
            <a:ext cx="5179868" cy="5585619"/>
          </a:xfrm>
        </p:spPr>
        <p:txBody>
          <a:bodyPr anchor="ctr">
            <a:normAutofit/>
          </a:bodyPr>
          <a:lstStyle/>
          <a:p>
            <a:pPr>
              <a:lnSpc>
                <a:spcPct val="90000"/>
              </a:lnSpc>
              <a:buFontTx/>
              <a:buChar char="-"/>
            </a:pPr>
            <a:r>
              <a:rPr lang="en-GB" sz="1500"/>
              <a:t> Another influence on our choice of search approach is around timing – at different stages in the product or industry life cycle the emphasis may be more or less on push or pull.</a:t>
            </a:r>
          </a:p>
          <a:p>
            <a:pPr>
              <a:lnSpc>
                <a:spcPct val="90000"/>
              </a:lnSpc>
              <a:buFontTx/>
              <a:buChar char="-"/>
            </a:pPr>
            <a:endParaRPr lang="en-GB" sz="1500"/>
          </a:p>
          <a:p>
            <a:pPr>
              <a:lnSpc>
                <a:spcPct val="90000"/>
              </a:lnSpc>
              <a:buFontTx/>
              <a:buChar char="-"/>
            </a:pPr>
            <a:r>
              <a:rPr lang="en-GB" sz="1500"/>
              <a:t> Mature industries will require a very different approach to new industries.</a:t>
            </a:r>
          </a:p>
          <a:p>
            <a:pPr>
              <a:lnSpc>
                <a:spcPct val="90000"/>
              </a:lnSpc>
              <a:buFontTx/>
              <a:buChar char="-"/>
            </a:pPr>
            <a:endParaRPr lang="en-GB" sz="1500"/>
          </a:p>
          <a:p>
            <a:pPr>
              <a:lnSpc>
                <a:spcPct val="90000"/>
              </a:lnSpc>
            </a:pPr>
            <a:r>
              <a:rPr lang="en-GB" sz="1500"/>
              <a:t> - Another important influence on the timing question is around diffusion – the adoption and elaboration of innovation over time.</a:t>
            </a:r>
          </a:p>
          <a:p>
            <a:pPr>
              <a:lnSpc>
                <a:spcPct val="90000"/>
              </a:lnSpc>
            </a:pPr>
            <a:endParaRPr lang="en-GB" sz="1500"/>
          </a:p>
          <a:p>
            <a:pPr>
              <a:lnSpc>
                <a:spcPct val="90000"/>
              </a:lnSpc>
              <a:buFontTx/>
              <a:buChar char="-"/>
            </a:pPr>
            <a:r>
              <a:rPr lang="en-GB" sz="1500"/>
              <a:t> Understanding diffusion processes and the influential factors is important because it helps us understand where and when different kinds of triggers are picked up.</a:t>
            </a:r>
          </a:p>
          <a:p>
            <a:pPr>
              <a:lnSpc>
                <a:spcPct val="90000"/>
              </a:lnSpc>
              <a:buFontTx/>
              <a:buChar char="-"/>
            </a:pPr>
            <a:endParaRPr lang="en-GB" sz="1500"/>
          </a:p>
          <a:p>
            <a:pPr>
              <a:lnSpc>
                <a:spcPct val="90000"/>
              </a:lnSpc>
            </a:pPr>
            <a:r>
              <a:rPr lang="en-GB" sz="1500"/>
              <a:t>- Lead users and early adopters are likely to be important sources of ideas and variations which can help shape an innovation in its early life, whereas the early and late majority will be more a source of incremental improvement ideas.</a:t>
            </a:r>
          </a:p>
          <a:p>
            <a:pPr>
              <a:lnSpc>
                <a:spcPct val="90000"/>
              </a:lnSpc>
            </a:pPr>
            <a:endParaRPr lang="en-US" sz="1500"/>
          </a:p>
        </p:txBody>
      </p:sp>
    </p:spTree>
    <p:extLst>
      <p:ext uri="{BB962C8B-B14F-4D97-AF65-F5344CB8AC3E}">
        <p14:creationId xmlns:p14="http://schemas.microsoft.com/office/powerpoint/2010/main" val="2836063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59863"/>
            <a:ext cx="7886700" cy="1004594"/>
          </a:xfrm>
        </p:spPr>
        <p:txBody>
          <a:bodyPr vert="horz" lIns="91440" tIns="45720" rIns="91440" bIns="45720" rtlCol="0" anchor="ctr">
            <a:normAutofit/>
          </a:bodyPr>
          <a:lstStyle/>
          <a:p>
            <a:pPr lvl="0">
              <a:lnSpc>
                <a:spcPct val="90000"/>
              </a:lnSpc>
              <a:defRPr/>
            </a:pPr>
            <a:r>
              <a:rPr lang="en-US" b="1" kern="1200">
                <a:solidFill>
                  <a:srgbClr val="FFFFFF"/>
                </a:solidFill>
                <a:latin typeface="+mj-lt"/>
                <a:ea typeface="+mj-ea"/>
                <a:cs typeface="+mj-cs"/>
              </a:rPr>
              <a:t>Who?</a:t>
            </a:r>
          </a:p>
        </p:txBody>
      </p:sp>
      <p:sp>
        <p:nvSpPr>
          <p:cNvPr id="12" name="Rectangle: Rounded Corners 1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587970"/>
            <a:ext cx="8274756"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6" name="TextBox 3">
            <a:extLst>
              <a:ext uri="{FF2B5EF4-FFF2-40B4-BE49-F238E27FC236}">
                <a16:creationId xmlns:a16="http://schemas.microsoft.com/office/drawing/2014/main" id="{E29C8F78-7221-4CBF-8663-9F6D7A81F5CA}"/>
              </a:ext>
            </a:extLst>
          </p:cNvPr>
          <p:cNvGraphicFramePr/>
          <p:nvPr>
            <p:extLst>
              <p:ext uri="{D42A27DB-BD31-4B8C-83A1-F6EECF244321}">
                <p14:modId xmlns:p14="http://schemas.microsoft.com/office/powerpoint/2010/main" val="1904416838"/>
              </p:ext>
            </p:extLst>
          </p:nvPr>
        </p:nvGraphicFramePr>
        <p:xfrm>
          <a:off x="628650" y="180091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CD147C-DCD0-3C46-A8EC-F754737905E0}"/>
              </a:ext>
            </a:extLst>
          </p:cNvPr>
          <p:cNvSpPr>
            <a:spLocks noGrp="1"/>
          </p:cNvSpPr>
          <p:nvPr>
            <p:ph type="title"/>
          </p:nvPr>
        </p:nvSpPr>
        <p:spPr>
          <a:xfrm>
            <a:off x="515125" y="1153572"/>
            <a:ext cx="2400300" cy="4461163"/>
          </a:xfrm>
        </p:spPr>
        <p:txBody>
          <a:bodyPr>
            <a:normAutofit/>
          </a:bodyPr>
          <a:lstStyle/>
          <a:p>
            <a:r>
              <a:rPr lang="en-US">
                <a:solidFill>
                  <a:srgbClr val="FFFFFF"/>
                </a:solidFill>
              </a:rPr>
              <a:t>Where to search?</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B462528-2934-4249-999B-C8AC3C0BBC95}"/>
              </a:ext>
            </a:extLst>
          </p:cNvPr>
          <p:cNvSpPr>
            <a:spLocks noGrp="1"/>
          </p:cNvSpPr>
          <p:nvPr>
            <p:ph idx="1"/>
          </p:nvPr>
        </p:nvSpPr>
        <p:spPr>
          <a:xfrm>
            <a:off x="3335481" y="591344"/>
            <a:ext cx="5179868" cy="5585619"/>
          </a:xfrm>
        </p:spPr>
        <p:txBody>
          <a:bodyPr anchor="ctr">
            <a:normAutofit/>
          </a:bodyPr>
          <a:lstStyle/>
          <a:p>
            <a:pPr>
              <a:lnSpc>
                <a:spcPct val="90000"/>
              </a:lnSpc>
            </a:pPr>
            <a:r>
              <a:rPr lang="en-GB" sz="1500" dirty="0"/>
              <a:t>- A key problem in searching for innovation opportunities is not just that such firms fail to get the balance between exploit and explore right but also because there are choices to be made about the overall </a:t>
            </a:r>
            <a:r>
              <a:rPr lang="en-GB" sz="1500" i="1" dirty="0"/>
              <a:t>direction </a:t>
            </a:r>
            <a:r>
              <a:rPr lang="en-GB" sz="1500" dirty="0"/>
              <a:t>of search.</a:t>
            </a:r>
          </a:p>
          <a:p>
            <a:pPr>
              <a:lnSpc>
                <a:spcPct val="90000"/>
              </a:lnSpc>
            </a:pPr>
            <a:endParaRPr lang="en-GB" sz="1500" dirty="0"/>
          </a:p>
          <a:p>
            <a:pPr>
              <a:lnSpc>
                <a:spcPct val="90000"/>
              </a:lnSpc>
            </a:pPr>
            <a:endParaRPr lang="en-GB" sz="1500" dirty="0"/>
          </a:p>
          <a:p>
            <a:pPr>
              <a:lnSpc>
                <a:spcPct val="90000"/>
              </a:lnSpc>
              <a:buFontTx/>
              <a:buChar char="-"/>
            </a:pPr>
            <a:r>
              <a:rPr lang="en-GB" sz="1500" dirty="0"/>
              <a:t> Search space is not one-dimensional.</a:t>
            </a:r>
          </a:p>
          <a:p>
            <a:pPr>
              <a:lnSpc>
                <a:spcPct val="90000"/>
              </a:lnSpc>
              <a:buFontTx/>
              <a:buChar char="-"/>
            </a:pPr>
            <a:endParaRPr lang="en-GB" sz="1500" dirty="0"/>
          </a:p>
          <a:p>
            <a:pPr>
              <a:lnSpc>
                <a:spcPct val="90000"/>
              </a:lnSpc>
              <a:buFontTx/>
              <a:buChar char="-"/>
            </a:pPr>
            <a:endParaRPr lang="en-GB" sz="1500" dirty="0"/>
          </a:p>
          <a:p>
            <a:pPr>
              <a:lnSpc>
                <a:spcPct val="90000"/>
              </a:lnSpc>
              <a:buFontTx/>
              <a:buChar char="-"/>
            </a:pPr>
            <a:r>
              <a:rPr lang="en-GB" sz="1500" dirty="0"/>
              <a:t> Innovation rarely involves dealing with a single technology or market but rather a bundle of knowledge which is brought together into a configuration. </a:t>
            </a:r>
          </a:p>
          <a:p>
            <a:pPr>
              <a:lnSpc>
                <a:spcPct val="90000"/>
              </a:lnSpc>
              <a:buFontTx/>
              <a:buChar char="-"/>
            </a:pPr>
            <a:endParaRPr lang="en-GB" sz="1500" dirty="0"/>
          </a:p>
          <a:p>
            <a:pPr>
              <a:lnSpc>
                <a:spcPct val="90000"/>
              </a:lnSpc>
              <a:buFontTx/>
              <a:buChar char="-"/>
            </a:pPr>
            <a:endParaRPr lang="en-GB" sz="1500" dirty="0"/>
          </a:p>
          <a:p>
            <a:pPr>
              <a:lnSpc>
                <a:spcPct val="90000"/>
              </a:lnSpc>
            </a:pPr>
            <a:r>
              <a:rPr lang="en-GB" sz="1500" dirty="0"/>
              <a:t>- Successful innovation management requires that we can get hold of and use knowledge about </a:t>
            </a:r>
            <a:r>
              <a:rPr lang="en-GB" sz="1500" i="1" dirty="0"/>
              <a:t>components </a:t>
            </a:r>
            <a:r>
              <a:rPr lang="en-GB" sz="1500" dirty="0"/>
              <a:t>but also about how those can be put together – what they termed the </a:t>
            </a:r>
            <a:r>
              <a:rPr lang="en-GB" sz="1500" i="1" dirty="0"/>
              <a:t>architecture </a:t>
            </a:r>
            <a:r>
              <a:rPr lang="en-GB" sz="1500" dirty="0"/>
              <a:t>of an innovation.</a:t>
            </a:r>
          </a:p>
          <a:p>
            <a:pPr>
              <a:lnSpc>
                <a:spcPct val="90000"/>
              </a:lnSpc>
            </a:pPr>
            <a:endParaRPr lang="en-US" sz="1500" dirty="0"/>
          </a:p>
        </p:txBody>
      </p:sp>
      <p:pic>
        <p:nvPicPr>
          <p:cNvPr id="7" name="Picture 2" descr="Image result for search">
            <a:extLst>
              <a:ext uri="{FF2B5EF4-FFF2-40B4-BE49-F238E27FC236}">
                <a16:creationId xmlns:a16="http://schemas.microsoft.com/office/drawing/2014/main" id="{7218EF6D-7577-B841-A0AC-28E6B183C259}"/>
              </a:ext>
            </a:extLst>
          </p:cNvPr>
          <p:cNvPicPr>
            <a:picLocks noChangeAspect="1" noChangeArrowheads="1"/>
          </p:cNvPicPr>
          <p:nvPr/>
        </p:nvPicPr>
        <p:blipFill>
          <a:blip r:embed="rId2" cstate="print"/>
          <a:srcRect/>
          <a:stretch>
            <a:fillRect/>
          </a:stretch>
        </p:blipFill>
        <p:spPr bwMode="auto">
          <a:xfrm>
            <a:off x="646357" y="980728"/>
            <a:ext cx="1152128" cy="1152128"/>
          </a:xfrm>
          <a:prstGeom prst="rect">
            <a:avLst/>
          </a:prstGeom>
          <a:noFill/>
        </p:spPr>
      </p:pic>
    </p:spTree>
    <p:extLst>
      <p:ext uri="{BB962C8B-B14F-4D97-AF65-F5344CB8AC3E}">
        <p14:creationId xmlns:p14="http://schemas.microsoft.com/office/powerpoint/2010/main" val="3071554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3700" b="1" kern="1200">
                <a:solidFill>
                  <a:srgbClr val="FFFFFF"/>
                </a:solidFill>
                <a:latin typeface="+mj-lt"/>
                <a:ea typeface="+mj-ea"/>
                <a:cs typeface="+mj-cs"/>
              </a:rPr>
              <a:t>Where? The innovation treasure hunt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p:cNvSpPr txBox="1"/>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500" dirty="0"/>
              <a:t>Firms can be radical innovators but still be ‘upstaged’ by developments outside their search trajectory. The problem is that search behaviour is essentially </a:t>
            </a:r>
            <a:r>
              <a:rPr lang="en-US" sz="1500" i="1" dirty="0"/>
              <a:t>bounded </a:t>
            </a:r>
            <a:r>
              <a:rPr lang="en-US" sz="1500" dirty="0"/>
              <a:t>exploration and raises a number of challenges:</a:t>
            </a:r>
          </a:p>
          <a:p>
            <a:pPr indent="-228600">
              <a:lnSpc>
                <a:spcPct val="90000"/>
              </a:lnSpc>
              <a:spcAft>
                <a:spcPts val="600"/>
              </a:spcAft>
              <a:buFont typeface="Arial" panose="020B0604020202020204" pitchFamily="34" charset="0"/>
              <a:buChar char="•"/>
            </a:pPr>
            <a:endParaRPr lang="en-US" sz="1500" dirty="0"/>
          </a:p>
          <a:p>
            <a:pPr indent="-228600">
              <a:lnSpc>
                <a:spcPct val="90000"/>
              </a:lnSpc>
              <a:spcAft>
                <a:spcPts val="600"/>
              </a:spcAft>
              <a:buFont typeface="Arial" panose="020B0604020202020204" pitchFamily="34" charset="0"/>
              <a:buChar char="•"/>
            </a:pPr>
            <a:r>
              <a:rPr lang="en-US" sz="1500" dirty="0"/>
              <a:t>- When there is a shift to a new mind-set – cognitive frame - established players may have problems because of the reorganization of their thinking which is required.</a:t>
            </a:r>
          </a:p>
          <a:p>
            <a:pPr indent="-228600">
              <a:lnSpc>
                <a:spcPct val="90000"/>
              </a:lnSpc>
              <a:spcAft>
                <a:spcPts val="600"/>
              </a:spcAft>
              <a:buFont typeface="Arial" panose="020B0604020202020204" pitchFamily="34" charset="0"/>
              <a:buChar char="•"/>
            </a:pPr>
            <a:endParaRPr lang="en-US" sz="1500" dirty="0"/>
          </a:p>
          <a:p>
            <a:pPr indent="-228600">
              <a:lnSpc>
                <a:spcPct val="90000"/>
              </a:lnSpc>
              <a:spcAft>
                <a:spcPts val="600"/>
              </a:spcAft>
              <a:buFont typeface="Arial" panose="020B0604020202020204" pitchFamily="34" charset="0"/>
              <a:buChar char="•"/>
            </a:pPr>
            <a:r>
              <a:rPr lang="en-US" sz="1500" dirty="0"/>
              <a:t>This is not simply a change of personal or even group mind-set –the consequence of following a particular mind-set is that artefacts and routines come into place which block further change and reinforce the status quo. </a:t>
            </a:r>
          </a:p>
          <a:p>
            <a:pPr indent="-228600">
              <a:lnSpc>
                <a:spcPct val="90000"/>
              </a:lnSpc>
              <a:spcAft>
                <a:spcPts val="600"/>
              </a:spcAft>
              <a:buFont typeface="Arial" panose="020B0604020202020204" pitchFamily="34" charset="0"/>
              <a:buChar char="•"/>
            </a:pPr>
            <a:endParaRPr lang="en-US" sz="1500" dirty="0"/>
          </a:p>
          <a:p>
            <a:pPr indent="-228600">
              <a:lnSpc>
                <a:spcPct val="90000"/>
              </a:lnSpc>
              <a:spcAft>
                <a:spcPts val="600"/>
              </a:spcAft>
              <a:buFont typeface="Arial" panose="020B0604020202020204" pitchFamily="34" charset="0"/>
              <a:buChar char="•"/>
            </a:pPr>
            <a:r>
              <a:rPr lang="en-US" sz="1500" dirty="0"/>
              <a:t>- Architectural - as opposed to component innovation – requires letting go of existing networks and building new ones.</a:t>
            </a:r>
          </a:p>
          <a:p>
            <a:pPr indent="-228600">
              <a:lnSpc>
                <a:spcPct val="90000"/>
              </a:lnSpc>
              <a:spcAft>
                <a:spcPts val="600"/>
              </a:spcAft>
              <a:buFont typeface="Arial" panose="020B0604020202020204" pitchFamily="34" charset="0"/>
              <a:buChar char="•"/>
            </a:pPr>
            <a:endParaRPr lang="en-US" sz="1500" dirty="0"/>
          </a:p>
          <a:p>
            <a:pPr indent="-228600">
              <a:lnSpc>
                <a:spcPct val="90000"/>
              </a:lnSpc>
              <a:spcAft>
                <a:spcPts val="600"/>
              </a:spcAft>
              <a:buFont typeface="Arial" panose="020B0604020202020204" pitchFamily="34" charset="0"/>
              <a:buChar char="•"/>
            </a:pPr>
            <a:r>
              <a:rPr lang="en-US" sz="1500" dirty="0"/>
              <a:t>- The new frame may not necessarily involve radical change in technology or markets but rather a rearrangement of the existing elements. </a:t>
            </a:r>
          </a:p>
          <a:p>
            <a:pPr indent="-228600">
              <a:lnSpc>
                <a:spcPct val="90000"/>
              </a:lnSpc>
              <a:spcAft>
                <a:spcPts val="600"/>
              </a:spcAft>
              <a:buFont typeface="Arial" panose="020B0604020202020204" pitchFamily="34" charset="0"/>
              <a:buChar char="•"/>
            </a:pPr>
            <a:endParaRPr lang="en-US" sz="1500" dirty="0"/>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39BEA-84A9-F640-97CB-E1EB9BA975F8}"/>
              </a:ext>
            </a:extLst>
          </p:cNvPr>
          <p:cNvSpPr>
            <a:spLocks noGrp="1"/>
          </p:cNvSpPr>
          <p:nvPr>
            <p:ph type="title"/>
          </p:nvPr>
        </p:nvSpPr>
        <p:spPr/>
        <p:txBody>
          <a:bodyPr/>
          <a:lstStyle/>
          <a:p>
            <a:r>
              <a:rPr lang="en-US"/>
              <a:t>A map of innovation search space</a:t>
            </a:r>
            <a:endParaRPr lang="en-US" dirty="0"/>
          </a:p>
        </p:txBody>
      </p:sp>
      <p:pic>
        <p:nvPicPr>
          <p:cNvPr id="5" name="Picture 4">
            <a:extLst>
              <a:ext uri="{FF2B5EF4-FFF2-40B4-BE49-F238E27FC236}">
                <a16:creationId xmlns:a16="http://schemas.microsoft.com/office/drawing/2014/main" id="{C3C2A0DD-C761-334D-BAFC-495A9C9A3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1844824"/>
            <a:ext cx="6502400" cy="4152900"/>
          </a:xfrm>
          <a:prstGeom prst="rect">
            <a:avLst/>
          </a:prstGeom>
        </p:spPr>
      </p:pic>
    </p:spTree>
    <p:extLst>
      <p:ext uri="{BB962C8B-B14F-4D97-AF65-F5344CB8AC3E}">
        <p14:creationId xmlns:p14="http://schemas.microsoft.com/office/powerpoint/2010/main" val="2359124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ABEC-F7AB-F840-A41C-6A44237866BB}"/>
              </a:ext>
            </a:extLst>
          </p:cNvPr>
          <p:cNvSpPr>
            <a:spLocks noGrp="1"/>
          </p:cNvSpPr>
          <p:nvPr>
            <p:ph type="title"/>
          </p:nvPr>
        </p:nvSpPr>
        <p:spPr/>
        <p:txBody>
          <a:bodyPr/>
          <a:lstStyle/>
          <a:p>
            <a:r>
              <a:rPr lang="en-US" dirty="0"/>
              <a:t>Sources of innovation</a:t>
            </a:r>
          </a:p>
        </p:txBody>
      </p:sp>
      <p:pic>
        <p:nvPicPr>
          <p:cNvPr id="5" name="Picture 4" descr="Chart, bar chart&#10;&#10;Description automatically generated">
            <a:extLst>
              <a:ext uri="{FF2B5EF4-FFF2-40B4-BE49-F238E27FC236}">
                <a16:creationId xmlns:a16="http://schemas.microsoft.com/office/drawing/2014/main" id="{9AD1ADD1-2988-F54D-BEEE-6901D5087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28800"/>
            <a:ext cx="9144000" cy="4413319"/>
          </a:xfrm>
          <a:prstGeom prst="rect">
            <a:avLst/>
          </a:prstGeom>
        </p:spPr>
      </p:pic>
    </p:spTree>
    <p:extLst>
      <p:ext uri="{BB962C8B-B14F-4D97-AF65-F5344CB8AC3E}">
        <p14:creationId xmlns:p14="http://schemas.microsoft.com/office/powerpoint/2010/main" val="4154504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E4F1-D845-074A-A08E-698E1E37B367}"/>
              </a:ext>
            </a:extLst>
          </p:cNvPr>
          <p:cNvSpPr>
            <a:spLocks noGrp="1"/>
          </p:cNvSpPr>
          <p:nvPr>
            <p:ph type="title"/>
          </p:nvPr>
        </p:nvSpPr>
        <p:spPr/>
        <p:txBody>
          <a:bodyPr/>
          <a:lstStyle/>
          <a:p>
            <a:r>
              <a:rPr lang="en-US" dirty="0"/>
              <a:t>Information sources for innovation</a:t>
            </a:r>
          </a:p>
        </p:txBody>
      </p:sp>
      <p:pic>
        <p:nvPicPr>
          <p:cNvPr id="5" name="Picture 4" descr="Chart, bar chart&#10;&#10;Description automatically generated">
            <a:extLst>
              <a:ext uri="{FF2B5EF4-FFF2-40B4-BE49-F238E27FC236}">
                <a16:creationId xmlns:a16="http://schemas.microsoft.com/office/drawing/2014/main" id="{F7622EAE-8EC3-6746-9D5C-5A1A073E63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1156" y="1340768"/>
            <a:ext cx="5701688" cy="5410633"/>
          </a:xfrm>
          <a:prstGeom prst="rect">
            <a:avLst/>
          </a:prstGeom>
        </p:spPr>
      </p:pic>
    </p:spTree>
    <p:extLst>
      <p:ext uri="{BB962C8B-B14F-4D97-AF65-F5344CB8AC3E}">
        <p14:creationId xmlns:p14="http://schemas.microsoft.com/office/powerpoint/2010/main" val="1385575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2550A-5297-CA4D-8FEC-8A600210BCF9}"/>
              </a:ext>
            </a:extLst>
          </p:cNvPr>
          <p:cNvSpPr>
            <a:spLocks noGrp="1"/>
          </p:cNvSpPr>
          <p:nvPr>
            <p:ph type="title"/>
          </p:nvPr>
        </p:nvSpPr>
        <p:spPr/>
        <p:txBody>
          <a:bodyPr>
            <a:normAutofit fontScale="90000"/>
          </a:bodyPr>
          <a:lstStyle/>
          <a:p>
            <a:r>
              <a:rPr lang="en-US" dirty="0"/>
              <a:t>Increasing collaboration in innovation</a:t>
            </a:r>
          </a:p>
        </p:txBody>
      </p:sp>
      <p:pic>
        <p:nvPicPr>
          <p:cNvPr id="5" name="Picture 4" descr="A picture containing chart, bar chart&#10;&#10;Description automatically generated">
            <a:extLst>
              <a:ext uri="{FF2B5EF4-FFF2-40B4-BE49-F238E27FC236}">
                <a16:creationId xmlns:a16="http://schemas.microsoft.com/office/drawing/2014/main" id="{A7A3C855-7B47-B64F-B536-AD61302C21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8" y="1628800"/>
            <a:ext cx="9144000" cy="4472338"/>
          </a:xfrm>
          <a:prstGeom prst="rect">
            <a:avLst/>
          </a:prstGeom>
        </p:spPr>
      </p:pic>
    </p:spTree>
    <p:extLst>
      <p:ext uri="{BB962C8B-B14F-4D97-AF65-F5344CB8AC3E}">
        <p14:creationId xmlns:p14="http://schemas.microsoft.com/office/powerpoint/2010/main" val="3403427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8A8F2-415B-A94E-9AC2-12CBCF395CF0}"/>
              </a:ext>
            </a:extLst>
          </p:cNvPr>
          <p:cNvSpPr>
            <a:spLocks noGrp="1"/>
          </p:cNvSpPr>
          <p:nvPr>
            <p:ph type="title"/>
          </p:nvPr>
        </p:nvSpPr>
        <p:spPr/>
        <p:txBody>
          <a:bodyPr/>
          <a:lstStyle/>
          <a:p>
            <a:r>
              <a:rPr lang="en-US" dirty="0"/>
              <a:t>The open innovation model</a:t>
            </a:r>
          </a:p>
        </p:txBody>
      </p:sp>
      <p:pic>
        <p:nvPicPr>
          <p:cNvPr id="5" name="Picture 4" descr="A picture containing chart&#10;&#10;Description automatically generated">
            <a:extLst>
              <a:ext uri="{FF2B5EF4-FFF2-40B4-BE49-F238E27FC236}">
                <a16:creationId xmlns:a16="http://schemas.microsoft.com/office/drawing/2014/main" id="{1D0FDBC4-92C0-3F45-998C-A80134782A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3" y="1417638"/>
            <a:ext cx="9144000" cy="4979888"/>
          </a:xfrm>
          <a:prstGeom prst="rect">
            <a:avLst/>
          </a:prstGeom>
        </p:spPr>
      </p:pic>
    </p:spTree>
    <p:extLst>
      <p:ext uri="{BB962C8B-B14F-4D97-AF65-F5344CB8AC3E}">
        <p14:creationId xmlns:p14="http://schemas.microsoft.com/office/powerpoint/2010/main" val="1042165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3700" b="1" kern="1200">
                <a:solidFill>
                  <a:srgbClr val="FFFFFF"/>
                </a:solidFill>
                <a:latin typeface="+mj-lt"/>
                <a:ea typeface="+mj-ea"/>
                <a:cs typeface="+mj-cs"/>
              </a:rPr>
              <a:t>Absorptive capacity</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p:cNvSpPr txBox="1"/>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300"/>
              <a:t>- One more broad strategic point concerns the question of where,</a:t>
            </a:r>
          </a:p>
          <a:p>
            <a:pPr indent="-228600">
              <a:lnSpc>
                <a:spcPct val="90000"/>
              </a:lnSpc>
              <a:spcAft>
                <a:spcPts val="600"/>
              </a:spcAft>
              <a:buFont typeface="Arial" panose="020B0604020202020204" pitchFamily="34" charset="0"/>
              <a:buChar char="•"/>
            </a:pPr>
            <a:r>
              <a:rPr lang="en-US" sz="1300"/>
              <a:t>when and how organizations make use of external knowledge to grow.</a:t>
            </a:r>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r>
              <a:rPr lang="en-US" sz="1300"/>
              <a:t>The reality is, of course, that they differ widely in their ability to make use of such trigger signals – and the measure of this ability to find and use new knowledge has been termed ‘absorptive capacity’(AC).</a:t>
            </a:r>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r>
              <a:rPr lang="en-US" sz="1300"/>
              <a:t> It is an important construct because it shifts our attention to how well firms are equipped to search out, select and implement knowledge.</a:t>
            </a:r>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r>
              <a:rPr lang="en-US" sz="1300"/>
              <a:t> AC is essentially about accumulated learning and embedding of capabilities –search, acquire, assimilate, etc. –in the form of routines (structures, processes, policies and procedures) which allow organizations to repeat the trick.</a:t>
            </a:r>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r>
              <a:rPr lang="en-US" sz="1300"/>
              <a:t> Firms differ in their levels of AC and this places emphasis on how they develop and establish and reinforce these routines.</a:t>
            </a:r>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endParaRPr lang="en-US" sz="1300"/>
          </a:p>
          <a:p>
            <a:pPr indent="-228600">
              <a:lnSpc>
                <a:spcPct val="90000"/>
              </a:lnSpc>
              <a:spcAft>
                <a:spcPts val="600"/>
              </a:spcAft>
              <a:buFont typeface="Arial" panose="020B0604020202020204" pitchFamily="34" charset="0"/>
              <a:buChar char="•"/>
            </a:pPr>
            <a:r>
              <a:rPr lang="en-US" sz="1300"/>
              <a:t> </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C31F94-B9BD-2F45-AA84-0B32665D3A96}"/>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Managing internal connections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268DB6-F238-B346-858C-1D2C993D3B93}"/>
              </a:ext>
            </a:extLst>
          </p:cNvPr>
          <p:cNvSpPr>
            <a:spLocks noGrp="1"/>
          </p:cNvSpPr>
          <p:nvPr>
            <p:ph idx="1"/>
          </p:nvPr>
        </p:nvSpPr>
        <p:spPr>
          <a:xfrm>
            <a:off x="3335481" y="591344"/>
            <a:ext cx="5179868" cy="5585619"/>
          </a:xfrm>
        </p:spPr>
        <p:txBody>
          <a:bodyPr anchor="ctr">
            <a:normAutofit/>
          </a:bodyPr>
          <a:lstStyle/>
          <a:p>
            <a:pPr>
              <a:lnSpc>
                <a:spcPct val="90000"/>
              </a:lnSpc>
              <a:buFontTx/>
              <a:buChar char="-"/>
            </a:pPr>
            <a:r>
              <a:rPr lang="en-GB" sz="1500"/>
              <a:t> One area which has seen growing activity addresses a fundamental knowledge management issue which is well expressed in the statement – </a:t>
            </a:r>
            <a:r>
              <a:rPr lang="en-GB" sz="1500" i="1"/>
              <a:t>if only xxx (insert the name of any large organization) knew what it knows!’ </a:t>
            </a:r>
            <a:r>
              <a:rPr lang="en-GB" sz="1500"/>
              <a:t>In other words how can organizations tap into the rich knowledge (and potential innovation triggers) within its existing structures and amongst its workforce? </a:t>
            </a:r>
          </a:p>
          <a:p>
            <a:pPr>
              <a:lnSpc>
                <a:spcPct val="90000"/>
              </a:lnSpc>
              <a:buFontTx/>
              <a:buChar char="-"/>
            </a:pPr>
            <a:endParaRPr lang="en-GB" sz="1500"/>
          </a:p>
          <a:p>
            <a:pPr>
              <a:lnSpc>
                <a:spcPct val="90000"/>
              </a:lnSpc>
              <a:buFontTx/>
              <a:buChar char="-"/>
            </a:pPr>
            <a:r>
              <a:rPr lang="en-GB" sz="1500"/>
              <a:t> Much of the knowledge lies in the experience and ideas of ‘ordinary’ employees. Increasingly organizations are trying to tap into such knowledge as a source of innovation via various forms of what can be termed ‘high involvement innovation’ systems such as suggestion schemes, problem solving groups and innovation ‘jams’.</a:t>
            </a:r>
          </a:p>
          <a:p>
            <a:pPr>
              <a:lnSpc>
                <a:spcPct val="90000"/>
              </a:lnSpc>
              <a:buFontTx/>
              <a:buChar char="-"/>
            </a:pPr>
            <a:endParaRPr lang="en-GB" sz="1500"/>
          </a:p>
          <a:p>
            <a:pPr>
              <a:lnSpc>
                <a:spcPct val="90000"/>
              </a:lnSpc>
            </a:pPr>
            <a:r>
              <a:rPr lang="en-GB" sz="1500"/>
              <a:t>- There has also been an explosion in the use of internal online platforms to encourage and enable idea submission, development and acceleration. </a:t>
            </a:r>
          </a:p>
          <a:p>
            <a:pPr>
              <a:lnSpc>
                <a:spcPct val="90000"/>
              </a:lnSpc>
            </a:pPr>
            <a:endParaRPr lang="en-US" sz="1500"/>
          </a:p>
        </p:txBody>
      </p:sp>
    </p:spTree>
    <p:extLst>
      <p:ext uri="{BB962C8B-B14F-4D97-AF65-F5344CB8AC3E}">
        <p14:creationId xmlns:p14="http://schemas.microsoft.com/office/powerpoint/2010/main" val="1071735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CFB87-A129-C543-9456-67B678EF982E}"/>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Enabling external connections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D7BF5D1-FA61-CA49-A7EB-D3EA1912831B}"/>
              </a:ext>
            </a:extLst>
          </p:cNvPr>
          <p:cNvSpPr>
            <a:spLocks noGrp="1"/>
          </p:cNvSpPr>
          <p:nvPr>
            <p:ph idx="1"/>
          </p:nvPr>
        </p:nvSpPr>
        <p:spPr>
          <a:xfrm>
            <a:off x="3335481" y="591344"/>
            <a:ext cx="5179868" cy="5585619"/>
          </a:xfrm>
        </p:spPr>
        <p:txBody>
          <a:bodyPr anchor="ctr">
            <a:normAutofit/>
          </a:bodyPr>
          <a:lstStyle/>
          <a:p>
            <a:pPr>
              <a:lnSpc>
                <a:spcPct val="90000"/>
              </a:lnSpc>
              <a:buFontTx/>
              <a:buChar char="-"/>
            </a:pPr>
            <a:r>
              <a:rPr lang="en-GB" sz="2700" dirty="0"/>
              <a:t> Search strategies include:</a:t>
            </a:r>
          </a:p>
          <a:p>
            <a:pPr>
              <a:lnSpc>
                <a:spcPct val="90000"/>
              </a:lnSpc>
              <a:buFontTx/>
              <a:buChar char="-"/>
            </a:pPr>
            <a:endParaRPr lang="en-GB" sz="2700" dirty="0"/>
          </a:p>
          <a:p>
            <a:pPr>
              <a:lnSpc>
                <a:spcPct val="90000"/>
              </a:lnSpc>
            </a:pPr>
            <a:r>
              <a:rPr lang="en-GB" sz="2700" dirty="0"/>
              <a:t>	</a:t>
            </a:r>
            <a:r>
              <a:rPr lang="en-GB" sz="2700" b="1" dirty="0"/>
              <a:t>- Sending out scouts</a:t>
            </a:r>
          </a:p>
          <a:p>
            <a:pPr>
              <a:lnSpc>
                <a:spcPct val="90000"/>
              </a:lnSpc>
            </a:pPr>
            <a:r>
              <a:rPr lang="en-GB" sz="2700" b="1" dirty="0"/>
              <a:t>	- Exploring multiple futures</a:t>
            </a:r>
          </a:p>
          <a:p>
            <a:pPr>
              <a:lnSpc>
                <a:spcPct val="90000"/>
              </a:lnSpc>
            </a:pPr>
            <a:r>
              <a:rPr lang="en-GB" sz="2700" b="1" dirty="0"/>
              <a:t>	- Innovation markets</a:t>
            </a:r>
          </a:p>
          <a:p>
            <a:pPr>
              <a:lnSpc>
                <a:spcPct val="90000"/>
              </a:lnSpc>
            </a:pPr>
            <a:r>
              <a:rPr lang="en-GB" sz="2700" b="1" dirty="0"/>
              <a:t>	- Working with active users</a:t>
            </a:r>
          </a:p>
          <a:p>
            <a:pPr>
              <a:lnSpc>
                <a:spcPct val="90000"/>
              </a:lnSpc>
            </a:pPr>
            <a:r>
              <a:rPr lang="en-GB" sz="2700" b="1" dirty="0"/>
              <a:t>	- ‘Deep diving’</a:t>
            </a:r>
          </a:p>
          <a:p>
            <a:pPr>
              <a:lnSpc>
                <a:spcPct val="90000"/>
              </a:lnSpc>
            </a:pPr>
            <a:r>
              <a:rPr lang="en-GB" sz="2700" b="1" dirty="0"/>
              <a:t>	- Probe and learn</a:t>
            </a:r>
          </a:p>
          <a:p>
            <a:pPr>
              <a:lnSpc>
                <a:spcPct val="90000"/>
              </a:lnSpc>
            </a:pPr>
            <a:r>
              <a:rPr lang="en-GB" sz="2700" b="1" dirty="0"/>
              <a:t>	- Corporate venturing</a:t>
            </a:r>
          </a:p>
          <a:p>
            <a:pPr>
              <a:lnSpc>
                <a:spcPct val="90000"/>
              </a:lnSpc>
            </a:pPr>
            <a:r>
              <a:rPr lang="en-GB" sz="2700" b="1" dirty="0"/>
              <a:t>	- Use brokers and bridges</a:t>
            </a:r>
          </a:p>
          <a:p>
            <a:pPr>
              <a:lnSpc>
                <a:spcPct val="90000"/>
              </a:lnSpc>
            </a:pPr>
            <a:endParaRPr lang="en-US" sz="2700" dirty="0"/>
          </a:p>
        </p:txBody>
      </p:sp>
      <p:pic>
        <p:nvPicPr>
          <p:cNvPr id="7" name="Picture 2" descr="Image result for external connections">
            <a:extLst>
              <a:ext uri="{FF2B5EF4-FFF2-40B4-BE49-F238E27FC236}">
                <a16:creationId xmlns:a16="http://schemas.microsoft.com/office/drawing/2014/main" id="{DF9AC5F2-296B-5545-B304-BEE6495C05FE}"/>
              </a:ext>
            </a:extLst>
          </p:cNvPr>
          <p:cNvPicPr>
            <a:picLocks noChangeAspect="1" noChangeArrowheads="1"/>
          </p:cNvPicPr>
          <p:nvPr/>
        </p:nvPicPr>
        <p:blipFill>
          <a:blip r:embed="rId2" cstate="print"/>
          <a:srcRect/>
          <a:stretch>
            <a:fillRect/>
          </a:stretch>
        </p:blipFill>
        <p:spPr bwMode="auto">
          <a:xfrm>
            <a:off x="-48492" y="5301208"/>
            <a:ext cx="2465227" cy="1580274"/>
          </a:xfrm>
          <a:prstGeom prst="rect">
            <a:avLst/>
          </a:prstGeom>
          <a:noFill/>
        </p:spPr>
      </p:pic>
    </p:spTree>
    <p:extLst>
      <p:ext uri="{BB962C8B-B14F-4D97-AF65-F5344CB8AC3E}">
        <p14:creationId xmlns:p14="http://schemas.microsoft.com/office/powerpoint/2010/main" val="121710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A71F2D-FCA0-AA44-B9C8-E81FE5DE0596}"/>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Enabling search for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0FB933D-2A8D-FD4B-A61E-629975D36964}"/>
              </a:ext>
            </a:extLst>
          </p:cNvPr>
          <p:cNvSpPr>
            <a:spLocks noGrp="1"/>
          </p:cNvSpPr>
          <p:nvPr>
            <p:ph idx="1"/>
          </p:nvPr>
        </p:nvSpPr>
        <p:spPr>
          <a:xfrm>
            <a:off x="3335481" y="591344"/>
            <a:ext cx="5179868" cy="5585619"/>
          </a:xfrm>
        </p:spPr>
        <p:txBody>
          <a:bodyPr anchor="ctr">
            <a:normAutofit/>
          </a:bodyPr>
          <a:lstStyle/>
          <a:p>
            <a:pPr>
              <a:lnSpc>
                <a:spcPct val="90000"/>
              </a:lnSpc>
              <a:buFontTx/>
              <a:buChar char="-"/>
            </a:pPr>
            <a:r>
              <a:rPr lang="en-GB" sz="2000"/>
              <a:t> Within this broad framework firms deploy a range of approaches to organizing and managing the search process.</a:t>
            </a:r>
          </a:p>
          <a:p>
            <a:pPr>
              <a:lnSpc>
                <a:spcPct val="90000"/>
              </a:lnSpc>
              <a:buFontTx/>
              <a:buChar char="-"/>
            </a:pPr>
            <a:endParaRPr lang="en-GB" sz="2000"/>
          </a:p>
          <a:p>
            <a:pPr>
              <a:lnSpc>
                <a:spcPct val="90000"/>
              </a:lnSpc>
              <a:buFontTx/>
              <a:buChar char="-"/>
            </a:pPr>
            <a:endParaRPr lang="en-GB" sz="2000"/>
          </a:p>
          <a:p>
            <a:pPr>
              <a:lnSpc>
                <a:spcPct val="90000"/>
              </a:lnSpc>
            </a:pPr>
            <a:r>
              <a:rPr lang="en-GB" sz="2000"/>
              <a:t>- R&amp;D units can be structured to enable a balance between applied research (supporting the ‘exploit’ type of search) and more wide-ranging, ‘blue sky’ activities (which facilitate the ‘explore’ side of the equation).</a:t>
            </a:r>
          </a:p>
          <a:p>
            <a:pPr>
              <a:lnSpc>
                <a:spcPct val="90000"/>
              </a:lnSpc>
              <a:buFontTx/>
              <a:buChar char="-"/>
            </a:pPr>
            <a:endParaRPr lang="en-GB" sz="2000"/>
          </a:p>
          <a:p>
            <a:pPr>
              <a:lnSpc>
                <a:spcPct val="90000"/>
              </a:lnSpc>
              <a:buFontTx/>
              <a:buChar char="-"/>
            </a:pPr>
            <a:endParaRPr lang="en-GB" sz="2000"/>
          </a:p>
          <a:p>
            <a:pPr>
              <a:lnSpc>
                <a:spcPct val="90000"/>
              </a:lnSpc>
              <a:buFontTx/>
              <a:buChar char="-"/>
            </a:pPr>
            <a:r>
              <a:rPr lang="en-GB" sz="2000"/>
              <a:t> Choice of techniques and structures depends on a variety of strategic factors like those explored above – balancing their costs and risks against the quality and quantity of knowledge they bring in.</a:t>
            </a:r>
          </a:p>
          <a:p>
            <a:pPr>
              <a:lnSpc>
                <a:spcPct val="90000"/>
              </a:lnSpc>
            </a:pPr>
            <a:endParaRPr lang="en-US" sz="2000"/>
          </a:p>
        </p:txBody>
      </p:sp>
      <p:pic>
        <p:nvPicPr>
          <p:cNvPr id="7" name="Picture 2" descr="Image result for tools">
            <a:extLst>
              <a:ext uri="{FF2B5EF4-FFF2-40B4-BE49-F238E27FC236}">
                <a16:creationId xmlns:a16="http://schemas.microsoft.com/office/drawing/2014/main" id="{D327566B-05F5-1F41-B9C3-1A0E0C2ED075}"/>
              </a:ext>
            </a:extLst>
          </p:cNvPr>
          <p:cNvPicPr>
            <a:picLocks noChangeAspect="1" noChangeArrowheads="1"/>
          </p:cNvPicPr>
          <p:nvPr/>
        </p:nvPicPr>
        <p:blipFill>
          <a:blip r:embed="rId2" cstate="print"/>
          <a:srcRect/>
          <a:stretch>
            <a:fillRect/>
          </a:stretch>
        </p:blipFill>
        <p:spPr bwMode="auto">
          <a:xfrm>
            <a:off x="0" y="5704428"/>
            <a:ext cx="2614603" cy="1145491"/>
          </a:xfrm>
          <a:prstGeom prst="rect">
            <a:avLst/>
          </a:prstGeom>
          <a:noFill/>
        </p:spPr>
      </p:pic>
    </p:spTree>
    <p:extLst>
      <p:ext uri="{BB962C8B-B14F-4D97-AF65-F5344CB8AC3E}">
        <p14:creationId xmlns:p14="http://schemas.microsoft.com/office/powerpoint/2010/main" val="1217742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125FD-9AA9-644C-8488-76D170929BF6}"/>
              </a:ext>
            </a:extLst>
          </p:cNvPr>
          <p:cNvSpPr>
            <a:spLocks noGrp="1"/>
          </p:cNvSpPr>
          <p:nvPr>
            <p:ph type="title"/>
          </p:nvPr>
        </p:nvSpPr>
        <p:spPr/>
        <p:txBody>
          <a:bodyPr/>
          <a:lstStyle/>
          <a:p>
            <a:r>
              <a:rPr lang="en-US" dirty="0"/>
              <a:t>Challenges in innovation search</a:t>
            </a:r>
          </a:p>
        </p:txBody>
      </p:sp>
      <p:pic>
        <p:nvPicPr>
          <p:cNvPr id="5" name="Picture 4" descr="Table&#10;&#10;Description automatically generated">
            <a:extLst>
              <a:ext uri="{FF2B5EF4-FFF2-40B4-BE49-F238E27FC236}">
                <a16:creationId xmlns:a16="http://schemas.microsoft.com/office/drawing/2014/main" id="{A5012118-8495-3342-8EBA-8CA0BAD69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832" y="1382197"/>
            <a:ext cx="7596336" cy="5201165"/>
          </a:xfrm>
          <a:prstGeom prst="rect">
            <a:avLst/>
          </a:prstGeom>
        </p:spPr>
      </p:pic>
    </p:spTree>
    <p:extLst>
      <p:ext uri="{BB962C8B-B14F-4D97-AF65-F5344CB8AC3E}">
        <p14:creationId xmlns:p14="http://schemas.microsoft.com/office/powerpoint/2010/main" val="3499767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F4ACB5-BE5F-E14B-9177-09846EA2FF21}"/>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9361E02-19AD-FF47-91A3-F92197E77550}"/>
              </a:ext>
            </a:extLst>
          </p:cNvPr>
          <p:cNvSpPr>
            <a:spLocks noGrp="1"/>
          </p:cNvSpPr>
          <p:nvPr>
            <p:ph idx="1"/>
          </p:nvPr>
        </p:nvSpPr>
        <p:spPr>
          <a:xfrm>
            <a:off x="3335481" y="591344"/>
            <a:ext cx="5179868" cy="5585619"/>
          </a:xfrm>
        </p:spPr>
        <p:txBody>
          <a:bodyPr anchor="ctr">
            <a:normAutofit/>
          </a:bodyPr>
          <a:lstStyle/>
          <a:p>
            <a:pPr>
              <a:lnSpc>
                <a:spcPct val="90000"/>
              </a:lnSpc>
            </a:pPr>
            <a:r>
              <a:rPr lang="en-GB" sz="1500"/>
              <a:t>In this chapter we have been concerned not so much with the many sources of innovation as with how to mobilise effective search strategies to explore these systematically.</a:t>
            </a:r>
          </a:p>
          <a:p>
            <a:pPr>
              <a:lnSpc>
                <a:spcPct val="90000"/>
              </a:lnSpc>
            </a:pPr>
            <a:endParaRPr lang="en-GB" sz="1500"/>
          </a:p>
          <a:p>
            <a:pPr>
              <a:lnSpc>
                <a:spcPct val="90000"/>
              </a:lnSpc>
            </a:pPr>
            <a:r>
              <a:rPr lang="en-GB" sz="1500"/>
              <a:t>- We have also developed an understanding of the different kinds of opportunity being sought in terms of incremental or radical change.</a:t>
            </a:r>
          </a:p>
          <a:p>
            <a:pPr>
              <a:lnSpc>
                <a:spcPct val="90000"/>
              </a:lnSpc>
            </a:pPr>
            <a:endParaRPr lang="en-GB" sz="1500"/>
          </a:p>
          <a:p>
            <a:pPr>
              <a:lnSpc>
                <a:spcPct val="90000"/>
              </a:lnSpc>
            </a:pPr>
            <a:r>
              <a:rPr lang="en-GB" sz="1500"/>
              <a:t>- The different search needs at different stages of the innovation process </a:t>
            </a:r>
          </a:p>
          <a:p>
            <a:pPr>
              <a:lnSpc>
                <a:spcPct val="90000"/>
              </a:lnSpc>
            </a:pPr>
            <a:r>
              <a:rPr lang="en-GB" sz="1500"/>
              <a:t>the different players involved in the search process, and in particular the growing engagement of more people inside and outside the organization. </a:t>
            </a:r>
          </a:p>
          <a:p>
            <a:pPr>
              <a:lnSpc>
                <a:spcPct val="90000"/>
              </a:lnSpc>
            </a:pPr>
            <a:endParaRPr lang="en-GB" sz="1500"/>
          </a:p>
          <a:p>
            <a:pPr>
              <a:lnSpc>
                <a:spcPct val="90000"/>
              </a:lnSpc>
            </a:pPr>
            <a:r>
              <a:rPr lang="en-GB" sz="1500"/>
              <a:t>- Local search aiming to exploit existing knowledge through to radical and beyond into new frames.</a:t>
            </a:r>
          </a:p>
          <a:p>
            <a:pPr>
              <a:lnSpc>
                <a:spcPct val="90000"/>
              </a:lnSpc>
            </a:pPr>
            <a:endParaRPr lang="en-GB" sz="1500"/>
          </a:p>
          <a:p>
            <a:pPr>
              <a:lnSpc>
                <a:spcPct val="90000"/>
              </a:lnSpc>
            </a:pPr>
            <a:r>
              <a:rPr lang="en-GB" sz="1500"/>
              <a:t>- Mechanisms for enabling search.</a:t>
            </a:r>
          </a:p>
          <a:p>
            <a:pPr>
              <a:lnSpc>
                <a:spcPct val="90000"/>
              </a:lnSpc>
            </a:pPr>
            <a:endParaRPr lang="en-US" sz="1500"/>
          </a:p>
        </p:txBody>
      </p:sp>
    </p:spTree>
    <p:extLst>
      <p:ext uri="{BB962C8B-B14F-4D97-AF65-F5344CB8AC3E}">
        <p14:creationId xmlns:p14="http://schemas.microsoft.com/office/powerpoint/2010/main" val="2438320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a:lnSpc>
                <a:spcPct val="90000"/>
              </a:lnSpc>
            </a:pPr>
            <a:r>
              <a:rPr lang="en-US" sz="2700" dirty="0"/>
              <a:t>There are several videos which can help explore and present the key themes of the chapter:</a:t>
            </a:r>
          </a:p>
          <a:p>
            <a:pPr>
              <a:lnSpc>
                <a:spcPct val="90000"/>
              </a:lnSpc>
            </a:pPr>
            <a:r>
              <a:rPr lang="en-US" sz="2700" dirty="0">
                <a:hlinkClick r:id="rId4"/>
              </a:rPr>
              <a:t>Search strategies </a:t>
            </a:r>
            <a:endParaRPr lang="en-US" sz="2700" dirty="0"/>
          </a:p>
          <a:p>
            <a:pPr>
              <a:lnSpc>
                <a:spcPct val="90000"/>
              </a:lnSpc>
            </a:pPr>
            <a:r>
              <a:rPr lang="en-US" sz="2700" dirty="0">
                <a:hlinkClick r:id="rId5"/>
              </a:rPr>
              <a:t>Tools for innovation search</a:t>
            </a:r>
            <a:endParaRPr lang="en-US" sz="2700" dirty="0"/>
          </a:p>
          <a:p>
            <a:pPr>
              <a:lnSpc>
                <a:spcPct val="90000"/>
              </a:lnSpc>
            </a:pPr>
            <a:endParaRPr lang="en-US" sz="2700" dirty="0"/>
          </a:p>
        </p:txBody>
      </p:sp>
    </p:spTree>
    <p:extLst>
      <p:ext uri="{BB962C8B-B14F-4D97-AF65-F5344CB8AC3E}">
        <p14:creationId xmlns:p14="http://schemas.microsoft.com/office/powerpoint/2010/main" val="2572750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9C8575-2398-7542-A5ED-8FE867DAC652}"/>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531C59E-B93B-2A4D-8C6C-B83DFBF8CD7F}"/>
              </a:ext>
            </a:extLst>
          </p:cNvPr>
          <p:cNvSpPr>
            <a:spLocks noGrp="1"/>
          </p:cNvSpPr>
          <p:nvPr>
            <p:ph idx="1"/>
          </p:nvPr>
        </p:nvSpPr>
        <p:spPr>
          <a:xfrm>
            <a:off x="3335481" y="591344"/>
            <a:ext cx="5179868" cy="5585619"/>
          </a:xfrm>
        </p:spPr>
        <p:txBody>
          <a:bodyPr anchor="ctr">
            <a:normAutofit fontScale="77500" lnSpcReduction="20000"/>
          </a:bodyPr>
          <a:lstStyle/>
          <a:p>
            <a:pPr>
              <a:lnSpc>
                <a:spcPct val="90000"/>
              </a:lnSpc>
            </a:pPr>
            <a:r>
              <a:rPr lang="en-GB" sz="2000" dirty="0"/>
              <a:t>Interview with </a:t>
            </a:r>
            <a:r>
              <a:rPr lang="en-GB" sz="2000" dirty="0">
                <a:hlinkClick r:id="rId2"/>
              </a:rPr>
              <a:t>Michael </a:t>
            </a:r>
            <a:r>
              <a:rPr lang="en-GB" sz="2000" dirty="0" err="1">
                <a:hlinkClick r:id="rId2"/>
              </a:rPr>
              <a:t>Bartl</a:t>
            </a:r>
            <a:r>
              <a:rPr lang="en-GB" sz="2000" dirty="0">
                <a:hlinkClick r:id="rId2"/>
              </a:rPr>
              <a:t> of </a:t>
            </a:r>
            <a:r>
              <a:rPr lang="en-GB" sz="2000" dirty="0" err="1">
                <a:hlinkClick r:id="rId2"/>
              </a:rPr>
              <a:t>Hyve</a:t>
            </a:r>
            <a:r>
              <a:rPr lang="en-GB" sz="2000" dirty="0">
                <a:hlinkClick r:id="rId2"/>
              </a:rPr>
              <a:t>, talking about the use of ‘netnography</a:t>
            </a:r>
            <a:r>
              <a:rPr lang="en-GB" sz="2000" dirty="0"/>
              <a:t>’ in the search for new innovation opportunities</a:t>
            </a:r>
          </a:p>
          <a:p>
            <a:pPr>
              <a:lnSpc>
                <a:spcPct val="90000"/>
              </a:lnSpc>
            </a:pPr>
            <a:endParaRPr lang="en-GB" sz="2000" dirty="0"/>
          </a:p>
          <a:p>
            <a:pPr>
              <a:lnSpc>
                <a:spcPct val="90000"/>
              </a:lnSpc>
            </a:pPr>
            <a:r>
              <a:rPr lang="en-GB" sz="2000" dirty="0"/>
              <a:t>Interview with </a:t>
            </a:r>
            <a:r>
              <a:rPr lang="en-GB" sz="2000" dirty="0">
                <a:hlinkClick r:id="rId3"/>
              </a:rPr>
              <a:t>Emma Taylor talking about mobilizing employees</a:t>
            </a:r>
            <a:r>
              <a:rPr lang="en-GB" sz="2000" dirty="0"/>
              <a:t> as a source of innovation</a:t>
            </a:r>
          </a:p>
          <a:p>
            <a:pPr>
              <a:lnSpc>
                <a:spcPct val="90000"/>
              </a:lnSpc>
            </a:pPr>
            <a:endParaRPr lang="en-GB" sz="2000" dirty="0"/>
          </a:p>
          <a:p>
            <a:pPr>
              <a:lnSpc>
                <a:spcPct val="90000"/>
              </a:lnSpc>
            </a:pPr>
            <a:r>
              <a:rPr lang="en-GB" sz="2000" dirty="0"/>
              <a:t>Series of films about </a:t>
            </a:r>
            <a:r>
              <a:rPr lang="en-GB" sz="2000" dirty="0">
                <a:hlinkClick r:id="rId4"/>
              </a:rPr>
              <a:t>a start-up, </a:t>
            </a:r>
            <a:r>
              <a:rPr lang="en-GB" sz="2000" dirty="0" err="1">
                <a:hlinkClick r:id="rId4"/>
              </a:rPr>
              <a:t>Tidewave</a:t>
            </a:r>
            <a:r>
              <a:rPr lang="en-GB" sz="2000" dirty="0"/>
              <a:t>, and its journey to scale</a:t>
            </a:r>
          </a:p>
          <a:p>
            <a:pPr>
              <a:lnSpc>
                <a:spcPct val="90000"/>
              </a:lnSpc>
            </a:pPr>
            <a:endParaRPr lang="en-GB" sz="2000" dirty="0"/>
          </a:p>
          <a:p>
            <a:pPr>
              <a:lnSpc>
                <a:spcPct val="90000"/>
              </a:lnSpc>
            </a:pPr>
            <a:r>
              <a:rPr lang="en-GB" sz="2000" dirty="0"/>
              <a:t>Interview with </a:t>
            </a:r>
            <a:r>
              <a:rPr lang="en-GB" sz="2000" dirty="0">
                <a:hlinkClick r:id="rId5"/>
              </a:rPr>
              <a:t>Pedro Oliveira talking about the Patient Innovation platform</a:t>
            </a:r>
            <a:r>
              <a:rPr lang="en-GB" sz="2000" dirty="0"/>
              <a:t>, a way of mobilizing user innovators in the healthcare space</a:t>
            </a:r>
          </a:p>
          <a:p>
            <a:pPr>
              <a:lnSpc>
                <a:spcPct val="90000"/>
              </a:lnSpc>
            </a:pPr>
            <a:endParaRPr lang="en-GB" sz="2000" dirty="0"/>
          </a:p>
          <a:p>
            <a:pPr>
              <a:lnSpc>
                <a:spcPct val="90000"/>
              </a:lnSpc>
            </a:pPr>
            <a:r>
              <a:rPr lang="en-GB" sz="2000" dirty="0"/>
              <a:t>Interviews with </a:t>
            </a:r>
            <a:r>
              <a:rPr lang="en-GB" sz="2000" dirty="0">
                <a:hlinkClick r:id="rId6"/>
              </a:rPr>
              <a:t>doctors from the Torbay Hospital </a:t>
            </a:r>
            <a:r>
              <a:rPr lang="en-GB" sz="2000" dirty="0"/>
              <a:t>in the UK talking about their approaches to finding process innovation opportunities</a:t>
            </a:r>
          </a:p>
          <a:p>
            <a:pPr>
              <a:lnSpc>
                <a:spcPct val="90000"/>
              </a:lnSpc>
            </a:pPr>
            <a:endParaRPr lang="en-GB" sz="2000" dirty="0"/>
          </a:p>
          <a:p>
            <a:pPr>
              <a:lnSpc>
                <a:spcPct val="90000"/>
              </a:lnSpc>
            </a:pPr>
            <a:r>
              <a:rPr lang="en-GB" sz="2000" dirty="0">
                <a:hlinkClick r:id="rId7"/>
              </a:rPr>
              <a:t>Interview (audio) with Helen King of the Irish Food Board </a:t>
            </a:r>
            <a:r>
              <a:rPr lang="en-GB" sz="2000" dirty="0"/>
              <a:t>talking about their use of futures methods to search for innovation opportunities</a:t>
            </a:r>
          </a:p>
          <a:p>
            <a:pPr>
              <a:lnSpc>
                <a:spcPct val="90000"/>
              </a:lnSpc>
            </a:pPr>
            <a:endParaRPr lang="en-GB" sz="2000" dirty="0"/>
          </a:p>
          <a:p>
            <a:pPr>
              <a:lnSpc>
                <a:spcPct val="90000"/>
              </a:lnSpc>
            </a:pPr>
            <a:r>
              <a:rPr lang="en-GB" sz="2000" dirty="0"/>
              <a:t>Interview with </a:t>
            </a:r>
            <a:r>
              <a:rPr lang="en-GB" sz="2000" dirty="0">
                <a:hlinkClick r:id="rId8"/>
              </a:rPr>
              <a:t>Lynne Maher, UK National Health Service </a:t>
            </a:r>
            <a:r>
              <a:rPr lang="en-GB" sz="2000" dirty="0"/>
              <a:t>talking about user experience as a source of innovation</a:t>
            </a:r>
          </a:p>
          <a:p>
            <a:pPr>
              <a:lnSpc>
                <a:spcPct val="90000"/>
              </a:lnSpc>
            </a:pPr>
            <a:endParaRPr lang="en-GB" sz="2000" dirty="0"/>
          </a:p>
          <a:p>
            <a:pPr>
              <a:lnSpc>
                <a:spcPct val="90000"/>
              </a:lnSpc>
            </a:pPr>
            <a:r>
              <a:rPr lang="en-GB" sz="2000" dirty="0">
                <a:hlinkClick r:id="rId9"/>
              </a:rPr>
              <a:t>Eric von Hippel talking about user innovation </a:t>
            </a:r>
            <a:r>
              <a:rPr lang="en-GB" sz="2000" dirty="0"/>
              <a:t>methods</a:t>
            </a:r>
          </a:p>
          <a:p>
            <a:pPr>
              <a:lnSpc>
                <a:spcPct val="90000"/>
              </a:lnSpc>
            </a:pPr>
            <a:endParaRPr lang="en-US" sz="1300" dirty="0"/>
          </a:p>
        </p:txBody>
      </p:sp>
    </p:spTree>
    <p:extLst>
      <p:ext uri="{BB962C8B-B14F-4D97-AF65-F5344CB8AC3E}">
        <p14:creationId xmlns:p14="http://schemas.microsoft.com/office/powerpoint/2010/main" val="215761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Managing internal knowledge connections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95536" y="1772816"/>
            <a:ext cx="8136904" cy="2308324"/>
          </a:xfrm>
          <a:prstGeom prst="rect">
            <a:avLst/>
          </a:prstGeom>
          <a:noFill/>
        </p:spPr>
        <p:txBody>
          <a:bodyPr wrap="square" rtlCol="0">
            <a:spAutoFit/>
          </a:bodyPr>
          <a:lstStyle/>
          <a:p>
            <a:r>
              <a:rPr lang="en-GB" sz="2400" dirty="0"/>
              <a:t>Follow the link below to watch a </a:t>
            </a:r>
            <a:r>
              <a:rPr lang="en-GB" sz="2400" dirty="0">
                <a:hlinkClick r:id="rId2"/>
              </a:rPr>
              <a:t>video of Francisco </a:t>
            </a:r>
            <a:r>
              <a:rPr lang="en-GB" sz="2400" dirty="0" err="1">
                <a:hlinkClick r:id="rId2"/>
              </a:rPr>
              <a:t>Pinheiro</a:t>
            </a:r>
            <a:r>
              <a:rPr lang="en-GB" sz="2400" dirty="0">
                <a:hlinkClick r:id="rId2"/>
              </a:rPr>
              <a:t>, Strategic Innovation Manager with </a:t>
            </a:r>
            <a:r>
              <a:rPr lang="en-GB" sz="2400" dirty="0" err="1">
                <a:hlinkClick r:id="rId2"/>
              </a:rPr>
              <a:t>Atos</a:t>
            </a:r>
            <a:r>
              <a:rPr lang="en-GB" sz="2400" dirty="0">
                <a:hlinkClick r:id="rId2"/>
              </a:rPr>
              <a:t>, </a:t>
            </a:r>
            <a:r>
              <a:rPr lang="en-GB" sz="2400" dirty="0"/>
              <a:t>discussing the challenges of getting innovative ideas from employees via internal online platforms in the company</a:t>
            </a:r>
          </a:p>
          <a:p>
            <a:endParaRPr lang="en-GB" sz="2400" dirty="0"/>
          </a:p>
          <a:p>
            <a:endParaRPr lang="en-GB" sz="2400" dirty="0"/>
          </a:p>
        </p:txBody>
      </p:sp>
      <p:sp>
        <p:nvSpPr>
          <p:cNvPr id="5122" name="AutoShape 2" descr="Image result for connec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5124" name="Picture 4" descr="Image result for connections"/>
          <p:cNvPicPr>
            <a:picLocks noChangeAspect="1" noChangeArrowheads="1"/>
          </p:cNvPicPr>
          <p:nvPr/>
        </p:nvPicPr>
        <p:blipFill>
          <a:blip r:embed="rId3" cstate="print"/>
          <a:srcRect/>
          <a:stretch>
            <a:fillRect/>
          </a:stretch>
        </p:blipFill>
        <p:spPr bwMode="auto">
          <a:xfrm>
            <a:off x="6802388" y="5573890"/>
            <a:ext cx="2341612" cy="128411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Videos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95536" y="1772816"/>
            <a:ext cx="8136904" cy="1631216"/>
          </a:xfrm>
          <a:prstGeom prst="rect">
            <a:avLst/>
          </a:prstGeom>
          <a:noFill/>
        </p:spPr>
        <p:txBody>
          <a:bodyPr wrap="square" rtlCol="0">
            <a:spAutoFit/>
          </a:bodyPr>
          <a:lstStyle/>
          <a:p>
            <a:r>
              <a:rPr lang="en-GB" sz="2000" dirty="0"/>
              <a:t>Follow the link to watch a video of an interview with </a:t>
            </a:r>
            <a:r>
              <a:rPr lang="en-GB" sz="2000" dirty="0">
                <a:hlinkClick r:id="rId2"/>
              </a:rPr>
              <a:t>Hugh Chapman, Managing Director of Veeder Root</a:t>
            </a:r>
            <a:r>
              <a:rPr lang="en-GB" sz="2000" dirty="0"/>
              <a:t> discussing employee involvement in innovation and how it can contribute to sustained successful performance</a:t>
            </a:r>
          </a:p>
          <a:p>
            <a:endParaRPr lang="en-GB" sz="2000" dirty="0"/>
          </a:p>
          <a:p>
            <a:endParaRPr lang="en-GB" sz="2000" dirty="0"/>
          </a:p>
        </p:txBody>
      </p:sp>
      <p:sp>
        <p:nvSpPr>
          <p:cNvPr id="5122" name="AutoShape 2" descr="Image result for connec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5124" name="Picture 4" descr="Image result for connections"/>
          <p:cNvPicPr>
            <a:picLocks noChangeAspect="1" noChangeArrowheads="1"/>
          </p:cNvPicPr>
          <p:nvPr/>
        </p:nvPicPr>
        <p:blipFill>
          <a:blip r:embed="rId3" cstate="print"/>
          <a:srcRect/>
          <a:stretch>
            <a:fillRect/>
          </a:stretch>
        </p:blipFill>
        <p:spPr bwMode="auto">
          <a:xfrm>
            <a:off x="6802388" y="5573890"/>
            <a:ext cx="2341612" cy="128411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Media: Managing internal knowledge connections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95536" y="1772816"/>
            <a:ext cx="8136904" cy="3785652"/>
          </a:xfrm>
          <a:prstGeom prst="rect">
            <a:avLst/>
          </a:prstGeom>
          <a:noFill/>
        </p:spPr>
        <p:txBody>
          <a:bodyPr wrap="square" rtlCol="0">
            <a:spAutoFit/>
          </a:bodyPr>
          <a:lstStyle/>
          <a:p>
            <a:r>
              <a:rPr lang="en-GB" sz="2400" dirty="0"/>
              <a:t>Follow the link below to watch a video interview with John Neill, chief executive of Unipart, about the logistics group’s methods for improving productivity, including a ‘university’ and ‘faculties on the floor’ for continuous training and monitoring.</a:t>
            </a:r>
          </a:p>
          <a:p>
            <a:endParaRPr lang="en-GB" sz="2400" dirty="0"/>
          </a:p>
          <a:p>
            <a:endParaRPr lang="en-GB" sz="2400" dirty="0">
              <a:hlinkClick r:id="rId2"/>
            </a:endParaRPr>
          </a:p>
          <a:p>
            <a:r>
              <a:rPr lang="en-GB" sz="2400" dirty="0">
                <a:hlinkClick r:id="rId2"/>
              </a:rPr>
              <a:t>https://www.ft.com/video/a0fc02bc-fdef-30aa-8b64-6cd10a77065f</a:t>
            </a:r>
            <a:endParaRPr lang="en-GB" sz="2400" dirty="0"/>
          </a:p>
          <a:p>
            <a:br>
              <a:rPr lang="en-GB" sz="2400" dirty="0">
                <a:hlinkClick r:id="rId3"/>
              </a:rPr>
            </a:br>
            <a:endParaRPr lang="en-GB" sz="2400" dirty="0"/>
          </a:p>
        </p:txBody>
      </p:sp>
      <p:sp>
        <p:nvSpPr>
          <p:cNvPr id="5122" name="AutoShape 2" descr="Image result for connec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5124" name="Picture 4" descr="Image result for connections"/>
          <p:cNvPicPr>
            <a:picLocks noChangeAspect="1" noChangeArrowheads="1"/>
          </p:cNvPicPr>
          <p:nvPr/>
        </p:nvPicPr>
        <p:blipFill>
          <a:blip r:embed="rId4" cstate="print"/>
          <a:srcRect/>
          <a:stretch>
            <a:fillRect/>
          </a:stretch>
        </p:blipFill>
        <p:spPr bwMode="auto">
          <a:xfrm>
            <a:off x="6802388" y="5573890"/>
            <a:ext cx="2341612" cy="128411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Managing internal knowledge connections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95536" y="1772816"/>
            <a:ext cx="8136904" cy="2308324"/>
          </a:xfrm>
          <a:prstGeom prst="rect">
            <a:avLst/>
          </a:prstGeom>
          <a:noFill/>
        </p:spPr>
        <p:txBody>
          <a:bodyPr wrap="square" rtlCol="0">
            <a:spAutoFit/>
          </a:bodyPr>
          <a:lstStyle/>
          <a:p>
            <a:r>
              <a:rPr lang="en-GB" sz="2400" dirty="0"/>
              <a:t>Follow the link below to hear a podcast  on how seller feedback has allowed companies like </a:t>
            </a:r>
            <a:r>
              <a:rPr lang="en-GB" sz="2400" dirty="0" err="1"/>
              <a:t>ebay</a:t>
            </a:r>
            <a:r>
              <a:rPr lang="en-GB" sz="2400" dirty="0"/>
              <a:t> to grow in the way they have</a:t>
            </a:r>
          </a:p>
          <a:p>
            <a:endParaRPr lang="en-GB" sz="2400" dirty="0"/>
          </a:p>
          <a:p>
            <a:r>
              <a:rPr lang="en-GB" sz="2400" dirty="0">
                <a:hlinkClick r:id="rId2"/>
              </a:rPr>
              <a:t>https://www.bbc.co.uk/programmes/p059zb6n</a:t>
            </a:r>
            <a:endParaRPr lang="en-GB" sz="2400" dirty="0"/>
          </a:p>
          <a:p>
            <a:br>
              <a:rPr lang="en-GB" sz="2400" dirty="0">
                <a:hlinkClick r:id="rId3"/>
              </a:rPr>
            </a:br>
            <a:endParaRPr lang="en-GB" sz="2400" dirty="0"/>
          </a:p>
        </p:txBody>
      </p:sp>
      <p:sp>
        <p:nvSpPr>
          <p:cNvPr id="5122" name="AutoShape 2" descr="Image result for connec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5124" name="Picture 4" descr="Image result for connections"/>
          <p:cNvPicPr>
            <a:picLocks noChangeAspect="1" noChangeArrowheads="1"/>
          </p:cNvPicPr>
          <p:nvPr/>
        </p:nvPicPr>
        <p:blipFill>
          <a:blip r:embed="rId4" cstate="print"/>
          <a:srcRect/>
          <a:stretch>
            <a:fillRect/>
          </a:stretch>
        </p:blipFill>
        <p:spPr bwMode="auto">
          <a:xfrm>
            <a:off x="6802388" y="5573890"/>
            <a:ext cx="2341612" cy="128411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Media: Extending external connections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1560" y="1988840"/>
            <a:ext cx="7632848" cy="2308324"/>
          </a:xfrm>
          <a:prstGeom prst="rect">
            <a:avLst/>
          </a:prstGeom>
          <a:noFill/>
        </p:spPr>
        <p:txBody>
          <a:bodyPr wrap="square" rtlCol="0">
            <a:spAutoFit/>
          </a:bodyPr>
          <a:lstStyle/>
          <a:p>
            <a:r>
              <a:rPr lang="en-GB" sz="2400" dirty="0"/>
              <a:t>Follow the link below to hear an interview with Perry Chen, principal founder of the </a:t>
            </a:r>
            <a:r>
              <a:rPr lang="en-GB" sz="2400" dirty="0" err="1"/>
              <a:t>crowdfunding</a:t>
            </a:r>
            <a:r>
              <a:rPr lang="en-GB" sz="2400" dirty="0"/>
              <a:t> platform, Kickstarter.</a:t>
            </a:r>
          </a:p>
          <a:p>
            <a:endParaRPr lang="en-GB" sz="2400" dirty="0"/>
          </a:p>
          <a:p>
            <a:endParaRPr lang="en-GB" sz="2400" dirty="0">
              <a:hlinkClick r:id="rId2"/>
            </a:endParaRPr>
          </a:p>
          <a:p>
            <a:r>
              <a:rPr lang="en-GB" sz="2400" dirty="0">
                <a:hlinkClick r:id="rId2"/>
              </a:rPr>
              <a:t>https://www.stitcher.com/podcast/national-public-radio/how-i-built-this/e/50961272</a:t>
            </a:r>
            <a:endParaRPr lang="en-GB" sz="2400" dirty="0"/>
          </a:p>
        </p:txBody>
      </p:sp>
    </p:spTree>
    <p:extLst>
      <p:ext uri="{BB962C8B-B14F-4D97-AF65-F5344CB8AC3E}">
        <p14:creationId xmlns:p14="http://schemas.microsoft.com/office/powerpoint/2010/main" val="587854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Media: Extending external connections</a:t>
            </a:r>
          </a:p>
        </p:txBody>
      </p:sp>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1560" y="1988840"/>
            <a:ext cx="7632848" cy="2308324"/>
          </a:xfrm>
          <a:prstGeom prst="rect">
            <a:avLst/>
          </a:prstGeom>
          <a:noFill/>
        </p:spPr>
        <p:txBody>
          <a:bodyPr wrap="square" rtlCol="0">
            <a:spAutoFit/>
          </a:bodyPr>
          <a:lstStyle/>
          <a:p>
            <a:r>
              <a:rPr lang="en-GB" sz="2400" dirty="0"/>
              <a:t>Follow the link below to hear a podcast on how market research marked a shift from a producer-led to a consumer-led approach to business</a:t>
            </a:r>
          </a:p>
          <a:p>
            <a:endParaRPr lang="en-GB" sz="2400" dirty="0"/>
          </a:p>
          <a:p>
            <a:endParaRPr lang="en-GB" sz="2400" dirty="0"/>
          </a:p>
          <a:p>
            <a:r>
              <a:rPr lang="en-GB" sz="2400" dirty="0">
                <a:hlinkClick r:id="rId2"/>
              </a:rPr>
              <a:t>https://www.bbc.co.uk/programmes/w3csv3gm</a:t>
            </a:r>
            <a:endParaRPr lang="en-GB" sz="2400" dirty="0"/>
          </a:p>
        </p:txBody>
      </p:sp>
    </p:spTree>
    <p:extLst>
      <p:ext uri="{BB962C8B-B14F-4D97-AF65-F5344CB8AC3E}">
        <p14:creationId xmlns:p14="http://schemas.microsoft.com/office/powerpoint/2010/main" val="987225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3175723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4ECAE0-0EED-8345-BDF1-BEDC570AFA82}"/>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Activity: Managing internal connections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5098BB6-9F50-B44A-AD46-439889E70609}"/>
              </a:ext>
            </a:extLst>
          </p:cNvPr>
          <p:cNvSpPr>
            <a:spLocks noGrp="1"/>
          </p:cNvSpPr>
          <p:nvPr>
            <p:ph idx="1"/>
          </p:nvPr>
        </p:nvSpPr>
        <p:spPr>
          <a:xfrm>
            <a:off x="3335481" y="591344"/>
            <a:ext cx="5179868" cy="5585619"/>
          </a:xfrm>
        </p:spPr>
        <p:txBody>
          <a:bodyPr anchor="ctr">
            <a:normAutofit/>
          </a:bodyPr>
          <a:lstStyle/>
          <a:p>
            <a:pPr>
              <a:lnSpc>
                <a:spcPct val="90000"/>
              </a:lnSpc>
            </a:pPr>
            <a:r>
              <a:rPr lang="en-GB" sz="2200"/>
              <a:t>Take 10 minutes to list as many innovations as you can that were the product of exploiting internal knowledge connections</a:t>
            </a:r>
          </a:p>
          <a:p>
            <a:pPr>
              <a:lnSpc>
                <a:spcPct val="90000"/>
              </a:lnSpc>
            </a:pPr>
            <a:endParaRPr lang="en-GB" sz="2200"/>
          </a:p>
          <a:p>
            <a:pPr>
              <a:lnSpc>
                <a:spcPct val="90000"/>
              </a:lnSpc>
              <a:buFontTx/>
              <a:buChar char="-"/>
            </a:pPr>
            <a:r>
              <a:rPr lang="en-GB" sz="2200"/>
              <a:t> What means were used to capture this knowledge?</a:t>
            </a:r>
          </a:p>
          <a:p>
            <a:pPr>
              <a:lnSpc>
                <a:spcPct val="90000"/>
              </a:lnSpc>
              <a:buFontTx/>
              <a:buChar char="-"/>
            </a:pPr>
            <a:r>
              <a:rPr lang="en-GB" sz="2200"/>
              <a:t> What were the benefits of these forms of knowledge capture? And what, if any, were the downsides?</a:t>
            </a:r>
          </a:p>
          <a:p>
            <a:pPr>
              <a:lnSpc>
                <a:spcPct val="90000"/>
              </a:lnSpc>
              <a:buFontTx/>
              <a:buChar char="-"/>
            </a:pPr>
            <a:r>
              <a:rPr lang="en-GB" sz="2200"/>
              <a:t> Try to think of a time when you were involved in a process of internal knowledge capture, for example, within a firm you worked in. How did the process make you feel? Were you able to take ownership over the innovation? &amp; what was the final output?</a:t>
            </a:r>
          </a:p>
          <a:p>
            <a:pPr>
              <a:lnSpc>
                <a:spcPct val="90000"/>
              </a:lnSpc>
            </a:pPr>
            <a:endParaRPr lang="en-US" sz="2200"/>
          </a:p>
        </p:txBody>
      </p:sp>
    </p:spTree>
    <p:extLst>
      <p:ext uri="{BB962C8B-B14F-4D97-AF65-F5344CB8AC3E}">
        <p14:creationId xmlns:p14="http://schemas.microsoft.com/office/powerpoint/2010/main" val="1068171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FCBAF5-5DA0-7E40-BDA2-A3429E870F65}"/>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Activity Extending external connections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D217F9F-933F-0F43-AF20-97EC3630BB72}"/>
              </a:ext>
            </a:extLst>
          </p:cNvPr>
          <p:cNvSpPr>
            <a:spLocks noGrp="1"/>
          </p:cNvSpPr>
          <p:nvPr>
            <p:ph idx="1"/>
          </p:nvPr>
        </p:nvSpPr>
        <p:spPr>
          <a:xfrm>
            <a:off x="3335481" y="591344"/>
            <a:ext cx="5179868" cy="5585619"/>
          </a:xfrm>
        </p:spPr>
        <p:txBody>
          <a:bodyPr anchor="ctr">
            <a:normAutofit/>
          </a:bodyPr>
          <a:lstStyle/>
          <a:p>
            <a:r>
              <a:rPr lang="en-GB" sz="3000"/>
              <a:t>Take 10 minutes to list as many innovations as you can that were the product of crowd-sourcing in its various iterations</a:t>
            </a:r>
          </a:p>
          <a:p>
            <a:endParaRPr lang="en-GB" sz="3000"/>
          </a:p>
          <a:p>
            <a:endParaRPr lang="en-GB" sz="3000"/>
          </a:p>
          <a:p>
            <a:r>
              <a:rPr lang="en-GB" sz="3000"/>
              <a:t>- What were the benefits gained through this process?</a:t>
            </a:r>
          </a:p>
          <a:p>
            <a:endParaRPr lang="en-GB" sz="3000"/>
          </a:p>
          <a:p>
            <a:r>
              <a:rPr lang="en-GB" sz="3000"/>
              <a:t>- Were there any downsides?</a:t>
            </a:r>
          </a:p>
          <a:p>
            <a:endParaRPr lang="en-US" sz="3000"/>
          </a:p>
        </p:txBody>
      </p:sp>
    </p:spTree>
    <p:extLst>
      <p:ext uri="{BB962C8B-B14F-4D97-AF65-F5344CB8AC3E}">
        <p14:creationId xmlns:p14="http://schemas.microsoft.com/office/powerpoint/2010/main" val="1125295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95536" y="0"/>
            <a:ext cx="8229600" cy="1143000"/>
          </a:xfrm>
        </p:spPr>
        <p:txBody>
          <a:bodyPr>
            <a:noAutofit/>
          </a:bodyPr>
          <a:lstStyle/>
          <a:p>
            <a:pPr lvl="0">
              <a:defRPr/>
            </a:pPr>
            <a:r>
              <a:rPr lang="en-GB" sz="3600" b="1" dirty="0">
                <a:solidFill>
                  <a:srgbClr val="008000"/>
                </a:solidFill>
              </a:rPr>
              <a:t>Activities – Search Strategies</a:t>
            </a:r>
          </a:p>
        </p:txBody>
      </p:sp>
      <p:cxnSp>
        <p:nvCxnSpPr>
          <p:cNvPr id="5" name="Straight Connector 4"/>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95536" y="1410355"/>
            <a:ext cx="8136904" cy="5539978"/>
          </a:xfrm>
          <a:prstGeom prst="rect">
            <a:avLst/>
          </a:prstGeom>
          <a:noFill/>
        </p:spPr>
        <p:txBody>
          <a:bodyPr wrap="square" rtlCol="0">
            <a:spAutoFit/>
          </a:bodyPr>
          <a:lstStyle/>
          <a:p>
            <a:r>
              <a:rPr lang="en-GB" sz="2400" dirty="0"/>
              <a:t>Activities include:</a:t>
            </a:r>
          </a:p>
          <a:p>
            <a:r>
              <a:rPr lang="en-GB" sz="2400" dirty="0"/>
              <a:t>	</a:t>
            </a:r>
            <a:r>
              <a:rPr lang="en-GB" sz="2400" b="1" dirty="0"/>
              <a:t>- The 4P’s</a:t>
            </a:r>
          </a:p>
          <a:p>
            <a:r>
              <a:rPr lang="en-GB" sz="2400" b="1" dirty="0"/>
              <a:t>	- Uses for…</a:t>
            </a:r>
          </a:p>
          <a:p>
            <a:r>
              <a:rPr lang="en-GB" sz="2400" b="1" dirty="0"/>
              <a:t>	- TRIZ</a:t>
            </a:r>
          </a:p>
          <a:p>
            <a:r>
              <a:rPr lang="en-GB" sz="2400" b="1" dirty="0"/>
              <a:t>	- The way we do things around here</a:t>
            </a:r>
          </a:p>
          <a:p>
            <a:r>
              <a:rPr lang="en-GB" sz="2400" b="1" dirty="0"/>
              <a:t>	- Success and failure in innovation</a:t>
            </a:r>
          </a:p>
          <a:p>
            <a:r>
              <a:rPr lang="en-GB" sz="2400" b="1" dirty="0"/>
              <a:t>	- Strategic planning for implementation</a:t>
            </a:r>
          </a:p>
          <a:p>
            <a:r>
              <a:rPr lang="en-GB" sz="2400" b="1" dirty="0"/>
              <a:t>	- Strategic advantage through innovation</a:t>
            </a:r>
          </a:p>
          <a:p>
            <a:r>
              <a:rPr lang="en-GB" sz="2400" b="1" dirty="0"/>
              <a:t>	- SPOTS</a:t>
            </a:r>
          </a:p>
          <a:p>
            <a:r>
              <a:rPr lang="en-GB" sz="2400" b="1" dirty="0"/>
              <a:t>	- Spot the ball</a:t>
            </a:r>
          </a:p>
          <a:p>
            <a:r>
              <a:rPr lang="en-GB" sz="2400" b="1" dirty="0"/>
              <a:t>	- Self-test quizzes</a:t>
            </a:r>
          </a:p>
          <a:p>
            <a:endParaRPr lang="en-GB" sz="2400" b="1" dirty="0"/>
          </a:p>
          <a:p>
            <a:r>
              <a:rPr lang="en-GB" sz="2400" dirty="0"/>
              <a:t>All of these activities can be </a:t>
            </a:r>
            <a:r>
              <a:rPr lang="en-GB" sz="2400" dirty="0">
                <a:hlinkClick r:id="rId2"/>
              </a:rPr>
              <a:t>found on the website here</a:t>
            </a:r>
            <a:endParaRPr lang="en-GB" sz="2400" dirty="0"/>
          </a:p>
          <a:p>
            <a:endParaRPr lang="en-GB" sz="2400" dirty="0"/>
          </a:p>
          <a:p>
            <a:pPr>
              <a:buFontTx/>
              <a:buChar char="-"/>
            </a:pP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02239" y="764704"/>
            <a:ext cx="5839034" cy="5585619"/>
          </a:xfrm>
        </p:spPr>
        <p:txBody>
          <a:bodyPr anchor="ctr">
            <a:noAutofit/>
          </a:bodyPr>
          <a:lstStyle/>
          <a:p>
            <a:pPr marL="0" indent="0">
              <a:lnSpc>
                <a:spcPct val="90000"/>
              </a:lnSpc>
              <a:buNone/>
            </a:pPr>
            <a:r>
              <a:rPr lang="en-US" sz="2000" dirty="0"/>
              <a:t>There are several </a:t>
            </a:r>
            <a:r>
              <a:rPr lang="en-US" sz="2000" dirty="0">
                <a:hlinkClick r:id="rId2"/>
              </a:rPr>
              <a:t>case studies on the website </a:t>
            </a:r>
            <a:r>
              <a:rPr lang="en-US" sz="2000" dirty="0"/>
              <a:t>which highlight key themes in the chapter, including:</a:t>
            </a:r>
          </a:p>
          <a:p>
            <a:pPr marL="0" indent="0">
              <a:buNone/>
            </a:pPr>
            <a:endParaRPr lang="en-GB" sz="2000" dirty="0"/>
          </a:p>
          <a:p>
            <a:r>
              <a:rPr lang="en-GB" sz="2000" dirty="0"/>
              <a:t>Lufthansa Systems and of Liberty Global showing how they use collaboration platforms to search for ideas across the organization</a:t>
            </a:r>
          </a:p>
          <a:p>
            <a:pPr marL="0" indent="0">
              <a:buNone/>
            </a:pPr>
            <a:r>
              <a:rPr lang="en-GB" sz="2000" dirty="0"/>
              <a:t>• Cerulean giving details of their various internal and external search approaches</a:t>
            </a:r>
          </a:p>
          <a:p>
            <a:pPr marL="0" indent="0">
              <a:buNone/>
            </a:pPr>
            <a:r>
              <a:rPr lang="en-GB" sz="2000" dirty="0"/>
              <a:t>• 12 search strategies – report on discontinuous innovation search strategies</a:t>
            </a:r>
          </a:p>
          <a:p>
            <a:pPr marL="0" indent="0">
              <a:buNone/>
            </a:pPr>
            <a:r>
              <a:rPr lang="en-GB" sz="2000" dirty="0"/>
              <a:t>• Procter &amp; Gamble’s ‘connect and develop’ search approach</a:t>
            </a:r>
          </a:p>
          <a:p>
            <a:pPr marL="0" indent="0">
              <a:buNone/>
            </a:pPr>
            <a:r>
              <a:rPr lang="en-GB" sz="2000" dirty="0"/>
              <a:t>• Report on ‘open collective innovation’</a:t>
            </a:r>
          </a:p>
          <a:p>
            <a:pPr marL="0" indent="0">
              <a:buNone/>
            </a:pPr>
            <a:r>
              <a:rPr lang="en-GB" sz="2000" dirty="0"/>
              <a:t>• Shell’s ‘Gamechanger’ programme linking futures methods to finding innovation opportunities</a:t>
            </a:r>
          </a:p>
          <a:p>
            <a:pPr marL="0" indent="0">
              <a:buNone/>
            </a:pPr>
            <a:endParaRPr lang="en-US" sz="2000" dirty="0"/>
          </a:p>
          <a:p>
            <a:pPr>
              <a:lnSpc>
                <a:spcPct val="90000"/>
              </a:lnSpc>
            </a:pPr>
            <a:endParaRPr lang="en-US" sz="2000" dirty="0"/>
          </a:p>
        </p:txBody>
      </p:sp>
    </p:spTree>
    <p:extLst>
      <p:ext uri="{BB962C8B-B14F-4D97-AF65-F5344CB8AC3E}">
        <p14:creationId xmlns:p14="http://schemas.microsoft.com/office/powerpoint/2010/main" val="479829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926C1-5718-9948-8C9C-192073DB0F80}"/>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4DE70DB-A5E6-A94D-877F-06D59A2B2B81}"/>
              </a:ext>
            </a:extLst>
          </p:cNvPr>
          <p:cNvSpPr>
            <a:spLocks noGrp="1"/>
          </p:cNvSpPr>
          <p:nvPr>
            <p:ph idx="1"/>
          </p:nvPr>
        </p:nvSpPr>
        <p:spPr>
          <a:xfrm>
            <a:off x="3335481" y="591344"/>
            <a:ext cx="5179868" cy="5585619"/>
          </a:xfrm>
        </p:spPr>
        <p:txBody>
          <a:bodyPr anchor="ctr">
            <a:normAutofit/>
          </a:bodyPr>
          <a:lstStyle/>
          <a:p>
            <a:pPr marL="0" indent="0">
              <a:buNone/>
            </a:pPr>
            <a:r>
              <a:rPr lang="en-GB" dirty="0"/>
              <a:t>• Hella Ventures showing how a large company extends its search space through setting up specialist groups</a:t>
            </a:r>
          </a:p>
          <a:p>
            <a:pPr marL="0" indent="0">
              <a:buNone/>
            </a:pPr>
            <a:r>
              <a:rPr lang="en-GB" dirty="0"/>
              <a:t>• 3M and its use of communities of practice</a:t>
            </a:r>
          </a:p>
          <a:p>
            <a:pPr marL="0" indent="0">
              <a:buNone/>
            </a:pPr>
            <a:r>
              <a:rPr lang="en-GB" dirty="0"/>
              <a:t>• The evolution of the bicycle showing the impact of innovation life cycle on innovation</a:t>
            </a:r>
          </a:p>
          <a:p>
            <a:endParaRPr lang="en-US" dirty="0"/>
          </a:p>
        </p:txBody>
      </p:sp>
    </p:spTree>
    <p:extLst>
      <p:ext uri="{BB962C8B-B14F-4D97-AF65-F5344CB8AC3E}">
        <p14:creationId xmlns:p14="http://schemas.microsoft.com/office/powerpoint/2010/main" val="755080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0C5149-6727-EC41-B559-990C947441D8}"/>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511DA1-4502-DE40-9733-E5DEE76C0F3A}"/>
              </a:ext>
            </a:extLst>
          </p:cNvPr>
          <p:cNvSpPr>
            <a:spLocks noGrp="1"/>
          </p:cNvSpPr>
          <p:nvPr>
            <p:ph idx="1"/>
          </p:nvPr>
        </p:nvSpPr>
        <p:spPr>
          <a:xfrm>
            <a:off x="3335481" y="591344"/>
            <a:ext cx="5179868" cy="5585619"/>
          </a:xfrm>
        </p:spPr>
        <p:txBody>
          <a:bodyPr anchor="ctr">
            <a:normAutofit/>
          </a:bodyPr>
          <a:lstStyle/>
          <a:p>
            <a:r>
              <a:rPr lang="en-US" dirty="0"/>
              <a:t>There is a rich variety of tools to help with the search process.  </a:t>
            </a:r>
            <a:r>
              <a:rPr lang="en-US" dirty="0">
                <a:hlinkClick r:id="rId2"/>
              </a:rPr>
              <a:t>You can find a full list here.</a:t>
            </a:r>
            <a:endParaRPr lang="en-US" dirty="0"/>
          </a:p>
          <a:p>
            <a:endParaRPr lang="en-US" dirty="0"/>
          </a:p>
          <a:p>
            <a:r>
              <a:rPr lang="en-US" dirty="0"/>
              <a:t>Try to explore some of the more widely used ones which link to themes in the chapter</a:t>
            </a:r>
          </a:p>
          <a:p>
            <a:endParaRPr lang="en-US" dirty="0"/>
          </a:p>
        </p:txBody>
      </p:sp>
    </p:spTree>
    <p:extLst>
      <p:ext uri="{BB962C8B-B14F-4D97-AF65-F5344CB8AC3E}">
        <p14:creationId xmlns:p14="http://schemas.microsoft.com/office/powerpoint/2010/main" val="521708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9971A3-F207-3D45-A817-A86AD8C6245A}"/>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C3C2A38-0B4A-B04B-9CDE-FB44691EB43B}"/>
              </a:ext>
            </a:extLst>
          </p:cNvPr>
          <p:cNvSpPr>
            <a:spLocks noGrp="1"/>
          </p:cNvSpPr>
          <p:nvPr>
            <p:ph idx="1"/>
          </p:nvPr>
        </p:nvSpPr>
        <p:spPr>
          <a:xfrm>
            <a:off x="3335481" y="591344"/>
            <a:ext cx="5179868" cy="5585619"/>
          </a:xfrm>
        </p:spPr>
        <p:txBody>
          <a:bodyPr anchor="ctr">
            <a:normAutofit/>
          </a:bodyPr>
          <a:lstStyle/>
          <a:p>
            <a:pPr>
              <a:lnSpc>
                <a:spcPct val="90000"/>
              </a:lnSpc>
            </a:pPr>
            <a:r>
              <a:rPr lang="en-GB" sz="2200"/>
              <a:t>Futures toolkit (containing various tools for working in</a:t>
            </a:r>
          </a:p>
          <a:p>
            <a:pPr>
              <a:lnSpc>
                <a:spcPct val="90000"/>
              </a:lnSpc>
            </a:pPr>
            <a:r>
              <a:rPr lang="en-GB" sz="2200"/>
              <a:t>this space)</a:t>
            </a:r>
          </a:p>
          <a:p>
            <a:pPr>
              <a:lnSpc>
                <a:spcPct val="90000"/>
              </a:lnSpc>
            </a:pPr>
            <a:r>
              <a:rPr lang="en-GB" sz="2200"/>
              <a:t>Continuous improvement toolkit</a:t>
            </a:r>
          </a:p>
          <a:p>
            <a:pPr>
              <a:lnSpc>
                <a:spcPct val="90000"/>
              </a:lnSpc>
            </a:pPr>
            <a:r>
              <a:rPr lang="en-GB" sz="2200"/>
              <a:t>Strategy toolkit</a:t>
            </a:r>
          </a:p>
          <a:p>
            <a:pPr>
              <a:lnSpc>
                <a:spcPct val="90000"/>
              </a:lnSpc>
            </a:pPr>
            <a:r>
              <a:rPr lang="en-GB" sz="2200"/>
              <a:t>Voice of the customer toolkit</a:t>
            </a:r>
          </a:p>
          <a:p>
            <a:pPr>
              <a:lnSpc>
                <a:spcPct val="90000"/>
              </a:lnSpc>
            </a:pPr>
            <a:r>
              <a:rPr lang="en-GB" sz="2200"/>
              <a:t>Creativity toolkit</a:t>
            </a:r>
          </a:p>
          <a:p>
            <a:pPr>
              <a:lnSpc>
                <a:spcPct val="90000"/>
              </a:lnSpc>
            </a:pPr>
            <a:r>
              <a:rPr lang="en-GB" sz="2200"/>
              <a:t>User innovation toolkit</a:t>
            </a:r>
          </a:p>
          <a:p>
            <a:pPr>
              <a:lnSpc>
                <a:spcPct val="90000"/>
              </a:lnSpc>
            </a:pPr>
            <a:r>
              <a:rPr lang="en-GB" sz="2200"/>
              <a:t>Design thinking</a:t>
            </a:r>
          </a:p>
          <a:p>
            <a:pPr>
              <a:lnSpc>
                <a:spcPct val="90000"/>
              </a:lnSpc>
            </a:pPr>
            <a:r>
              <a:rPr lang="en-GB" sz="2200"/>
              <a:t>4Ps search compass</a:t>
            </a:r>
          </a:p>
          <a:p>
            <a:pPr>
              <a:lnSpc>
                <a:spcPct val="90000"/>
              </a:lnSpc>
            </a:pPr>
            <a:r>
              <a:rPr lang="en-GB" sz="2200"/>
              <a:t>Blue Ocean strategy</a:t>
            </a:r>
          </a:p>
          <a:p>
            <a:pPr>
              <a:lnSpc>
                <a:spcPct val="90000"/>
              </a:lnSpc>
            </a:pPr>
            <a:r>
              <a:rPr lang="en-GB" sz="2200"/>
              <a:t>Competitiveness profiling</a:t>
            </a:r>
          </a:p>
          <a:p>
            <a:pPr>
              <a:lnSpc>
                <a:spcPct val="90000"/>
              </a:lnSpc>
            </a:pPr>
            <a:r>
              <a:rPr lang="en-GB" sz="2200"/>
              <a:t>Benchmarking</a:t>
            </a:r>
          </a:p>
          <a:p>
            <a:pPr>
              <a:lnSpc>
                <a:spcPct val="90000"/>
              </a:lnSpc>
            </a:pPr>
            <a:r>
              <a:rPr lang="en-GB" sz="2200"/>
              <a:t>Kano method</a:t>
            </a:r>
          </a:p>
          <a:p>
            <a:pPr>
              <a:lnSpc>
                <a:spcPct val="90000"/>
              </a:lnSpc>
            </a:pPr>
            <a:r>
              <a:rPr lang="en-GB" sz="2200"/>
              <a:t>ADL matrix</a:t>
            </a:r>
          </a:p>
          <a:p>
            <a:pPr>
              <a:lnSpc>
                <a:spcPct val="90000"/>
              </a:lnSpc>
            </a:pPr>
            <a:endParaRPr lang="en-US" sz="2200"/>
          </a:p>
        </p:txBody>
      </p:sp>
    </p:spTree>
    <p:extLst>
      <p:ext uri="{BB962C8B-B14F-4D97-AF65-F5344CB8AC3E}">
        <p14:creationId xmlns:p14="http://schemas.microsoft.com/office/powerpoint/2010/main" val="665673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6B5CC-CEB8-844D-A5EB-1B8DEF4019E9}"/>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br>
              <a:rPr lang="en-US" sz="3100">
                <a:solidFill>
                  <a:srgbClr val="FFFFFF"/>
                </a:solidFill>
              </a:rPr>
            </a:br>
            <a:endParaRPr lang="en-US" sz="3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19978C6-463B-1D47-A760-0C30FD43655A}"/>
              </a:ext>
            </a:extLst>
          </p:cNvPr>
          <p:cNvSpPr>
            <a:spLocks noGrp="1"/>
          </p:cNvSpPr>
          <p:nvPr>
            <p:ph idx="1"/>
          </p:nvPr>
        </p:nvSpPr>
        <p:spPr>
          <a:xfrm>
            <a:off x="3335481" y="591344"/>
            <a:ext cx="5179868" cy="5585619"/>
          </a:xfrm>
        </p:spPr>
        <p:txBody>
          <a:bodyPr anchor="ctr">
            <a:normAutofit/>
          </a:bodyPr>
          <a:lstStyle/>
          <a:p>
            <a:pPr marL="514350" lvl="0" indent="-514350">
              <a:lnSpc>
                <a:spcPct val="90000"/>
              </a:lnSpc>
            </a:pPr>
            <a:r>
              <a:rPr lang="en-GB" dirty="0"/>
              <a:t>Choose one of </a:t>
            </a:r>
            <a:r>
              <a:rPr lang="en-GB"/>
              <a:t>the tools </a:t>
            </a:r>
            <a:r>
              <a:rPr lang="en-GB" dirty="0"/>
              <a:t>in the above search toolkit and apply it to help identify opportunities for innovation</a:t>
            </a:r>
          </a:p>
          <a:p>
            <a:pPr>
              <a:lnSpc>
                <a:spcPct val="90000"/>
              </a:lnSpc>
            </a:pPr>
            <a:endParaRPr lang="en-US" dirty="0"/>
          </a:p>
        </p:txBody>
      </p:sp>
    </p:spTree>
    <p:extLst>
      <p:ext uri="{BB962C8B-B14F-4D97-AF65-F5344CB8AC3E}">
        <p14:creationId xmlns:p14="http://schemas.microsoft.com/office/powerpoint/2010/main" val="2429707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4681</TotalTime>
  <Words>2513</Words>
  <Application>Microsoft Macintosh PowerPoint</Application>
  <PresentationFormat>On-screen Show (4:3)</PresentationFormat>
  <Paragraphs>243</Paragraphs>
  <Slides>42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Teaching Resources and Instructors’ Guidelines</vt:lpstr>
      <vt:lpstr>Chapter 7: Search strategies for innovation</vt:lpstr>
      <vt:lpstr>Learning Objectives</vt:lpstr>
      <vt:lpstr>Mind map </vt:lpstr>
      <vt:lpstr>Core themes and material from the book</vt:lpstr>
      <vt:lpstr>A framework for thinking about search</vt:lpstr>
      <vt:lpstr>Push or pull?</vt:lpstr>
      <vt:lpstr>Incremental or radical innovation?</vt:lpstr>
      <vt:lpstr>Exploit or explore?</vt:lpstr>
      <vt:lpstr>Exploit/explore?</vt:lpstr>
      <vt:lpstr>When?</vt:lpstr>
      <vt:lpstr>Who?</vt:lpstr>
      <vt:lpstr>Where to search?</vt:lpstr>
      <vt:lpstr>Where? The innovation treasure hunt</vt:lpstr>
      <vt:lpstr>A map of innovation search space</vt:lpstr>
      <vt:lpstr>Sources of innovation</vt:lpstr>
      <vt:lpstr>Information sources for innovation</vt:lpstr>
      <vt:lpstr>Increasing collaboration in innovation</vt:lpstr>
      <vt:lpstr>The open innovation model</vt:lpstr>
      <vt:lpstr>Absorptive capacity</vt:lpstr>
      <vt:lpstr>Managing internal connections</vt:lpstr>
      <vt:lpstr>Enabling external connections</vt:lpstr>
      <vt:lpstr>Enabling search for innovation</vt:lpstr>
      <vt:lpstr>Challenges in innovation search</vt:lpstr>
      <vt:lpstr>Summary</vt:lpstr>
      <vt:lpstr>Videos</vt:lpstr>
      <vt:lpstr>Videos</vt:lpstr>
      <vt:lpstr>Managing internal knowledge connections</vt:lpstr>
      <vt:lpstr>Videos</vt:lpstr>
      <vt:lpstr>Media: Managing internal knowledge connections</vt:lpstr>
      <vt:lpstr>Managing internal knowledge connections</vt:lpstr>
      <vt:lpstr>Media: Extending external connections</vt:lpstr>
      <vt:lpstr>Media: Extending external connections</vt:lpstr>
      <vt:lpstr>Activities</vt:lpstr>
      <vt:lpstr>Activity: Managing internal connections</vt:lpstr>
      <vt:lpstr>Activity Extending external connections</vt:lpstr>
      <vt:lpstr>Activities – Search Strategies</vt:lpstr>
      <vt:lpstr>Cases </vt:lpstr>
      <vt:lpstr>Cases</vt:lpstr>
      <vt:lpstr>Tools</vt:lpstr>
      <vt:lpstr>Tools</vt:lpstr>
      <vt:lpstr>Assessments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7</cp:revision>
  <dcterms:created xsi:type="dcterms:W3CDTF">2020-11-14T14:54:00Z</dcterms:created>
  <dcterms:modified xsi:type="dcterms:W3CDTF">2024-11-02T07:56:44Z</dcterms:modified>
</cp:coreProperties>
</file>