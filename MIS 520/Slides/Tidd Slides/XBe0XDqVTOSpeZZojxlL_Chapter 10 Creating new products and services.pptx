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1"/>
  </p:notesMasterIdLst>
  <p:sldIdLst>
    <p:sldId id="257" r:id="rId2"/>
    <p:sldId id="258" r:id="rId3"/>
    <p:sldId id="259" r:id="rId4"/>
    <p:sldId id="332" r:id="rId5"/>
    <p:sldId id="261" r:id="rId6"/>
    <p:sldId id="262" r:id="rId7"/>
    <p:sldId id="264" r:id="rId8"/>
    <p:sldId id="265" r:id="rId9"/>
    <p:sldId id="266" r:id="rId10"/>
    <p:sldId id="268" r:id="rId11"/>
    <p:sldId id="269" r:id="rId12"/>
    <p:sldId id="271" r:id="rId13"/>
    <p:sldId id="276" r:id="rId14"/>
    <p:sldId id="300" r:id="rId15"/>
    <p:sldId id="283" r:id="rId16"/>
    <p:sldId id="284" r:id="rId17"/>
    <p:sldId id="285" r:id="rId18"/>
    <p:sldId id="286" r:id="rId19"/>
    <p:sldId id="287" r:id="rId20"/>
    <p:sldId id="288" r:id="rId21"/>
    <p:sldId id="289" r:id="rId22"/>
    <p:sldId id="301" r:id="rId23"/>
    <p:sldId id="302" r:id="rId24"/>
    <p:sldId id="303" r:id="rId25"/>
    <p:sldId id="304" r:id="rId26"/>
    <p:sldId id="305" r:id="rId27"/>
    <p:sldId id="306" r:id="rId28"/>
    <p:sldId id="308" r:id="rId29"/>
    <p:sldId id="309" r:id="rId30"/>
    <p:sldId id="310" r:id="rId31"/>
    <p:sldId id="311" r:id="rId32"/>
    <p:sldId id="313" r:id="rId33"/>
    <p:sldId id="315" r:id="rId34"/>
    <p:sldId id="317" r:id="rId35"/>
    <p:sldId id="318" r:id="rId36"/>
    <p:sldId id="320" r:id="rId37"/>
    <p:sldId id="321" r:id="rId38"/>
    <p:sldId id="323" r:id="rId39"/>
    <p:sldId id="324" r:id="rId40"/>
    <p:sldId id="325" r:id="rId41"/>
    <p:sldId id="326" r:id="rId42"/>
    <p:sldId id="327" r:id="rId43"/>
    <p:sldId id="328" r:id="rId44"/>
    <p:sldId id="329" r:id="rId45"/>
    <p:sldId id="290" r:id="rId46"/>
    <p:sldId id="291" r:id="rId47"/>
    <p:sldId id="292" r:id="rId48"/>
    <p:sldId id="293" r:id="rId49"/>
    <p:sldId id="294" r:id="rId50"/>
    <p:sldId id="334" r:id="rId51"/>
    <p:sldId id="260" r:id="rId52"/>
    <p:sldId id="267" r:id="rId53"/>
    <p:sldId id="270" r:id="rId54"/>
    <p:sldId id="299" r:id="rId55"/>
    <p:sldId id="272" r:id="rId56"/>
    <p:sldId id="280" r:id="rId57"/>
    <p:sldId id="345" r:id="rId58"/>
    <p:sldId id="344" r:id="rId59"/>
    <p:sldId id="263" r:id="rId60"/>
    <p:sldId id="298" r:id="rId61"/>
    <p:sldId id="331" r:id="rId62"/>
    <p:sldId id="353" r:id="rId63"/>
    <p:sldId id="282" r:id="rId64"/>
    <p:sldId id="312" r:id="rId65"/>
    <p:sldId id="314" r:id="rId66"/>
    <p:sldId id="319" r:id="rId67"/>
    <p:sldId id="322" r:id="rId68"/>
    <p:sldId id="394" r:id="rId69"/>
    <p:sldId id="275" r:id="rId70"/>
    <p:sldId id="277" r:id="rId71"/>
    <p:sldId id="278" r:id="rId72"/>
    <p:sldId id="279" r:id="rId73"/>
    <p:sldId id="316" r:id="rId74"/>
    <p:sldId id="307" r:id="rId75"/>
    <p:sldId id="365" r:id="rId76"/>
    <p:sldId id="295" r:id="rId77"/>
    <p:sldId id="296" r:id="rId78"/>
    <p:sldId id="297" r:id="rId79"/>
    <p:sldId id="330" r:id="rId8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7"/>
    <p:restoredTop sz="94752"/>
  </p:normalViewPr>
  <p:slideViewPr>
    <p:cSldViewPr>
      <p:cViewPr varScale="1">
        <p:scale>
          <a:sx n="116" d="100"/>
          <a:sy n="116" d="100"/>
        </p:scale>
        <p:origin x="1760" y="184"/>
      </p:cViewPr>
      <p:guideLst>
        <p:guide orient="horz" pos="2160"/>
        <p:guide pos="2880"/>
      </p:guideLst>
    </p:cSldViewPr>
  </p:slideViewPr>
  <p:notesTextViewPr>
    <p:cViewPr>
      <p:scale>
        <a:sx n="100" d="100"/>
        <a:sy n="100" d="100"/>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3341A6-42F6-1441-ACD7-104F36138E81}" type="datetimeFigureOut">
              <a:rPr lang="en-US" smtClean="0"/>
              <a:t>11/3/24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4A7326-3548-3A44-A2AD-C3354C2126A7}" type="slidenum">
              <a:rPr lang="en-US" smtClean="0"/>
              <a:t>‹#›</a:t>
            </a:fld>
            <a:endParaRPr lang="en-US"/>
          </a:p>
        </p:txBody>
      </p:sp>
    </p:spTree>
    <p:extLst>
      <p:ext uri="{BB962C8B-B14F-4D97-AF65-F5344CB8AC3E}">
        <p14:creationId xmlns:p14="http://schemas.microsoft.com/office/powerpoint/2010/main" val="23125679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videos </a:t>
            </a:r>
          </a:p>
        </p:txBody>
      </p:sp>
      <p:sp>
        <p:nvSpPr>
          <p:cNvPr id="4" name="Slide Number Placeholder 3"/>
          <p:cNvSpPr>
            <a:spLocks noGrp="1"/>
          </p:cNvSpPr>
          <p:nvPr>
            <p:ph type="sldNum" sz="quarter" idx="5"/>
          </p:nvPr>
        </p:nvSpPr>
        <p:spPr/>
        <p:txBody>
          <a:bodyPr/>
          <a:lstStyle/>
          <a:p>
            <a:fld id="{C43EEF7A-835F-4F95-B48D-CD2F7A44E3BA}" type="slidenum">
              <a:rPr lang="en-GB" smtClean="0"/>
              <a:pPr/>
              <a:t>50</a:t>
            </a:fld>
            <a:endParaRPr lang="en-GB"/>
          </a:p>
        </p:txBody>
      </p:sp>
    </p:spTree>
    <p:extLst>
      <p:ext uri="{BB962C8B-B14F-4D97-AF65-F5344CB8AC3E}">
        <p14:creationId xmlns:p14="http://schemas.microsoft.com/office/powerpoint/2010/main" val="22230650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1947DE5D-F326-4D39-8ABA-C73BC1C55105}" type="datetimeFigureOut">
              <a:rPr lang="en-GB" smtClean="0"/>
              <a:pPr/>
              <a:t>03/11/2024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60AED767-27A8-45E7-AE51-BD8D1CD1EE4E}" type="slidenum">
              <a:rPr lang="en-GB" smtClean="0"/>
              <a:pPr/>
              <a:t>‹#›</a:t>
            </a:fld>
            <a:endParaRPr lang="en-GB"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1947DE5D-F326-4D39-8ABA-C73BC1C55105}" type="datetimeFigureOut">
              <a:rPr lang="en-GB" smtClean="0"/>
              <a:pPr/>
              <a:t>03/11/2024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60AED767-27A8-45E7-AE51-BD8D1CD1EE4E}" type="slidenum">
              <a:rPr lang="en-GB" smtClean="0"/>
              <a:pPr/>
              <a:t>‹#›</a:t>
            </a:fld>
            <a:endParaRPr lang="en-GB"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947DE5D-F326-4D39-8ABA-C73BC1C55105}" type="datetimeFigureOut">
              <a:rPr lang="en-GB" smtClean="0"/>
              <a:pPr/>
              <a:t>03/11/2024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60AED767-27A8-45E7-AE51-BD8D1CD1EE4E}" type="slidenum">
              <a:rPr lang="en-GB" smtClean="0"/>
              <a:pPr/>
              <a:t>‹#›</a:t>
            </a:fld>
            <a:endParaRPr lang="en-GB"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1947DE5D-F326-4D39-8ABA-C73BC1C55105}" type="datetimeFigureOut">
              <a:rPr lang="en-GB" smtClean="0"/>
              <a:pPr/>
              <a:t>03/11/2024</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60AED767-27A8-45E7-AE51-BD8D1CD1EE4E}" type="slidenum">
              <a:rPr lang="en-GB" smtClean="0"/>
              <a:pPr/>
              <a:t>‹#›</a:t>
            </a:fld>
            <a:endParaRPr lang="en-GB"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1947DE5D-F326-4D39-8ABA-C73BC1C55105}" type="datetimeFigureOut">
              <a:rPr lang="en-GB" smtClean="0"/>
              <a:pPr/>
              <a:t>03/11/2024</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60AED767-27A8-45E7-AE51-BD8D1CD1EE4E}" type="slidenum">
              <a:rPr lang="en-GB" smtClean="0"/>
              <a:pPr/>
              <a:t>‹#›</a:t>
            </a:fld>
            <a:endParaRPr lang="en-GB"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1947DE5D-F326-4D39-8ABA-C73BC1C55105}" type="datetimeFigureOut">
              <a:rPr lang="en-GB" smtClean="0"/>
              <a:pPr/>
              <a:t>03/11/2024</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60AED767-27A8-45E7-AE51-BD8D1CD1EE4E}" type="slidenum">
              <a:rPr lang="en-GB" smtClean="0"/>
              <a:pPr/>
              <a:t>‹#›</a:t>
            </a:fld>
            <a:endParaRPr lang="en-GB"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947DE5D-F326-4D39-8ABA-C73BC1C55105}" type="datetimeFigureOut">
              <a:rPr lang="en-GB" smtClean="0"/>
              <a:pPr/>
              <a:t>03/11/2024</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60AED767-27A8-45E7-AE51-BD8D1CD1EE4E}" type="slidenum">
              <a:rPr lang="en-GB" smtClean="0"/>
              <a:pPr/>
              <a:t>‹#›</a:t>
            </a:fld>
            <a:endParaRPr lang="en-GB"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947DE5D-F326-4D39-8ABA-C73BC1C55105}" type="datetimeFigureOut">
              <a:rPr lang="en-GB" smtClean="0"/>
              <a:pPr/>
              <a:t>03/11/2024</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60AED767-27A8-45E7-AE51-BD8D1CD1EE4E}" type="slidenum">
              <a:rPr lang="en-GB" smtClean="0"/>
              <a:pPr/>
              <a:t>‹#›</a:t>
            </a:fld>
            <a:endParaRPr lang="en-GB"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947DE5D-F326-4D39-8ABA-C73BC1C55105}" type="datetimeFigureOut">
              <a:rPr lang="en-GB" smtClean="0"/>
              <a:pPr/>
              <a:t>03/11/2024</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60AED767-27A8-45E7-AE51-BD8D1CD1EE4E}" type="slidenum">
              <a:rPr lang="en-GB" smtClean="0"/>
              <a:pPr/>
              <a:t>‹#›</a:t>
            </a:fld>
            <a:endParaRPr lang="en-GB"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1947DE5D-F326-4D39-8ABA-C73BC1C55105}" type="datetimeFigureOut">
              <a:rPr lang="en-GB" smtClean="0"/>
              <a:pPr/>
              <a:t>03/11/2024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60AED767-27A8-45E7-AE51-BD8D1CD1EE4E}" type="slidenum">
              <a:rPr lang="en-GB" smtClean="0"/>
              <a:pPr/>
              <a:t>‹#›</a:t>
            </a:fld>
            <a:endParaRPr lang="en-GB"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1947DE5D-F326-4D39-8ABA-C73BC1C55105}" type="datetimeFigureOut">
              <a:rPr lang="en-GB" smtClean="0"/>
              <a:pPr/>
              <a:t>03/11/2024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60AED767-27A8-45E7-AE51-BD8D1CD1EE4E}" type="slidenum">
              <a:rPr lang="en-GB" smtClean="0"/>
              <a:pPr/>
              <a:t>‹#›</a:t>
            </a:fld>
            <a:endParaRPr lang="en-GB"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47DE5D-F326-4D39-8ABA-C73BC1C55105}" type="datetimeFigureOut">
              <a:rPr lang="en-GB" smtClean="0"/>
              <a:pPr/>
              <a:t>03/11/2024</a:t>
            </a:fld>
            <a:endParaRPr lang="en-GB"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0AED767-27A8-45E7-AE51-BD8D1CD1EE4E}" type="slidenum">
              <a:rPr lang="en-GB" smtClean="0"/>
              <a:pPr/>
              <a:t>‹#›</a:t>
            </a:fld>
            <a:endParaRPr lang="en-GB"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hyperlink" Target="https://www.johnbessant.org/tools" TargetMode="Externa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hyperlink" Target="https://www.bbc.co.uk/programmes/w3csv3gm" TargetMode="Externa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hyperlink" Target="https://www.johnbessant.org/_files/ugd/6ba33a_cd40cbfe181245059e6878134948110b.pdf" TargetMode="Externa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8" Type="http://schemas.openxmlformats.org/officeDocument/2006/relationships/hyperlink" Target="https://www.youtube.com/watch?v=wuiXe-F4tJc&amp;feature=youtu.be" TargetMode="External"/><Relationship Id="rId3" Type="http://schemas.openxmlformats.org/officeDocument/2006/relationships/image" Target="../media/image18.jpeg"/><Relationship Id="rId7" Type="http://schemas.openxmlformats.org/officeDocument/2006/relationships/hyperlink" Target="https://youtu.be/WO8aboOjK9g"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s://youtu.be/38ZJaIaot1M" TargetMode="External"/><Relationship Id="rId5" Type="http://schemas.openxmlformats.org/officeDocument/2006/relationships/hyperlink" Target="https://youtu.be/Kin-CDfE-kQ" TargetMode="External"/><Relationship Id="rId4" Type="http://schemas.openxmlformats.org/officeDocument/2006/relationships/hyperlink" Target="https://youtu.be/oIRmfOW6o4k" TargetMode="External"/></Relationships>
</file>

<file path=ppt/slides/_rels/slide51.xml.rels><?xml version="1.0" encoding="UTF-8" standalone="yes"?>
<Relationships xmlns="http://schemas.openxmlformats.org/package/2006/relationships"><Relationship Id="rId2" Type="http://schemas.openxmlformats.org/officeDocument/2006/relationships/hyperlink" Target="https://www.youtube.com/watch?v=uCVetZE3GlM" TargetMode="Externa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hyperlink" Target="https://www.youtube.com/watch?v=uq9KBkKCLFM" TargetMode="Externa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hyperlink" Target="https://www.youtube.com/watch?v=j8xPszggugU" TargetMode="Externa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hyperlink" Target="https://www.acast.com/howibuiltthis/dyson-james-dyson" TargetMode="Externa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hyperlink" Target="https://evhippel.mit.edu/" TargetMode="Externa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hyperlink" Target="https://www.youtube.com/watch?v=PXXSAdwgr_w" TargetMode="External"/><Relationship Id="rId2" Type="http://schemas.openxmlformats.org/officeDocument/2006/relationships/hyperlink" Target="https://www.youtube.com/watch?v=Am9YXnmiKso" TargetMode="Externa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hyperlink" Target="https://www.johnbessant.org/feed" TargetMode="External"/><Relationship Id="rId2" Type="http://schemas.openxmlformats.org/officeDocument/2006/relationships/hyperlink" Target="https://podcasters.spotify.com/pod/show/john-bessant" TargetMode="External"/><Relationship Id="rId1" Type="http://schemas.openxmlformats.org/officeDocument/2006/relationships/slideLayout" Target="../slideLayouts/slideLayout2.xml"/><Relationship Id="rId4" Type="http://schemas.openxmlformats.org/officeDocument/2006/relationships/hyperlink" Target="https://johnbessant.org/category/blog/"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www.johnbessant.org/activitiesmo" TargetMode="Externa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hyperlink" Target="https://www.johnbessant.org/cases" TargetMode="External"/><Relationship Id="rId2" Type="http://schemas.openxmlformats.org/officeDocument/2006/relationships/hyperlink" Target="https://www.johnbessant.org/_files/ugd/f6594a_94b052b5472842b2825c11dd0a6f9591.pdf" TargetMode="Externa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hyperlink" Target="https://www.johnbessant.org/cases" TargetMode="Externa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hyperlink" Target="https://www.johnbessant.org/cases" TargetMode="Externa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hyperlink" Target="https://www.johnbessant.org/cases" TargetMode="Externa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hyperlink" Target="https://www.johnbessant.org/cases" TargetMode="Externa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hyperlink" Target="https://www.johnbessant.org/cases" TargetMode="Externa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hyperlink" Target="https://www.johnbessant.org/tools" TargetMode="Externa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hyperlink" Target="https://www.johnbessant.org/tools" TargetMode="Externa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https://www.johnbessant.org/tools" TargetMode="Externa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hyperlink" Target="https://www.johnbessant.org/activities" TargetMode="External"/><Relationship Id="rId2" Type="http://schemas.openxmlformats.org/officeDocument/2006/relationships/hyperlink" Target="https://www.johnbessant.org/tools" TargetMode="Externa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5A8AFA4-5C32-4100-9C6D-839A47E15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6B5F253-7949-47C2-9DBD-1570ECDA2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4349" y="685800"/>
            <a:ext cx="4066277" cy="54864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251319" y="1254763"/>
            <a:ext cx="2583711" cy="2481729"/>
          </a:xfrm>
        </p:spPr>
        <p:txBody>
          <a:bodyPr vert="horz" lIns="91440" tIns="45720" rIns="91440" bIns="45720" rtlCol="0" anchor="b">
            <a:normAutofit/>
          </a:bodyPr>
          <a:lstStyle/>
          <a:p>
            <a:pPr>
              <a:lnSpc>
                <a:spcPct val="90000"/>
              </a:lnSpc>
            </a:pPr>
            <a:r>
              <a:rPr lang="en-US" sz="2800" b="1">
                <a:solidFill>
                  <a:srgbClr val="595959"/>
                </a:solidFill>
              </a:rPr>
              <a:t>Teaching Resources and Instructors’ Guidelines</a:t>
            </a:r>
            <a:endParaRPr lang="en-US" sz="2800" u="sng">
              <a:solidFill>
                <a:srgbClr val="595959"/>
              </a:solidFill>
            </a:endParaRPr>
          </a:p>
        </p:txBody>
      </p:sp>
      <p:sp>
        <p:nvSpPr>
          <p:cNvPr id="5" name="Rectangle 4"/>
          <p:cNvSpPr/>
          <p:nvPr/>
        </p:nvSpPr>
        <p:spPr>
          <a:xfrm>
            <a:off x="1386884" y="4046453"/>
            <a:ext cx="2312581" cy="1785506"/>
          </a:xfrm>
          <a:prstGeom prst="rect">
            <a:avLst/>
          </a:prstGeom>
        </p:spPr>
        <p:txBody>
          <a:bodyPr vert="horz" lIns="91440" tIns="45720" rIns="91440" bIns="45720" rtlCol="0" anchor="t">
            <a:normAutofit/>
          </a:bodyPr>
          <a:lstStyle/>
          <a:p>
            <a:pPr algn="ctr">
              <a:lnSpc>
                <a:spcPct val="90000"/>
              </a:lnSpc>
              <a:spcBef>
                <a:spcPts val="1000"/>
              </a:spcBef>
            </a:pPr>
            <a:r>
              <a:rPr lang="en-US" sz="1200">
                <a:solidFill>
                  <a:srgbClr val="595959"/>
                </a:solidFill>
              </a:rPr>
              <a:t>Chapter 10: Creating new products and services</a:t>
            </a:r>
          </a:p>
        </p:txBody>
      </p:sp>
      <p:pic>
        <p:nvPicPr>
          <p:cNvPr id="3" name="Picture 2">
            <a:extLst>
              <a:ext uri="{FF2B5EF4-FFF2-40B4-BE49-F238E27FC236}">
                <a16:creationId xmlns:a16="http://schemas.microsoft.com/office/drawing/2014/main" id="{4BB29262-9EE0-EDC2-5B8B-AF8A9FD13D0E}"/>
              </a:ext>
            </a:extLst>
          </p:cNvPr>
          <p:cNvPicPr>
            <a:picLocks noChangeAspect="1"/>
          </p:cNvPicPr>
          <p:nvPr/>
        </p:nvPicPr>
        <p:blipFill>
          <a:blip r:embed="rId2">
            <a:extLst>
              <a:ext uri="{28A0092B-C50C-407E-A947-70E740481C1C}">
                <a14:useLocalDpi xmlns:a14="http://schemas.microsoft.com/office/drawing/2010/main" val="0"/>
              </a:ext>
            </a:extLst>
          </a:blip>
          <a:srcRect l="92" r="24633"/>
          <a:stretch/>
        </p:blipFill>
        <p:spPr>
          <a:xfrm>
            <a:off x="4580627" y="685799"/>
            <a:ext cx="4057650" cy="5486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0" y="1153572"/>
            <a:ext cx="2915425" cy="4461163"/>
          </a:xfrm>
        </p:spPr>
        <p:txBody>
          <a:bodyPr vert="horz" lIns="91440" tIns="45720" rIns="91440" bIns="45720" rtlCol="0" anchor="ctr">
            <a:normAutofit/>
          </a:bodyPr>
          <a:lstStyle/>
          <a:p>
            <a:pPr algn="l">
              <a:lnSpc>
                <a:spcPct val="90000"/>
              </a:lnSpc>
              <a:defRPr/>
            </a:pPr>
            <a:r>
              <a:rPr lang="en-US" b="1" kern="1200" dirty="0">
                <a:solidFill>
                  <a:srgbClr val="FFFFFF"/>
                </a:solidFill>
                <a:latin typeface="+mj-lt"/>
                <a:ea typeface="+mj-ea"/>
                <a:cs typeface="+mj-cs"/>
              </a:rPr>
              <a:t>Chapter 10: Creating new products and services</a:t>
            </a:r>
          </a:p>
        </p:txBody>
      </p:sp>
      <p:sp>
        <p:nvSpPr>
          <p:cNvPr id="15" name="Arc 14">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 name="Title 1"/>
          <p:cNvSpPr txBox="1">
            <a:spLocks/>
          </p:cNvSpPr>
          <p:nvPr/>
        </p:nvSpPr>
        <p:spPr>
          <a:xfrm>
            <a:off x="3335481" y="591344"/>
            <a:ext cx="5179868" cy="5585619"/>
          </a:xfrm>
          <a:prstGeom prst="rect">
            <a:avLst/>
          </a:prstGeom>
        </p:spPr>
        <p:txBody>
          <a:bodyPr vert="horz" lIns="91440" tIns="45720" rIns="91440" bIns="45720" rtlCol="0" anchor="ctr">
            <a:normAutofit/>
          </a:bodyPr>
          <a:lstStyle/>
          <a:p>
            <a:pPr marL="0" marR="0" lvl="0" indent="-228600" fontAlgn="auto">
              <a:lnSpc>
                <a:spcPct val="90000"/>
              </a:lnSpc>
              <a:spcAft>
                <a:spcPts val="600"/>
              </a:spcAft>
              <a:buClrTx/>
              <a:buSzTx/>
              <a:buFont typeface="Arial" panose="020B0604020202020204" pitchFamily="34" charset="0"/>
              <a:buChar char="•"/>
              <a:tabLst/>
              <a:defRPr/>
            </a:pPr>
            <a:endParaRPr kumimoji="0" lang="en-US" b="1" u="none" strike="noStrike" cap="none" spc="0" normalizeH="0" baseline="0" noProof="0">
              <a:ln>
                <a:noFill/>
              </a:ln>
              <a:effectLst/>
              <a:uLnTx/>
              <a:uFillTx/>
            </a:endParaRPr>
          </a:p>
          <a:p>
            <a:pPr indent="-228600">
              <a:lnSpc>
                <a:spcPct val="90000"/>
              </a:lnSpc>
              <a:spcAft>
                <a:spcPts val="600"/>
              </a:spcAft>
              <a:buFont typeface="Arial" panose="020B0604020202020204" pitchFamily="34" charset="0"/>
              <a:buChar char="•"/>
            </a:pPr>
            <a:r>
              <a:rPr lang="en-US" i="1"/>
              <a:t> In the following PowerPoint slides you will find the key headings from </a:t>
            </a:r>
            <a:r>
              <a:rPr lang="en-US" b="1"/>
              <a:t>CHAPTER 10</a:t>
            </a:r>
            <a:r>
              <a:rPr lang="en-US" i="1"/>
              <a:t> together with the main illustrations, tables, etc.  </a:t>
            </a:r>
          </a:p>
          <a:p>
            <a:pPr indent="-228600">
              <a:lnSpc>
                <a:spcPct val="90000"/>
              </a:lnSpc>
              <a:spcAft>
                <a:spcPts val="600"/>
              </a:spcAft>
              <a:buFont typeface="Arial" panose="020B0604020202020204" pitchFamily="34" charset="0"/>
              <a:buChar char="•"/>
            </a:pPr>
            <a:endParaRPr lang="en-US" i="1"/>
          </a:p>
          <a:p>
            <a:pPr indent="-228600">
              <a:lnSpc>
                <a:spcPct val="90000"/>
              </a:lnSpc>
              <a:spcAft>
                <a:spcPts val="600"/>
              </a:spcAft>
              <a:buFont typeface="Arial" panose="020B0604020202020204" pitchFamily="34" charset="0"/>
              <a:buChar char="•"/>
            </a:pPr>
            <a:r>
              <a:rPr lang="en-US" i="1"/>
              <a:t>There are also slides summarizing the key messages in bullet-point fashion, and a wide range of activities which you can use to help students explore around these themes.  </a:t>
            </a:r>
          </a:p>
          <a:p>
            <a:pPr indent="-228600">
              <a:lnSpc>
                <a:spcPct val="90000"/>
              </a:lnSpc>
              <a:spcAft>
                <a:spcPts val="600"/>
              </a:spcAft>
              <a:buFont typeface="Arial" panose="020B0604020202020204" pitchFamily="34" charset="0"/>
              <a:buChar char="•"/>
            </a:pPr>
            <a:endParaRPr lang="en-US" i="1"/>
          </a:p>
          <a:p>
            <a:pPr indent="-228600">
              <a:lnSpc>
                <a:spcPct val="90000"/>
              </a:lnSpc>
              <a:spcAft>
                <a:spcPts val="600"/>
              </a:spcAft>
              <a:buFont typeface="Arial" panose="020B0604020202020204" pitchFamily="34" charset="0"/>
              <a:buChar char="•"/>
            </a:pPr>
            <a:r>
              <a:rPr lang="en-US" i="1"/>
              <a:t>Finally there are some reflection questions which can be used as the basis for discussion or assignments.</a:t>
            </a:r>
          </a:p>
          <a:p>
            <a:pPr indent="-228600">
              <a:lnSpc>
                <a:spcPct val="90000"/>
              </a:lnSpc>
              <a:spcAft>
                <a:spcPts val="600"/>
              </a:spcAft>
              <a:buFont typeface="Arial" panose="020B0604020202020204" pitchFamily="34" charset="0"/>
              <a:buChar char="•"/>
            </a:pPr>
            <a:endParaRPr lang="en-US" i="1"/>
          </a:p>
        </p:txBody>
      </p:sp>
      <p:cxnSp>
        <p:nvCxnSpPr>
          <p:cNvPr id="6" name="Straight Connector 5"/>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608984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5125" y="1153572"/>
            <a:ext cx="2400300" cy="4461163"/>
          </a:xfrm>
        </p:spPr>
        <p:txBody>
          <a:bodyPr>
            <a:normAutofit/>
          </a:bodyPr>
          <a:lstStyle/>
          <a:p>
            <a:pPr lvl="0">
              <a:defRPr/>
            </a:pPr>
            <a:r>
              <a:rPr lang="en-GB" sz="3700" b="1">
                <a:solidFill>
                  <a:srgbClr val="FFFFFF"/>
                </a:solidFill>
              </a:rPr>
              <a:t>Learning Objectives</a:t>
            </a:r>
          </a:p>
        </p:txBody>
      </p:sp>
      <p:sp>
        <p:nvSpPr>
          <p:cNvPr id="22" name="Arc 2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3" name="Content Placeholder 12"/>
          <p:cNvSpPr>
            <a:spLocks noGrp="1"/>
          </p:cNvSpPr>
          <p:nvPr>
            <p:ph idx="1"/>
          </p:nvPr>
        </p:nvSpPr>
        <p:spPr>
          <a:xfrm>
            <a:off x="3346791" y="764704"/>
            <a:ext cx="5179868" cy="5585619"/>
          </a:xfrm>
        </p:spPr>
        <p:txBody>
          <a:bodyPr anchor="ctr">
            <a:normAutofit/>
          </a:bodyPr>
          <a:lstStyle/>
          <a:p>
            <a:pPr marL="0" indent="0">
              <a:lnSpc>
                <a:spcPct val="90000"/>
              </a:lnSpc>
              <a:buNone/>
            </a:pPr>
            <a:r>
              <a:rPr lang="en-US" sz="2200" b="1" dirty="0"/>
              <a:t>By the end of this chapter you will develop an understanding of: </a:t>
            </a:r>
            <a:endParaRPr lang="en-US" sz="2200" dirty="0"/>
          </a:p>
          <a:p>
            <a:pPr>
              <a:lnSpc>
                <a:spcPct val="90000"/>
              </a:lnSpc>
            </a:pPr>
            <a:r>
              <a:rPr lang="en-US" sz="2200" b="1" dirty="0"/>
              <a:t>a formal process to support new product development, such as stage-gate and the development funnel </a:t>
            </a:r>
          </a:p>
          <a:p>
            <a:pPr>
              <a:lnSpc>
                <a:spcPct val="90000"/>
              </a:lnSpc>
            </a:pPr>
            <a:r>
              <a:rPr lang="en-US" sz="2200" b="1" dirty="0"/>
              <a:t>product and organizational factors which influence success and failure </a:t>
            </a:r>
          </a:p>
          <a:p>
            <a:pPr>
              <a:lnSpc>
                <a:spcPct val="90000"/>
              </a:lnSpc>
            </a:pPr>
            <a:r>
              <a:rPr lang="en-US" sz="2200" b="1" dirty="0"/>
              <a:t>choosing and applying relevant tools to support each stage of product development </a:t>
            </a:r>
          </a:p>
          <a:p>
            <a:pPr>
              <a:lnSpc>
                <a:spcPct val="90000"/>
              </a:lnSpc>
            </a:pPr>
            <a:r>
              <a:rPr lang="en-US" sz="2200" b="1" dirty="0"/>
              <a:t>the differences between products and services and how these influence development </a:t>
            </a:r>
          </a:p>
          <a:p>
            <a:pPr>
              <a:lnSpc>
                <a:spcPct val="90000"/>
              </a:lnSpc>
            </a:pPr>
            <a:r>
              <a:rPr lang="en-US" sz="2200" b="1" dirty="0"/>
              <a:t>applying the lessons of diffusion research to promote the adoption of innovations. </a:t>
            </a:r>
          </a:p>
          <a:p>
            <a:pPr>
              <a:lnSpc>
                <a:spcPct val="90000"/>
              </a:lnSpc>
            </a:pPr>
            <a:endParaRPr lang="en-US" sz="2200" dirty="0"/>
          </a:p>
        </p:txBody>
      </p:sp>
      <p:cxnSp>
        <p:nvCxnSpPr>
          <p:cNvPr id="8" name="Straight Connector 7"/>
          <p:cNvCxnSpPr/>
          <p:nvPr/>
        </p:nvCxnSpPr>
        <p:spPr>
          <a:xfrm>
            <a:off x="458167" y="1416050"/>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304629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301E07F-4F79-4B58-8698-EF24DC1ECD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Arc 13">
            <a:extLst>
              <a:ext uri="{FF2B5EF4-FFF2-40B4-BE49-F238E27FC236}">
                <a16:creationId xmlns:a16="http://schemas.microsoft.com/office/drawing/2014/main" id="{E58B2195-5055-402F-A3E7-53FF0E4980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94377" y="775849"/>
            <a:ext cx="2240924"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2FF829E-164C-C647-862D-C0E45AB0C1E5}"/>
              </a:ext>
            </a:extLst>
          </p:cNvPr>
          <p:cNvSpPr>
            <a:spLocks noGrp="1"/>
          </p:cNvSpPr>
          <p:nvPr>
            <p:ph type="title"/>
          </p:nvPr>
        </p:nvSpPr>
        <p:spPr>
          <a:xfrm>
            <a:off x="5310553" y="647593"/>
            <a:ext cx="3350844" cy="3060541"/>
          </a:xfrm>
        </p:spPr>
        <p:txBody>
          <a:bodyPr vert="horz" lIns="91440" tIns="45720" rIns="91440" bIns="45720" rtlCol="0" anchor="b">
            <a:normAutofit/>
          </a:bodyPr>
          <a:lstStyle/>
          <a:p>
            <a:pPr>
              <a:lnSpc>
                <a:spcPct val="90000"/>
              </a:lnSpc>
            </a:pPr>
            <a:r>
              <a:rPr lang="en-US" sz="4700" kern="1200">
                <a:solidFill>
                  <a:srgbClr val="FFFFFF"/>
                </a:solidFill>
                <a:latin typeface="+mj-lt"/>
                <a:ea typeface="+mj-ea"/>
                <a:cs typeface="+mj-cs"/>
              </a:rPr>
              <a:t>Core themes and material from the book</a:t>
            </a:r>
          </a:p>
        </p:txBody>
      </p:sp>
      <p:sp>
        <p:nvSpPr>
          <p:cNvPr id="16" name="Oval 15">
            <a:extLst>
              <a:ext uri="{FF2B5EF4-FFF2-40B4-BE49-F238E27FC236}">
                <a16:creationId xmlns:a16="http://schemas.microsoft.com/office/drawing/2014/main" id="{9EE6F773-742A-491A-9A00-A2A150DF50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8276" y="366810"/>
            <a:ext cx="4593285" cy="612438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Books">
            <a:extLst>
              <a:ext uri="{FF2B5EF4-FFF2-40B4-BE49-F238E27FC236}">
                <a16:creationId xmlns:a16="http://schemas.microsoft.com/office/drawing/2014/main" id="{047FB8FE-B6DD-411D-B9FE-1BD2B5EA19B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0060" y="1834479"/>
            <a:ext cx="3189041" cy="3189041"/>
          </a:xfrm>
          <a:custGeom>
            <a:avLst/>
            <a:gdLst/>
            <a:ahLst/>
            <a:cxnLst/>
            <a:rect l="l" t="t" r="r" b="b"/>
            <a:pathLst>
              <a:path w="4273177" h="4470400">
                <a:moveTo>
                  <a:pt x="75080" y="0"/>
                </a:moveTo>
                <a:lnTo>
                  <a:pt x="4198097" y="0"/>
                </a:lnTo>
                <a:cubicBezTo>
                  <a:pt x="4239563" y="0"/>
                  <a:pt x="4273177" y="33614"/>
                  <a:pt x="4273177" y="75080"/>
                </a:cubicBezTo>
                <a:lnTo>
                  <a:pt x="4273177" y="4395320"/>
                </a:lnTo>
                <a:cubicBezTo>
                  <a:pt x="4273177" y="4436786"/>
                  <a:pt x="4239563" y="4470400"/>
                  <a:pt x="4198097" y="4470400"/>
                </a:cubicBezTo>
                <a:lnTo>
                  <a:pt x="75080" y="4470400"/>
                </a:lnTo>
                <a:cubicBezTo>
                  <a:pt x="33614" y="4470400"/>
                  <a:pt x="0" y="4436786"/>
                  <a:pt x="0" y="4395320"/>
                </a:cubicBezTo>
                <a:lnTo>
                  <a:pt x="0" y="75080"/>
                </a:lnTo>
                <a:cubicBezTo>
                  <a:pt x="0" y="33614"/>
                  <a:pt x="33614" y="0"/>
                  <a:pt x="75080" y="0"/>
                </a:cubicBezTo>
                <a:close/>
              </a:path>
            </a:pathLst>
          </a:custGeom>
        </p:spPr>
      </p:pic>
    </p:spTree>
    <p:extLst>
      <p:ext uri="{BB962C8B-B14F-4D97-AF65-F5344CB8AC3E}">
        <p14:creationId xmlns:p14="http://schemas.microsoft.com/office/powerpoint/2010/main" val="7113044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p:nvPr/>
        </p:nvPicPr>
        <p:blipFill>
          <a:blip r:embed="rId2" cstate="print">
            <a:extLst>
              <a:ext uri="{28A0092B-C50C-407E-A947-70E740481C1C}">
                <a14:useLocalDpi xmlns:a14="http://schemas.microsoft.com/office/drawing/2010/main" val="0"/>
              </a:ext>
            </a:extLst>
          </a:blip>
          <a:stretch>
            <a:fillRect/>
          </a:stretch>
        </p:blipFill>
        <p:spPr>
          <a:xfrm>
            <a:off x="1518528" y="1410235"/>
            <a:ext cx="6002586" cy="4586384"/>
          </a:xfrm>
          <a:prstGeom prst="rect">
            <a:avLst/>
          </a:prstGeom>
        </p:spPr>
      </p:pic>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907704" y="332656"/>
            <a:ext cx="5099189"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Implementation as a journey</a:t>
            </a:r>
            <a:endParaRPr lang="en-GB" sz="3600" b="1" dirty="0">
              <a:solidFill>
                <a:srgbClr val="008000"/>
              </a:solidFill>
              <a:latin typeface="+mj-lt"/>
              <a:ea typeface="+mj-ea"/>
              <a:cs typeface="+mj-cs"/>
            </a:endParaRPr>
          </a:p>
        </p:txBody>
      </p:sp>
      <p:sp>
        <p:nvSpPr>
          <p:cNvPr id="12" name="Rectangle 11"/>
          <p:cNvSpPr/>
          <p:nvPr/>
        </p:nvSpPr>
        <p:spPr>
          <a:xfrm>
            <a:off x="163132" y="6242447"/>
            <a:ext cx="8936183" cy="353943"/>
          </a:xfrm>
          <a:prstGeom prst="rect">
            <a:avLst/>
          </a:prstGeom>
          <a:solidFill>
            <a:schemeClr val="bg1"/>
          </a:solidFill>
        </p:spPr>
        <p:txBody>
          <a:bodyPr wrap="square">
            <a:spAutoFit/>
          </a:bodyPr>
          <a:lstStyle/>
          <a:p>
            <a:pPr algn="ctr"/>
            <a:endParaRPr lang="en-US" sz="1700" dirty="0"/>
          </a:p>
        </p:txBody>
      </p:sp>
    </p:spTree>
    <p:extLst>
      <p:ext uri="{BB962C8B-B14F-4D97-AF65-F5344CB8AC3E}">
        <p14:creationId xmlns:p14="http://schemas.microsoft.com/office/powerpoint/2010/main" val="16400657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979712" y="332656"/>
            <a:ext cx="4938903" cy="917864"/>
          </a:xfrm>
          <a:prstGeom prst="rect">
            <a:avLst/>
          </a:prstGeom>
        </p:spPr>
        <p:txBody>
          <a:bodyPr vert="horz" lIns="91440" tIns="45720" rIns="91440" bIns="45720" rtlCol="0" anchor="ctr">
            <a:noAutofit/>
          </a:bodyPr>
          <a:lstStyle/>
          <a:p>
            <a:pPr algn="ctr"/>
            <a:r>
              <a:rPr lang="en-US" sz="3600" b="1" dirty="0">
                <a:solidFill>
                  <a:srgbClr val="008000"/>
                </a:solidFill>
                <a:latin typeface="+mj-lt"/>
                <a:ea typeface="+mj-ea"/>
                <a:cs typeface="+mj-cs"/>
              </a:rPr>
              <a:t>The development funnel</a:t>
            </a:r>
            <a:endParaRPr lang="en-GB" sz="3600" b="1" dirty="0">
              <a:solidFill>
                <a:srgbClr val="008000"/>
              </a:solidFill>
              <a:latin typeface="+mj-lt"/>
              <a:ea typeface="+mj-ea"/>
              <a:cs typeface="+mj-cs"/>
            </a:endParaRPr>
          </a:p>
        </p:txBody>
      </p:sp>
      <p:sp>
        <p:nvSpPr>
          <p:cNvPr id="12" name="Rectangle 11"/>
          <p:cNvSpPr/>
          <p:nvPr/>
        </p:nvSpPr>
        <p:spPr>
          <a:xfrm>
            <a:off x="163132" y="6242447"/>
            <a:ext cx="8936183" cy="600164"/>
          </a:xfrm>
          <a:prstGeom prst="rect">
            <a:avLst/>
          </a:prstGeom>
          <a:solidFill>
            <a:schemeClr val="bg1"/>
          </a:solidFill>
        </p:spPr>
        <p:txBody>
          <a:bodyPr wrap="square">
            <a:spAutoFit/>
          </a:bodyPr>
          <a:lstStyle/>
          <a:p>
            <a:pPr algn="ctr"/>
            <a:r>
              <a:rPr lang="en-US" sz="1700" dirty="0"/>
              <a:t>Figure 10.2 of the book </a:t>
            </a:r>
            <a:r>
              <a:rPr lang="en-GB" sz="1600" dirty="0"/>
              <a:t>presents the ‘development funnel’ showing that there is a structure in place which reviews both technical and marketing data at each stage </a:t>
            </a:r>
            <a:endParaRPr lang="en-US" sz="1700" dirty="0"/>
          </a:p>
        </p:txBody>
      </p:sp>
      <p:pic>
        <p:nvPicPr>
          <p:cNvPr id="2" name="Picture 1" descr="Screen Shot 2015-04-11 at 16.41.09.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93900" y="2133600"/>
            <a:ext cx="5143500" cy="2590800"/>
          </a:xfrm>
          <a:prstGeom prst="rect">
            <a:avLst/>
          </a:prstGeom>
        </p:spPr>
      </p:pic>
    </p:spTree>
    <p:extLst>
      <p:ext uri="{BB962C8B-B14F-4D97-AF65-F5344CB8AC3E}">
        <p14:creationId xmlns:p14="http://schemas.microsoft.com/office/powerpoint/2010/main" val="35211514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827584" y="260648"/>
            <a:ext cx="6902200" cy="917864"/>
          </a:xfrm>
          <a:prstGeom prst="rect">
            <a:avLst/>
          </a:prstGeom>
        </p:spPr>
        <p:txBody>
          <a:bodyPr vert="horz" lIns="91440" tIns="45720" rIns="91440" bIns="45720" rtlCol="0" anchor="ctr">
            <a:noAutofit/>
          </a:bodyPr>
          <a:lstStyle/>
          <a:p>
            <a:pPr lvl="0" algn="ctr">
              <a:spcBef>
                <a:spcPct val="0"/>
              </a:spcBef>
              <a:defRPr/>
            </a:pPr>
            <a:r>
              <a:rPr lang="en-US" sz="3600" b="1" dirty="0">
                <a:solidFill>
                  <a:srgbClr val="008000"/>
                </a:solidFill>
                <a:latin typeface="+mj-lt"/>
                <a:ea typeface="+mj-ea"/>
                <a:cs typeface="+mj-cs"/>
              </a:rPr>
              <a:t>A simplified 4 stage model</a:t>
            </a:r>
            <a:endParaRPr lang="en-GB" sz="3600" b="1" dirty="0">
              <a:solidFill>
                <a:srgbClr val="008000"/>
              </a:solidFill>
              <a:latin typeface="+mj-lt"/>
              <a:ea typeface="+mj-ea"/>
              <a:cs typeface="+mj-cs"/>
            </a:endParaRPr>
          </a:p>
        </p:txBody>
      </p:sp>
      <p:sp>
        <p:nvSpPr>
          <p:cNvPr id="8" name="Rectangle 7"/>
          <p:cNvSpPr/>
          <p:nvPr/>
        </p:nvSpPr>
        <p:spPr>
          <a:xfrm>
            <a:off x="458167" y="1486293"/>
            <a:ext cx="8478016" cy="5355313"/>
          </a:xfrm>
          <a:prstGeom prst="rect">
            <a:avLst/>
          </a:prstGeom>
        </p:spPr>
        <p:txBody>
          <a:bodyPr wrap="square">
            <a:spAutoFit/>
          </a:bodyPr>
          <a:lstStyle/>
          <a:p>
            <a:pPr>
              <a:spcAft>
                <a:spcPts val="3600"/>
              </a:spcAft>
            </a:pPr>
            <a:r>
              <a:rPr lang="en-US" sz="2800" b="1" dirty="0"/>
              <a:t>• </a:t>
            </a:r>
            <a:r>
              <a:rPr lang="en-US" sz="2800" i="1" dirty="0">
                <a:solidFill>
                  <a:schemeClr val="tx1">
                    <a:lumMod val="50000"/>
                    <a:lumOff val="50000"/>
                  </a:schemeClr>
                </a:solidFill>
              </a:rPr>
              <a:t>Concept generation </a:t>
            </a:r>
            <a:r>
              <a:rPr lang="en-US" sz="2800" dirty="0"/>
              <a:t>– identifying the opportunities for </a:t>
            </a:r>
            <a:r>
              <a:rPr lang="en-US" sz="2800" dirty="0">
                <a:solidFill>
                  <a:schemeClr val="tx1">
                    <a:lumMod val="50000"/>
                    <a:lumOff val="50000"/>
                  </a:schemeClr>
                </a:solidFill>
              </a:rPr>
              <a:t>new products and services</a:t>
            </a:r>
            <a:r>
              <a:rPr lang="en-US" sz="2800" dirty="0"/>
              <a:t>.</a:t>
            </a:r>
          </a:p>
          <a:p>
            <a:pPr>
              <a:spcAft>
                <a:spcPts val="3600"/>
              </a:spcAft>
            </a:pPr>
            <a:r>
              <a:rPr lang="en-US" sz="2800" b="1" dirty="0"/>
              <a:t>• </a:t>
            </a:r>
            <a:r>
              <a:rPr lang="en-US" sz="2800" i="1" dirty="0">
                <a:solidFill>
                  <a:schemeClr val="tx1">
                    <a:lumMod val="50000"/>
                    <a:lumOff val="50000"/>
                  </a:schemeClr>
                </a:solidFill>
              </a:rPr>
              <a:t>Project assessment and selection </a:t>
            </a:r>
            <a:r>
              <a:rPr lang="en-US" sz="2800" dirty="0"/>
              <a:t>– screening and choosing projects which satisfy certain criteria.</a:t>
            </a:r>
            <a:endParaRPr lang="en-GB" sz="2800" dirty="0"/>
          </a:p>
          <a:p>
            <a:pPr>
              <a:spcAft>
                <a:spcPts val="3600"/>
              </a:spcAft>
            </a:pPr>
            <a:r>
              <a:rPr lang="en-US" sz="2800" b="1" dirty="0"/>
              <a:t>• </a:t>
            </a:r>
            <a:r>
              <a:rPr lang="en-US" sz="2800" i="1" dirty="0">
                <a:solidFill>
                  <a:schemeClr val="tx1">
                    <a:lumMod val="50000"/>
                    <a:lumOff val="50000"/>
                  </a:schemeClr>
                </a:solidFill>
              </a:rPr>
              <a:t>Product or service development </a:t>
            </a:r>
            <a:r>
              <a:rPr lang="en-US" sz="2800" dirty="0"/>
              <a:t>– translating the selected concepts into a physical product or a new service.</a:t>
            </a:r>
            <a:endParaRPr lang="en-GB" sz="2800" dirty="0"/>
          </a:p>
          <a:p>
            <a:pPr>
              <a:spcAft>
                <a:spcPts val="3600"/>
              </a:spcAft>
            </a:pPr>
            <a:r>
              <a:rPr lang="en-US" sz="2800" b="1" dirty="0"/>
              <a:t>• </a:t>
            </a:r>
            <a:r>
              <a:rPr lang="en-US" sz="2800" i="1" dirty="0">
                <a:solidFill>
                  <a:schemeClr val="tx1">
                    <a:lumMod val="50000"/>
                    <a:lumOff val="50000"/>
                  </a:schemeClr>
                </a:solidFill>
              </a:rPr>
              <a:t>Product or service commercialization </a:t>
            </a:r>
            <a:r>
              <a:rPr lang="en-US" sz="2800" dirty="0"/>
              <a:t>– testing, launching and marketing the new product or service.</a:t>
            </a:r>
            <a:endParaRPr lang="en-GB" sz="2800" dirty="0"/>
          </a:p>
        </p:txBody>
      </p:sp>
    </p:spTree>
    <p:extLst>
      <p:ext uri="{BB962C8B-B14F-4D97-AF65-F5344CB8AC3E}">
        <p14:creationId xmlns:p14="http://schemas.microsoft.com/office/powerpoint/2010/main" val="42659957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395536" y="332656"/>
            <a:ext cx="5099189" cy="917864"/>
          </a:xfrm>
          <a:prstGeom prst="rect">
            <a:avLst/>
          </a:prstGeom>
        </p:spPr>
        <p:txBody>
          <a:bodyPr vert="horz" lIns="91440" tIns="45720" rIns="91440" bIns="45720" rtlCol="0" anchor="ctr">
            <a:noAutofit/>
          </a:bodyPr>
          <a:lstStyle/>
          <a:p>
            <a:pPr lvl="0" algn="ctr">
              <a:spcBef>
                <a:spcPct val="0"/>
              </a:spcBef>
              <a:defRPr/>
            </a:pPr>
            <a:r>
              <a:rPr lang="en-US" sz="3600" b="1" dirty="0">
                <a:solidFill>
                  <a:srgbClr val="008000"/>
                </a:solidFill>
                <a:latin typeface="+mj-lt"/>
                <a:ea typeface="+mj-ea"/>
                <a:cs typeface="+mj-cs"/>
              </a:rPr>
              <a:t>Project selection</a:t>
            </a:r>
            <a:endParaRPr lang="en-GB" sz="3600" b="1" dirty="0">
              <a:solidFill>
                <a:srgbClr val="008000"/>
              </a:solidFill>
              <a:latin typeface="+mj-lt"/>
              <a:ea typeface="+mj-ea"/>
              <a:cs typeface="+mj-cs"/>
            </a:endParaRPr>
          </a:p>
        </p:txBody>
      </p:sp>
      <p:sp>
        <p:nvSpPr>
          <p:cNvPr id="8" name="Rectangle 7"/>
          <p:cNvSpPr/>
          <p:nvPr/>
        </p:nvSpPr>
        <p:spPr>
          <a:xfrm>
            <a:off x="458167" y="1486293"/>
            <a:ext cx="8478016" cy="4739760"/>
          </a:xfrm>
          <a:prstGeom prst="rect">
            <a:avLst/>
          </a:prstGeom>
        </p:spPr>
        <p:txBody>
          <a:bodyPr wrap="square">
            <a:spAutoFit/>
          </a:bodyPr>
          <a:lstStyle/>
          <a:p>
            <a:pPr>
              <a:spcAft>
                <a:spcPts val="3000"/>
              </a:spcAft>
            </a:pPr>
            <a:r>
              <a:rPr lang="en-US" sz="2800" dirty="0"/>
              <a:t>Two filters:</a:t>
            </a:r>
            <a:endParaRPr lang="en-GB" sz="2800" dirty="0"/>
          </a:p>
          <a:p>
            <a:pPr>
              <a:spcAft>
                <a:spcPts val="3000"/>
              </a:spcAft>
            </a:pPr>
            <a:r>
              <a:rPr lang="en-US" sz="2800" b="1" dirty="0">
                <a:solidFill>
                  <a:schemeClr val="tx1">
                    <a:lumMod val="50000"/>
                    <a:lumOff val="50000"/>
                  </a:schemeClr>
                </a:solidFill>
              </a:rPr>
              <a:t>Aggregate product plan </a:t>
            </a:r>
            <a:r>
              <a:rPr lang="en-US" sz="2800" dirty="0"/>
              <a:t>– attempts to integrate the various potential projects to ensure that the collective set of development projects meet the goals and objectives of the firm, and help to build the capabilities needed.</a:t>
            </a:r>
            <a:endParaRPr lang="en-GB" sz="2800" dirty="0"/>
          </a:p>
          <a:p>
            <a:pPr>
              <a:spcAft>
                <a:spcPts val="3000"/>
              </a:spcAft>
            </a:pPr>
            <a:r>
              <a:rPr lang="en-US" sz="2800" b="1" dirty="0">
                <a:solidFill>
                  <a:schemeClr val="tx1">
                    <a:lumMod val="50000"/>
                    <a:lumOff val="50000"/>
                  </a:schemeClr>
                </a:solidFill>
              </a:rPr>
              <a:t>Developing specific product concepts</a:t>
            </a:r>
            <a:r>
              <a:rPr lang="en-US" sz="2800" dirty="0"/>
              <a:t>. The two most common processes at this level are the development funnel and the stage gate system.</a:t>
            </a:r>
            <a:endParaRPr lang="en-GB" sz="2800" dirty="0"/>
          </a:p>
        </p:txBody>
      </p:sp>
      <p:pic>
        <p:nvPicPr>
          <p:cNvPr id="34818" name="Picture 2" descr="Image result for selection"/>
          <p:cNvPicPr>
            <a:picLocks noChangeAspect="1" noChangeArrowheads="1"/>
          </p:cNvPicPr>
          <p:nvPr/>
        </p:nvPicPr>
        <p:blipFill>
          <a:blip r:embed="rId2" cstate="print"/>
          <a:srcRect/>
          <a:stretch>
            <a:fillRect/>
          </a:stretch>
        </p:blipFill>
        <p:spPr bwMode="auto">
          <a:xfrm>
            <a:off x="5652120" y="0"/>
            <a:ext cx="2781944" cy="1344606"/>
          </a:xfrm>
          <a:prstGeom prst="rect">
            <a:avLst/>
          </a:prstGeom>
          <a:noFill/>
        </p:spPr>
      </p:pic>
    </p:spTree>
    <p:extLst>
      <p:ext uri="{BB962C8B-B14F-4D97-AF65-F5344CB8AC3E}">
        <p14:creationId xmlns:p14="http://schemas.microsoft.com/office/powerpoint/2010/main" val="40600787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979712" y="332656"/>
            <a:ext cx="5099189"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Product development</a:t>
            </a:r>
            <a:endParaRPr lang="en-GB" sz="3600" b="1" dirty="0">
              <a:solidFill>
                <a:srgbClr val="008000"/>
              </a:solidFill>
              <a:latin typeface="+mj-lt"/>
              <a:ea typeface="+mj-ea"/>
              <a:cs typeface="+mj-cs"/>
            </a:endParaRPr>
          </a:p>
        </p:txBody>
      </p:sp>
      <p:sp>
        <p:nvSpPr>
          <p:cNvPr id="8" name="Rectangle 7"/>
          <p:cNvSpPr/>
          <p:nvPr/>
        </p:nvSpPr>
        <p:spPr>
          <a:xfrm>
            <a:off x="467544" y="1772816"/>
            <a:ext cx="8478016" cy="1384995"/>
          </a:xfrm>
          <a:prstGeom prst="rect">
            <a:avLst/>
          </a:prstGeom>
        </p:spPr>
        <p:txBody>
          <a:bodyPr wrap="square">
            <a:spAutoFit/>
          </a:bodyPr>
          <a:lstStyle/>
          <a:p>
            <a:pPr>
              <a:spcAft>
                <a:spcPts val="3000"/>
              </a:spcAft>
            </a:pPr>
            <a:r>
              <a:rPr lang="en-US" sz="2800" dirty="0"/>
              <a:t>This stage includes all the activities necessary to take the chosen concept and deliver a product or service for commercialization.</a:t>
            </a:r>
            <a:endParaRPr lang="en-GB" sz="2800" dirty="0"/>
          </a:p>
        </p:txBody>
      </p:sp>
      <p:pic>
        <p:nvPicPr>
          <p:cNvPr id="33794" name="Picture 2" descr="Image result for development"/>
          <p:cNvPicPr>
            <a:picLocks noChangeAspect="1" noChangeArrowheads="1"/>
          </p:cNvPicPr>
          <p:nvPr/>
        </p:nvPicPr>
        <p:blipFill>
          <a:blip r:embed="rId2" cstate="print"/>
          <a:srcRect/>
          <a:stretch>
            <a:fillRect/>
          </a:stretch>
        </p:blipFill>
        <p:spPr bwMode="auto">
          <a:xfrm>
            <a:off x="2483768" y="3573016"/>
            <a:ext cx="4438527" cy="2496671"/>
          </a:xfrm>
          <a:prstGeom prst="rect">
            <a:avLst/>
          </a:prstGeom>
          <a:noFill/>
        </p:spPr>
      </p:pic>
    </p:spTree>
    <p:extLst>
      <p:ext uri="{BB962C8B-B14F-4D97-AF65-F5344CB8AC3E}">
        <p14:creationId xmlns:p14="http://schemas.microsoft.com/office/powerpoint/2010/main" val="14656112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907704" y="332656"/>
            <a:ext cx="5099189"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Success factors in new product development</a:t>
            </a:r>
            <a:endParaRPr lang="en-GB" sz="3600" b="1" dirty="0">
              <a:solidFill>
                <a:srgbClr val="008000"/>
              </a:solidFill>
              <a:latin typeface="+mj-lt"/>
              <a:ea typeface="+mj-ea"/>
              <a:cs typeface="+mj-cs"/>
            </a:endParaRPr>
          </a:p>
        </p:txBody>
      </p:sp>
      <p:sp>
        <p:nvSpPr>
          <p:cNvPr id="8" name="Rectangle 7"/>
          <p:cNvSpPr/>
          <p:nvPr/>
        </p:nvSpPr>
        <p:spPr>
          <a:xfrm>
            <a:off x="458167" y="1509117"/>
            <a:ext cx="8478016" cy="5155257"/>
          </a:xfrm>
          <a:prstGeom prst="rect">
            <a:avLst/>
          </a:prstGeom>
        </p:spPr>
        <p:txBody>
          <a:bodyPr wrap="square">
            <a:spAutoFit/>
          </a:bodyPr>
          <a:lstStyle/>
          <a:p>
            <a:pPr>
              <a:spcAft>
                <a:spcPts val="1800"/>
              </a:spcAft>
            </a:pPr>
            <a:r>
              <a:rPr lang="en-US" sz="2800" b="1" dirty="0"/>
              <a:t>• </a:t>
            </a:r>
            <a:r>
              <a:rPr lang="en-US" sz="2800" i="1" dirty="0"/>
              <a:t>Product advantage </a:t>
            </a:r>
            <a:endParaRPr lang="en-GB" sz="2800" dirty="0"/>
          </a:p>
          <a:p>
            <a:pPr>
              <a:spcAft>
                <a:spcPts val="1800"/>
              </a:spcAft>
            </a:pPr>
            <a:r>
              <a:rPr lang="en-US" sz="2800" b="1" dirty="0"/>
              <a:t>• </a:t>
            </a:r>
            <a:r>
              <a:rPr lang="en-US" sz="2800" i="1" dirty="0"/>
              <a:t>Market knowledge</a:t>
            </a:r>
            <a:endParaRPr lang="en-GB" sz="2800" dirty="0"/>
          </a:p>
          <a:p>
            <a:pPr>
              <a:spcAft>
                <a:spcPts val="1800"/>
              </a:spcAft>
            </a:pPr>
            <a:r>
              <a:rPr lang="en-US" sz="2800" b="1" dirty="0"/>
              <a:t>• </a:t>
            </a:r>
            <a:r>
              <a:rPr lang="en-US" sz="2800" i="1" dirty="0"/>
              <a:t>Clear product definition </a:t>
            </a:r>
            <a:endParaRPr lang="en-GB" sz="2800" dirty="0"/>
          </a:p>
          <a:p>
            <a:pPr>
              <a:spcAft>
                <a:spcPts val="1800"/>
              </a:spcAft>
            </a:pPr>
            <a:r>
              <a:rPr lang="en-US" sz="2800" b="1" dirty="0"/>
              <a:t>• </a:t>
            </a:r>
            <a:r>
              <a:rPr lang="en-US" sz="2800" i="1" dirty="0"/>
              <a:t>Risk assessment</a:t>
            </a:r>
            <a:endParaRPr lang="en-GB" sz="2800" dirty="0"/>
          </a:p>
          <a:p>
            <a:pPr>
              <a:spcAft>
                <a:spcPts val="1800"/>
              </a:spcAft>
            </a:pPr>
            <a:r>
              <a:rPr lang="en-US" sz="2800" b="1" dirty="0"/>
              <a:t>• </a:t>
            </a:r>
            <a:r>
              <a:rPr lang="en-US" sz="2800" i="1" dirty="0"/>
              <a:t>Project organization</a:t>
            </a:r>
            <a:endParaRPr lang="en-GB" sz="2800" dirty="0"/>
          </a:p>
          <a:p>
            <a:pPr>
              <a:spcAft>
                <a:spcPts val="1800"/>
              </a:spcAft>
            </a:pPr>
            <a:r>
              <a:rPr lang="en-US" sz="2800" b="1" dirty="0"/>
              <a:t>• </a:t>
            </a:r>
            <a:r>
              <a:rPr lang="en-US" sz="2800" i="1" dirty="0"/>
              <a:t>Project resources </a:t>
            </a:r>
            <a:endParaRPr lang="en-GB" sz="2800" dirty="0"/>
          </a:p>
          <a:p>
            <a:pPr>
              <a:spcAft>
                <a:spcPts val="1800"/>
              </a:spcAft>
            </a:pPr>
            <a:r>
              <a:rPr lang="en-US" sz="2800" b="1" dirty="0"/>
              <a:t>• </a:t>
            </a:r>
            <a:r>
              <a:rPr lang="en-US" sz="2800" i="1" dirty="0"/>
              <a:t>Proficiency of execution </a:t>
            </a:r>
            <a:endParaRPr lang="en-GB" sz="2800" dirty="0"/>
          </a:p>
          <a:p>
            <a:pPr>
              <a:spcAft>
                <a:spcPts val="1800"/>
              </a:spcAft>
            </a:pPr>
            <a:r>
              <a:rPr lang="en-US" sz="2800" b="1" dirty="0"/>
              <a:t>• </a:t>
            </a:r>
            <a:r>
              <a:rPr lang="en-US" sz="2800" i="1" dirty="0"/>
              <a:t>Top management support</a:t>
            </a:r>
            <a:endParaRPr lang="en-GB" sz="2800" dirty="0"/>
          </a:p>
        </p:txBody>
      </p:sp>
    </p:spTree>
    <p:extLst>
      <p:ext uri="{BB962C8B-B14F-4D97-AF65-F5344CB8AC3E}">
        <p14:creationId xmlns:p14="http://schemas.microsoft.com/office/powerpoint/2010/main" val="4712249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219423"/>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361564" y="85514"/>
            <a:ext cx="6680673" cy="917864"/>
          </a:xfrm>
          <a:prstGeom prst="rect">
            <a:avLst/>
          </a:prstGeom>
        </p:spPr>
        <p:txBody>
          <a:bodyPr vert="horz" lIns="91440" tIns="45720" rIns="91440" bIns="45720" rtlCol="0" anchor="ctr">
            <a:noAutofit/>
          </a:bodyPr>
          <a:lstStyle/>
          <a:p>
            <a:pPr lvl="0" algn="ctr">
              <a:spcBef>
                <a:spcPct val="0"/>
              </a:spcBef>
              <a:defRPr/>
            </a:pPr>
            <a:r>
              <a:rPr lang="en-US" sz="3600" b="1" dirty="0">
                <a:solidFill>
                  <a:srgbClr val="008000"/>
                </a:solidFill>
                <a:latin typeface="+mj-lt"/>
                <a:ea typeface="+mj-ea"/>
                <a:cs typeface="+mj-cs"/>
              </a:rPr>
              <a:t>Winning at new products</a:t>
            </a:r>
            <a:endParaRPr lang="en-GB" sz="3600" b="1" dirty="0">
              <a:solidFill>
                <a:srgbClr val="008000"/>
              </a:solidFill>
              <a:latin typeface="+mj-lt"/>
              <a:ea typeface="+mj-ea"/>
              <a:cs typeface="+mj-cs"/>
            </a:endParaRPr>
          </a:p>
        </p:txBody>
      </p:sp>
      <p:pic>
        <p:nvPicPr>
          <p:cNvPr id="2" name="Picture 1" descr="Screen Shot 2015-04-11 at 16.43.34.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11300" y="1402379"/>
            <a:ext cx="5921887" cy="5430444"/>
          </a:xfrm>
          <a:prstGeom prst="rect">
            <a:avLst/>
          </a:prstGeom>
        </p:spPr>
      </p:pic>
      <p:sp>
        <p:nvSpPr>
          <p:cNvPr id="3" name="TextBox 2">
            <a:extLst>
              <a:ext uri="{FF2B5EF4-FFF2-40B4-BE49-F238E27FC236}">
                <a16:creationId xmlns:a16="http://schemas.microsoft.com/office/drawing/2014/main" id="{BA9D94CF-D731-1746-969F-B18FD240E65B}"/>
              </a:ext>
            </a:extLst>
          </p:cNvPr>
          <p:cNvSpPr txBox="1"/>
          <p:nvPr/>
        </p:nvSpPr>
        <p:spPr>
          <a:xfrm>
            <a:off x="1763688" y="6381328"/>
            <a:ext cx="1080120" cy="369332"/>
          </a:xfrm>
          <a:prstGeom prst="rect">
            <a:avLst/>
          </a:prstGeom>
          <a:solidFill>
            <a:schemeClr val="bg1"/>
          </a:solidFill>
        </p:spPr>
        <p:txBody>
          <a:bodyPr wrap="square" rtlCol="0">
            <a:spAutoFit/>
          </a:bodyPr>
          <a:lstStyle/>
          <a:p>
            <a:endParaRPr lang="en-US" dirty="0"/>
          </a:p>
        </p:txBody>
      </p:sp>
    </p:spTree>
    <p:extLst>
      <p:ext uri="{BB962C8B-B14F-4D97-AF65-F5344CB8AC3E}">
        <p14:creationId xmlns:p14="http://schemas.microsoft.com/office/powerpoint/2010/main" val="2976566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p:nvPr/>
        </p:nvPicPr>
        <p:blipFill>
          <a:blip r:embed="rId2" cstate="print">
            <a:extLst>
              <a:ext uri="{28A0092B-C50C-407E-A947-70E740481C1C}">
                <a14:useLocalDpi xmlns:a14="http://schemas.microsoft.com/office/drawing/2010/main" val="0"/>
              </a:ext>
            </a:extLst>
          </a:blip>
          <a:stretch>
            <a:fillRect/>
          </a:stretch>
        </p:blipFill>
        <p:spPr>
          <a:xfrm>
            <a:off x="672406" y="1221011"/>
            <a:ext cx="8093997" cy="5636989"/>
          </a:xfrm>
          <a:prstGeom prst="rect">
            <a:avLst/>
          </a:prstGeom>
        </p:spPr>
      </p:pic>
      <p:cxnSp>
        <p:nvCxnSpPr>
          <p:cNvPr id="7" name="Straight Connector 6"/>
          <p:cNvCxnSpPr/>
          <p:nvPr/>
        </p:nvCxnSpPr>
        <p:spPr>
          <a:xfrm>
            <a:off x="458167" y="1219423"/>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755576" y="188640"/>
            <a:ext cx="7404838"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Product development influential factors</a:t>
            </a:r>
            <a:endParaRPr lang="en-GB" sz="3600" b="1" dirty="0">
              <a:solidFill>
                <a:srgbClr val="008000"/>
              </a:solidFill>
              <a:latin typeface="+mj-lt"/>
              <a:ea typeface="+mj-ea"/>
              <a:cs typeface="+mj-cs"/>
            </a:endParaRPr>
          </a:p>
        </p:txBody>
      </p:sp>
    </p:spTree>
    <p:extLst>
      <p:ext uri="{BB962C8B-B14F-4D97-AF65-F5344CB8AC3E}">
        <p14:creationId xmlns:p14="http://schemas.microsoft.com/office/powerpoint/2010/main" val="3564703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395536" y="1124744"/>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2267744" y="332656"/>
            <a:ext cx="4864930" cy="917864"/>
          </a:xfrm>
          <a:prstGeom prst="rect">
            <a:avLst/>
          </a:prstGeom>
        </p:spPr>
        <p:txBody>
          <a:bodyPr vert="horz" lIns="91440" tIns="45720" rIns="91440" bIns="45720" rtlCol="0" anchor="ctr">
            <a:noAutofit/>
          </a:bodyPr>
          <a:lstStyle/>
          <a:p>
            <a:pPr algn="ctr"/>
            <a:r>
              <a:rPr lang="en-US" sz="3600" b="1" dirty="0">
                <a:solidFill>
                  <a:srgbClr val="008000"/>
                </a:solidFill>
                <a:latin typeface="+mj-lt"/>
                <a:ea typeface="+mj-ea"/>
                <a:cs typeface="+mj-cs"/>
              </a:rPr>
              <a:t>Concept generation</a:t>
            </a:r>
            <a:endParaRPr lang="en-GB" sz="3600" b="1" dirty="0">
              <a:solidFill>
                <a:srgbClr val="008000"/>
              </a:solidFill>
              <a:latin typeface="+mj-lt"/>
              <a:ea typeface="+mj-ea"/>
              <a:cs typeface="+mj-cs"/>
            </a:endParaRPr>
          </a:p>
        </p:txBody>
      </p:sp>
      <p:sp>
        <p:nvSpPr>
          <p:cNvPr id="9" name="Rectangle 8"/>
          <p:cNvSpPr/>
          <p:nvPr/>
        </p:nvSpPr>
        <p:spPr>
          <a:xfrm>
            <a:off x="467544" y="1484784"/>
            <a:ext cx="8478016" cy="6555641"/>
          </a:xfrm>
          <a:prstGeom prst="rect">
            <a:avLst/>
          </a:prstGeom>
        </p:spPr>
        <p:txBody>
          <a:bodyPr wrap="square">
            <a:spAutoFit/>
          </a:bodyPr>
          <a:lstStyle/>
          <a:p>
            <a:r>
              <a:rPr lang="en-US" sz="2800" dirty="0">
                <a:hlinkClick r:id="rId2"/>
              </a:rPr>
              <a:t>On the website there are several tools to help with concept generation, for example:</a:t>
            </a:r>
            <a:endParaRPr lang="en-US" sz="2800" dirty="0"/>
          </a:p>
          <a:p>
            <a:endParaRPr lang="en-US" sz="2800" dirty="0"/>
          </a:p>
          <a:p>
            <a:r>
              <a:rPr lang="en-US" sz="2800" dirty="0"/>
              <a:t>Design methods</a:t>
            </a:r>
          </a:p>
          <a:p>
            <a:r>
              <a:rPr lang="en-US" sz="2800" dirty="0"/>
              <a:t>Creativity tools</a:t>
            </a:r>
          </a:p>
          <a:p>
            <a:r>
              <a:rPr lang="en-US" sz="2800" dirty="0"/>
              <a:t>Competitiveness profiling</a:t>
            </a:r>
          </a:p>
          <a:p>
            <a:r>
              <a:rPr lang="en-US" sz="2800" dirty="0"/>
              <a:t>Value curves</a:t>
            </a:r>
          </a:p>
          <a:p>
            <a:r>
              <a:rPr lang="en-US" sz="2800" dirty="0"/>
              <a:t>Lead user methods</a:t>
            </a:r>
          </a:p>
          <a:p>
            <a:r>
              <a:rPr lang="en-US" sz="2800" dirty="0"/>
              <a:t>Market research tools</a:t>
            </a:r>
          </a:p>
          <a:p>
            <a:endParaRPr lang="en-US" sz="2800" dirty="0"/>
          </a:p>
          <a:p>
            <a:endParaRPr lang="en-US" sz="2800" dirty="0"/>
          </a:p>
          <a:p>
            <a:endParaRPr lang="en-US" sz="2800" dirty="0">
              <a:solidFill>
                <a:srgbClr val="FF0000"/>
              </a:solidFill>
            </a:endParaRPr>
          </a:p>
          <a:p>
            <a:r>
              <a:rPr lang="en-US" sz="2800" dirty="0">
                <a:solidFill>
                  <a:srgbClr val="FF0000"/>
                </a:solidFill>
              </a:rPr>
              <a:t> </a:t>
            </a:r>
            <a:endParaRPr lang="en-GB" sz="2800" dirty="0">
              <a:solidFill>
                <a:srgbClr val="FF0000"/>
              </a:solidFill>
            </a:endParaRPr>
          </a:p>
          <a:p>
            <a:r>
              <a:rPr lang="en-US" sz="2800" dirty="0">
                <a:solidFill>
                  <a:srgbClr val="FF0000"/>
                </a:solidFill>
              </a:rPr>
              <a:t> </a:t>
            </a:r>
            <a:endParaRPr lang="en-GB" sz="2800" dirty="0">
              <a:solidFill>
                <a:srgbClr val="FF0000"/>
              </a:solidFill>
            </a:endParaRPr>
          </a:p>
          <a:p>
            <a:r>
              <a:rPr lang="en-US" sz="2800" dirty="0">
                <a:solidFill>
                  <a:srgbClr val="FF0000"/>
                </a:solidFill>
              </a:rPr>
              <a:t> </a:t>
            </a:r>
            <a:endParaRPr lang="en-GB" sz="2800" dirty="0">
              <a:solidFill>
                <a:srgbClr val="FF0000"/>
              </a:solidFill>
            </a:endParaRPr>
          </a:p>
        </p:txBody>
      </p:sp>
    </p:spTree>
    <p:extLst>
      <p:ext uri="{BB962C8B-B14F-4D97-AF65-F5344CB8AC3E}">
        <p14:creationId xmlns:p14="http://schemas.microsoft.com/office/powerpoint/2010/main" val="17903181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395536" y="1124744"/>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2267744" y="332656"/>
            <a:ext cx="4864930" cy="917864"/>
          </a:xfrm>
          <a:prstGeom prst="rect">
            <a:avLst/>
          </a:prstGeom>
        </p:spPr>
        <p:txBody>
          <a:bodyPr vert="horz" lIns="91440" tIns="45720" rIns="91440" bIns="45720" rtlCol="0" anchor="ctr">
            <a:noAutofit/>
          </a:bodyPr>
          <a:lstStyle/>
          <a:p>
            <a:pPr algn="ctr"/>
            <a:r>
              <a:rPr lang="en-US" sz="3600" b="1" dirty="0">
                <a:solidFill>
                  <a:srgbClr val="008000"/>
                </a:solidFill>
                <a:latin typeface="+mj-lt"/>
                <a:ea typeface="+mj-ea"/>
                <a:cs typeface="+mj-cs"/>
              </a:rPr>
              <a:t>Concept generation</a:t>
            </a:r>
            <a:endParaRPr lang="en-GB" sz="3600" b="1" dirty="0">
              <a:solidFill>
                <a:srgbClr val="008000"/>
              </a:solidFill>
              <a:latin typeface="+mj-lt"/>
              <a:ea typeface="+mj-ea"/>
              <a:cs typeface="+mj-cs"/>
            </a:endParaRPr>
          </a:p>
        </p:txBody>
      </p:sp>
      <p:sp>
        <p:nvSpPr>
          <p:cNvPr id="5" name="TextBox 4"/>
          <p:cNvSpPr txBox="1"/>
          <p:nvPr/>
        </p:nvSpPr>
        <p:spPr>
          <a:xfrm>
            <a:off x="611560" y="1988840"/>
            <a:ext cx="7632848" cy="2308324"/>
          </a:xfrm>
          <a:prstGeom prst="rect">
            <a:avLst/>
          </a:prstGeom>
          <a:noFill/>
        </p:spPr>
        <p:txBody>
          <a:bodyPr wrap="square" rtlCol="0">
            <a:spAutoFit/>
          </a:bodyPr>
          <a:lstStyle/>
          <a:p>
            <a:r>
              <a:rPr lang="en-GB" sz="2400" dirty="0"/>
              <a:t>Follow the link below to hear a podcast on how market research marked a shift from a producer-led to a consumer-led approach to business</a:t>
            </a:r>
          </a:p>
          <a:p>
            <a:endParaRPr lang="en-GB" sz="2400" dirty="0"/>
          </a:p>
          <a:p>
            <a:endParaRPr lang="en-GB" sz="2400" dirty="0"/>
          </a:p>
          <a:p>
            <a:r>
              <a:rPr lang="en-GB" sz="2400" dirty="0">
                <a:hlinkClick r:id="rId2"/>
              </a:rPr>
              <a:t>https://www.bbc.co.uk/programmes/w3csv3gm</a:t>
            </a:r>
            <a:endParaRPr lang="en-GB" sz="2400" dirty="0"/>
          </a:p>
        </p:txBody>
      </p:sp>
    </p:spTree>
    <p:extLst>
      <p:ext uri="{BB962C8B-B14F-4D97-AF65-F5344CB8AC3E}">
        <p14:creationId xmlns:p14="http://schemas.microsoft.com/office/powerpoint/2010/main" val="17903181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899592" y="332656"/>
            <a:ext cx="7335807" cy="917864"/>
          </a:xfrm>
          <a:prstGeom prst="rect">
            <a:avLst/>
          </a:prstGeom>
        </p:spPr>
        <p:txBody>
          <a:bodyPr vert="horz" lIns="91440" tIns="45720" rIns="91440" bIns="45720" rtlCol="0" anchor="ctr">
            <a:noAutofit/>
          </a:bodyPr>
          <a:lstStyle/>
          <a:p>
            <a:pPr lvl="0" algn="ctr"/>
            <a:r>
              <a:rPr lang="en-US" sz="3600" b="1" dirty="0">
                <a:solidFill>
                  <a:srgbClr val="008000"/>
                </a:solidFill>
                <a:latin typeface="+mj-lt"/>
                <a:ea typeface="+mj-ea"/>
                <a:cs typeface="+mj-cs"/>
              </a:rPr>
              <a:t>Quality function deployment</a:t>
            </a:r>
            <a:endParaRPr lang="en-GB" sz="3600" b="1" dirty="0">
              <a:solidFill>
                <a:srgbClr val="008000"/>
              </a:solidFill>
              <a:latin typeface="+mj-lt"/>
              <a:ea typeface="+mj-ea"/>
              <a:cs typeface="+mj-cs"/>
            </a:endParaRPr>
          </a:p>
        </p:txBody>
      </p:sp>
      <p:sp>
        <p:nvSpPr>
          <p:cNvPr id="9" name="Rectangle 8"/>
          <p:cNvSpPr/>
          <p:nvPr/>
        </p:nvSpPr>
        <p:spPr>
          <a:xfrm>
            <a:off x="458167" y="1575845"/>
            <a:ext cx="8478016" cy="5016758"/>
          </a:xfrm>
          <a:prstGeom prst="rect">
            <a:avLst/>
          </a:prstGeom>
        </p:spPr>
        <p:txBody>
          <a:bodyPr wrap="square">
            <a:spAutoFit/>
          </a:bodyPr>
          <a:lstStyle/>
          <a:p>
            <a:pPr lvl="0">
              <a:spcAft>
                <a:spcPts val="1200"/>
              </a:spcAft>
              <a:buFont typeface="Arial"/>
              <a:buChar char="•"/>
            </a:pPr>
            <a:r>
              <a:rPr lang="en-US" sz="2800" dirty="0"/>
              <a:t> </a:t>
            </a:r>
            <a:r>
              <a:rPr lang="en-US" sz="2800" dirty="0">
                <a:solidFill>
                  <a:schemeClr val="tx1">
                    <a:lumMod val="50000"/>
                    <a:lumOff val="50000"/>
                  </a:schemeClr>
                </a:solidFill>
              </a:rPr>
              <a:t>Identify</a:t>
            </a:r>
            <a:r>
              <a:rPr lang="en-US" sz="2800" dirty="0"/>
              <a:t> customer requirements, primary and secondary, and any major dislikes. </a:t>
            </a:r>
            <a:endParaRPr lang="en-GB" sz="2800" dirty="0"/>
          </a:p>
          <a:p>
            <a:pPr lvl="0">
              <a:spcAft>
                <a:spcPts val="1200"/>
              </a:spcAft>
              <a:buFont typeface="Arial"/>
              <a:buChar char="•"/>
            </a:pPr>
            <a:r>
              <a:rPr lang="en-US" sz="2800" dirty="0"/>
              <a:t> </a:t>
            </a:r>
            <a:r>
              <a:rPr lang="en-US" sz="2800" dirty="0">
                <a:solidFill>
                  <a:schemeClr val="tx1">
                    <a:lumMod val="50000"/>
                    <a:lumOff val="50000"/>
                  </a:schemeClr>
                </a:solidFill>
              </a:rPr>
              <a:t>Rank</a:t>
            </a:r>
            <a:r>
              <a:rPr lang="en-US" sz="2800" dirty="0"/>
              <a:t> requirements according to importance. </a:t>
            </a:r>
            <a:endParaRPr lang="en-GB" sz="2800" dirty="0"/>
          </a:p>
          <a:p>
            <a:pPr lvl="0">
              <a:spcAft>
                <a:spcPts val="1200"/>
              </a:spcAft>
              <a:buFont typeface="Arial"/>
              <a:buChar char="•"/>
            </a:pPr>
            <a:r>
              <a:rPr lang="en-US" sz="2800" dirty="0"/>
              <a:t> </a:t>
            </a:r>
            <a:r>
              <a:rPr lang="en-US" sz="2800" dirty="0">
                <a:solidFill>
                  <a:schemeClr val="tx1">
                    <a:lumMod val="50000"/>
                    <a:lumOff val="50000"/>
                  </a:schemeClr>
                </a:solidFill>
              </a:rPr>
              <a:t>Translate</a:t>
            </a:r>
            <a:r>
              <a:rPr lang="en-US" sz="2800" dirty="0"/>
              <a:t> requirements into measurable characteristics. </a:t>
            </a:r>
            <a:endParaRPr lang="en-GB" sz="2800" dirty="0"/>
          </a:p>
          <a:p>
            <a:pPr lvl="0">
              <a:spcAft>
                <a:spcPts val="1200"/>
              </a:spcAft>
              <a:buFont typeface="Arial"/>
              <a:buChar char="•"/>
            </a:pPr>
            <a:r>
              <a:rPr lang="en-US" sz="2800" dirty="0"/>
              <a:t> </a:t>
            </a:r>
            <a:r>
              <a:rPr lang="en-US" sz="2800" dirty="0">
                <a:solidFill>
                  <a:schemeClr val="tx1">
                    <a:lumMod val="50000"/>
                    <a:lumOff val="50000"/>
                  </a:schemeClr>
                </a:solidFill>
              </a:rPr>
              <a:t>Establish</a:t>
            </a:r>
            <a:r>
              <a:rPr lang="en-US" sz="2800" dirty="0"/>
              <a:t> the relationship between the customer requirements and technical product characteristics, and estimate the strength of the relationship. </a:t>
            </a:r>
            <a:endParaRPr lang="en-GB" sz="2800" dirty="0"/>
          </a:p>
          <a:p>
            <a:pPr lvl="0">
              <a:spcAft>
                <a:spcPts val="1200"/>
              </a:spcAft>
              <a:buFont typeface="Arial"/>
              <a:buChar char="•"/>
            </a:pPr>
            <a:r>
              <a:rPr lang="en-US" sz="2800" dirty="0"/>
              <a:t> </a:t>
            </a:r>
            <a:r>
              <a:rPr lang="en-US" sz="2800" dirty="0">
                <a:solidFill>
                  <a:schemeClr val="tx1">
                    <a:lumMod val="50000"/>
                    <a:lumOff val="50000"/>
                  </a:schemeClr>
                </a:solidFill>
              </a:rPr>
              <a:t>Choose</a:t>
            </a:r>
            <a:r>
              <a:rPr lang="en-US" sz="2800" dirty="0"/>
              <a:t> appropriate units of measurement and determine target values based on customer  requirements and competitor benchmarks. </a:t>
            </a:r>
            <a:endParaRPr lang="en-GB" sz="2800" dirty="0"/>
          </a:p>
        </p:txBody>
      </p:sp>
    </p:spTree>
    <p:extLst>
      <p:ext uri="{BB962C8B-B14F-4D97-AF65-F5344CB8AC3E}">
        <p14:creationId xmlns:p14="http://schemas.microsoft.com/office/powerpoint/2010/main" val="6324987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835696" y="332656"/>
            <a:ext cx="5296469" cy="917864"/>
          </a:xfrm>
          <a:prstGeom prst="rect">
            <a:avLst/>
          </a:prstGeom>
        </p:spPr>
        <p:txBody>
          <a:bodyPr vert="horz" lIns="91440" tIns="45720" rIns="91440" bIns="45720" rtlCol="0" anchor="ctr">
            <a:noAutofit/>
          </a:bodyPr>
          <a:lstStyle/>
          <a:p>
            <a:pPr algn="ctr"/>
            <a:r>
              <a:rPr lang="en-US" sz="3600" b="1" dirty="0">
                <a:solidFill>
                  <a:srgbClr val="008000"/>
                </a:solidFill>
                <a:latin typeface="+mj-lt"/>
                <a:ea typeface="+mj-ea"/>
                <a:cs typeface="+mj-cs"/>
              </a:rPr>
              <a:t>QFD matrix</a:t>
            </a:r>
            <a:endParaRPr lang="en-GB" sz="3600" b="1" dirty="0">
              <a:solidFill>
                <a:srgbClr val="008000"/>
              </a:solidFill>
              <a:latin typeface="+mj-lt"/>
              <a:ea typeface="+mj-ea"/>
              <a:cs typeface="+mj-cs"/>
            </a:endParaRPr>
          </a:p>
        </p:txBody>
      </p:sp>
      <p:sp>
        <p:nvSpPr>
          <p:cNvPr id="12" name="Rectangle 11"/>
          <p:cNvSpPr/>
          <p:nvPr/>
        </p:nvSpPr>
        <p:spPr>
          <a:xfrm>
            <a:off x="6510483" y="1753048"/>
            <a:ext cx="2425700" cy="1831270"/>
          </a:xfrm>
          <a:prstGeom prst="rect">
            <a:avLst/>
          </a:prstGeom>
          <a:solidFill>
            <a:schemeClr val="bg1"/>
          </a:solidFill>
        </p:spPr>
        <p:txBody>
          <a:bodyPr wrap="square">
            <a:spAutoFit/>
          </a:bodyPr>
          <a:lstStyle/>
          <a:p>
            <a:pPr algn="ctr"/>
            <a:r>
              <a:rPr lang="en-US" sz="1700" dirty="0"/>
              <a:t>Figure 10.8 of the book </a:t>
            </a:r>
            <a:r>
              <a:rPr lang="en-US" sz="1600" dirty="0"/>
              <a:t>presents QFD matrix that was originally developed in Japan and claimed to have helped Toyota reduce its development time and costs by 40 %</a:t>
            </a:r>
            <a:endParaRPr lang="en-US" sz="1700" dirty="0"/>
          </a:p>
        </p:txBody>
      </p:sp>
      <p:pic>
        <p:nvPicPr>
          <p:cNvPr id="2" name="Picture 1" descr="Screen Shot 2015-04-11 at 16.50.56.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1897616"/>
            <a:ext cx="6510483" cy="4529032"/>
          </a:xfrm>
          <a:prstGeom prst="rect">
            <a:avLst/>
          </a:prstGeom>
        </p:spPr>
      </p:pic>
      <p:sp>
        <p:nvSpPr>
          <p:cNvPr id="3" name="TextBox 2">
            <a:extLst>
              <a:ext uri="{FF2B5EF4-FFF2-40B4-BE49-F238E27FC236}">
                <a16:creationId xmlns:a16="http://schemas.microsoft.com/office/drawing/2014/main" id="{A6DEDAFC-E186-AD47-B75E-8BDFFD7771BE}"/>
              </a:ext>
            </a:extLst>
          </p:cNvPr>
          <p:cNvSpPr txBox="1"/>
          <p:nvPr/>
        </p:nvSpPr>
        <p:spPr>
          <a:xfrm>
            <a:off x="323528" y="5877272"/>
            <a:ext cx="1080120" cy="369332"/>
          </a:xfrm>
          <a:prstGeom prst="rect">
            <a:avLst/>
          </a:prstGeom>
          <a:solidFill>
            <a:schemeClr val="bg1"/>
          </a:solidFill>
        </p:spPr>
        <p:txBody>
          <a:bodyPr wrap="square" rtlCol="0">
            <a:spAutoFit/>
          </a:bodyPr>
          <a:lstStyle/>
          <a:p>
            <a:endParaRPr lang="en-US" dirty="0"/>
          </a:p>
        </p:txBody>
      </p:sp>
    </p:spTree>
    <p:extLst>
      <p:ext uri="{BB962C8B-B14F-4D97-AF65-F5344CB8AC3E}">
        <p14:creationId xmlns:p14="http://schemas.microsoft.com/office/powerpoint/2010/main" val="7822456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979712" y="332656"/>
            <a:ext cx="5099189" cy="917864"/>
          </a:xfrm>
          <a:prstGeom prst="rect">
            <a:avLst/>
          </a:prstGeom>
        </p:spPr>
        <p:txBody>
          <a:bodyPr vert="horz" lIns="91440" tIns="45720" rIns="91440" bIns="45720" rtlCol="0" anchor="ctr">
            <a:noAutofit/>
          </a:bodyPr>
          <a:lstStyle/>
          <a:p>
            <a:pPr lvl="0" algn="ctr"/>
            <a:r>
              <a:rPr lang="en-US" sz="3600" b="1" dirty="0">
                <a:solidFill>
                  <a:srgbClr val="008000"/>
                </a:solidFill>
                <a:latin typeface="+mj-lt"/>
                <a:ea typeface="+mj-ea"/>
                <a:cs typeface="+mj-cs"/>
              </a:rPr>
              <a:t>Differences between products and services</a:t>
            </a:r>
            <a:endParaRPr lang="en-GB" sz="3600" b="1" dirty="0">
              <a:solidFill>
                <a:srgbClr val="008000"/>
              </a:solidFill>
              <a:latin typeface="+mj-lt"/>
              <a:ea typeface="+mj-ea"/>
              <a:cs typeface="+mj-cs"/>
            </a:endParaRPr>
          </a:p>
        </p:txBody>
      </p:sp>
      <p:sp>
        <p:nvSpPr>
          <p:cNvPr id="9" name="Rectangle 8"/>
          <p:cNvSpPr/>
          <p:nvPr/>
        </p:nvSpPr>
        <p:spPr>
          <a:xfrm>
            <a:off x="467544" y="1628800"/>
            <a:ext cx="8478016" cy="4832093"/>
          </a:xfrm>
          <a:prstGeom prst="rect">
            <a:avLst/>
          </a:prstGeom>
        </p:spPr>
        <p:txBody>
          <a:bodyPr wrap="square">
            <a:spAutoFit/>
          </a:bodyPr>
          <a:lstStyle/>
          <a:p>
            <a:pPr lvl="1">
              <a:buFont typeface="Arial"/>
              <a:buChar char="•"/>
            </a:pPr>
            <a:r>
              <a:rPr lang="en-US" sz="2800" i="1" dirty="0"/>
              <a:t> Tangibility.</a:t>
            </a:r>
            <a:endParaRPr lang="en-GB" sz="2800" dirty="0"/>
          </a:p>
          <a:p>
            <a:pPr lvl="1">
              <a:buFont typeface="Arial"/>
              <a:buChar char="•"/>
            </a:pPr>
            <a:r>
              <a:rPr lang="en-US" sz="2800" i="1" dirty="0"/>
              <a:t> Perceptions of service quality:</a:t>
            </a:r>
          </a:p>
          <a:p>
            <a:pPr lvl="2">
              <a:buFont typeface="Arial"/>
              <a:buChar char="•"/>
            </a:pPr>
            <a:r>
              <a:rPr lang="en-US" sz="2800" i="1" dirty="0"/>
              <a:t> tangible aspects;</a:t>
            </a:r>
          </a:p>
          <a:p>
            <a:pPr lvl="2">
              <a:buFont typeface="Arial"/>
              <a:buChar char="•"/>
            </a:pPr>
            <a:r>
              <a:rPr lang="en-US" sz="2800" i="1" dirty="0"/>
              <a:t> responsiveness;</a:t>
            </a:r>
          </a:p>
          <a:p>
            <a:pPr lvl="2">
              <a:buFont typeface="Arial"/>
              <a:buChar char="•"/>
            </a:pPr>
            <a:r>
              <a:rPr lang="en-US" sz="2800" i="1" dirty="0"/>
              <a:t> competence;</a:t>
            </a:r>
          </a:p>
          <a:p>
            <a:pPr lvl="2">
              <a:buFont typeface="Arial"/>
              <a:buChar char="•"/>
            </a:pPr>
            <a:r>
              <a:rPr lang="en-US" sz="2800" i="1" dirty="0"/>
              <a:t> assurance;</a:t>
            </a:r>
            <a:endParaRPr lang="en-GB" sz="2800" i="1" dirty="0"/>
          </a:p>
          <a:p>
            <a:pPr lvl="2">
              <a:buFont typeface="Arial"/>
              <a:buChar char="•"/>
            </a:pPr>
            <a:r>
              <a:rPr lang="en-US" sz="2800" i="1" dirty="0"/>
              <a:t> empathy.</a:t>
            </a:r>
            <a:endParaRPr lang="en-GB" sz="2800" i="1" dirty="0"/>
          </a:p>
          <a:p>
            <a:pPr lvl="1">
              <a:buFont typeface="Arial"/>
              <a:buChar char="•"/>
            </a:pPr>
            <a:r>
              <a:rPr lang="en-US" sz="2800" i="1" dirty="0"/>
              <a:t> Simultaneity</a:t>
            </a:r>
            <a:r>
              <a:rPr lang="en-US" sz="2800" dirty="0"/>
              <a:t>. </a:t>
            </a:r>
            <a:endParaRPr lang="en-GB" sz="2800" dirty="0"/>
          </a:p>
          <a:p>
            <a:pPr lvl="1">
              <a:buFont typeface="Arial"/>
              <a:buChar char="•"/>
            </a:pPr>
            <a:r>
              <a:rPr lang="en-US" sz="2800" i="1" dirty="0"/>
              <a:t> Storage</a:t>
            </a:r>
            <a:r>
              <a:rPr lang="en-US" sz="2800" dirty="0"/>
              <a:t>. </a:t>
            </a:r>
            <a:endParaRPr lang="en-GB" sz="2800" dirty="0"/>
          </a:p>
          <a:p>
            <a:pPr lvl="1">
              <a:buFont typeface="Arial"/>
              <a:buChar char="•"/>
            </a:pPr>
            <a:r>
              <a:rPr lang="en-US" sz="2800" i="1" dirty="0"/>
              <a:t> Customer contact</a:t>
            </a:r>
            <a:r>
              <a:rPr lang="en-US" sz="2800" dirty="0"/>
              <a:t>. </a:t>
            </a:r>
            <a:endParaRPr lang="en-GB" sz="2800" dirty="0"/>
          </a:p>
          <a:p>
            <a:pPr lvl="1">
              <a:buFont typeface="Arial"/>
              <a:buChar char="•"/>
            </a:pPr>
            <a:r>
              <a:rPr lang="en-US" sz="2800" i="1" dirty="0"/>
              <a:t> Location</a:t>
            </a:r>
            <a:r>
              <a:rPr lang="en-US" sz="2800" dirty="0"/>
              <a:t>. </a:t>
            </a:r>
            <a:endParaRPr lang="en-GB" sz="2800" dirty="0"/>
          </a:p>
        </p:txBody>
      </p:sp>
    </p:spTree>
    <p:extLst>
      <p:ext uri="{BB962C8B-B14F-4D97-AF65-F5344CB8AC3E}">
        <p14:creationId xmlns:p14="http://schemas.microsoft.com/office/powerpoint/2010/main" val="22974521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194574"/>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458167" y="131255"/>
            <a:ext cx="7133587" cy="917864"/>
          </a:xfrm>
          <a:prstGeom prst="rect">
            <a:avLst/>
          </a:prstGeom>
        </p:spPr>
        <p:txBody>
          <a:bodyPr vert="horz" lIns="91440" tIns="45720" rIns="91440" bIns="45720" rtlCol="0" anchor="ctr">
            <a:noAutofit/>
          </a:bodyPr>
          <a:lstStyle/>
          <a:p>
            <a:pPr lvl="0" algn="ctr"/>
            <a:r>
              <a:rPr lang="en-US" sz="3600" b="1" dirty="0">
                <a:solidFill>
                  <a:srgbClr val="008000"/>
                </a:solidFill>
                <a:latin typeface="+mj-lt"/>
                <a:ea typeface="+mj-ea"/>
                <a:cs typeface="+mj-cs"/>
              </a:rPr>
              <a:t>Characteristics of service innovators</a:t>
            </a:r>
            <a:endParaRPr lang="en-GB" sz="3600" b="1" dirty="0">
              <a:solidFill>
                <a:srgbClr val="008000"/>
              </a:solidFill>
              <a:latin typeface="+mj-lt"/>
              <a:ea typeface="+mj-ea"/>
              <a:cs typeface="+mj-cs"/>
            </a:endParaRPr>
          </a:p>
        </p:txBody>
      </p:sp>
      <p:pic>
        <p:nvPicPr>
          <p:cNvPr id="2" name="Picture 1" descr="Screen Shot 2015-04-11 at 16.45.13.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24039" y="889000"/>
            <a:ext cx="6464300" cy="2032000"/>
          </a:xfrm>
          <a:prstGeom prst="rect">
            <a:avLst/>
          </a:prstGeom>
        </p:spPr>
      </p:pic>
      <p:pic>
        <p:nvPicPr>
          <p:cNvPr id="3" name="Picture 2" descr="Screen Shot 2015-04-11 at 16.45.44.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4039" y="2921000"/>
            <a:ext cx="6438900" cy="3937000"/>
          </a:xfrm>
          <a:prstGeom prst="rect">
            <a:avLst/>
          </a:prstGeom>
        </p:spPr>
      </p:pic>
      <p:sp>
        <p:nvSpPr>
          <p:cNvPr id="4" name="TextBox 3">
            <a:extLst>
              <a:ext uri="{FF2B5EF4-FFF2-40B4-BE49-F238E27FC236}">
                <a16:creationId xmlns:a16="http://schemas.microsoft.com/office/drawing/2014/main" id="{E3C63150-7D06-AA4F-83C9-0BF72B571907}"/>
              </a:ext>
            </a:extLst>
          </p:cNvPr>
          <p:cNvSpPr txBox="1"/>
          <p:nvPr/>
        </p:nvSpPr>
        <p:spPr>
          <a:xfrm>
            <a:off x="1530299" y="1049119"/>
            <a:ext cx="1008112" cy="369332"/>
          </a:xfrm>
          <a:prstGeom prst="rect">
            <a:avLst/>
          </a:prstGeom>
          <a:solidFill>
            <a:schemeClr val="accent3">
              <a:lumMod val="20000"/>
              <a:lumOff val="80000"/>
            </a:schemeClr>
          </a:solidFill>
        </p:spPr>
        <p:txBody>
          <a:bodyPr wrap="square" rtlCol="0">
            <a:spAutoFit/>
          </a:bodyPr>
          <a:lstStyle/>
          <a:p>
            <a:endParaRPr lang="en-US" dirty="0"/>
          </a:p>
        </p:txBody>
      </p:sp>
    </p:spTree>
    <p:extLst>
      <p:ext uri="{BB962C8B-B14F-4D97-AF65-F5344CB8AC3E}">
        <p14:creationId xmlns:p14="http://schemas.microsoft.com/office/powerpoint/2010/main" val="42889669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Screen Shot 2015-04-11 at 16.46.54.png"/>
          <p:cNvPicPr>
            <a:picLocks noGrp="1" noChangeAspect="1"/>
          </p:cNvPicPr>
          <p:nvPr>
            <p:ph idx="1"/>
          </p:nvPr>
        </p:nvPicPr>
        <p:blipFill>
          <a:blip r:embed="rId2" cstate="print">
            <a:extLst>
              <a:ext uri="{28A0092B-C50C-407E-A947-70E740481C1C}">
                <a14:useLocalDpi xmlns:a14="http://schemas.microsoft.com/office/drawing/2010/main" val="0"/>
              </a:ext>
            </a:extLst>
          </a:blip>
          <a:srcRect t="1973" b="1973"/>
          <a:stretch>
            <a:fillRect/>
          </a:stretch>
        </p:blipFill>
        <p:spPr/>
      </p:pic>
      <p:cxnSp>
        <p:nvCxnSpPr>
          <p:cNvPr id="5" name="Straight Connector 4"/>
          <p:cNvCxnSpPr/>
          <p:nvPr/>
        </p:nvCxnSpPr>
        <p:spPr>
          <a:xfrm>
            <a:off x="458167" y="1320706"/>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971600" y="188640"/>
            <a:ext cx="7133587" cy="917864"/>
          </a:xfrm>
          <a:prstGeom prst="rect">
            <a:avLst/>
          </a:prstGeom>
        </p:spPr>
        <p:txBody>
          <a:bodyPr vert="horz" lIns="91440" tIns="45720" rIns="91440" bIns="45720" rtlCol="0" anchor="ctr">
            <a:noAutofit/>
          </a:bodyPr>
          <a:lstStyle/>
          <a:p>
            <a:pPr lvl="0" algn="ctr"/>
            <a:r>
              <a:rPr lang="en-US" sz="3600" b="1" dirty="0">
                <a:solidFill>
                  <a:srgbClr val="008000"/>
                </a:solidFill>
                <a:latin typeface="+mj-lt"/>
                <a:ea typeface="+mj-ea"/>
                <a:cs typeface="+mj-cs"/>
              </a:rPr>
              <a:t>Characteristics of service innovators continued</a:t>
            </a:r>
            <a:endParaRPr lang="en-GB" sz="3600" b="1" dirty="0">
              <a:solidFill>
                <a:srgbClr val="008000"/>
              </a:solidFill>
              <a:latin typeface="+mj-lt"/>
              <a:ea typeface="+mj-ea"/>
              <a:cs typeface="+mj-cs"/>
            </a:endParaRPr>
          </a:p>
        </p:txBody>
      </p:sp>
    </p:spTree>
    <p:extLst>
      <p:ext uri="{BB962C8B-B14F-4D97-AF65-F5344CB8AC3E}">
        <p14:creationId xmlns:p14="http://schemas.microsoft.com/office/powerpoint/2010/main" val="33768710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547664" y="332656"/>
            <a:ext cx="5912949" cy="917864"/>
          </a:xfrm>
          <a:prstGeom prst="rect">
            <a:avLst/>
          </a:prstGeom>
        </p:spPr>
        <p:txBody>
          <a:bodyPr vert="horz" lIns="91440" tIns="45720" rIns="91440" bIns="45720" rtlCol="0" anchor="ctr">
            <a:noAutofit/>
          </a:bodyPr>
          <a:lstStyle/>
          <a:p>
            <a:pPr lvl="0" algn="ctr"/>
            <a:r>
              <a:rPr lang="en-US" sz="3600" b="1" dirty="0">
                <a:solidFill>
                  <a:srgbClr val="008000"/>
                </a:solidFill>
                <a:latin typeface="+mj-lt"/>
                <a:ea typeface="+mj-ea"/>
                <a:cs typeface="+mj-cs"/>
              </a:rPr>
              <a:t>Success factors in service innovation: the SPOTS model</a:t>
            </a:r>
            <a:endParaRPr lang="en-GB" sz="3600" b="1" dirty="0">
              <a:solidFill>
                <a:srgbClr val="008000"/>
              </a:solidFill>
              <a:latin typeface="+mj-lt"/>
              <a:ea typeface="+mj-ea"/>
              <a:cs typeface="+mj-cs"/>
            </a:endParaRPr>
          </a:p>
        </p:txBody>
      </p:sp>
      <p:pic>
        <p:nvPicPr>
          <p:cNvPr id="2" name="Picture 1" descr="Screen Shot 2015-04-11 at 16.47.39.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08100" y="1833443"/>
            <a:ext cx="6515100" cy="4914900"/>
          </a:xfrm>
          <a:prstGeom prst="rect">
            <a:avLst/>
          </a:prstGeom>
        </p:spPr>
      </p:pic>
      <p:sp>
        <p:nvSpPr>
          <p:cNvPr id="3" name="TextBox 2">
            <a:extLst>
              <a:ext uri="{FF2B5EF4-FFF2-40B4-BE49-F238E27FC236}">
                <a16:creationId xmlns:a16="http://schemas.microsoft.com/office/drawing/2014/main" id="{48ACBBBB-61E9-0A42-A0F4-A39A62407494}"/>
              </a:ext>
            </a:extLst>
          </p:cNvPr>
          <p:cNvSpPr txBox="1"/>
          <p:nvPr/>
        </p:nvSpPr>
        <p:spPr>
          <a:xfrm>
            <a:off x="1308100" y="6381328"/>
            <a:ext cx="1031652" cy="367015"/>
          </a:xfrm>
          <a:prstGeom prst="rect">
            <a:avLst/>
          </a:prstGeom>
          <a:solidFill>
            <a:schemeClr val="bg1"/>
          </a:solidFill>
        </p:spPr>
        <p:txBody>
          <a:bodyPr wrap="square" rtlCol="0">
            <a:spAutoFit/>
          </a:bodyPr>
          <a:lstStyle/>
          <a:p>
            <a:endParaRPr lang="en-US" dirty="0"/>
          </a:p>
        </p:txBody>
      </p:sp>
    </p:spTree>
    <p:extLst>
      <p:ext uri="{BB962C8B-B14F-4D97-AF65-F5344CB8AC3E}">
        <p14:creationId xmlns:p14="http://schemas.microsoft.com/office/powerpoint/2010/main" val="14224494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403648" y="332656"/>
            <a:ext cx="5912949" cy="917864"/>
          </a:xfrm>
          <a:prstGeom prst="rect">
            <a:avLst/>
          </a:prstGeom>
        </p:spPr>
        <p:txBody>
          <a:bodyPr vert="horz" lIns="91440" tIns="45720" rIns="91440" bIns="45720" rtlCol="0" anchor="ctr">
            <a:noAutofit/>
          </a:bodyPr>
          <a:lstStyle/>
          <a:p>
            <a:pPr lvl="0" algn="ctr"/>
            <a:r>
              <a:rPr lang="en-US" sz="3600" b="1" dirty="0">
                <a:solidFill>
                  <a:srgbClr val="008000"/>
                </a:solidFill>
                <a:latin typeface="+mj-lt"/>
                <a:ea typeface="+mj-ea"/>
                <a:cs typeface="+mj-cs"/>
              </a:rPr>
              <a:t>SPOTS model</a:t>
            </a:r>
            <a:endParaRPr lang="en-GB" sz="3600" b="1" dirty="0">
              <a:solidFill>
                <a:srgbClr val="008000"/>
              </a:solidFill>
              <a:latin typeface="+mj-lt"/>
              <a:ea typeface="+mj-ea"/>
              <a:cs typeface="+mj-cs"/>
            </a:endParaRPr>
          </a:p>
        </p:txBody>
      </p:sp>
      <p:sp>
        <p:nvSpPr>
          <p:cNvPr id="9" name="Rectangle 8"/>
          <p:cNvSpPr/>
          <p:nvPr/>
        </p:nvSpPr>
        <p:spPr>
          <a:xfrm>
            <a:off x="467544" y="2060848"/>
            <a:ext cx="8478016" cy="1692771"/>
          </a:xfrm>
          <a:prstGeom prst="rect">
            <a:avLst/>
          </a:prstGeom>
        </p:spPr>
        <p:txBody>
          <a:bodyPr wrap="square">
            <a:spAutoFit/>
          </a:bodyPr>
          <a:lstStyle/>
          <a:p>
            <a:pPr>
              <a:spcAft>
                <a:spcPts val="2400"/>
              </a:spcAft>
            </a:pPr>
            <a:r>
              <a:rPr lang="en-GB" sz="2800" dirty="0">
                <a:hlinkClick r:id="rId2"/>
              </a:rPr>
              <a:t>There is a full description of the model on the website here</a:t>
            </a:r>
            <a:endParaRPr lang="en-GB" sz="2800" dirty="0"/>
          </a:p>
          <a:p>
            <a:pPr>
              <a:spcAft>
                <a:spcPts val="2400"/>
              </a:spcAft>
            </a:pPr>
            <a:endParaRPr lang="en-GB" sz="2800" dirty="0"/>
          </a:p>
        </p:txBody>
      </p:sp>
    </p:spTree>
    <p:extLst>
      <p:ext uri="{BB962C8B-B14F-4D97-AF65-F5344CB8AC3E}">
        <p14:creationId xmlns:p14="http://schemas.microsoft.com/office/powerpoint/2010/main" val="19893275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20706"/>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767863" y="280890"/>
            <a:ext cx="7336655" cy="917864"/>
          </a:xfrm>
          <a:prstGeom prst="rect">
            <a:avLst/>
          </a:prstGeom>
        </p:spPr>
        <p:txBody>
          <a:bodyPr vert="horz" lIns="91440" tIns="45720" rIns="91440" bIns="45720" rtlCol="0" anchor="ctr">
            <a:noAutofit/>
          </a:bodyPr>
          <a:lstStyle/>
          <a:p>
            <a:pPr lvl="0" algn="ctr">
              <a:spcBef>
                <a:spcPct val="0"/>
              </a:spcBef>
              <a:defRPr/>
            </a:pPr>
            <a:r>
              <a:rPr lang="en-US" sz="3600" b="1" dirty="0">
                <a:solidFill>
                  <a:srgbClr val="008000"/>
                </a:solidFill>
                <a:latin typeface="+mj-lt"/>
                <a:ea typeface="+mj-ea"/>
                <a:cs typeface="+mj-cs"/>
              </a:rPr>
              <a:t>Diffusion of innovations</a:t>
            </a:r>
            <a:endParaRPr lang="en-GB" sz="3600" b="1" dirty="0">
              <a:solidFill>
                <a:srgbClr val="008000"/>
              </a:solidFill>
              <a:latin typeface="+mj-lt"/>
              <a:ea typeface="+mj-ea"/>
              <a:cs typeface="+mj-cs"/>
            </a:endParaRPr>
          </a:p>
        </p:txBody>
      </p:sp>
      <p:sp>
        <p:nvSpPr>
          <p:cNvPr id="9" name="Rectangle 8"/>
          <p:cNvSpPr/>
          <p:nvPr/>
        </p:nvSpPr>
        <p:spPr>
          <a:xfrm>
            <a:off x="417847" y="1479550"/>
            <a:ext cx="8518336" cy="6612067"/>
          </a:xfrm>
          <a:prstGeom prst="rect">
            <a:avLst/>
          </a:prstGeom>
        </p:spPr>
        <p:txBody>
          <a:bodyPr wrap="square">
            <a:spAutoFit/>
          </a:bodyPr>
          <a:lstStyle/>
          <a:p>
            <a:pPr marL="457200" indent="-457200">
              <a:buFont typeface="Arial"/>
              <a:buChar char="•"/>
            </a:pPr>
            <a:r>
              <a:rPr lang="en-US" sz="2800" dirty="0"/>
              <a:t>Diffusion is the means by which innovations are translated into social and economic benefits. </a:t>
            </a:r>
            <a:endParaRPr lang="en-GB" sz="2800" dirty="0"/>
          </a:p>
          <a:p>
            <a:pPr marL="457200" indent="-457200">
              <a:buFont typeface="Arial"/>
              <a:buChar char="•"/>
            </a:pPr>
            <a:endParaRPr lang="en-US" sz="2800" dirty="0"/>
          </a:p>
          <a:p>
            <a:pPr marL="457200" indent="-457200">
              <a:buFont typeface="Arial"/>
              <a:buChar char="•"/>
            </a:pPr>
            <a:r>
              <a:rPr lang="en-US" sz="2800" dirty="0"/>
              <a:t>We know that the impact of the </a:t>
            </a:r>
            <a:r>
              <a:rPr lang="en-US" sz="2800" i="1" dirty="0"/>
              <a:t>use </a:t>
            </a:r>
            <a:r>
              <a:rPr lang="en-US" sz="2800" dirty="0"/>
              <a:t>of innovations is around four times that of their generation</a:t>
            </a:r>
            <a:endParaRPr lang="en-GB" sz="2800" dirty="0"/>
          </a:p>
          <a:p>
            <a:pPr marL="457200" indent="-457200">
              <a:buFont typeface="Arial"/>
              <a:buChar char="•"/>
            </a:pPr>
            <a:endParaRPr lang="en-US" sz="2800" dirty="0"/>
          </a:p>
          <a:p>
            <a:pPr marL="457200" indent="-457200">
              <a:buFont typeface="Arial"/>
              <a:buChar char="•"/>
            </a:pPr>
            <a:r>
              <a:rPr lang="en-US" sz="2800" dirty="0"/>
              <a:t>However, the benefits of innovations can take 10–15 years to be fully effected, and in practice most innovations fail to be adopted widely, and so have limited social or economic impact. </a:t>
            </a:r>
            <a:endParaRPr lang="en-GB" sz="2800" dirty="0"/>
          </a:p>
          <a:p>
            <a:pPr>
              <a:lnSpc>
                <a:spcPct val="150000"/>
              </a:lnSpc>
              <a:spcAft>
                <a:spcPts val="1200"/>
              </a:spcAft>
            </a:pPr>
            <a:endParaRPr lang="en-US" sz="2800" dirty="0"/>
          </a:p>
          <a:p>
            <a:pPr>
              <a:lnSpc>
                <a:spcPct val="150000"/>
              </a:lnSpc>
              <a:spcAft>
                <a:spcPts val="1200"/>
              </a:spcAft>
            </a:pPr>
            <a:endParaRPr lang="en-US" sz="2800" dirty="0"/>
          </a:p>
          <a:p>
            <a:pPr>
              <a:lnSpc>
                <a:spcPct val="150000"/>
              </a:lnSpc>
              <a:spcAft>
                <a:spcPts val="1200"/>
              </a:spcAft>
            </a:pPr>
            <a:endParaRPr lang="en-US" sz="2800" dirty="0"/>
          </a:p>
        </p:txBody>
      </p:sp>
    </p:spTree>
    <p:extLst>
      <p:ext uri="{BB962C8B-B14F-4D97-AF65-F5344CB8AC3E}">
        <p14:creationId xmlns:p14="http://schemas.microsoft.com/office/powerpoint/2010/main" val="24743978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547664" y="332656"/>
            <a:ext cx="5739505" cy="917864"/>
          </a:xfrm>
          <a:prstGeom prst="rect">
            <a:avLst/>
          </a:prstGeom>
        </p:spPr>
        <p:txBody>
          <a:bodyPr vert="horz" lIns="91440" tIns="45720" rIns="91440" bIns="45720" rtlCol="0" anchor="ctr">
            <a:noAutofit/>
          </a:bodyPr>
          <a:lstStyle/>
          <a:p>
            <a:pPr lvl="0" algn="ctr">
              <a:spcBef>
                <a:spcPct val="0"/>
              </a:spcBef>
              <a:defRPr/>
            </a:pPr>
            <a:r>
              <a:rPr lang="en-US" sz="3600" b="1" dirty="0">
                <a:solidFill>
                  <a:srgbClr val="008000"/>
                </a:solidFill>
                <a:latin typeface="+mj-lt"/>
                <a:ea typeface="+mj-ea"/>
                <a:cs typeface="+mj-cs"/>
              </a:rPr>
              <a:t>Rogers’ definition</a:t>
            </a:r>
            <a:endParaRPr lang="en-GB" sz="3600" b="1" dirty="0">
              <a:solidFill>
                <a:srgbClr val="008000"/>
              </a:solidFill>
              <a:latin typeface="+mj-lt"/>
              <a:ea typeface="+mj-ea"/>
              <a:cs typeface="+mj-cs"/>
            </a:endParaRPr>
          </a:p>
        </p:txBody>
      </p:sp>
      <p:sp>
        <p:nvSpPr>
          <p:cNvPr id="8" name="Rectangle 7"/>
          <p:cNvSpPr/>
          <p:nvPr/>
        </p:nvSpPr>
        <p:spPr>
          <a:xfrm>
            <a:off x="458167" y="1951672"/>
            <a:ext cx="8261454" cy="2677656"/>
          </a:xfrm>
          <a:prstGeom prst="rect">
            <a:avLst/>
          </a:prstGeom>
        </p:spPr>
        <p:txBody>
          <a:bodyPr wrap="square">
            <a:spAutoFit/>
          </a:bodyPr>
          <a:lstStyle/>
          <a:p>
            <a:r>
              <a:rPr lang="en-US" sz="2800" dirty="0"/>
              <a:t>Rogers’ definition of diffusion is used widely: </a:t>
            </a:r>
          </a:p>
          <a:p>
            <a:endParaRPr lang="en-US" sz="2800" dirty="0"/>
          </a:p>
          <a:p>
            <a:r>
              <a:rPr lang="en-US" sz="2800" i="1" dirty="0"/>
              <a:t>‘the process by which an innovation is communicated through certain channels over time among members of a social system. It is a special type of communication, in that the messages are concerned with new ideas’</a:t>
            </a:r>
            <a:endParaRPr lang="en-GB" sz="2800" i="1" dirty="0"/>
          </a:p>
        </p:txBody>
      </p:sp>
    </p:spTree>
    <p:extLst>
      <p:ext uri="{BB962C8B-B14F-4D97-AF65-F5344CB8AC3E}">
        <p14:creationId xmlns:p14="http://schemas.microsoft.com/office/powerpoint/2010/main" val="27805930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187624" y="332656"/>
            <a:ext cx="6814948"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Rogers’ 3 types of innovation decision</a:t>
            </a:r>
            <a:endParaRPr lang="en-GB" sz="3600" b="1" dirty="0">
              <a:solidFill>
                <a:srgbClr val="008000"/>
              </a:solidFill>
              <a:latin typeface="+mj-lt"/>
              <a:ea typeface="+mj-ea"/>
              <a:cs typeface="+mj-cs"/>
            </a:endParaRPr>
          </a:p>
        </p:txBody>
      </p:sp>
      <p:sp>
        <p:nvSpPr>
          <p:cNvPr id="12" name="Rectangle 11"/>
          <p:cNvSpPr/>
          <p:nvPr/>
        </p:nvSpPr>
        <p:spPr>
          <a:xfrm>
            <a:off x="604711" y="1584185"/>
            <a:ext cx="8331472" cy="3539431"/>
          </a:xfrm>
          <a:prstGeom prst="rect">
            <a:avLst/>
          </a:prstGeom>
        </p:spPr>
        <p:txBody>
          <a:bodyPr wrap="square">
            <a:spAutoFit/>
          </a:bodyPr>
          <a:lstStyle/>
          <a:p>
            <a:r>
              <a:rPr lang="en-US" sz="2800" b="1" dirty="0"/>
              <a:t>•  </a:t>
            </a:r>
            <a:r>
              <a:rPr lang="en-US" sz="2800" i="1" dirty="0"/>
              <a:t>Individual</a:t>
            </a:r>
            <a:r>
              <a:rPr lang="en-US" sz="2800" dirty="0"/>
              <a:t>, in which the individual is the main decision-maker, independent of peers. Decisions may still be influenced by social norms and interpersonal relationships, but the individual makes the ultimate choice. For example, the purchase of a consumer durable such as a mobile phone.</a:t>
            </a:r>
            <a:endParaRPr lang="en-GB" sz="2800" dirty="0"/>
          </a:p>
          <a:p>
            <a:r>
              <a:rPr lang="en-US" sz="2800" dirty="0"/>
              <a:t> </a:t>
            </a:r>
          </a:p>
        </p:txBody>
      </p:sp>
    </p:spTree>
    <p:extLst>
      <p:ext uri="{BB962C8B-B14F-4D97-AF65-F5344CB8AC3E}">
        <p14:creationId xmlns:p14="http://schemas.microsoft.com/office/powerpoint/2010/main" val="6901552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361564" y="332094"/>
            <a:ext cx="6814948"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rPr>
              <a:t>Rogers’ 3 types of innovation decision</a:t>
            </a:r>
            <a:endParaRPr lang="en-GB" sz="3600" b="1" dirty="0">
              <a:solidFill>
                <a:srgbClr val="008000"/>
              </a:solidFill>
            </a:endParaRPr>
          </a:p>
        </p:txBody>
      </p:sp>
      <p:sp>
        <p:nvSpPr>
          <p:cNvPr id="12" name="Rectangle 11"/>
          <p:cNvSpPr/>
          <p:nvPr/>
        </p:nvSpPr>
        <p:spPr>
          <a:xfrm>
            <a:off x="604711" y="1584185"/>
            <a:ext cx="8331472" cy="4401205"/>
          </a:xfrm>
          <a:prstGeom prst="rect">
            <a:avLst/>
          </a:prstGeom>
        </p:spPr>
        <p:txBody>
          <a:bodyPr wrap="square">
            <a:spAutoFit/>
          </a:bodyPr>
          <a:lstStyle/>
          <a:p>
            <a:r>
              <a:rPr lang="en-US" sz="2800" b="1" dirty="0"/>
              <a:t>• </a:t>
            </a:r>
            <a:r>
              <a:rPr lang="en-US" sz="2800" i="1" dirty="0"/>
              <a:t>Collective</a:t>
            </a:r>
            <a:r>
              <a:rPr lang="en-US" sz="2800" dirty="0"/>
              <a:t>, where choices are made jointly with others in the social system, and there is significant peer pressure or formal requirement to conform. For example, the sorting and recycling of domestic waste.</a:t>
            </a:r>
          </a:p>
          <a:p>
            <a:endParaRPr lang="en-GB" sz="2800" dirty="0"/>
          </a:p>
          <a:p>
            <a:r>
              <a:rPr lang="en-US" sz="2800" b="1" dirty="0"/>
              <a:t>• </a:t>
            </a:r>
            <a:r>
              <a:rPr lang="en-US" sz="2800" i="1" dirty="0"/>
              <a:t>Authoritative</a:t>
            </a:r>
            <a:r>
              <a:rPr lang="en-US" sz="2800" dirty="0"/>
              <a:t>, where decisions to adopt are taken by a few individuals within a social system, owing to their power, status or expertise (e.g. adoption of ERP systems by businesses, or MRI systems by hospitals).</a:t>
            </a:r>
            <a:endParaRPr lang="en-GB" sz="2800" dirty="0"/>
          </a:p>
          <a:p>
            <a:endParaRPr lang="en-US" sz="2800" dirty="0"/>
          </a:p>
        </p:txBody>
      </p:sp>
    </p:spTree>
    <p:extLst>
      <p:ext uri="{BB962C8B-B14F-4D97-AF65-F5344CB8AC3E}">
        <p14:creationId xmlns:p14="http://schemas.microsoft.com/office/powerpoint/2010/main" val="27825841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20706"/>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899592" y="260648"/>
            <a:ext cx="7336655" cy="917864"/>
          </a:xfrm>
          <a:prstGeom prst="rect">
            <a:avLst/>
          </a:prstGeom>
        </p:spPr>
        <p:txBody>
          <a:bodyPr vert="horz" lIns="91440" tIns="45720" rIns="91440" bIns="45720" rtlCol="0" anchor="ctr">
            <a:noAutofit/>
          </a:bodyPr>
          <a:lstStyle/>
          <a:p>
            <a:pPr lvl="0" algn="ctr">
              <a:spcBef>
                <a:spcPct val="0"/>
              </a:spcBef>
              <a:defRPr/>
            </a:pPr>
            <a:r>
              <a:rPr lang="en-US" sz="3600" b="1" dirty="0">
                <a:solidFill>
                  <a:srgbClr val="008000"/>
                </a:solidFill>
                <a:latin typeface="+mj-lt"/>
                <a:ea typeface="+mj-ea"/>
                <a:cs typeface="+mj-cs"/>
              </a:rPr>
              <a:t>Models of diffusion</a:t>
            </a:r>
            <a:endParaRPr lang="en-GB" sz="3600" b="1" dirty="0">
              <a:solidFill>
                <a:srgbClr val="008000"/>
              </a:solidFill>
              <a:latin typeface="+mj-lt"/>
              <a:ea typeface="+mj-ea"/>
              <a:cs typeface="+mj-cs"/>
            </a:endParaRPr>
          </a:p>
        </p:txBody>
      </p:sp>
      <p:sp>
        <p:nvSpPr>
          <p:cNvPr id="9" name="Rectangle 8"/>
          <p:cNvSpPr/>
          <p:nvPr/>
        </p:nvSpPr>
        <p:spPr>
          <a:xfrm>
            <a:off x="417847" y="1479550"/>
            <a:ext cx="8518336" cy="7042954"/>
          </a:xfrm>
          <a:prstGeom prst="rect">
            <a:avLst/>
          </a:prstGeom>
        </p:spPr>
        <p:txBody>
          <a:bodyPr wrap="square">
            <a:spAutoFit/>
          </a:bodyPr>
          <a:lstStyle/>
          <a:p>
            <a:r>
              <a:rPr lang="en-US" sz="2800" dirty="0"/>
              <a:t>In practice the precise pattern of adoption of an innovation will depend on the interaction of demand-side and supply-side factors:</a:t>
            </a:r>
          </a:p>
          <a:p>
            <a:endParaRPr lang="en-GB" sz="2800" dirty="0"/>
          </a:p>
          <a:p>
            <a:r>
              <a:rPr lang="en-US" sz="2800" b="1" dirty="0"/>
              <a:t>• </a:t>
            </a:r>
            <a:r>
              <a:rPr lang="en-US" sz="2800" i="1" dirty="0"/>
              <a:t>Demand-side factors </a:t>
            </a:r>
            <a:r>
              <a:rPr lang="en-US" sz="2800" dirty="0"/>
              <a:t>– direct contact with or imitation of prior adopters, adopters with different perceptions of benefits and risk.</a:t>
            </a:r>
          </a:p>
          <a:p>
            <a:endParaRPr lang="en-GB" sz="2800" dirty="0"/>
          </a:p>
          <a:p>
            <a:r>
              <a:rPr lang="en-US" sz="2800" b="1" dirty="0"/>
              <a:t>• </a:t>
            </a:r>
            <a:r>
              <a:rPr lang="en-US" sz="2800" i="1" dirty="0"/>
              <a:t>Supply-side factors </a:t>
            </a:r>
            <a:r>
              <a:rPr lang="en-US" sz="2800" dirty="0"/>
              <a:t>– relative advantage of an innovation, availability of information, barriers to adoption, feedback between developers and users.</a:t>
            </a:r>
            <a:endParaRPr lang="en-GB" sz="2800" dirty="0"/>
          </a:p>
          <a:p>
            <a:pPr>
              <a:lnSpc>
                <a:spcPct val="150000"/>
              </a:lnSpc>
              <a:spcAft>
                <a:spcPts val="1200"/>
              </a:spcAft>
            </a:pPr>
            <a:endParaRPr lang="en-US" sz="2800" dirty="0"/>
          </a:p>
          <a:p>
            <a:pPr>
              <a:lnSpc>
                <a:spcPct val="150000"/>
              </a:lnSpc>
              <a:spcAft>
                <a:spcPts val="1200"/>
              </a:spcAft>
            </a:pPr>
            <a:endParaRPr lang="en-US" sz="2800" dirty="0"/>
          </a:p>
          <a:p>
            <a:pPr>
              <a:lnSpc>
                <a:spcPct val="150000"/>
              </a:lnSpc>
              <a:spcAft>
                <a:spcPts val="1200"/>
              </a:spcAft>
            </a:pPr>
            <a:endParaRPr lang="en-US" sz="2800" dirty="0"/>
          </a:p>
        </p:txBody>
      </p:sp>
    </p:spTree>
    <p:extLst>
      <p:ext uri="{BB962C8B-B14F-4D97-AF65-F5344CB8AC3E}">
        <p14:creationId xmlns:p14="http://schemas.microsoft.com/office/powerpoint/2010/main" val="38034143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67544" y="1268760"/>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361564" y="332094"/>
            <a:ext cx="6239417"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The S-curve</a:t>
            </a:r>
            <a:endParaRPr lang="en-GB" sz="3600" b="1" dirty="0">
              <a:solidFill>
                <a:srgbClr val="008000"/>
              </a:solidFill>
              <a:latin typeface="+mj-lt"/>
              <a:ea typeface="+mj-ea"/>
              <a:cs typeface="+mj-cs"/>
            </a:endParaRPr>
          </a:p>
        </p:txBody>
      </p:sp>
      <p:pic>
        <p:nvPicPr>
          <p:cNvPr id="3" name="Picture 2"/>
          <p:cNvPicPr>
            <a:picLocks noChangeAspect="1"/>
          </p:cNvPicPr>
          <p:nvPr/>
        </p:nvPicPr>
        <p:blipFill>
          <a:blip r:embed="rId2" cstate="print"/>
          <a:stretch>
            <a:fillRect/>
          </a:stretch>
        </p:blipFill>
        <p:spPr>
          <a:xfrm>
            <a:off x="1017938" y="1507529"/>
            <a:ext cx="6946191" cy="5320060"/>
          </a:xfrm>
          <a:prstGeom prst="rect">
            <a:avLst/>
          </a:prstGeom>
        </p:spPr>
      </p:pic>
      <p:sp>
        <p:nvSpPr>
          <p:cNvPr id="2" name="TextBox 1">
            <a:extLst>
              <a:ext uri="{FF2B5EF4-FFF2-40B4-BE49-F238E27FC236}">
                <a16:creationId xmlns:a16="http://schemas.microsoft.com/office/drawing/2014/main" id="{C6450E94-3AF6-6A4D-A3F7-D8221A6D22A2}"/>
              </a:ext>
            </a:extLst>
          </p:cNvPr>
          <p:cNvSpPr txBox="1"/>
          <p:nvPr/>
        </p:nvSpPr>
        <p:spPr>
          <a:xfrm>
            <a:off x="1187624" y="5949280"/>
            <a:ext cx="936104" cy="369332"/>
          </a:xfrm>
          <a:prstGeom prst="rect">
            <a:avLst/>
          </a:prstGeom>
          <a:solidFill>
            <a:schemeClr val="bg1"/>
          </a:solidFill>
        </p:spPr>
        <p:txBody>
          <a:bodyPr wrap="square" rtlCol="0">
            <a:spAutoFit/>
          </a:bodyPr>
          <a:lstStyle/>
          <a:p>
            <a:endParaRPr lang="en-US" dirty="0"/>
          </a:p>
        </p:txBody>
      </p:sp>
    </p:spTree>
    <p:extLst>
      <p:ext uri="{BB962C8B-B14F-4D97-AF65-F5344CB8AC3E}">
        <p14:creationId xmlns:p14="http://schemas.microsoft.com/office/powerpoint/2010/main" val="33902563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899592" y="332656"/>
            <a:ext cx="6814948"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Barriers to adoption</a:t>
            </a:r>
            <a:endParaRPr lang="en-GB" sz="3600" b="1" dirty="0">
              <a:solidFill>
                <a:srgbClr val="008000"/>
              </a:solidFill>
              <a:latin typeface="+mj-lt"/>
              <a:ea typeface="+mj-ea"/>
              <a:cs typeface="+mj-cs"/>
            </a:endParaRPr>
          </a:p>
        </p:txBody>
      </p:sp>
      <p:sp>
        <p:nvSpPr>
          <p:cNvPr id="12" name="Rectangle 11"/>
          <p:cNvSpPr/>
          <p:nvPr/>
        </p:nvSpPr>
        <p:spPr>
          <a:xfrm>
            <a:off x="604711" y="1584185"/>
            <a:ext cx="8331472" cy="4832092"/>
          </a:xfrm>
          <a:prstGeom prst="rect">
            <a:avLst/>
          </a:prstGeom>
        </p:spPr>
        <p:txBody>
          <a:bodyPr wrap="square">
            <a:spAutoFit/>
          </a:bodyPr>
          <a:lstStyle/>
          <a:p>
            <a:r>
              <a:rPr lang="en-US" sz="2800" b="1" dirty="0"/>
              <a:t>• </a:t>
            </a:r>
            <a:r>
              <a:rPr lang="en-US" sz="2800" i="1" dirty="0"/>
              <a:t>economic </a:t>
            </a:r>
            <a:r>
              <a:rPr lang="en-US" sz="2800" dirty="0"/>
              <a:t>– personal costs versus social benefits, access to information, insufficient incentives </a:t>
            </a:r>
          </a:p>
          <a:p>
            <a:endParaRPr lang="en-GB" sz="2800" dirty="0"/>
          </a:p>
          <a:p>
            <a:r>
              <a:rPr lang="en-US" sz="2800" b="1" dirty="0"/>
              <a:t>• </a:t>
            </a:r>
            <a:r>
              <a:rPr lang="en-US" sz="2800" i="1" dirty="0"/>
              <a:t>behavioural </a:t>
            </a:r>
            <a:r>
              <a:rPr lang="en-US" sz="2800" dirty="0"/>
              <a:t>– priorities, motivations, rationality, inertia, propensity for change or risk</a:t>
            </a:r>
            <a:endParaRPr lang="en-GB" sz="2800" dirty="0"/>
          </a:p>
          <a:p>
            <a:endParaRPr lang="en-US" sz="2800" b="1" dirty="0"/>
          </a:p>
          <a:p>
            <a:r>
              <a:rPr lang="en-US" sz="2800" b="1" dirty="0"/>
              <a:t>• </a:t>
            </a:r>
            <a:r>
              <a:rPr lang="en-US" sz="2800" i="1" dirty="0"/>
              <a:t>organizational </a:t>
            </a:r>
            <a:r>
              <a:rPr lang="en-US" sz="2800" dirty="0"/>
              <a:t>– goals, routines, power and influence, culture and stakeholders</a:t>
            </a:r>
            <a:endParaRPr lang="en-GB" sz="2800" dirty="0"/>
          </a:p>
          <a:p>
            <a:endParaRPr lang="en-US" sz="2800" b="1" dirty="0"/>
          </a:p>
          <a:p>
            <a:r>
              <a:rPr lang="en-US" sz="2800" b="1" dirty="0"/>
              <a:t>• </a:t>
            </a:r>
            <a:r>
              <a:rPr lang="en-US" sz="2800" i="1" dirty="0"/>
              <a:t>structural </a:t>
            </a:r>
            <a:r>
              <a:rPr lang="en-US" sz="2800" dirty="0"/>
              <a:t>– infrastructure, sunk costs, governance.</a:t>
            </a:r>
            <a:endParaRPr lang="en-GB" sz="2800" dirty="0"/>
          </a:p>
          <a:p>
            <a:endParaRPr lang="en-US" sz="2800" dirty="0"/>
          </a:p>
        </p:txBody>
      </p:sp>
    </p:spTree>
    <p:extLst>
      <p:ext uri="{BB962C8B-B14F-4D97-AF65-F5344CB8AC3E}">
        <p14:creationId xmlns:p14="http://schemas.microsoft.com/office/powerpoint/2010/main" val="30441313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20706"/>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458167" y="280890"/>
            <a:ext cx="7686519"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rPr>
              <a:t>Factors affecting diffusion</a:t>
            </a:r>
            <a:endParaRPr lang="en-GB" sz="3600" b="1" dirty="0">
              <a:solidFill>
                <a:srgbClr val="008000"/>
              </a:solidFill>
            </a:endParaRPr>
          </a:p>
        </p:txBody>
      </p:sp>
      <p:sp>
        <p:nvSpPr>
          <p:cNvPr id="9" name="Rectangle 8"/>
          <p:cNvSpPr/>
          <p:nvPr/>
        </p:nvSpPr>
        <p:spPr>
          <a:xfrm>
            <a:off x="417847" y="1369651"/>
            <a:ext cx="8518336" cy="4832092"/>
          </a:xfrm>
          <a:prstGeom prst="rect">
            <a:avLst/>
          </a:prstGeom>
        </p:spPr>
        <p:txBody>
          <a:bodyPr wrap="square">
            <a:spAutoFit/>
          </a:bodyPr>
          <a:lstStyle/>
          <a:p>
            <a:r>
              <a:rPr lang="en-US" sz="2800" dirty="0"/>
              <a:t>In predicting the rate of adoption of an innovation, five factors explain 49–87% of the variance:</a:t>
            </a:r>
          </a:p>
          <a:p>
            <a:endParaRPr lang="en-GB" sz="2800" dirty="0"/>
          </a:p>
          <a:p>
            <a:r>
              <a:rPr lang="en-US" sz="2800" b="1" dirty="0"/>
              <a:t>• </a:t>
            </a:r>
            <a:r>
              <a:rPr lang="en-US" sz="2800" dirty="0"/>
              <a:t>relative advantage </a:t>
            </a:r>
            <a:endParaRPr lang="en-GB" sz="2800" dirty="0"/>
          </a:p>
          <a:p>
            <a:r>
              <a:rPr lang="en-US" sz="2800" b="1" dirty="0"/>
              <a:t>• </a:t>
            </a:r>
            <a:r>
              <a:rPr lang="en-US" sz="2800" dirty="0"/>
              <a:t>compatibility</a:t>
            </a:r>
            <a:endParaRPr lang="en-GB" sz="2800" dirty="0"/>
          </a:p>
          <a:p>
            <a:r>
              <a:rPr lang="en-US" sz="2800" b="1" dirty="0"/>
              <a:t>• </a:t>
            </a:r>
            <a:r>
              <a:rPr lang="en-US" sz="2800" dirty="0"/>
              <a:t>complexity</a:t>
            </a:r>
            <a:endParaRPr lang="en-GB" sz="2800" dirty="0"/>
          </a:p>
          <a:p>
            <a:r>
              <a:rPr lang="en-US" sz="2800" b="1" dirty="0"/>
              <a:t>• </a:t>
            </a:r>
            <a:r>
              <a:rPr lang="en-US" sz="2800" dirty="0"/>
              <a:t>trialability</a:t>
            </a:r>
            <a:endParaRPr lang="en-GB" sz="2800" dirty="0"/>
          </a:p>
          <a:p>
            <a:r>
              <a:rPr lang="en-US" sz="2800" b="1" dirty="0"/>
              <a:t>• </a:t>
            </a:r>
            <a:r>
              <a:rPr lang="en-US" sz="2800" dirty="0"/>
              <a:t>observability.</a:t>
            </a:r>
            <a:endParaRPr lang="en-GB" sz="2800" dirty="0"/>
          </a:p>
          <a:p>
            <a:endParaRPr lang="en-GB" sz="2800" dirty="0"/>
          </a:p>
          <a:p>
            <a:r>
              <a:rPr lang="en-US" sz="2800" dirty="0"/>
              <a:t> </a:t>
            </a:r>
            <a:endParaRPr lang="en-GB" sz="2800" dirty="0"/>
          </a:p>
          <a:p>
            <a:endParaRPr lang="en-GB" sz="2800" dirty="0"/>
          </a:p>
        </p:txBody>
      </p:sp>
    </p:spTree>
    <p:extLst>
      <p:ext uri="{BB962C8B-B14F-4D97-AF65-F5344CB8AC3E}">
        <p14:creationId xmlns:p14="http://schemas.microsoft.com/office/powerpoint/2010/main" val="5373865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20706"/>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683568" y="260648"/>
            <a:ext cx="7686519"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rPr>
              <a:t>Relative advantage</a:t>
            </a:r>
            <a:endParaRPr lang="en-GB" sz="3600" b="1" dirty="0">
              <a:solidFill>
                <a:srgbClr val="008000"/>
              </a:solidFill>
            </a:endParaRPr>
          </a:p>
        </p:txBody>
      </p:sp>
      <p:sp>
        <p:nvSpPr>
          <p:cNvPr id="9" name="Rectangle 8"/>
          <p:cNvSpPr/>
          <p:nvPr/>
        </p:nvSpPr>
        <p:spPr>
          <a:xfrm>
            <a:off x="417847" y="1369651"/>
            <a:ext cx="8518336" cy="6124754"/>
          </a:xfrm>
          <a:prstGeom prst="rect">
            <a:avLst/>
          </a:prstGeom>
        </p:spPr>
        <p:txBody>
          <a:bodyPr wrap="square">
            <a:spAutoFit/>
          </a:bodyPr>
          <a:lstStyle/>
          <a:p>
            <a:r>
              <a:rPr lang="en-US" sz="2800" dirty="0"/>
              <a:t> </a:t>
            </a:r>
            <a:endParaRPr lang="en-GB" sz="2800" dirty="0"/>
          </a:p>
          <a:p>
            <a:pPr marL="457200" indent="-457200">
              <a:buFont typeface="Arial"/>
              <a:buChar char="•"/>
            </a:pPr>
            <a:r>
              <a:rPr lang="en-US" sz="2800" dirty="0"/>
              <a:t>Relative advantage is the degree to which an innovation is perceived as better than the product it supersedes, or competing products. </a:t>
            </a:r>
            <a:endParaRPr lang="en-GB" sz="2800" dirty="0"/>
          </a:p>
          <a:p>
            <a:pPr marL="457200" indent="-457200">
              <a:buFont typeface="Arial"/>
              <a:buChar char="•"/>
            </a:pPr>
            <a:endParaRPr lang="en-US" sz="2800" dirty="0"/>
          </a:p>
          <a:p>
            <a:pPr marL="457200" indent="-457200">
              <a:buFont typeface="Arial"/>
              <a:buChar char="•"/>
            </a:pPr>
            <a:r>
              <a:rPr lang="en-US" sz="2800" dirty="0"/>
              <a:t>Typically measured in narrow economic terms, for example cost or financial payback</a:t>
            </a:r>
            <a:endParaRPr lang="en-GB" sz="2800" dirty="0"/>
          </a:p>
          <a:p>
            <a:pPr marL="457200" indent="-457200">
              <a:buFont typeface="Arial"/>
              <a:buChar char="•"/>
            </a:pPr>
            <a:endParaRPr lang="en-US" sz="2800" dirty="0"/>
          </a:p>
          <a:p>
            <a:pPr marL="457200" indent="-457200">
              <a:buFont typeface="Arial"/>
              <a:buChar char="•"/>
            </a:pPr>
            <a:r>
              <a:rPr lang="en-US" sz="2800" dirty="0"/>
              <a:t>Non-economic factors such as convenience, satisfaction and social prestige may be equally important.</a:t>
            </a:r>
            <a:endParaRPr lang="en-GB" sz="2800" dirty="0"/>
          </a:p>
          <a:p>
            <a:endParaRPr lang="en-GB" sz="2800" dirty="0"/>
          </a:p>
          <a:p>
            <a:r>
              <a:rPr lang="en-US" sz="2800" dirty="0"/>
              <a:t> </a:t>
            </a:r>
            <a:endParaRPr lang="en-GB" sz="2800" dirty="0"/>
          </a:p>
          <a:p>
            <a:endParaRPr lang="en-GB" sz="2800" dirty="0"/>
          </a:p>
        </p:txBody>
      </p:sp>
    </p:spTree>
    <p:extLst>
      <p:ext uri="{BB962C8B-B14F-4D97-AF65-F5344CB8AC3E}">
        <p14:creationId xmlns:p14="http://schemas.microsoft.com/office/powerpoint/2010/main" val="32646855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20706"/>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611560" y="260648"/>
            <a:ext cx="7686519"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rPr>
              <a:t>Attributes of innovation</a:t>
            </a:r>
            <a:endParaRPr lang="en-GB" sz="3600" b="1" dirty="0">
              <a:solidFill>
                <a:srgbClr val="008000"/>
              </a:solidFill>
            </a:endParaRPr>
          </a:p>
        </p:txBody>
      </p:sp>
      <p:sp>
        <p:nvSpPr>
          <p:cNvPr id="9" name="Rectangle 8"/>
          <p:cNvSpPr/>
          <p:nvPr/>
        </p:nvSpPr>
        <p:spPr>
          <a:xfrm>
            <a:off x="417847" y="1369651"/>
            <a:ext cx="8518336" cy="5693867"/>
          </a:xfrm>
          <a:prstGeom prst="rect">
            <a:avLst/>
          </a:prstGeom>
        </p:spPr>
        <p:txBody>
          <a:bodyPr wrap="square">
            <a:spAutoFit/>
          </a:bodyPr>
          <a:lstStyle/>
          <a:p>
            <a:r>
              <a:rPr lang="en-US" sz="2800" dirty="0"/>
              <a:t> </a:t>
            </a:r>
            <a:endParaRPr lang="en-GB" sz="2800" dirty="0"/>
          </a:p>
          <a:p>
            <a:pPr marL="457200" indent="-457200">
              <a:buFont typeface="Arial"/>
              <a:buChar char="•"/>
            </a:pPr>
            <a:r>
              <a:rPr lang="en-US" sz="2800" dirty="0"/>
              <a:t>Primary attributes, such as size and cost, are invariant and inherent to a specific innovation irrespective of the adopter. </a:t>
            </a:r>
          </a:p>
          <a:p>
            <a:pPr marL="457200" indent="-457200">
              <a:buFont typeface="Arial"/>
              <a:buChar char="•"/>
            </a:pPr>
            <a:endParaRPr lang="en-GB" sz="2800" dirty="0"/>
          </a:p>
          <a:p>
            <a:pPr marL="457200" indent="-457200">
              <a:buFont typeface="Arial"/>
              <a:buChar char="•"/>
            </a:pPr>
            <a:r>
              <a:rPr lang="en-US" sz="2800" dirty="0"/>
              <a:t>Secondary attributes, such as relative advantage and compatibility, may vary from adopter to adopter, being contingent upon the perceptions and context of adopters. </a:t>
            </a:r>
            <a:endParaRPr lang="en-GB" sz="2800" dirty="0"/>
          </a:p>
          <a:p>
            <a:endParaRPr lang="en-GB" sz="2800" dirty="0"/>
          </a:p>
          <a:p>
            <a:endParaRPr lang="en-GB" sz="2800" dirty="0"/>
          </a:p>
          <a:p>
            <a:r>
              <a:rPr lang="en-US" sz="2800" dirty="0"/>
              <a:t> </a:t>
            </a:r>
            <a:endParaRPr lang="en-GB" sz="2800" dirty="0"/>
          </a:p>
          <a:p>
            <a:endParaRPr lang="en-GB" sz="2800" dirty="0"/>
          </a:p>
        </p:txBody>
      </p:sp>
    </p:spTree>
    <p:extLst>
      <p:ext uri="{BB962C8B-B14F-4D97-AF65-F5344CB8AC3E}">
        <p14:creationId xmlns:p14="http://schemas.microsoft.com/office/powerpoint/2010/main" val="30664303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20706"/>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539552" y="332656"/>
            <a:ext cx="7686519"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rPr>
              <a:t>Compatibility</a:t>
            </a:r>
            <a:endParaRPr lang="en-GB" sz="3600" b="1" dirty="0">
              <a:solidFill>
                <a:srgbClr val="008000"/>
              </a:solidFill>
            </a:endParaRPr>
          </a:p>
        </p:txBody>
      </p:sp>
      <p:sp>
        <p:nvSpPr>
          <p:cNvPr id="9" name="Rectangle 8"/>
          <p:cNvSpPr/>
          <p:nvPr/>
        </p:nvSpPr>
        <p:spPr>
          <a:xfrm>
            <a:off x="417847" y="1369651"/>
            <a:ext cx="8518336" cy="6986527"/>
          </a:xfrm>
          <a:prstGeom prst="rect">
            <a:avLst/>
          </a:prstGeom>
        </p:spPr>
        <p:txBody>
          <a:bodyPr wrap="square">
            <a:spAutoFit/>
          </a:bodyPr>
          <a:lstStyle/>
          <a:p>
            <a:pPr marL="342900" indent="-342900">
              <a:buFont typeface="Arial"/>
              <a:buChar char="•"/>
            </a:pPr>
            <a:r>
              <a:rPr lang="en-US" sz="2400" dirty="0"/>
              <a:t>Compatibility is the degree to which an innovation is perceived to be consistent with the existing values, experience and needs of potential adopters. </a:t>
            </a:r>
          </a:p>
          <a:p>
            <a:pPr marL="342900" indent="-342900">
              <a:buFont typeface="Arial"/>
              <a:buChar char="•"/>
            </a:pPr>
            <a:endParaRPr lang="en-GB" sz="2400" dirty="0"/>
          </a:p>
          <a:p>
            <a:pPr marL="342900" indent="-342900">
              <a:buFont typeface="Arial"/>
              <a:buChar char="•"/>
            </a:pPr>
            <a:r>
              <a:rPr lang="en-US" sz="2400" dirty="0"/>
              <a:t>Two distinct aspects of compatibility: </a:t>
            </a:r>
            <a:endParaRPr lang="en-GB" sz="2400" dirty="0"/>
          </a:p>
          <a:p>
            <a:pPr marL="342900" indent="-342900">
              <a:buFont typeface="Arial"/>
              <a:buChar char="•"/>
            </a:pPr>
            <a:endParaRPr lang="en-GB" sz="2400" dirty="0"/>
          </a:p>
          <a:p>
            <a:pPr marL="800100" lvl="1" indent="-342900">
              <a:buFont typeface="Arial"/>
              <a:buChar char="•"/>
            </a:pPr>
            <a:r>
              <a:rPr lang="en-US" sz="2400" dirty="0"/>
              <a:t>existing skills and practices, </a:t>
            </a:r>
            <a:endParaRPr lang="en-GB" sz="2400" dirty="0"/>
          </a:p>
          <a:p>
            <a:pPr marL="800100" lvl="1" indent="-342900">
              <a:buFont typeface="Arial"/>
              <a:buChar char="•"/>
            </a:pPr>
            <a:r>
              <a:rPr lang="en-US" sz="2400" dirty="0"/>
              <a:t>and values and norms. </a:t>
            </a:r>
          </a:p>
          <a:p>
            <a:pPr marL="342900" lvl="0" indent="-342900">
              <a:buFont typeface="Arial"/>
              <a:buChar char="•"/>
            </a:pPr>
            <a:endParaRPr lang="en-GB" sz="2400" dirty="0"/>
          </a:p>
          <a:p>
            <a:pPr marL="342900" indent="-342900">
              <a:buFont typeface="Arial"/>
              <a:buChar char="•"/>
            </a:pPr>
            <a:r>
              <a:rPr lang="en-US" sz="2400" dirty="0"/>
              <a:t>Few innovations initially fit the user environment into which they are introduced. Significant misalignments between the innovation and the adopting organization will require changes in the innovation or organization, or, in the most successful cases of implementation, mutual adaptation of both.</a:t>
            </a:r>
            <a:endParaRPr lang="en-GB" sz="2400" dirty="0"/>
          </a:p>
          <a:p>
            <a:endParaRPr lang="en-GB" sz="2800" dirty="0"/>
          </a:p>
          <a:p>
            <a:endParaRPr lang="en-GB" sz="2800" dirty="0"/>
          </a:p>
          <a:p>
            <a:r>
              <a:rPr lang="en-US" sz="2800" dirty="0"/>
              <a:t> </a:t>
            </a:r>
            <a:endParaRPr lang="en-GB" sz="2800" dirty="0"/>
          </a:p>
          <a:p>
            <a:endParaRPr lang="en-GB" sz="2800" dirty="0"/>
          </a:p>
        </p:txBody>
      </p:sp>
      <p:pic>
        <p:nvPicPr>
          <p:cNvPr id="34818" name="Picture 2" descr="Image result for compatibility"/>
          <p:cNvPicPr>
            <a:picLocks noChangeAspect="1" noChangeArrowheads="1"/>
          </p:cNvPicPr>
          <p:nvPr/>
        </p:nvPicPr>
        <p:blipFill>
          <a:blip r:embed="rId2" cstate="print"/>
          <a:srcRect/>
          <a:stretch>
            <a:fillRect/>
          </a:stretch>
        </p:blipFill>
        <p:spPr bwMode="auto">
          <a:xfrm>
            <a:off x="6588224" y="2492896"/>
            <a:ext cx="1669876" cy="1669876"/>
          </a:xfrm>
          <a:prstGeom prst="rect">
            <a:avLst/>
          </a:prstGeom>
          <a:noFill/>
        </p:spPr>
      </p:pic>
    </p:spTree>
    <p:extLst>
      <p:ext uri="{BB962C8B-B14F-4D97-AF65-F5344CB8AC3E}">
        <p14:creationId xmlns:p14="http://schemas.microsoft.com/office/powerpoint/2010/main" val="42845687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20706"/>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539552" y="260648"/>
            <a:ext cx="7686519"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rPr>
              <a:t>Complexity</a:t>
            </a:r>
            <a:endParaRPr lang="en-GB" sz="3600" b="1" dirty="0">
              <a:solidFill>
                <a:srgbClr val="008000"/>
              </a:solidFill>
            </a:endParaRPr>
          </a:p>
        </p:txBody>
      </p:sp>
      <p:sp>
        <p:nvSpPr>
          <p:cNvPr id="9" name="Rectangle 8"/>
          <p:cNvSpPr/>
          <p:nvPr/>
        </p:nvSpPr>
        <p:spPr>
          <a:xfrm>
            <a:off x="417847" y="1369651"/>
            <a:ext cx="8518336" cy="5262980"/>
          </a:xfrm>
          <a:prstGeom prst="rect">
            <a:avLst/>
          </a:prstGeom>
        </p:spPr>
        <p:txBody>
          <a:bodyPr wrap="square">
            <a:spAutoFit/>
          </a:bodyPr>
          <a:lstStyle/>
          <a:p>
            <a:r>
              <a:rPr lang="en-US" sz="2800" dirty="0"/>
              <a:t> </a:t>
            </a:r>
            <a:endParaRPr lang="en-GB" sz="2800" dirty="0"/>
          </a:p>
          <a:p>
            <a:pPr marL="457200" indent="-457200">
              <a:buFont typeface="Arial"/>
              <a:buChar char="•"/>
            </a:pPr>
            <a:r>
              <a:rPr lang="en-US" sz="2800" dirty="0"/>
              <a:t>Complexity is the degree to which an innovation is perceived as being difficult to understand or use.</a:t>
            </a:r>
          </a:p>
          <a:p>
            <a:pPr marL="457200" indent="-457200">
              <a:buFont typeface="Arial"/>
              <a:buChar char="•"/>
            </a:pPr>
            <a:endParaRPr lang="en-US" sz="2800" dirty="0"/>
          </a:p>
          <a:p>
            <a:pPr marL="457200" indent="-457200">
              <a:buFont typeface="Arial"/>
              <a:buChar char="•"/>
            </a:pPr>
            <a:r>
              <a:rPr lang="en-US" sz="2800" dirty="0"/>
              <a:t>In general, innovations which are simpler for potential users to understand will be adopted more rapidly than those which require the adopter to develop new skills and knowledge.</a:t>
            </a:r>
            <a:endParaRPr lang="en-GB" sz="2800" dirty="0"/>
          </a:p>
          <a:p>
            <a:endParaRPr lang="en-GB" sz="2800" dirty="0"/>
          </a:p>
          <a:p>
            <a:endParaRPr lang="en-GB" sz="2800" dirty="0"/>
          </a:p>
          <a:p>
            <a:r>
              <a:rPr lang="en-US" sz="2800" dirty="0"/>
              <a:t> </a:t>
            </a:r>
            <a:endParaRPr lang="en-GB" sz="2800" dirty="0"/>
          </a:p>
          <a:p>
            <a:endParaRPr lang="en-GB" sz="2800" dirty="0"/>
          </a:p>
        </p:txBody>
      </p:sp>
      <p:pic>
        <p:nvPicPr>
          <p:cNvPr id="32770" name="Picture 2" descr="Image result for complexity"/>
          <p:cNvPicPr>
            <a:picLocks noChangeAspect="1" noChangeArrowheads="1"/>
          </p:cNvPicPr>
          <p:nvPr/>
        </p:nvPicPr>
        <p:blipFill>
          <a:blip r:embed="rId2" cstate="print"/>
          <a:srcRect/>
          <a:stretch>
            <a:fillRect/>
          </a:stretch>
        </p:blipFill>
        <p:spPr bwMode="auto">
          <a:xfrm>
            <a:off x="5148064" y="4869160"/>
            <a:ext cx="2736304" cy="1824203"/>
          </a:xfrm>
          <a:prstGeom prst="rect">
            <a:avLst/>
          </a:prstGeom>
          <a:noFill/>
        </p:spPr>
      </p:pic>
    </p:spTree>
    <p:extLst>
      <p:ext uri="{BB962C8B-B14F-4D97-AF65-F5344CB8AC3E}">
        <p14:creationId xmlns:p14="http://schemas.microsoft.com/office/powerpoint/2010/main" val="4712153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20706"/>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880671" y="264145"/>
            <a:ext cx="5666532" cy="917864"/>
          </a:xfrm>
          <a:prstGeom prst="rect">
            <a:avLst/>
          </a:prstGeom>
        </p:spPr>
        <p:txBody>
          <a:bodyPr vert="horz" lIns="91440" tIns="45720" rIns="91440" bIns="45720" rtlCol="0" anchor="ctr">
            <a:noAutofit/>
          </a:bodyPr>
          <a:lstStyle/>
          <a:p>
            <a:pPr lvl="0" algn="ctr">
              <a:spcBef>
                <a:spcPct val="0"/>
              </a:spcBef>
              <a:defRPr/>
            </a:pPr>
            <a:r>
              <a:rPr lang="en-US" sz="3600" b="1" dirty="0">
                <a:solidFill>
                  <a:srgbClr val="008000"/>
                </a:solidFill>
                <a:latin typeface="+mj-lt"/>
                <a:ea typeface="+mj-ea"/>
                <a:cs typeface="+mj-cs"/>
              </a:rPr>
              <a:t>Trialability</a:t>
            </a:r>
            <a:endParaRPr lang="en-GB" sz="3600" b="1" dirty="0">
              <a:solidFill>
                <a:srgbClr val="008000"/>
              </a:solidFill>
              <a:latin typeface="+mj-lt"/>
              <a:ea typeface="+mj-ea"/>
              <a:cs typeface="+mj-cs"/>
            </a:endParaRPr>
          </a:p>
        </p:txBody>
      </p:sp>
      <p:sp>
        <p:nvSpPr>
          <p:cNvPr id="9" name="Rectangle 8"/>
          <p:cNvSpPr/>
          <p:nvPr/>
        </p:nvSpPr>
        <p:spPr>
          <a:xfrm>
            <a:off x="417847" y="1369651"/>
            <a:ext cx="8518336" cy="6263254"/>
          </a:xfrm>
          <a:prstGeom prst="rect">
            <a:avLst/>
          </a:prstGeom>
        </p:spPr>
        <p:txBody>
          <a:bodyPr wrap="square">
            <a:spAutoFit/>
          </a:bodyPr>
          <a:lstStyle/>
          <a:p>
            <a:pPr marL="457200" indent="-457200">
              <a:buFont typeface="Arial"/>
              <a:buChar char="•"/>
            </a:pPr>
            <a:r>
              <a:rPr lang="en-US" sz="2800" dirty="0"/>
              <a:t>Trialability is the degree to which an innovation can be experimented with on a limited basis.</a:t>
            </a:r>
          </a:p>
          <a:p>
            <a:pPr marL="457200" indent="-457200">
              <a:buFont typeface="Arial"/>
              <a:buChar char="•"/>
            </a:pPr>
            <a:endParaRPr lang="en-US" sz="2800" dirty="0"/>
          </a:p>
          <a:p>
            <a:pPr marL="457200" indent="-457200">
              <a:buFont typeface="Arial"/>
              <a:buChar char="•"/>
            </a:pPr>
            <a:r>
              <a:rPr lang="en-US" sz="2800" dirty="0"/>
              <a:t>An innovation that is trialable represents less uncertainty to potential adopters, and allows learning by doing. Innovations which can be trialled will generally be adopted more quickly than those which cannot.</a:t>
            </a:r>
          </a:p>
          <a:p>
            <a:pPr marL="457200" indent="-457200">
              <a:buFont typeface="Arial"/>
              <a:buChar char="•"/>
            </a:pPr>
            <a:endParaRPr lang="en-GB" sz="2800" dirty="0"/>
          </a:p>
          <a:p>
            <a:pPr marL="457200" indent="-457200">
              <a:buFont typeface="Arial"/>
              <a:buChar char="•"/>
            </a:pPr>
            <a:r>
              <a:rPr lang="en-US" sz="2800" dirty="0"/>
              <a:t>Sometimes called ‘divisibility’ – how far can the risk of adoption be broken down into small steps rather than requiring a full commitment at the outset</a:t>
            </a:r>
            <a:endParaRPr lang="en-GB" sz="2800" dirty="0"/>
          </a:p>
          <a:p>
            <a:pPr>
              <a:spcAft>
                <a:spcPts val="1800"/>
              </a:spcAft>
            </a:pPr>
            <a:endParaRPr lang="en-GB" sz="2400" dirty="0">
              <a:solidFill>
                <a:srgbClr val="FF6600"/>
              </a:solidFill>
            </a:endParaRPr>
          </a:p>
          <a:p>
            <a:pPr>
              <a:spcAft>
                <a:spcPts val="1800"/>
              </a:spcAft>
            </a:pPr>
            <a:endParaRPr lang="en-US" sz="2600" dirty="0"/>
          </a:p>
        </p:txBody>
      </p:sp>
    </p:spTree>
    <p:extLst>
      <p:ext uri="{BB962C8B-B14F-4D97-AF65-F5344CB8AC3E}">
        <p14:creationId xmlns:p14="http://schemas.microsoft.com/office/powerpoint/2010/main" val="8479811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20706"/>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683568" y="260648"/>
            <a:ext cx="7552464" cy="917864"/>
          </a:xfrm>
          <a:prstGeom prst="rect">
            <a:avLst/>
          </a:prstGeom>
        </p:spPr>
        <p:txBody>
          <a:bodyPr vert="horz" lIns="91440" tIns="45720" rIns="91440" bIns="45720" rtlCol="0" anchor="ctr">
            <a:noAutofit/>
          </a:bodyPr>
          <a:lstStyle/>
          <a:p>
            <a:pPr lvl="0" algn="ctr">
              <a:spcBef>
                <a:spcPct val="0"/>
              </a:spcBef>
              <a:defRPr/>
            </a:pPr>
            <a:r>
              <a:rPr lang="en-US" sz="3600" b="1" dirty="0">
                <a:solidFill>
                  <a:srgbClr val="008000"/>
                </a:solidFill>
                <a:latin typeface="+mj-lt"/>
                <a:ea typeface="+mj-ea"/>
                <a:cs typeface="+mj-cs"/>
              </a:rPr>
              <a:t>Observability</a:t>
            </a:r>
            <a:endParaRPr lang="en-GB" sz="3600" b="1" dirty="0">
              <a:solidFill>
                <a:srgbClr val="008000"/>
              </a:solidFill>
              <a:latin typeface="+mj-lt"/>
              <a:ea typeface="+mj-ea"/>
              <a:cs typeface="+mj-cs"/>
            </a:endParaRPr>
          </a:p>
        </p:txBody>
      </p:sp>
      <p:sp>
        <p:nvSpPr>
          <p:cNvPr id="9" name="Rectangle 8"/>
          <p:cNvSpPr/>
          <p:nvPr/>
        </p:nvSpPr>
        <p:spPr>
          <a:xfrm>
            <a:off x="417847" y="1223119"/>
            <a:ext cx="8518336" cy="4903907"/>
          </a:xfrm>
          <a:prstGeom prst="rect">
            <a:avLst/>
          </a:prstGeom>
        </p:spPr>
        <p:txBody>
          <a:bodyPr wrap="square">
            <a:spAutoFit/>
          </a:bodyPr>
          <a:lstStyle/>
          <a:p>
            <a:endParaRPr lang="en-US" sz="2800" dirty="0"/>
          </a:p>
          <a:p>
            <a:pPr marL="457200" indent="-457200">
              <a:buFont typeface="Arial"/>
              <a:buChar char="•"/>
            </a:pPr>
            <a:r>
              <a:rPr lang="en-US" sz="2800" dirty="0"/>
              <a:t>Observability is the degree to which the results of an innovation are visible to others. </a:t>
            </a:r>
            <a:endParaRPr lang="en-GB" sz="2800" dirty="0"/>
          </a:p>
          <a:p>
            <a:pPr marL="457200" indent="-457200">
              <a:buFont typeface="Arial"/>
              <a:buChar char="•"/>
            </a:pPr>
            <a:endParaRPr lang="en-US" sz="2800" dirty="0"/>
          </a:p>
          <a:p>
            <a:pPr marL="457200" indent="-457200">
              <a:buFont typeface="Arial"/>
              <a:buChar char="•"/>
            </a:pPr>
            <a:r>
              <a:rPr lang="en-US" sz="2800" dirty="0"/>
              <a:t>The easier it is for others to see the benefits of an innovation, the more likely it will be adopted. </a:t>
            </a:r>
            <a:endParaRPr lang="en-GB" sz="2800" dirty="0"/>
          </a:p>
          <a:p>
            <a:pPr marL="457200" indent="-457200">
              <a:buFont typeface="Arial"/>
              <a:buChar char="•"/>
            </a:pPr>
            <a:endParaRPr lang="en-US" sz="2800" dirty="0"/>
          </a:p>
          <a:p>
            <a:pPr marL="457200" indent="-457200">
              <a:buFont typeface="Arial"/>
              <a:buChar char="•"/>
            </a:pPr>
            <a:r>
              <a:rPr lang="en-US" sz="2800" dirty="0"/>
              <a:t>The simple epidemic model of diffusion assumes that innovations spread as potential adopters come into contact with existing users of an innovation.</a:t>
            </a:r>
            <a:endParaRPr lang="en-GB" sz="2800" dirty="0"/>
          </a:p>
          <a:p>
            <a:pPr marL="457200" indent="-457200">
              <a:lnSpc>
                <a:spcPct val="120000"/>
              </a:lnSpc>
              <a:buFont typeface="Arial"/>
              <a:buChar char="•"/>
            </a:pPr>
            <a:endParaRPr lang="en-GB" sz="2800" dirty="0"/>
          </a:p>
        </p:txBody>
      </p:sp>
    </p:spTree>
    <p:extLst>
      <p:ext uri="{BB962C8B-B14F-4D97-AF65-F5344CB8AC3E}">
        <p14:creationId xmlns:p14="http://schemas.microsoft.com/office/powerpoint/2010/main" val="6824370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20706"/>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648668" y="208568"/>
            <a:ext cx="6924762" cy="917864"/>
          </a:xfrm>
          <a:prstGeom prst="rect">
            <a:avLst/>
          </a:prstGeom>
        </p:spPr>
        <p:txBody>
          <a:bodyPr vert="horz" lIns="91440" tIns="45720" rIns="91440" bIns="45720" rtlCol="0" anchor="ctr">
            <a:noAutofit/>
          </a:bodyPr>
          <a:lstStyle/>
          <a:p>
            <a:pPr>
              <a:spcBef>
                <a:spcPct val="0"/>
              </a:spcBef>
              <a:defRPr/>
            </a:pPr>
            <a:r>
              <a:rPr lang="en-US" sz="3600" b="1" dirty="0">
                <a:solidFill>
                  <a:srgbClr val="008000"/>
                </a:solidFill>
                <a:latin typeface="+mj-lt"/>
                <a:ea typeface="+mj-ea"/>
                <a:cs typeface="+mj-cs"/>
              </a:rPr>
              <a:t>Checklist: Relative advantage</a:t>
            </a:r>
            <a:endParaRPr lang="en-GB" sz="3600" b="1" dirty="0">
              <a:solidFill>
                <a:srgbClr val="008000"/>
              </a:solidFill>
              <a:latin typeface="+mj-lt"/>
              <a:ea typeface="+mj-ea"/>
              <a:cs typeface="+mj-cs"/>
            </a:endParaRPr>
          </a:p>
        </p:txBody>
      </p:sp>
      <p:sp>
        <p:nvSpPr>
          <p:cNvPr id="9" name="Rectangle 8"/>
          <p:cNvSpPr/>
          <p:nvPr/>
        </p:nvSpPr>
        <p:spPr>
          <a:xfrm>
            <a:off x="417847" y="1369651"/>
            <a:ext cx="8518336" cy="4401205"/>
          </a:xfrm>
          <a:prstGeom prst="rect">
            <a:avLst/>
          </a:prstGeom>
        </p:spPr>
        <p:txBody>
          <a:bodyPr wrap="square">
            <a:spAutoFit/>
          </a:bodyPr>
          <a:lstStyle/>
          <a:p>
            <a:r>
              <a:rPr lang="en-US" sz="2800" b="1" dirty="0"/>
              <a:t>• </a:t>
            </a:r>
            <a:r>
              <a:rPr lang="en-US" sz="2800" dirty="0"/>
              <a:t>How well does my plan show how much better off people will be when they adopt it?</a:t>
            </a:r>
            <a:endParaRPr lang="en-GB" sz="2800" dirty="0"/>
          </a:p>
          <a:p>
            <a:r>
              <a:rPr lang="en-US" sz="2800" b="1" dirty="0"/>
              <a:t>• </a:t>
            </a:r>
            <a:r>
              <a:rPr lang="en-US" sz="2800" dirty="0"/>
              <a:t>Why is this plan better than what has been done before?</a:t>
            </a:r>
            <a:endParaRPr lang="en-GB" sz="2800" dirty="0"/>
          </a:p>
          <a:p>
            <a:r>
              <a:rPr lang="en-US" sz="2800" b="1" dirty="0"/>
              <a:t>• </a:t>
            </a:r>
            <a:r>
              <a:rPr lang="en-US" sz="2800" dirty="0"/>
              <a:t>What advantages or benefits may there be to accepting the plan? </a:t>
            </a:r>
            <a:endParaRPr lang="en-GB" sz="2800" dirty="0"/>
          </a:p>
          <a:p>
            <a:r>
              <a:rPr lang="en-US" sz="2800" b="1" dirty="0"/>
              <a:t>• </a:t>
            </a:r>
            <a:r>
              <a:rPr lang="en-US" sz="2800" dirty="0"/>
              <a:t>Who will gain from the implementation of the plan?</a:t>
            </a:r>
            <a:endParaRPr lang="en-GB" sz="2800" dirty="0"/>
          </a:p>
          <a:p>
            <a:r>
              <a:rPr lang="en-US" sz="2800" b="1" dirty="0"/>
              <a:t>• </a:t>
            </a:r>
            <a:r>
              <a:rPr lang="en-US" sz="2800" dirty="0"/>
              <a:t>How will I (or others) be rewarded by adopting the plan?</a:t>
            </a:r>
            <a:endParaRPr lang="en-GB" sz="2800" dirty="0"/>
          </a:p>
          <a:p>
            <a:r>
              <a:rPr lang="en-US" sz="2800" b="1" dirty="0"/>
              <a:t>• </a:t>
            </a:r>
            <a:r>
              <a:rPr lang="en-US" sz="2800" dirty="0"/>
              <a:t>How can I emphasize the plan’s benefits to all?</a:t>
            </a:r>
            <a:endParaRPr lang="en-GB" sz="2800" dirty="0"/>
          </a:p>
        </p:txBody>
      </p:sp>
    </p:spTree>
    <p:extLst>
      <p:ext uri="{BB962C8B-B14F-4D97-AF65-F5344CB8AC3E}">
        <p14:creationId xmlns:p14="http://schemas.microsoft.com/office/powerpoint/2010/main" val="12331231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49531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9" name="Title 1"/>
          <p:cNvSpPr txBox="1">
            <a:spLocks/>
          </p:cNvSpPr>
          <p:nvPr/>
        </p:nvSpPr>
        <p:spPr>
          <a:xfrm>
            <a:off x="1907704" y="332656"/>
            <a:ext cx="5224656"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Checklist: Compatibility</a:t>
            </a:r>
            <a:endParaRPr lang="en-GB" sz="3600" b="1" dirty="0">
              <a:solidFill>
                <a:srgbClr val="008000"/>
              </a:solidFill>
              <a:latin typeface="+mj-lt"/>
              <a:ea typeface="+mj-ea"/>
              <a:cs typeface="+mj-cs"/>
            </a:endParaRPr>
          </a:p>
        </p:txBody>
      </p:sp>
      <p:sp>
        <p:nvSpPr>
          <p:cNvPr id="3" name="Content Placeholder 2"/>
          <p:cNvSpPr>
            <a:spLocks noGrp="1"/>
          </p:cNvSpPr>
          <p:nvPr>
            <p:ph idx="1"/>
          </p:nvPr>
        </p:nvSpPr>
        <p:spPr/>
        <p:txBody>
          <a:bodyPr>
            <a:normAutofit fontScale="85000" lnSpcReduction="10000"/>
          </a:bodyPr>
          <a:lstStyle/>
          <a:p>
            <a:r>
              <a:rPr lang="en-US" dirty="0"/>
              <a:t>How well does my plan demonstrate that it is compatible with current values, past experiences and needs?</a:t>
            </a:r>
            <a:endParaRPr lang="en-GB" dirty="0"/>
          </a:p>
          <a:p>
            <a:r>
              <a:rPr lang="en-US" dirty="0"/>
              <a:t>Is the plan consistent with current practice?</a:t>
            </a:r>
            <a:endParaRPr lang="en-GB" dirty="0"/>
          </a:p>
          <a:p>
            <a:r>
              <a:rPr lang="en-US" dirty="0"/>
              <a:t>Does the plan meet the needs of a particular group?</a:t>
            </a:r>
            <a:endParaRPr lang="en-GB" dirty="0"/>
          </a:p>
          <a:p>
            <a:pPr lvl="0"/>
            <a:r>
              <a:rPr lang="en-US" dirty="0"/>
              <a:t>Does it offer better ways to reach our common goals? </a:t>
            </a:r>
            <a:endParaRPr lang="en-GB" dirty="0"/>
          </a:p>
          <a:p>
            <a:pPr lvl="0"/>
            <a:r>
              <a:rPr lang="en-US" dirty="0"/>
              <a:t>Who will naturally support and agree with the plan? </a:t>
            </a:r>
            <a:endParaRPr lang="en-GB" dirty="0"/>
          </a:p>
          <a:p>
            <a:pPr lvl="0"/>
            <a:r>
              <a:rPr lang="en-US" dirty="0"/>
              <a:t>Can it be favourably named, packaged or presented? </a:t>
            </a:r>
            <a:endParaRPr lang="en-GB" dirty="0"/>
          </a:p>
          <a:p>
            <a:endParaRPr lang="en-US" dirty="0"/>
          </a:p>
        </p:txBody>
      </p:sp>
    </p:spTree>
    <p:extLst>
      <p:ext uri="{BB962C8B-B14F-4D97-AF65-F5344CB8AC3E}">
        <p14:creationId xmlns:p14="http://schemas.microsoft.com/office/powerpoint/2010/main" val="3257330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49531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9" name="Title 1"/>
          <p:cNvSpPr txBox="1">
            <a:spLocks/>
          </p:cNvSpPr>
          <p:nvPr/>
        </p:nvSpPr>
        <p:spPr>
          <a:xfrm>
            <a:off x="2195736" y="332656"/>
            <a:ext cx="7272787" cy="917864"/>
          </a:xfrm>
          <a:prstGeom prst="rect">
            <a:avLst/>
          </a:prstGeom>
        </p:spPr>
        <p:txBody>
          <a:bodyPr vert="horz" lIns="91440" tIns="45720" rIns="91440" bIns="45720" rtlCol="0" anchor="ctr">
            <a:noAutofit/>
          </a:bodyPr>
          <a:lstStyle/>
          <a:p>
            <a:pPr>
              <a:spcBef>
                <a:spcPct val="0"/>
              </a:spcBef>
              <a:defRPr/>
            </a:pPr>
            <a:r>
              <a:rPr lang="en-US" sz="3600" b="1" dirty="0">
                <a:solidFill>
                  <a:srgbClr val="008000"/>
                </a:solidFill>
                <a:latin typeface="+mj-lt"/>
                <a:ea typeface="+mj-ea"/>
                <a:cs typeface="+mj-cs"/>
              </a:rPr>
              <a:t>Checklist: Trialability</a:t>
            </a:r>
            <a:endParaRPr lang="en-GB" sz="3600" b="1" dirty="0">
              <a:solidFill>
                <a:srgbClr val="008000"/>
              </a:solidFill>
              <a:latin typeface="+mj-lt"/>
              <a:ea typeface="+mj-ea"/>
              <a:cs typeface="+mj-cs"/>
            </a:endParaRPr>
          </a:p>
        </p:txBody>
      </p:sp>
      <p:sp>
        <p:nvSpPr>
          <p:cNvPr id="3" name="Content Placeholder 2"/>
          <p:cNvSpPr>
            <a:spLocks noGrp="1"/>
          </p:cNvSpPr>
          <p:nvPr>
            <p:ph idx="1"/>
          </p:nvPr>
        </p:nvSpPr>
        <p:spPr/>
        <p:txBody>
          <a:bodyPr>
            <a:normAutofit/>
          </a:bodyPr>
          <a:lstStyle/>
          <a:p>
            <a:r>
              <a:rPr lang="en-US" dirty="0"/>
              <a:t>How well does my plan allow for trialability?</a:t>
            </a:r>
            <a:endParaRPr lang="en-GB" dirty="0"/>
          </a:p>
          <a:p>
            <a:r>
              <a:rPr lang="en-US" dirty="0"/>
              <a:t>Can the plan be tried out or tested?</a:t>
            </a:r>
            <a:endParaRPr lang="en-GB" dirty="0"/>
          </a:p>
          <a:p>
            <a:r>
              <a:rPr lang="en-US" dirty="0"/>
              <a:t>Can uncertainty be reduced?</a:t>
            </a:r>
            <a:endParaRPr lang="en-GB" dirty="0"/>
          </a:p>
          <a:p>
            <a:r>
              <a:rPr lang="en-US" dirty="0"/>
              <a:t>Can we begin with a few parts of the plan?</a:t>
            </a:r>
            <a:endParaRPr lang="en-GB" dirty="0"/>
          </a:p>
          <a:p>
            <a:r>
              <a:rPr lang="en-US" dirty="0"/>
              <a:t>How can others be encouraged to try out the plan? </a:t>
            </a:r>
            <a:endParaRPr lang="en-GB" dirty="0"/>
          </a:p>
          <a:p>
            <a:r>
              <a:rPr lang="en-US" dirty="0"/>
              <a:t>Can the plan be modified by you or others?</a:t>
            </a:r>
            <a:endParaRPr lang="en-GB" dirty="0"/>
          </a:p>
          <a:p>
            <a:endParaRPr lang="en-US" dirty="0"/>
          </a:p>
        </p:txBody>
      </p:sp>
    </p:spTree>
    <p:extLst>
      <p:ext uri="{BB962C8B-B14F-4D97-AF65-F5344CB8AC3E}">
        <p14:creationId xmlns:p14="http://schemas.microsoft.com/office/powerpoint/2010/main" val="42066652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49531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9" name="Title 1"/>
          <p:cNvSpPr txBox="1">
            <a:spLocks/>
          </p:cNvSpPr>
          <p:nvPr/>
        </p:nvSpPr>
        <p:spPr>
          <a:xfrm>
            <a:off x="971600" y="332656"/>
            <a:ext cx="6994945" cy="917864"/>
          </a:xfrm>
          <a:prstGeom prst="rect">
            <a:avLst/>
          </a:prstGeom>
        </p:spPr>
        <p:txBody>
          <a:bodyPr vert="horz" lIns="91440" tIns="45720" rIns="91440" bIns="45720" rtlCol="0" anchor="ctr">
            <a:noAutofit/>
          </a:bodyPr>
          <a:lstStyle/>
          <a:p>
            <a:pPr lvl="0" algn="ctr">
              <a:spcBef>
                <a:spcPct val="0"/>
              </a:spcBef>
              <a:defRPr/>
            </a:pPr>
            <a:r>
              <a:rPr lang="en-US" sz="3600" b="1" dirty="0">
                <a:solidFill>
                  <a:srgbClr val="008000"/>
                </a:solidFill>
                <a:latin typeface="+mj-lt"/>
                <a:ea typeface="+mj-ea"/>
                <a:cs typeface="+mj-cs"/>
              </a:rPr>
              <a:t>Checklist: Complexity</a:t>
            </a:r>
            <a:endParaRPr lang="en-GB" sz="3600" b="1" dirty="0">
              <a:solidFill>
                <a:srgbClr val="008000"/>
              </a:solidFill>
              <a:latin typeface="+mj-lt"/>
              <a:ea typeface="+mj-ea"/>
              <a:cs typeface="+mj-cs"/>
            </a:endParaRPr>
          </a:p>
        </p:txBody>
      </p:sp>
      <p:sp>
        <p:nvSpPr>
          <p:cNvPr id="8" name="Rectangle 7"/>
          <p:cNvSpPr/>
          <p:nvPr/>
        </p:nvSpPr>
        <p:spPr>
          <a:xfrm>
            <a:off x="417846" y="1868282"/>
            <a:ext cx="8234967" cy="3539431"/>
          </a:xfrm>
          <a:prstGeom prst="rect">
            <a:avLst/>
          </a:prstGeom>
        </p:spPr>
        <p:txBody>
          <a:bodyPr wrap="square">
            <a:spAutoFit/>
          </a:bodyPr>
          <a:lstStyle/>
          <a:p>
            <a:pPr marL="342900" indent="-342900">
              <a:buFont typeface="Arial"/>
              <a:buChar char="•"/>
            </a:pPr>
            <a:r>
              <a:rPr lang="en-US" sz="2800" dirty="0"/>
              <a:t>How well does my plan provide for easy communication, comprehension and use?</a:t>
            </a:r>
            <a:endParaRPr lang="en-GB" sz="2800" dirty="0"/>
          </a:p>
          <a:p>
            <a:pPr marL="342900" indent="-342900">
              <a:buFont typeface="Arial"/>
              <a:buChar char="•"/>
            </a:pPr>
            <a:r>
              <a:rPr lang="en-US" sz="2800" dirty="0"/>
              <a:t>Is the plan easy for others to understand?</a:t>
            </a:r>
            <a:endParaRPr lang="en-GB" sz="2800" dirty="0"/>
          </a:p>
          <a:p>
            <a:pPr marL="342900" indent="-342900">
              <a:buFont typeface="Arial"/>
              <a:buChar char="•"/>
            </a:pPr>
            <a:r>
              <a:rPr lang="en-US" sz="2800" dirty="0"/>
              <a:t>Can it be explained clearly to many different people?</a:t>
            </a:r>
            <a:endParaRPr lang="en-GB" sz="2800" dirty="0"/>
          </a:p>
          <a:p>
            <a:pPr marL="342900" indent="-342900">
              <a:buFont typeface="Arial"/>
              <a:buChar char="•"/>
            </a:pPr>
            <a:r>
              <a:rPr lang="en-US" sz="2800" dirty="0"/>
              <a:t>Will the plan be easily communicated?</a:t>
            </a:r>
          </a:p>
          <a:p>
            <a:pPr marL="342900" indent="-342900">
              <a:buFont typeface="Arial"/>
              <a:buChar char="•"/>
            </a:pPr>
            <a:r>
              <a:rPr lang="en-US" sz="2800" dirty="0"/>
              <a:t>How can the plan be made more simple or easy to understand? </a:t>
            </a:r>
            <a:endParaRPr lang="en-GB" sz="2800" dirty="0"/>
          </a:p>
          <a:p>
            <a:pPr marL="342900" indent="-342900">
              <a:buFont typeface="Arial"/>
              <a:buChar char="•"/>
            </a:pPr>
            <a:r>
              <a:rPr lang="en-US" sz="2800" dirty="0"/>
              <a:t>Is the plan easy to use or follow?</a:t>
            </a:r>
            <a:endParaRPr lang="en-GB" sz="2800" dirty="0"/>
          </a:p>
        </p:txBody>
      </p:sp>
    </p:spTree>
    <p:extLst>
      <p:ext uri="{BB962C8B-B14F-4D97-AF65-F5344CB8AC3E}">
        <p14:creationId xmlns:p14="http://schemas.microsoft.com/office/powerpoint/2010/main" val="19654143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49531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9" name="Title 1"/>
          <p:cNvSpPr txBox="1">
            <a:spLocks/>
          </p:cNvSpPr>
          <p:nvPr/>
        </p:nvSpPr>
        <p:spPr>
          <a:xfrm>
            <a:off x="1187624" y="332656"/>
            <a:ext cx="6657564" cy="917864"/>
          </a:xfrm>
          <a:prstGeom prst="rect">
            <a:avLst/>
          </a:prstGeom>
        </p:spPr>
        <p:txBody>
          <a:bodyPr vert="horz" lIns="91440" tIns="45720" rIns="91440" bIns="45720" rtlCol="0" anchor="ctr">
            <a:noAutofit/>
          </a:bodyPr>
          <a:lstStyle/>
          <a:p>
            <a:pPr lvl="0" algn="ctr">
              <a:spcBef>
                <a:spcPct val="0"/>
              </a:spcBef>
              <a:defRPr/>
            </a:pPr>
            <a:r>
              <a:rPr lang="en-US" sz="3600" b="1" dirty="0">
                <a:solidFill>
                  <a:srgbClr val="008000"/>
                </a:solidFill>
                <a:latin typeface="+mj-lt"/>
                <a:ea typeface="+mj-ea"/>
                <a:cs typeface="+mj-cs"/>
              </a:rPr>
              <a:t>Checklist: Observability</a:t>
            </a:r>
            <a:endParaRPr lang="en-GB" sz="3600" b="1" dirty="0">
              <a:solidFill>
                <a:srgbClr val="008000"/>
              </a:solidFill>
              <a:latin typeface="+mj-lt"/>
              <a:ea typeface="+mj-ea"/>
              <a:cs typeface="+mj-cs"/>
            </a:endParaRPr>
          </a:p>
        </p:txBody>
      </p:sp>
      <p:sp>
        <p:nvSpPr>
          <p:cNvPr id="3" name="Content Placeholder 2"/>
          <p:cNvSpPr>
            <a:spLocks noGrp="1"/>
          </p:cNvSpPr>
          <p:nvPr>
            <p:ph idx="1"/>
          </p:nvPr>
        </p:nvSpPr>
        <p:spPr/>
        <p:txBody>
          <a:bodyPr>
            <a:normAutofit fontScale="92500" lnSpcReduction="10000"/>
          </a:bodyPr>
          <a:lstStyle/>
          <a:p>
            <a:r>
              <a:rPr lang="en-US" dirty="0"/>
              <a:t>How well does my plan provide results that are easily observed and visible to others?</a:t>
            </a:r>
            <a:endParaRPr lang="en-GB" dirty="0"/>
          </a:p>
          <a:p>
            <a:r>
              <a:rPr lang="en-US" dirty="0"/>
              <a:t>Is the plan easy for others to find or obtain?</a:t>
            </a:r>
            <a:endParaRPr lang="en-GB" dirty="0"/>
          </a:p>
          <a:p>
            <a:r>
              <a:rPr lang="en-US" dirty="0"/>
              <a:t>Can the plan be made more visible to others?</a:t>
            </a:r>
            <a:endParaRPr lang="en-GB" dirty="0"/>
          </a:p>
          <a:p>
            <a:r>
              <a:rPr lang="en-US" b="1" dirty="0"/>
              <a:t> </a:t>
            </a:r>
            <a:r>
              <a:rPr lang="en-US" dirty="0"/>
              <a:t>How can I make the plan easier for others to see?</a:t>
            </a:r>
          </a:p>
          <a:p>
            <a:r>
              <a:rPr lang="en-US" dirty="0"/>
              <a:t>Will others be able to see the effects of the plan?</a:t>
            </a:r>
            <a:endParaRPr lang="en-GB" dirty="0"/>
          </a:p>
          <a:p>
            <a:r>
              <a:rPr lang="en-US" dirty="0"/>
              <a:t>Are there good reasons for not making the entire plan visible?</a:t>
            </a:r>
            <a:endParaRPr lang="en-GB" dirty="0"/>
          </a:p>
        </p:txBody>
      </p:sp>
    </p:spTree>
    <p:extLst>
      <p:ext uri="{BB962C8B-B14F-4D97-AF65-F5344CB8AC3E}">
        <p14:creationId xmlns:p14="http://schemas.microsoft.com/office/powerpoint/2010/main" val="14798469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49531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9" name="Title 1"/>
          <p:cNvSpPr txBox="1">
            <a:spLocks/>
          </p:cNvSpPr>
          <p:nvPr/>
        </p:nvSpPr>
        <p:spPr>
          <a:xfrm>
            <a:off x="1187624" y="332656"/>
            <a:ext cx="6657564" cy="917864"/>
          </a:xfrm>
          <a:prstGeom prst="rect">
            <a:avLst/>
          </a:prstGeom>
        </p:spPr>
        <p:txBody>
          <a:bodyPr vert="horz" lIns="91440" tIns="45720" rIns="91440" bIns="45720" rtlCol="0" anchor="ctr">
            <a:noAutofit/>
          </a:bodyPr>
          <a:lstStyle/>
          <a:p>
            <a:pPr lvl="0" algn="ctr">
              <a:spcBef>
                <a:spcPct val="0"/>
              </a:spcBef>
              <a:defRPr/>
            </a:pPr>
            <a:r>
              <a:rPr lang="en-US" sz="3600" b="1" dirty="0">
                <a:solidFill>
                  <a:srgbClr val="008000"/>
                </a:solidFill>
                <a:latin typeface="+mj-lt"/>
                <a:ea typeface="+mj-ea"/>
                <a:cs typeface="+mj-cs"/>
              </a:rPr>
              <a:t>Checklist: Other factors</a:t>
            </a:r>
            <a:endParaRPr lang="en-GB" sz="3600" b="1" dirty="0">
              <a:solidFill>
                <a:srgbClr val="008000"/>
              </a:solidFill>
              <a:latin typeface="+mj-lt"/>
              <a:ea typeface="+mj-ea"/>
              <a:cs typeface="+mj-cs"/>
            </a:endParaRPr>
          </a:p>
        </p:txBody>
      </p:sp>
      <p:sp>
        <p:nvSpPr>
          <p:cNvPr id="3" name="Content Placeholder 2"/>
          <p:cNvSpPr>
            <a:spLocks noGrp="1"/>
          </p:cNvSpPr>
          <p:nvPr>
            <p:ph idx="1"/>
          </p:nvPr>
        </p:nvSpPr>
        <p:spPr/>
        <p:txBody>
          <a:bodyPr>
            <a:normAutofit lnSpcReduction="10000"/>
          </a:bodyPr>
          <a:lstStyle/>
          <a:p>
            <a:r>
              <a:rPr lang="en-US" dirty="0"/>
              <a:t>What other resources will I need; how can I get them?</a:t>
            </a:r>
            <a:endParaRPr lang="en-GB" dirty="0"/>
          </a:p>
          <a:p>
            <a:r>
              <a:rPr lang="en-US" dirty="0"/>
              <a:t>What obstacles exist; how can we prevent or overcome them?</a:t>
            </a:r>
            <a:endParaRPr lang="en-GB" dirty="0"/>
          </a:p>
          <a:p>
            <a:r>
              <a:rPr lang="en-US" dirty="0"/>
              <a:t>What new challenges will be created; and dealt with? </a:t>
            </a:r>
            <a:endParaRPr lang="en-GB" dirty="0"/>
          </a:p>
          <a:p>
            <a:r>
              <a:rPr lang="en-US" dirty="0"/>
              <a:t>How can I encourage commitment to the plan?</a:t>
            </a:r>
          </a:p>
          <a:p>
            <a:r>
              <a:rPr lang="en-US" dirty="0"/>
              <a:t>What feedback about the plan is needed?</a:t>
            </a:r>
            <a:endParaRPr lang="en-GB" dirty="0"/>
          </a:p>
        </p:txBody>
      </p:sp>
    </p:spTree>
    <p:extLst>
      <p:ext uri="{BB962C8B-B14F-4D97-AF65-F5344CB8AC3E}">
        <p14:creationId xmlns:p14="http://schemas.microsoft.com/office/powerpoint/2010/main" val="8135263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The process of innovation is much more complex than technology responding to market signals. Effective business planning under conditions of uncertainty demands a thorough understanding and management of the dynamics of innovation, including conception, development, adoption and diffusion. </a:t>
            </a:r>
          </a:p>
          <a:p>
            <a:endParaRPr lang="en-US" dirty="0"/>
          </a:p>
        </p:txBody>
      </p:sp>
      <p:cxnSp>
        <p:nvCxnSpPr>
          <p:cNvPr id="4" name="Straight Connector 3"/>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8" name="Title 1"/>
          <p:cNvSpPr>
            <a:spLocks noGrp="1"/>
          </p:cNvSpPr>
          <p:nvPr>
            <p:ph type="title"/>
          </p:nvPr>
        </p:nvSpPr>
        <p:spPr>
          <a:xfrm>
            <a:off x="457200" y="274638"/>
            <a:ext cx="8229600" cy="1143000"/>
          </a:xfrm>
        </p:spPr>
        <p:txBody>
          <a:bodyPr>
            <a:noAutofit/>
          </a:bodyPr>
          <a:lstStyle/>
          <a:p>
            <a:pPr lvl="0">
              <a:defRPr/>
            </a:pPr>
            <a:r>
              <a:rPr lang="en-GB" sz="3600" b="1" dirty="0">
                <a:solidFill>
                  <a:srgbClr val="008000"/>
                </a:solidFill>
              </a:rPr>
              <a:t>Summary</a:t>
            </a:r>
          </a:p>
        </p:txBody>
      </p:sp>
    </p:spTree>
    <p:extLst>
      <p:ext uri="{BB962C8B-B14F-4D97-AF65-F5344CB8AC3E}">
        <p14:creationId xmlns:p14="http://schemas.microsoft.com/office/powerpoint/2010/main" val="4346700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The adoption and diffusion of an innovation depend on the characteristics of the innovation, the nature of potential adopters and the process of communication. The relative advantage, compatibility, complexity, trialability and observability of an innovation all affect the rate of diffusion. </a:t>
            </a:r>
          </a:p>
          <a:p>
            <a:endParaRPr lang="en-US" dirty="0"/>
          </a:p>
        </p:txBody>
      </p:sp>
      <p:cxnSp>
        <p:nvCxnSpPr>
          <p:cNvPr id="4" name="Straight Connector 3"/>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7" name="Title 1"/>
          <p:cNvSpPr>
            <a:spLocks noGrp="1"/>
          </p:cNvSpPr>
          <p:nvPr>
            <p:ph type="title"/>
          </p:nvPr>
        </p:nvSpPr>
        <p:spPr>
          <a:xfrm>
            <a:off x="457200" y="274638"/>
            <a:ext cx="8229600" cy="1143000"/>
          </a:xfrm>
        </p:spPr>
        <p:txBody>
          <a:bodyPr>
            <a:noAutofit/>
          </a:bodyPr>
          <a:lstStyle/>
          <a:p>
            <a:pPr lvl="0">
              <a:defRPr/>
            </a:pPr>
            <a:r>
              <a:rPr lang="en-GB" sz="3600" b="1" dirty="0">
                <a:solidFill>
                  <a:srgbClr val="008000"/>
                </a:solidFill>
              </a:rPr>
              <a:t>Summary</a:t>
            </a:r>
          </a:p>
        </p:txBody>
      </p:sp>
    </p:spTree>
    <p:extLst>
      <p:ext uri="{BB962C8B-B14F-4D97-AF65-F5344CB8AC3E}">
        <p14:creationId xmlns:p14="http://schemas.microsoft.com/office/powerpoint/2010/main" val="13339910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Forecasting the development and adoption of innovations is difficult, but participative methods such as Delphi and scenario planning are highly relevant to innovation and sustainability. In such cases the process of forecasting, including consultation and debate, is probably more important than the precise outcomes of the exercise. </a:t>
            </a:r>
          </a:p>
          <a:p>
            <a:endParaRPr lang="en-US" dirty="0"/>
          </a:p>
        </p:txBody>
      </p:sp>
      <p:cxnSp>
        <p:nvCxnSpPr>
          <p:cNvPr id="4" name="Straight Connector 3"/>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7" name="Title 1"/>
          <p:cNvSpPr>
            <a:spLocks noGrp="1"/>
          </p:cNvSpPr>
          <p:nvPr>
            <p:ph type="title"/>
          </p:nvPr>
        </p:nvSpPr>
        <p:spPr>
          <a:xfrm>
            <a:off x="457200" y="274638"/>
            <a:ext cx="8229600" cy="1143000"/>
          </a:xfrm>
        </p:spPr>
        <p:txBody>
          <a:bodyPr>
            <a:noAutofit/>
          </a:bodyPr>
          <a:lstStyle/>
          <a:p>
            <a:pPr lvl="0">
              <a:defRPr/>
            </a:pPr>
            <a:r>
              <a:rPr lang="en-GB" sz="3600" b="1" dirty="0">
                <a:solidFill>
                  <a:srgbClr val="008000"/>
                </a:solidFill>
              </a:rPr>
              <a:t>Summary</a:t>
            </a:r>
          </a:p>
        </p:txBody>
      </p:sp>
    </p:spTree>
    <p:extLst>
      <p:ext uri="{BB962C8B-B14F-4D97-AF65-F5344CB8AC3E}">
        <p14:creationId xmlns:p14="http://schemas.microsoft.com/office/powerpoint/2010/main" val="39895875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22482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187624" y="188640"/>
            <a:ext cx="6442297" cy="971912"/>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Summary</a:t>
            </a:r>
            <a:endParaRPr lang="en-GB" sz="3600" b="1" dirty="0">
              <a:solidFill>
                <a:srgbClr val="008000"/>
              </a:solidFill>
              <a:latin typeface="+mj-lt"/>
              <a:ea typeface="+mj-ea"/>
              <a:cs typeface="+mj-cs"/>
            </a:endParaRPr>
          </a:p>
        </p:txBody>
      </p:sp>
      <p:sp>
        <p:nvSpPr>
          <p:cNvPr id="9" name="Rectangle 8"/>
          <p:cNvSpPr/>
          <p:nvPr/>
        </p:nvSpPr>
        <p:spPr>
          <a:xfrm>
            <a:off x="458167" y="1226416"/>
            <a:ext cx="8478016" cy="5248616"/>
          </a:xfrm>
          <a:prstGeom prst="rect">
            <a:avLst/>
          </a:prstGeom>
        </p:spPr>
        <p:txBody>
          <a:bodyPr wrap="square">
            <a:spAutoFit/>
          </a:bodyPr>
          <a:lstStyle/>
          <a:p>
            <a:pPr lvl="0">
              <a:lnSpc>
                <a:spcPct val="120000"/>
              </a:lnSpc>
            </a:pPr>
            <a:r>
              <a:rPr lang="en-US" sz="2800" dirty="0"/>
              <a:t>There is a vast amount of management research on the subject of new product and service development, and we are now pretty certain what works and what does not. There are no guarantees that following the suggestions in this chapter will produce a blockbuster product, service or business, but if these elements are not managed well, your chances of success will be much lower. This is not supposed to discourage experimentation and calculated risk-taking but rather to provide a foundation for evidence-based practice. </a:t>
            </a:r>
            <a:endParaRPr lang="en-GB" sz="2800" dirty="0"/>
          </a:p>
        </p:txBody>
      </p:sp>
    </p:spTree>
    <p:extLst>
      <p:ext uri="{BB962C8B-B14F-4D97-AF65-F5344CB8AC3E}">
        <p14:creationId xmlns:p14="http://schemas.microsoft.com/office/powerpoint/2010/main" val="301708445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22482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259632" y="188640"/>
            <a:ext cx="6442297" cy="971912"/>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Summary</a:t>
            </a:r>
            <a:endParaRPr lang="en-GB" sz="3600" b="1" dirty="0">
              <a:solidFill>
                <a:srgbClr val="008000"/>
              </a:solidFill>
              <a:latin typeface="+mj-lt"/>
              <a:ea typeface="+mj-ea"/>
              <a:cs typeface="+mj-cs"/>
            </a:endParaRPr>
          </a:p>
        </p:txBody>
      </p:sp>
      <p:sp>
        <p:nvSpPr>
          <p:cNvPr id="9" name="Rectangle 8"/>
          <p:cNvSpPr/>
          <p:nvPr/>
        </p:nvSpPr>
        <p:spPr>
          <a:xfrm>
            <a:off x="458167" y="1226416"/>
            <a:ext cx="8478016" cy="4308872"/>
          </a:xfrm>
          <a:prstGeom prst="rect">
            <a:avLst/>
          </a:prstGeom>
        </p:spPr>
        <p:txBody>
          <a:bodyPr wrap="square">
            <a:spAutoFit/>
          </a:bodyPr>
          <a:lstStyle/>
          <a:p>
            <a:pPr lvl="0">
              <a:spcAft>
                <a:spcPts val="3000"/>
              </a:spcAft>
            </a:pPr>
            <a:r>
              <a:rPr lang="en-US" sz="2800" dirty="0"/>
              <a:t>Research suggests that a range of factors affect the success of a potential new product or service:</a:t>
            </a:r>
            <a:r>
              <a:rPr lang="en-GB" sz="2800" dirty="0"/>
              <a:t> </a:t>
            </a:r>
            <a:endParaRPr lang="en-US" sz="2800" dirty="0"/>
          </a:p>
          <a:p>
            <a:pPr lvl="0">
              <a:spcAft>
                <a:spcPts val="3000"/>
              </a:spcAft>
              <a:buFont typeface="Arial"/>
              <a:buChar char="•"/>
            </a:pPr>
            <a:r>
              <a:rPr lang="en-US" sz="2800" dirty="0"/>
              <a:t> Some factors are product-specific (e.g. product advantage, clear target market and attention to pre-development activities). </a:t>
            </a:r>
            <a:endParaRPr lang="en-GB" sz="2800" dirty="0"/>
          </a:p>
          <a:p>
            <a:pPr lvl="0">
              <a:spcAft>
                <a:spcPts val="3000"/>
              </a:spcAft>
              <a:buFont typeface="Arial"/>
              <a:buChar char="•"/>
            </a:pPr>
            <a:r>
              <a:rPr lang="en-US" sz="2800" dirty="0"/>
              <a:t> Other factors are more about the organizational context and process (e.g. senior management support, formal process and use of external knowledge). </a:t>
            </a:r>
            <a:endParaRPr lang="en-GB" sz="2800" dirty="0"/>
          </a:p>
        </p:txBody>
      </p:sp>
    </p:spTree>
    <p:extLst>
      <p:ext uri="{BB962C8B-B14F-4D97-AF65-F5344CB8AC3E}">
        <p14:creationId xmlns:p14="http://schemas.microsoft.com/office/powerpoint/2010/main" val="330992097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22482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424040" y="204072"/>
            <a:ext cx="6442297" cy="971912"/>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Summary</a:t>
            </a:r>
            <a:endParaRPr lang="en-GB" sz="3600" b="1" dirty="0">
              <a:solidFill>
                <a:srgbClr val="008000"/>
              </a:solidFill>
              <a:latin typeface="+mj-lt"/>
              <a:ea typeface="+mj-ea"/>
              <a:cs typeface="+mj-cs"/>
            </a:endParaRPr>
          </a:p>
        </p:txBody>
      </p:sp>
      <p:sp>
        <p:nvSpPr>
          <p:cNvPr id="9" name="Rectangle 8"/>
          <p:cNvSpPr/>
          <p:nvPr/>
        </p:nvSpPr>
        <p:spPr>
          <a:xfrm>
            <a:off x="323528" y="1556792"/>
            <a:ext cx="8478016" cy="2677656"/>
          </a:xfrm>
          <a:prstGeom prst="rect">
            <a:avLst/>
          </a:prstGeom>
        </p:spPr>
        <p:txBody>
          <a:bodyPr wrap="square">
            <a:spAutoFit/>
          </a:bodyPr>
          <a:lstStyle/>
          <a:p>
            <a:pPr lvl="1">
              <a:buFont typeface="Arial"/>
              <a:buChar char="•"/>
            </a:pPr>
            <a:r>
              <a:rPr lang="en-US" sz="2800" dirty="0"/>
              <a:t> A formal process for new product and service development should consist of distinct stages, such as concept development, business case, product development, pilot and commercialization, separated by distinct decision points, or gates, which have clear criteria, such as product fit and product advantages. </a:t>
            </a:r>
            <a:endParaRPr lang="en-GB" sz="2800" dirty="0"/>
          </a:p>
        </p:txBody>
      </p:sp>
    </p:spTree>
    <p:extLst>
      <p:ext uri="{BB962C8B-B14F-4D97-AF65-F5344CB8AC3E}">
        <p14:creationId xmlns:p14="http://schemas.microsoft.com/office/powerpoint/2010/main" val="326147156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22482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424040" y="204072"/>
            <a:ext cx="6442297" cy="971912"/>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Summary</a:t>
            </a:r>
            <a:endParaRPr lang="en-GB" sz="3600" b="1" dirty="0">
              <a:solidFill>
                <a:srgbClr val="008000"/>
              </a:solidFill>
              <a:latin typeface="+mj-lt"/>
              <a:ea typeface="+mj-ea"/>
              <a:cs typeface="+mj-cs"/>
            </a:endParaRPr>
          </a:p>
        </p:txBody>
      </p:sp>
      <p:sp>
        <p:nvSpPr>
          <p:cNvPr id="9" name="Rectangle 8"/>
          <p:cNvSpPr/>
          <p:nvPr/>
        </p:nvSpPr>
        <p:spPr>
          <a:xfrm>
            <a:off x="458167" y="1452555"/>
            <a:ext cx="8478016" cy="3108544"/>
          </a:xfrm>
          <a:prstGeom prst="rect">
            <a:avLst/>
          </a:prstGeom>
        </p:spPr>
        <p:txBody>
          <a:bodyPr wrap="square">
            <a:spAutoFit/>
          </a:bodyPr>
          <a:lstStyle/>
          <a:p>
            <a:pPr lvl="1">
              <a:buFont typeface="Arial"/>
              <a:buChar char="•"/>
            </a:pPr>
            <a:r>
              <a:rPr lang="en-US" sz="2800" dirty="0"/>
              <a:t> Different stages of the process demand different criteria and different tools and methods. Useful tools and methods at the concept stage include segmentation, experimentation, focus groups and customer partnering; and at the development stage useful tools include prototyping, design for production and QFD. </a:t>
            </a:r>
            <a:endParaRPr lang="en-GB" sz="2800" dirty="0"/>
          </a:p>
        </p:txBody>
      </p:sp>
    </p:spTree>
    <p:extLst>
      <p:ext uri="{BB962C8B-B14F-4D97-AF65-F5344CB8AC3E}">
        <p14:creationId xmlns:p14="http://schemas.microsoft.com/office/powerpoint/2010/main" val="407550790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22482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424040" y="204072"/>
            <a:ext cx="6442297" cy="971912"/>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Summary</a:t>
            </a:r>
            <a:endParaRPr lang="en-GB" sz="3600" b="1" dirty="0">
              <a:solidFill>
                <a:srgbClr val="008000"/>
              </a:solidFill>
              <a:latin typeface="+mj-lt"/>
              <a:ea typeface="+mj-ea"/>
              <a:cs typeface="+mj-cs"/>
            </a:endParaRPr>
          </a:p>
        </p:txBody>
      </p:sp>
      <p:sp>
        <p:nvSpPr>
          <p:cNvPr id="9" name="Rectangle 8"/>
          <p:cNvSpPr/>
          <p:nvPr/>
        </p:nvSpPr>
        <p:spPr>
          <a:xfrm>
            <a:off x="458167" y="1452555"/>
            <a:ext cx="8478016" cy="4401205"/>
          </a:xfrm>
          <a:prstGeom prst="rect">
            <a:avLst/>
          </a:prstGeom>
        </p:spPr>
        <p:txBody>
          <a:bodyPr wrap="square">
            <a:spAutoFit/>
          </a:bodyPr>
          <a:lstStyle/>
          <a:p>
            <a:pPr lvl="1">
              <a:buFont typeface="Arial"/>
              <a:buChar char="•"/>
            </a:pPr>
            <a:r>
              <a:rPr lang="en-US" sz="2800" dirty="0"/>
              <a:t> Services and products are different in a number of ways, especially intangibility and perceived benefits, and so will demand the adaptation of the standard models and prescriptions for new product development. </a:t>
            </a:r>
          </a:p>
          <a:p>
            <a:pPr lvl="1"/>
            <a:endParaRPr lang="en-US" sz="2800" dirty="0"/>
          </a:p>
          <a:p>
            <a:pPr lvl="1">
              <a:buFont typeface="Arial"/>
              <a:buChar char="•"/>
            </a:pPr>
            <a:r>
              <a:rPr lang="en-US" sz="2800" dirty="0"/>
              <a:t> The relative advantage, compatibility, complexity, trialability and observability of an innovation all affect the rate of diffusion. </a:t>
            </a:r>
          </a:p>
          <a:p>
            <a:pPr lvl="1">
              <a:buFont typeface="Arial"/>
              <a:buChar char="•"/>
            </a:pPr>
            <a:endParaRPr lang="en-GB" sz="2800" dirty="0"/>
          </a:p>
        </p:txBody>
      </p:sp>
    </p:spTree>
    <p:extLst>
      <p:ext uri="{BB962C8B-B14F-4D97-AF65-F5344CB8AC3E}">
        <p14:creationId xmlns:p14="http://schemas.microsoft.com/office/powerpoint/2010/main" val="380590806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50BCDA0-42BA-42AB-8E58-A25C965D01F9}"/>
              </a:ext>
            </a:extLst>
          </p:cNvPr>
          <p:cNvPicPr>
            <a:picLocks noChangeAspect="1"/>
          </p:cNvPicPr>
          <p:nvPr/>
        </p:nvPicPr>
        <p:blipFill rotWithShape="1">
          <a:blip r:embed="rId3"/>
          <a:srcRect l="19722" r="44833" b="-1"/>
          <a:stretch/>
        </p:blipFill>
        <p:spPr>
          <a:xfrm>
            <a:off x="-5524" y="10"/>
            <a:ext cx="3641692" cy="6857990"/>
          </a:xfrm>
          <a:custGeom>
            <a:avLst/>
            <a:gdLst/>
            <a:ahLst/>
            <a:cxnLst/>
            <a:rect l="l" t="t" r="r" b="b"/>
            <a:pathLst>
              <a:path w="4636517" h="6858000">
                <a:moveTo>
                  <a:pt x="0" y="0"/>
                </a:moveTo>
                <a:lnTo>
                  <a:pt x="4636517" y="0"/>
                </a:lnTo>
                <a:lnTo>
                  <a:pt x="4636517" y="6858000"/>
                </a:lnTo>
                <a:lnTo>
                  <a:pt x="0" y="6858000"/>
                </a:lnTo>
                <a:close/>
              </a:path>
            </a:pathLst>
          </a:custGeom>
        </p:spPr>
      </p:pic>
      <p:sp>
        <p:nvSpPr>
          <p:cNvPr id="2" name="Title 1">
            <a:extLst>
              <a:ext uri="{FF2B5EF4-FFF2-40B4-BE49-F238E27FC236}">
                <a16:creationId xmlns:a16="http://schemas.microsoft.com/office/drawing/2014/main" id="{614D8143-9088-1A4A-858B-DB874C43BBC6}"/>
              </a:ext>
            </a:extLst>
          </p:cNvPr>
          <p:cNvSpPr>
            <a:spLocks noGrp="1"/>
          </p:cNvSpPr>
          <p:nvPr>
            <p:ph type="title"/>
          </p:nvPr>
        </p:nvSpPr>
        <p:spPr>
          <a:xfrm>
            <a:off x="4370286" y="407987"/>
            <a:ext cx="4291113" cy="1325563"/>
          </a:xfrm>
        </p:spPr>
        <p:txBody>
          <a:bodyPr>
            <a:normAutofit/>
          </a:bodyPr>
          <a:lstStyle/>
          <a:p>
            <a:r>
              <a:rPr lang="en-US" dirty="0"/>
              <a:t>Videos</a:t>
            </a:r>
          </a:p>
        </p:txBody>
      </p:sp>
      <p:sp>
        <p:nvSpPr>
          <p:cNvPr id="3" name="Content Placeholder 2">
            <a:extLst>
              <a:ext uri="{FF2B5EF4-FFF2-40B4-BE49-F238E27FC236}">
                <a16:creationId xmlns:a16="http://schemas.microsoft.com/office/drawing/2014/main" id="{49BFE31F-7315-164A-BF78-744336F5540D}"/>
              </a:ext>
            </a:extLst>
          </p:cNvPr>
          <p:cNvSpPr>
            <a:spLocks noGrp="1"/>
          </p:cNvSpPr>
          <p:nvPr>
            <p:ph idx="1"/>
          </p:nvPr>
        </p:nvSpPr>
        <p:spPr>
          <a:xfrm>
            <a:off x="4370286" y="1868487"/>
            <a:ext cx="4291113" cy="4351338"/>
          </a:xfrm>
        </p:spPr>
        <p:txBody>
          <a:bodyPr>
            <a:normAutofit/>
          </a:bodyPr>
          <a:lstStyle/>
          <a:p>
            <a:pPr marL="0" indent="0">
              <a:lnSpc>
                <a:spcPct val="90000"/>
              </a:lnSpc>
              <a:buNone/>
            </a:pPr>
            <a:r>
              <a:rPr lang="en-US" sz="2000" dirty="0"/>
              <a:t>There are several videos which can help explore and present the key themes of the chapter:</a:t>
            </a:r>
          </a:p>
          <a:p>
            <a:pPr>
              <a:lnSpc>
                <a:spcPct val="90000"/>
              </a:lnSpc>
            </a:pPr>
            <a:r>
              <a:rPr lang="en-GB" sz="2000" u="sng" dirty="0">
                <a:hlinkClick r:id="rId4"/>
              </a:rPr>
              <a:t>Project implementation</a:t>
            </a:r>
            <a:endParaRPr lang="en-GB" sz="2000" u="sng" dirty="0"/>
          </a:p>
          <a:p>
            <a:pPr>
              <a:lnSpc>
                <a:spcPct val="90000"/>
              </a:lnSpc>
            </a:pPr>
            <a:r>
              <a:rPr lang="en-GB" sz="2000" u="sng" dirty="0">
                <a:hlinkClick r:id="rId5"/>
              </a:rPr>
              <a:t>Stage gates in implementation</a:t>
            </a:r>
            <a:endParaRPr lang="en-GB" sz="2000" u="sng" dirty="0"/>
          </a:p>
          <a:p>
            <a:pPr>
              <a:lnSpc>
                <a:spcPct val="90000"/>
              </a:lnSpc>
            </a:pPr>
            <a:r>
              <a:rPr lang="en-GB" sz="2000" u="sng" dirty="0">
                <a:hlinkClick r:id="rId6"/>
              </a:rPr>
              <a:t>Success and failure in implementation</a:t>
            </a:r>
            <a:endParaRPr lang="en-GB" sz="2000" u="sng" dirty="0"/>
          </a:p>
          <a:p>
            <a:pPr>
              <a:lnSpc>
                <a:spcPct val="90000"/>
              </a:lnSpc>
            </a:pPr>
            <a:r>
              <a:rPr lang="en-GB" sz="2000" u="sng" dirty="0">
                <a:hlinkClick r:id="rId7"/>
              </a:rPr>
              <a:t>Agile implementation</a:t>
            </a:r>
            <a:endParaRPr lang="en-GB" sz="2000" u="sng" dirty="0"/>
          </a:p>
          <a:p>
            <a:pPr>
              <a:lnSpc>
                <a:spcPct val="90000"/>
              </a:lnSpc>
            </a:pPr>
            <a:r>
              <a:rPr lang="en-GB" sz="2000" dirty="0">
                <a:hlinkClick r:id="rId8"/>
              </a:rPr>
              <a:t>Interview with Catherina van </a:t>
            </a:r>
            <a:r>
              <a:rPr lang="en-GB" sz="2000" dirty="0" err="1">
                <a:hlinkClick r:id="rId8"/>
              </a:rPr>
              <a:t>Delden</a:t>
            </a:r>
            <a:r>
              <a:rPr lang="en-GB" sz="2000" dirty="0">
                <a:hlinkClick r:id="rId8"/>
              </a:rPr>
              <a:t>, </a:t>
            </a:r>
            <a:r>
              <a:rPr lang="en-GB" sz="2000" dirty="0" err="1">
                <a:hlinkClick r:id="rId8"/>
              </a:rPr>
              <a:t>Innosabi</a:t>
            </a:r>
            <a:r>
              <a:rPr lang="en-GB" sz="2000" dirty="0">
                <a:hlinkClick r:id="rId8"/>
              </a:rPr>
              <a:t> about agile innovation</a:t>
            </a:r>
            <a:endParaRPr lang="en-US" sz="2000" dirty="0"/>
          </a:p>
        </p:txBody>
      </p:sp>
    </p:spTree>
    <p:extLst>
      <p:ext uri="{BB962C8B-B14F-4D97-AF65-F5344CB8AC3E}">
        <p14:creationId xmlns:p14="http://schemas.microsoft.com/office/powerpoint/2010/main" val="310550426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20706"/>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683568" y="260648"/>
            <a:ext cx="7201029"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Media: NPD challenges</a:t>
            </a:r>
            <a:endParaRPr lang="en-GB" sz="3600" b="1" dirty="0">
              <a:solidFill>
                <a:srgbClr val="008000"/>
              </a:solidFill>
              <a:latin typeface="+mj-lt"/>
              <a:ea typeface="+mj-ea"/>
              <a:cs typeface="+mj-cs"/>
            </a:endParaRPr>
          </a:p>
        </p:txBody>
      </p:sp>
      <p:sp>
        <p:nvSpPr>
          <p:cNvPr id="9" name="Rectangle 8"/>
          <p:cNvSpPr/>
          <p:nvPr/>
        </p:nvSpPr>
        <p:spPr>
          <a:xfrm>
            <a:off x="417847" y="1725561"/>
            <a:ext cx="8518336" cy="2677656"/>
          </a:xfrm>
          <a:prstGeom prst="rect">
            <a:avLst/>
          </a:prstGeom>
        </p:spPr>
        <p:txBody>
          <a:bodyPr wrap="square">
            <a:spAutoFit/>
          </a:bodyPr>
          <a:lstStyle/>
          <a:p>
            <a:r>
              <a:rPr lang="en-US" sz="2800" dirty="0"/>
              <a:t>On the website there is a video showing Joe Tidd talking about the challenges of organizing new product development:</a:t>
            </a:r>
          </a:p>
          <a:p>
            <a:endParaRPr lang="en-US" sz="2800" dirty="0"/>
          </a:p>
          <a:p>
            <a:r>
              <a:rPr lang="en-US" sz="2800" dirty="0">
                <a:hlinkClick r:id="rId2"/>
              </a:rPr>
              <a:t>https://www.youtube.com/watch?v=uCVetZE3GlM</a:t>
            </a:r>
            <a:endParaRPr lang="en-US" sz="2800" dirty="0"/>
          </a:p>
          <a:p>
            <a:endParaRPr lang="en-GB" sz="2800" dirty="0"/>
          </a:p>
        </p:txBody>
      </p:sp>
    </p:spTree>
    <p:extLst>
      <p:ext uri="{BB962C8B-B14F-4D97-AF65-F5344CB8AC3E}">
        <p14:creationId xmlns:p14="http://schemas.microsoft.com/office/powerpoint/2010/main" val="68666218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20706"/>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971600" y="260648"/>
            <a:ext cx="7201029"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Media: NPD challenges</a:t>
            </a:r>
            <a:endParaRPr lang="en-GB" sz="3600" b="1" dirty="0">
              <a:solidFill>
                <a:srgbClr val="008000"/>
              </a:solidFill>
              <a:latin typeface="+mj-lt"/>
              <a:ea typeface="+mj-ea"/>
              <a:cs typeface="+mj-cs"/>
            </a:endParaRPr>
          </a:p>
        </p:txBody>
      </p:sp>
      <p:sp>
        <p:nvSpPr>
          <p:cNvPr id="9" name="Rectangle 8"/>
          <p:cNvSpPr/>
          <p:nvPr/>
        </p:nvSpPr>
        <p:spPr>
          <a:xfrm>
            <a:off x="395536" y="1628800"/>
            <a:ext cx="8518336" cy="1569660"/>
          </a:xfrm>
          <a:prstGeom prst="rect">
            <a:avLst/>
          </a:prstGeom>
        </p:spPr>
        <p:txBody>
          <a:bodyPr wrap="square">
            <a:spAutoFit/>
          </a:bodyPr>
          <a:lstStyle/>
          <a:p>
            <a:r>
              <a:rPr lang="en-US" sz="2400" dirty="0"/>
              <a:t>On the website there is a video interview with </a:t>
            </a:r>
            <a:r>
              <a:rPr lang="en-GB" sz="2400" dirty="0">
                <a:hlinkClick r:id="rId2"/>
              </a:rPr>
              <a:t>Armin Rau, </a:t>
            </a:r>
            <a:r>
              <a:rPr lang="en-GB" sz="2400" dirty="0"/>
              <a:t>Strategy Partner of </a:t>
            </a:r>
            <a:r>
              <a:rPr lang="en-GB" sz="2400" dirty="0" err="1"/>
              <a:t>Sicap</a:t>
            </a:r>
            <a:r>
              <a:rPr lang="en-GB" sz="2400" dirty="0"/>
              <a:t> </a:t>
            </a:r>
            <a:r>
              <a:rPr lang="en-US" sz="2400" dirty="0"/>
              <a:t>talking about some of the innovation management challenges in working in the fast-moving world of software for mobile devices. </a:t>
            </a:r>
            <a:endParaRPr lang="en-GB" sz="2400" dirty="0"/>
          </a:p>
        </p:txBody>
      </p:sp>
    </p:spTree>
    <p:extLst>
      <p:ext uri="{BB962C8B-B14F-4D97-AF65-F5344CB8AC3E}">
        <p14:creationId xmlns:p14="http://schemas.microsoft.com/office/powerpoint/2010/main" val="78481012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20706"/>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827584" y="260648"/>
            <a:ext cx="7201029"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Media: Why products fail</a:t>
            </a:r>
            <a:endParaRPr lang="en-GB" sz="3600" b="1" dirty="0">
              <a:solidFill>
                <a:srgbClr val="008000"/>
              </a:solidFill>
              <a:latin typeface="+mj-lt"/>
              <a:ea typeface="+mj-ea"/>
              <a:cs typeface="+mj-cs"/>
            </a:endParaRPr>
          </a:p>
        </p:txBody>
      </p:sp>
      <p:sp>
        <p:nvSpPr>
          <p:cNvPr id="9" name="Rectangle 8"/>
          <p:cNvSpPr/>
          <p:nvPr/>
        </p:nvSpPr>
        <p:spPr>
          <a:xfrm>
            <a:off x="395536" y="1772816"/>
            <a:ext cx="8518336" cy="2246769"/>
          </a:xfrm>
          <a:prstGeom prst="rect">
            <a:avLst/>
          </a:prstGeom>
        </p:spPr>
        <p:txBody>
          <a:bodyPr wrap="square">
            <a:spAutoFit/>
          </a:bodyPr>
          <a:lstStyle/>
          <a:p>
            <a:r>
              <a:rPr lang="en-US" sz="2800" dirty="0"/>
              <a:t>On the website there is a video showing Joe Tidd talking about some of the reasons for product failure</a:t>
            </a:r>
          </a:p>
          <a:p>
            <a:endParaRPr lang="en-US" sz="2800" dirty="0"/>
          </a:p>
          <a:p>
            <a:r>
              <a:rPr lang="en-US" sz="2800" dirty="0">
                <a:hlinkClick r:id="rId2"/>
              </a:rPr>
              <a:t>https://www.youtube.com/watch?v=j8xPszggugU</a:t>
            </a:r>
            <a:endParaRPr lang="en-US" sz="2800" dirty="0"/>
          </a:p>
          <a:p>
            <a:endParaRPr lang="en-GB" sz="2800" dirty="0"/>
          </a:p>
        </p:txBody>
      </p:sp>
      <p:pic>
        <p:nvPicPr>
          <p:cNvPr id="29698" name="Picture 2" descr="Image result for failure"/>
          <p:cNvPicPr>
            <a:picLocks noChangeAspect="1" noChangeArrowheads="1"/>
          </p:cNvPicPr>
          <p:nvPr/>
        </p:nvPicPr>
        <p:blipFill>
          <a:blip r:embed="rId3" cstate="print"/>
          <a:srcRect/>
          <a:stretch>
            <a:fillRect/>
          </a:stretch>
        </p:blipFill>
        <p:spPr bwMode="auto">
          <a:xfrm>
            <a:off x="2987824" y="4005064"/>
            <a:ext cx="3168352" cy="2391595"/>
          </a:xfrm>
          <a:prstGeom prst="rect">
            <a:avLst/>
          </a:prstGeom>
          <a:noFill/>
        </p:spPr>
      </p:pic>
    </p:spTree>
    <p:extLst>
      <p:ext uri="{BB962C8B-B14F-4D97-AF65-F5344CB8AC3E}">
        <p14:creationId xmlns:p14="http://schemas.microsoft.com/office/powerpoint/2010/main" val="127151189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20706"/>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827584" y="260648"/>
            <a:ext cx="7201029"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Media: New product development</a:t>
            </a:r>
            <a:endParaRPr lang="en-GB" sz="3600" b="1" dirty="0">
              <a:solidFill>
                <a:srgbClr val="008000"/>
              </a:solidFill>
              <a:latin typeface="+mj-lt"/>
              <a:ea typeface="+mj-ea"/>
              <a:cs typeface="+mj-cs"/>
            </a:endParaRPr>
          </a:p>
        </p:txBody>
      </p:sp>
      <p:sp>
        <p:nvSpPr>
          <p:cNvPr id="9" name="Rectangle 8"/>
          <p:cNvSpPr/>
          <p:nvPr/>
        </p:nvSpPr>
        <p:spPr>
          <a:xfrm>
            <a:off x="395536" y="1772816"/>
            <a:ext cx="8518336" cy="2677656"/>
          </a:xfrm>
          <a:prstGeom prst="rect">
            <a:avLst/>
          </a:prstGeom>
        </p:spPr>
        <p:txBody>
          <a:bodyPr wrap="square">
            <a:spAutoFit/>
          </a:bodyPr>
          <a:lstStyle/>
          <a:p>
            <a:r>
              <a:rPr lang="en-US" sz="2800" dirty="0"/>
              <a:t>Follow the link below to listen to an interview with James Dyson</a:t>
            </a:r>
          </a:p>
          <a:p>
            <a:endParaRPr lang="en-US" sz="2800" dirty="0"/>
          </a:p>
          <a:p>
            <a:r>
              <a:rPr lang="en-US" sz="2800" dirty="0">
                <a:hlinkClick r:id="rId2"/>
              </a:rPr>
              <a:t>https://www.acast.com/howibuiltthis/dyson-james-dyson</a:t>
            </a:r>
            <a:endParaRPr lang="en-US" sz="2800" dirty="0"/>
          </a:p>
          <a:p>
            <a:endParaRPr lang="en-GB" sz="2800" dirty="0"/>
          </a:p>
        </p:txBody>
      </p:sp>
    </p:spTree>
    <p:extLst>
      <p:ext uri="{BB962C8B-B14F-4D97-AF65-F5344CB8AC3E}">
        <p14:creationId xmlns:p14="http://schemas.microsoft.com/office/powerpoint/2010/main" val="25734289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20706"/>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444542" y="280890"/>
            <a:ext cx="5780652"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Media: 3M</a:t>
            </a:r>
            <a:endParaRPr lang="en-GB" sz="3600" b="1" dirty="0">
              <a:solidFill>
                <a:srgbClr val="008000"/>
              </a:solidFill>
              <a:latin typeface="+mj-lt"/>
              <a:ea typeface="+mj-ea"/>
              <a:cs typeface="+mj-cs"/>
            </a:endParaRPr>
          </a:p>
        </p:txBody>
      </p:sp>
      <p:sp>
        <p:nvSpPr>
          <p:cNvPr id="9" name="Rectangle 8"/>
          <p:cNvSpPr/>
          <p:nvPr/>
        </p:nvSpPr>
        <p:spPr>
          <a:xfrm>
            <a:off x="395536" y="1772816"/>
            <a:ext cx="8518336" cy="1815882"/>
          </a:xfrm>
          <a:prstGeom prst="rect">
            <a:avLst/>
          </a:prstGeom>
        </p:spPr>
        <p:txBody>
          <a:bodyPr wrap="square">
            <a:spAutoFit/>
          </a:bodyPr>
          <a:lstStyle/>
          <a:p>
            <a:r>
              <a:rPr lang="en-US" sz="2800" dirty="0">
                <a:hlinkClick r:id="rId2"/>
              </a:rPr>
              <a:t>Eric von Hippel’s website </a:t>
            </a:r>
            <a:r>
              <a:rPr lang="en-US" sz="2800" dirty="0"/>
              <a:t>has a series of videos describing 3M’s processes for seeking out breakthrough products and services:</a:t>
            </a:r>
          </a:p>
          <a:p>
            <a:endParaRPr lang="en-GB" sz="2800" dirty="0"/>
          </a:p>
        </p:txBody>
      </p:sp>
    </p:spTree>
    <p:extLst>
      <p:ext uri="{BB962C8B-B14F-4D97-AF65-F5344CB8AC3E}">
        <p14:creationId xmlns:p14="http://schemas.microsoft.com/office/powerpoint/2010/main" val="190861722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20706"/>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827584" y="188640"/>
            <a:ext cx="7201029"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Media: Capturing customer requirements</a:t>
            </a:r>
            <a:endParaRPr lang="en-GB" sz="3600" b="1" dirty="0">
              <a:solidFill>
                <a:srgbClr val="008000"/>
              </a:solidFill>
              <a:latin typeface="+mj-lt"/>
              <a:ea typeface="+mj-ea"/>
              <a:cs typeface="+mj-cs"/>
            </a:endParaRPr>
          </a:p>
        </p:txBody>
      </p:sp>
      <p:sp>
        <p:nvSpPr>
          <p:cNvPr id="9" name="Rectangle 8"/>
          <p:cNvSpPr/>
          <p:nvPr/>
        </p:nvSpPr>
        <p:spPr>
          <a:xfrm>
            <a:off x="395536" y="1412776"/>
            <a:ext cx="8518336" cy="6124754"/>
          </a:xfrm>
          <a:prstGeom prst="rect">
            <a:avLst/>
          </a:prstGeom>
        </p:spPr>
        <p:txBody>
          <a:bodyPr wrap="square">
            <a:spAutoFit/>
          </a:bodyPr>
          <a:lstStyle/>
          <a:p>
            <a:r>
              <a:rPr lang="en-US" sz="2800" dirty="0"/>
              <a:t>On the website there is a link to a video showing Joe Tidd talking about using QFD to help capture customer requirements</a:t>
            </a:r>
          </a:p>
          <a:p>
            <a:endParaRPr lang="en-US" sz="2800" dirty="0"/>
          </a:p>
          <a:p>
            <a:endParaRPr lang="en-US" sz="2800" dirty="0"/>
          </a:p>
          <a:p>
            <a:r>
              <a:rPr lang="en-US" sz="2800" dirty="0">
                <a:hlinkClick r:id="rId2"/>
              </a:rPr>
              <a:t>https://www.youtube.com/watch?v=Am9YXnmiKso</a:t>
            </a:r>
            <a:endParaRPr lang="en-US" sz="2800" dirty="0"/>
          </a:p>
          <a:p>
            <a:endParaRPr lang="en-US" sz="2800" dirty="0"/>
          </a:p>
          <a:p>
            <a:endParaRPr lang="en-US" sz="2800" dirty="0"/>
          </a:p>
          <a:p>
            <a:r>
              <a:rPr lang="en-GB" sz="2800" dirty="0"/>
              <a:t>He also talks through the process of carrying out a QFD exercise for product development:</a:t>
            </a:r>
          </a:p>
          <a:p>
            <a:endParaRPr lang="en-GB" sz="2800" dirty="0"/>
          </a:p>
          <a:p>
            <a:r>
              <a:rPr lang="en-GB" sz="2800" dirty="0">
                <a:hlinkClick r:id="rId3"/>
              </a:rPr>
              <a:t>https://www.youtube.com/watch?v=PXXSAdwgr_w</a:t>
            </a:r>
            <a:endParaRPr lang="en-GB" sz="2800" dirty="0"/>
          </a:p>
          <a:p>
            <a:endParaRPr lang="en-GB" sz="2800" dirty="0"/>
          </a:p>
          <a:p>
            <a:endParaRPr lang="en-GB" sz="2800" dirty="0"/>
          </a:p>
        </p:txBody>
      </p:sp>
    </p:spTree>
    <p:extLst>
      <p:ext uri="{BB962C8B-B14F-4D97-AF65-F5344CB8AC3E}">
        <p14:creationId xmlns:p14="http://schemas.microsoft.com/office/powerpoint/2010/main" val="294149700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987897-E368-6B40-A432-FCFC66E718D4}"/>
              </a:ext>
            </a:extLst>
          </p:cNvPr>
          <p:cNvSpPr>
            <a:spLocks noGrp="1"/>
          </p:cNvSpPr>
          <p:nvPr>
            <p:ph type="title"/>
          </p:nvPr>
        </p:nvSpPr>
        <p:spPr>
          <a:xfrm>
            <a:off x="515125" y="1153572"/>
            <a:ext cx="2400300" cy="4461163"/>
          </a:xfrm>
        </p:spPr>
        <p:txBody>
          <a:bodyPr>
            <a:normAutofit/>
          </a:bodyPr>
          <a:lstStyle/>
          <a:p>
            <a:r>
              <a:rPr lang="en-US">
                <a:solidFill>
                  <a:srgbClr val="FFFFFF"/>
                </a:solidFill>
              </a:rPr>
              <a:t>Blogs and podcasts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60F7953-C336-3B4A-8A1A-58F5A985ACE7}"/>
              </a:ext>
            </a:extLst>
          </p:cNvPr>
          <p:cNvSpPr>
            <a:spLocks noGrp="1"/>
          </p:cNvSpPr>
          <p:nvPr>
            <p:ph idx="1"/>
          </p:nvPr>
        </p:nvSpPr>
        <p:spPr>
          <a:xfrm>
            <a:off x="3335481" y="591344"/>
            <a:ext cx="5179868" cy="5585619"/>
          </a:xfrm>
        </p:spPr>
        <p:txBody>
          <a:bodyPr anchor="ctr">
            <a:normAutofit/>
          </a:bodyPr>
          <a:lstStyle/>
          <a:p>
            <a:r>
              <a:rPr lang="en-US" dirty="0"/>
              <a:t>There are </a:t>
            </a:r>
            <a:r>
              <a:rPr lang="en-US" dirty="0">
                <a:hlinkClick r:id="rId2"/>
              </a:rPr>
              <a:t>several podcasts  </a:t>
            </a:r>
            <a:r>
              <a:rPr lang="en-US" dirty="0"/>
              <a:t>and </a:t>
            </a:r>
            <a:r>
              <a:rPr lang="en-US" dirty="0">
                <a:hlinkClick r:id="rId3"/>
              </a:rPr>
              <a:t>blogs</a:t>
            </a:r>
            <a:r>
              <a:rPr lang="en-US" dirty="0">
                <a:hlinkClick r:id="rId4"/>
              </a:rPr>
              <a:t> </a:t>
            </a:r>
            <a:r>
              <a:rPr lang="en-US" dirty="0"/>
              <a:t>picking up key themes around creating new products and services and some of the key variables:</a:t>
            </a:r>
          </a:p>
          <a:p>
            <a:endParaRPr lang="en-US" dirty="0"/>
          </a:p>
          <a:p>
            <a:endParaRPr lang="en-US" dirty="0"/>
          </a:p>
        </p:txBody>
      </p:sp>
    </p:spTree>
    <p:extLst>
      <p:ext uri="{BB962C8B-B14F-4D97-AF65-F5344CB8AC3E}">
        <p14:creationId xmlns:p14="http://schemas.microsoft.com/office/powerpoint/2010/main" val="12309645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E829F1-84C0-044B-BBE4-ABFAD581D452}"/>
              </a:ext>
            </a:extLst>
          </p:cNvPr>
          <p:cNvSpPr>
            <a:spLocks noGrp="1"/>
          </p:cNvSpPr>
          <p:nvPr>
            <p:ph type="title"/>
          </p:nvPr>
        </p:nvSpPr>
        <p:spPr>
          <a:xfrm>
            <a:off x="515125" y="1153572"/>
            <a:ext cx="2400300" cy="4461163"/>
          </a:xfrm>
        </p:spPr>
        <p:txBody>
          <a:bodyPr>
            <a:normAutofit/>
          </a:bodyPr>
          <a:lstStyle/>
          <a:p>
            <a:r>
              <a:rPr lang="en-US">
                <a:solidFill>
                  <a:srgbClr val="FFFFFF"/>
                </a:solidFill>
              </a:rPr>
              <a:t>Activities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2B2D3D1-2581-F94B-9851-1F31823967E9}"/>
              </a:ext>
            </a:extLst>
          </p:cNvPr>
          <p:cNvSpPr>
            <a:spLocks noGrp="1"/>
          </p:cNvSpPr>
          <p:nvPr>
            <p:ph idx="1"/>
          </p:nvPr>
        </p:nvSpPr>
        <p:spPr>
          <a:xfrm>
            <a:off x="3335481" y="591344"/>
            <a:ext cx="5179868" cy="5585619"/>
          </a:xfrm>
        </p:spPr>
        <p:txBody>
          <a:bodyPr anchor="ctr">
            <a:normAutofit/>
          </a:bodyPr>
          <a:lstStyle/>
          <a:p>
            <a:r>
              <a:rPr lang="en-US" dirty="0"/>
              <a:t>There are a variety of activities (for both groups and individuals and for online as well as offline work.  These include:</a:t>
            </a:r>
          </a:p>
        </p:txBody>
      </p:sp>
    </p:spTree>
    <p:extLst>
      <p:ext uri="{BB962C8B-B14F-4D97-AF65-F5344CB8AC3E}">
        <p14:creationId xmlns:p14="http://schemas.microsoft.com/office/powerpoint/2010/main" val="163203930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8423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971600" y="260648"/>
            <a:ext cx="7133587" cy="917864"/>
          </a:xfrm>
          <a:prstGeom prst="rect">
            <a:avLst/>
          </a:prstGeom>
        </p:spPr>
        <p:txBody>
          <a:bodyPr vert="horz" lIns="91440" tIns="45720" rIns="91440" bIns="45720" rtlCol="0" anchor="ctr">
            <a:noAutofit/>
          </a:bodyPr>
          <a:lstStyle/>
          <a:p>
            <a:pPr lvl="0" algn="ctr"/>
            <a:r>
              <a:rPr lang="en-US" sz="3600" b="1" dirty="0">
                <a:solidFill>
                  <a:srgbClr val="008000"/>
                </a:solidFill>
                <a:latin typeface="+mj-lt"/>
                <a:ea typeface="+mj-ea"/>
                <a:cs typeface="+mj-cs"/>
              </a:rPr>
              <a:t>Activities: New product development game</a:t>
            </a:r>
            <a:r>
              <a:rPr lang="en-GB" sz="3600" b="1" dirty="0">
                <a:solidFill>
                  <a:srgbClr val="008000"/>
                </a:solidFill>
                <a:latin typeface="+mj-lt"/>
                <a:ea typeface="+mj-ea"/>
                <a:cs typeface="+mj-cs"/>
              </a:rPr>
              <a:t> </a:t>
            </a:r>
          </a:p>
        </p:txBody>
      </p:sp>
      <p:sp>
        <p:nvSpPr>
          <p:cNvPr id="9" name="Rectangle 8"/>
          <p:cNvSpPr/>
          <p:nvPr/>
        </p:nvSpPr>
        <p:spPr>
          <a:xfrm>
            <a:off x="458167" y="1837019"/>
            <a:ext cx="8478016" cy="2246769"/>
          </a:xfrm>
          <a:prstGeom prst="rect">
            <a:avLst/>
          </a:prstGeom>
        </p:spPr>
        <p:txBody>
          <a:bodyPr wrap="square">
            <a:spAutoFit/>
          </a:bodyPr>
          <a:lstStyle/>
          <a:p>
            <a:r>
              <a:rPr lang="en-GB" sz="2800" dirty="0">
                <a:hlinkClick r:id="rId2"/>
              </a:rPr>
              <a:t>On the website there is an exercise based on teams developing a new product which provides a platform for discussion and deeper exploration of key issues.</a:t>
            </a:r>
            <a:endParaRPr lang="en-GB" sz="2800" dirty="0"/>
          </a:p>
          <a:p>
            <a:endParaRPr lang="en-GB" sz="2800" dirty="0"/>
          </a:p>
          <a:p>
            <a:endParaRPr lang="en-US" sz="2800" dirty="0"/>
          </a:p>
        </p:txBody>
      </p:sp>
      <p:pic>
        <p:nvPicPr>
          <p:cNvPr id="8" name="Picture 7"/>
          <p:cNvPicPr>
            <a:picLocks noChangeAspect="1"/>
          </p:cNvPicPr>
          <p:nvPr/>
        </p:nvPicPr>
        <p:blipFill>
          <a:blip r:embed="rId3" cstate="print"/>
          <a:stretch>
            <a:fillRect/>
          </a:stretch>
        </p:blipFill>
        <p:spPr>
          <a:xfrm>
            <a:off x="5618197" y="4409512"/>
            <a:ext cx="3317986" cy="2231060"/>
          </a:xfrm>
          <a:prstGeom prst="rect">
            <a:avLst/>
          </a:prstGeom>
        </p:spPr>
      </p:pic>
    </p:spTree>
    <p:extLst>
      <p:ext uri="{BB962C8B-B14F-4D97-AF65-F5344CB8AC3E}">
        <p14:creationId xmlns:p14="http://schemas.microsoft.com/office/powerpoint/2010/main" val="262141400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67544" y="98072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539552" y="0"/>
            <a:ext cx="7820386" cy="971912"/>
          </a:xfrm>
          <a:prstGeom prst="rect">
            <a:avLst/>
          </a:prstGeom>
        </p:spPr>
        <p:txBody>
          <a:bodyPr vert="horz" lIns="91440" tIns="45720" rIns="91440" bIns="45720" rtlCol="0" anchor="ctr">
            <a:noAutofit/>
          </a:bodyPr>
          <a:lstStyle/>
          <a:p>
            <a:pPr algn="ctr">
              <a:spcBef>
                <a:spcPct val="0"/>
              </a:spcBef>
              <a:defRPr/>
            </a:pPr>
            <a:r>
              <a:rPr lang="en-US" sz="3400" b="1" dirty="0">
                <a:solidFill>
                  <a:srgbClr val="008000"/>
                </a:solidFill>
                <a:latin typeface="+mj-lt"/>
                <a:ea typeface="+mj-ea"/>
                <a:cs typeface="+mj-cs"/>
              </a:rPr>
              <a:t>Team project exercises</a:t>
            </a:r>
            <a:endParaRPr lang="en-GB" sz="3400" b="1" dirty="0">
              <a:solidFill>
                <a:srgbClr val="008000"/>
              </a:solidFill>
              <a:latin typeface="+mj-lt"/>
              <a:ea typeface="+mj-ea"/>
              <a:cs typeface="+mj-cs"/>
            </a:endParaRPr>
          </a:p>
        </p:txBody>
      </p:sp>
      <p:sp>
        <p:nvSpPr>
          <p:cNvPr id="8" name="Rectangle 7"/>
          <p:cNvSpPr/>
          <p:nvPr/>
        </p:nvSpPr>
        <p:spPr>
          <a:xfrm>
            <a:off x="395536" y="1340768"/>
            <a:ext cx="8478016" cy="5262980"/>
          </a:xfrm>
          <a:prstGeom prst="rect">
            <a:avLst/>
          </a:prstGeom>
        </p:spPr>
        <p:txBody>
          <a:bodyPr wrap="square">
            <a:spAutoFit/>
          </a:bodyPr>
          <a:lstStyle/>
          <a:p>
            <a:r>
              <a:rPr lang="en-US" sz="2800" dirty="0"/>
              <a:t>Apply QFD to a real example of a new product or service. In a group, take the following steps:</a:t>
            </a:r>
            <a:endParaRPr lang="en-GB" sz="2800" dirty="0"/>
          </a:p>
          <a:p>
            <a:r>
              <a:rPr lang="en-US" sz="2800" dirty="0"/>
              <a:t> </a:t>
            </a:r>
            <a:endParaRPr lang="en-GB" sz="2800" dirty="0"/>
          </a:p>
          <a:p>
            <a:pPr lvl="0"/>
            <a:r>
              <a:rPr lang="en-US" sz="2800" dirty="0"/>
              <a:t>Identify the target customer requirements, by market research or in class by ‘brain-storming’. Try to include both tangible and intangible elements.</a:t>
            </a:r>
            <a:endParaRPr lang="en-GB" sz="2800" dirty="0"/>
          </a:p>
          <a:p>
            <a:r>
              <a:rPr lang="en-US" sz="2800" dirty="0"/>
              <a:t> </a:t>
            </a:r>
            <a:endParaRPr lang="en-GB" sz="2800" dirty="0"/>
          </a:p>
          <a:p>
            <a:pPr lvl="0"/>
            <a:r>
              <a:rPr lang="en-US" sz="2800" dirty="0"/>
              <a:t>Rank or weight these requirements, based on your best knowledge of the target market segment.</a:t>
            </a:r>
            <a:endParaRPr lang="en-GB" sz="2800" dirty="0"/>
          </a:p>
          <a:p>
            <a:r>
              <a:rPr lang="en-US" sz="2800" dirty="0"/>
              <a:t> </a:t>
            </a:r>
            <a:endParaRPr lang="en-GB" sz="2800" dirty="0"/>
          </a:p>
          <a:p>
            <a:pPr lvl="0"/>
            <a:r>
              <a:rPr lang="en-US" sz="2800" dirty="0"/>
              <a:t>Where possible, translate the requirements into measurable characteristics.</a:t>
            </a:r>
            <a:endParaRPr lang="en-GB" sz="2800" dirty="0"/>
          </a:p>
        </p:txBody>
      </p:sp>
    </p:spTree>
    <p:extLst>
      <p:ext uri="{BB962C8B-B14F-4D97-AF65-F5344CB8AC3E}">
        <p14:creationId xmlns:p14="http://schemas.microsoft.com/office/powerpoint/2010/main" val="18509217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None/>
            </a:pPr>
            <a:r>
              <a:rPr lang="en-US" dirty="0">
                <a:hlinkClick r:id="rId2"/>
              </a:rPr>
              <a:t>On the website there is a tool ‘Accelerating diffusion’ and activity to help explore the adoption and diffusion of innovations</a:t>
            </a:r>
            <a:endParaRPr lang="en-US" dirty="0"/>
          </a:p>
          <a:p>
            <a:endParaRPr lang="en-US" dirty="0"/>
          </a:p>
          <a:p>
            <a:pPr>
              <a:buNone/>
            </a:pPr>
            <a:r>
              <a:rPr lang="en-US" dirty="0"/>
              <a:t>And a </a:t>
            </a:r>
            <a:r>
              <a:rPr lang="en-US" dirty="0">
                <a:hlinkClick r:id="rId3"/>
              </a:rPr>
              <a:t>case study of Better Place</a:t>
            </a:r>
            <a:r>
              <a:rPr lang="en-US" dirty="0"/>
              <a:t>, demonstrating the challenges of adoption and diffusion.</a:t>
            </a:r>
          </a:p>
          <a:p>
            <a:pPr>
              <a:buNone/>
            </a:pPr>
            <a:endParaRPr lang="en-US" dirty="0"/>
          </a:p>
        </p:txBody>
      </p:sp>
      <p:cxnSp>
        <p:nvCxnSpPr>
          <p:cNvPr id="4" name="Straight Connector 3"/>
          <p:cNvCxnSpPr/>
          <p:nvPr/>
        </p:nvCxnSpPr>
        <p:spPr>
          <a:xfrm>
            <a:off x="458167" y="1320706"/>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5" name="Title 1"/>
          <p:cNvSpPr txBox="1">
            <a:spLocks/>
          </p:cNvSpPr>
          <p:nvPr/>
        </p:nvSpPr>
        <p:spPr>
          <a:xfrm>
            <a:off x="827584" y="260648"/>
            <a:ext cx="7133587" cy="917864"/>
          </a:xfrm>
          <a:prstGeom prst="rect">
            <a:avLst/>
          </a:prstGeom>
        </p:spPr>
        <p:txBody>
          <a:bodyPr vert="horz" lIns="91440" tIns="45720" rIns="91440" bIns="45720" rtlCol="0" anchor="ctr">
            <a:noAutofit/>
          </a:bodyPr>
          <a:lstStyle/>
          <a:p>
            <a:pPr lvl="0" algn="ctr"/>
            <a:r>
              <a:rPr lang="en-US" sz="3600" b="1" dirty="0">
                <a:solidFill>
                  <a:srgbClr val="008000"/>
                </a:solidFill>
                <a:latin typeface="+mj-lt"/>
                <a:ea typeface="+mj-ea"/>
                <a:cs typeface="+mj-cs"/>
              </a:rPr>
              <a:t>Team exercises</a:t>
            </a:r>
            <a:endParaRPr lang="en-GB" sz="3600" b="1" dirty="0">
              <a:solidFill>
                <a:srgbClr val="008000"/>
              </a:solidFill>
              <a:latin typeface="+mj-lt"/>
              <a:ea typeface="+mj-ea"/>
              <a:cs typeface="+mj-cs"/>
            </a:endParaRPr>
          </a:p>
        </p:txBody>
      </p:sp>
    </p:spTree>
    <p:extLst>
      <p:ext uri="{BB962C8B-B14F-4D97-AF65-F5344CB8AC3E}">
        <p14:creationId xmlns:p14="http://schemas.microsoft.com/office/powerpoint/2010/main" val="106350482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F3E2-DE82-684F-AB96-D65AACA856AA}"/>
              </a:ext>
            </a:extLst>
          </p:cNvPr>
          <p:cNvSpPr>
            <a:spLocks noGrp="1"/>
          </p:cNvSpPr>
          <p:nvPr>
            <p:ph type="title"/>
          </p:nvPr>
        </p:nvSpPr>
        <p:spPr>
          <a:xfrm>
            <a:off x="515125" y="1153572"/>
            <a:ext cx="2400300" cy="4461163"/>
          </a:xfrm>
        </p:spPr>
        <p:txBody>
          <a:bodyPr>
            <a:normAutofit/>
          </a:bodyPr>
          <a:lstStyle/>
          <a:p>
            <a:r>
              <a:rPr lang="en-US">
                <a:solidFill>
                  <a:srgbClr val="FFFFFF"/>
                </a:solidFill>
              </a:rPr>
              <a:t>Cases </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7FC5492F-86A8-4E4C-88C3-DE87089A6DE2}"/>
              </a:ext>
            </a:extLst>
          </p:cNvPr>
          <p:cNvSpPr>
            <a:spLocks noGrp="1"/>
          </p:cNvSpPr>
          <p:nvPr>
            <p:ph idx="1"/>
          </p:nvPr>
        </p:nvSpPr>
        <p:spPr>
          <a:xfrm>
            <a:off x="3335481" y="591344"/>
            <a:ext cx="5179868" cy="5585619"/>
          </a:xfrm>
        </p:spPr>
        <p:txBody>
          <a:bodyPr anchor="ctr">
            <a:normAutofit/>
          </a:bodyPr>
          <a:lstStyle/>
          <a:p>
            <a:pPr marL="0" indent="0">
              <a:lnSpc>
                <a:spcPct val="90000"/>
              </a:lnSpc>
              <a:buNone/>
            </a:pPr>
            <a:r>
              <a:rPr lang="en-US" sz="2500" dirty="0"/>
              <a:t>There are several </a:t>
            </a:r>
            <a:r>
              <a:rPr lang="en-US" sz="2500" dirty="0">
                <a:hlinkClick r:id="rId2"/>
              </a:rPr>
              <a:t>case studies </a:t>
            </a:r>
            <a:r>
              <a:rPr lang="en-US" sz="2500" dirty="0"/>
              <a:t>which highlight key themes in the chapter, including:</a:t>
            </a:r>
          </a:p>
          <a:p>
            <a:pPr marL="0" indent="0">
              <a:lnSpc>
                <a:spcPct val="90000"/>
              </a:lnSpc>
              <a:buNone/>
            </a:pPr>
            <a:endParaRPr lang="en-US" sz="2500" dirty="0"/>
          </a:p>
          <a:p>
            <a:pPr>
              <a:lnSpc>
                <a:spcPct val="90000"/>
              </a:lnSpc>
            </a:pPr>
            <a:r>
              <a:rPr lang="en-GB" sz="2500" dirty="0"/>
              <a:t>BBC</a:t>
            </a:r>
          </a:p>
          <a:p>
            <a:pPr>
              <a:lnSpc>
                <a:spcPct val="90000"/>
              </a:lnSpc>
            </a:pPr>
            <a:r>
              <a:rPr lang="en-GB" sz="2500" dirty="0"/>
              <a:t>Bank of Scotland</a:t>
            </a:r>
          </a:p>
          <a:p>
            <a:pPr>
              <a:lnSpc>
                <a:spcPct val="90000"/>
              </a:lnSpc>
            </a:pPr>
            <a:r>
              <a:rPr lang="en-GB" sz="2500" dirty="0"/>
              <a:t>Law firms innovation</a:t>
            </a:r>
          </a:p>
          <a:p>
            <a:pPr>
              <a:lnSpc>
                <a:spcPct val="90000"/>
              </a:lnSpc>
            </a:pPr>
            <a:r>
              <a:rPr lang="en-GB" sz="2500" dirty="0"/>
              <a:t>Gordon Murray design</a:t>
            </a:r>
          </a:p>
          <a:p>
            <a:pPr>
              <a:lnSpc>
                <a:spcPct val="90000"/>
              </a:lnSpc>
            </a:pPr>
            <a:r>
              <a:rPr lang="en-GB" sz="2500" dirty="0"/>
              <a:t>Lexus</a:t>
            </a:r>
          </a:p>
          <a:p>
            <a:pPr>
              <a:lnSpc>
                <a:spcPct val="90000"/>
              </a:lnSpc>
            </a:pPr>
            <a:r>
              <a:rPr lang="en-GB" sz="2500" dirty="0"/>
              <a:t>Minimonos</a:t>
            </a:r>
          </a:p>
          <a:p>
            <a:pPr>
              <a:lnSpc>
                <a:spcPct val="90000"/>
              </a:lnSpc>
            </a:pPr>
            <a:endParaRPr lang="en-US" sz="2500" dirty="0"/>
          </a:p>
        </p:txBody>
      </p:sp>
    </p:spTree>
    <p:extLst>
      <p:ext uri="{BB962C8B-B14F-4D97-AF65-F5344CB8AC3E}">
        <p14:creationId xmlns:p14="http://schemas.microsoft.com/office/powerpoint/2010/main" val="412823068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20706"/>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972748" y="280890"/>
            <a:ext cx="5326423"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Case-study: Jaguar</a:t>
            </a:r>
            <a:r>
              <a:rPr lang="en-GB" sz="3600" b="1" dirty="0">
                <a:solidFill>
                  <a:srgbClr val="008000"/>
                </a:solidFill>
                <a:latin typeface="+mj-lt"/>
                <a:ea typeface="+mj-ea"/>
                <a:cs typeface="+mj-cs"/>
              </a:rPr>
              <a:t> </a:t>
            </a:r>
          </a:p>
        </p:txBody>
      </p:sp>
      <p:sp>
        <p:nvSpPr>
          <p:cNvPr id="9" name="Rectangle 8"/>
          <p:cNvSpPr/>
          <p:nvPr/>
        </p:nvSpPr>
        <p:spPr>
          <a:xfrm>
            <a:off x="417847" y="1322294"/>
            <a:ext cx="8518336" cy="5663089"/>
          </a:xfrm>
          <a:prstGeom prst="rect">
            <a:avLst/>
          </a:prstGeom>
        </p:spPr>
        <p:txBody>
          <a:bodyPr wrap="square">
            <a:spAutoFit/>
          </a:bodyPr>
          <a:lstStyle/>
          <a:p>
            <a:pPr>
              <a:spcAft>
                <a:spcPts val="1200"/>
              </a:spcAft>
              <a:buFont typeface="Arial"/>
              <a:buChar char="•"/>
            </a:pPr>
            <a:r>
              <a:rPr lang="en-GB" sz="2600" dirty="0"/>
              <a:t> In March 2008 Tata bought Jaguar Land Rover from Ford for US $2.3 billion.</a:t>
            </a:r>
          </a:p>
          <a:p>
            <a:pPr>
              <a:spcAft>
                <a:spcPts val="1200"/>
              </a:spcAft>
              <a:buFont typeface="Arial"/>
              <a:buChar char="•"/>
            </a:pPr>
            <a:r>
              <a:rPr lang="en-GB" sz="2600" dirty="0"/>
              <a:t> Since then, Tata has grown JLR through a sustained investment in new product development.</a:t>
            </a:r>
          </a:p>
          <a:p>
            <a:pPr>
              <a:spcAft>
                <a:spcPts val="1200"/>
              </a:spcAft>
              <a:buFont typeface="Arial"/>
              <a:buChar char="•"/>
            </a:pPr>
            <a:r>
              <a:rPr lang="en-GB" sz="2600" dirty="0"/>
              <a:t> The mid-size luxury January XF was revealed in August 2007, with first customer deliveries in March 2008. </a:t>
            </a:r>
          </a:p>
          <a:p>
            <a:pPr>
              <a:spcAft>
                <a:spcPts val="1200"/>
              </a:spcAft>
              <a:buFont typeface="Arial"/>
              <a:buChar char="•"/>
            </a:pPr>
            <a:r>
              <a:rPr lang="en-GB" sz="2600" dirty="0"/>
              <a:t> By 2011 Tata had tripled this annual R&amp;D spend to £1.2 billion.</a:t>
            </a:r>
          </a:p>
          <a:p>
            <a:pPr>
              <a:spcAft>
                <a:spcPts val="1200"/>
              </a:spcAft>
              <a:buFont typeface="Arial"/>
              <a:buChar char="•"/>
            </a:pPr>
            <a:r>
              <a:rPr lang="en-GB" sz="2600" dirty="0"/>
              <a:t> In 2010-2012 the company announced an investment of £355 million for new engine plant and altogether more than 3,000 new jobs were created.</a:t>
            </a:r>
          </a:p>
          <a:p>
            <a:pPr>
              <a:spcAft>
                <a:spcPts val="1200"/>
              </a:spcAft>
              <a:buFont typeface="Arial"/>
              <a:buChar char="•"/>
            </a:pPr>
            <a:endParaRPr lang="en-GB" sz="2600" dirty="0"/>
          </a:p>
        </p:txBody>
      </p:sp>
    </p:spTree>
    <p:extLst>
      <p:ext uri="{BB962C8B-B14F-4D97-AF65-F5344CB8AC3E}">
        <p14:creationId xmlns:p14="http://schemas.microsoft.com/office/powerpoint/2010/main" val="298879375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20706"/>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611560" y="260648"/>
            <a:ext cx="7686519"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rPr>
              <a:t>Example: Murray Design</a:t>
            </a:r>
            <a:endParaRPr lang="en-GB" sz="3600" b="1" dirty="0">
              <a:solidFill>
                <a:srgbClr val="008000"/>
              </a:solidFill>
            </a:endParaRPr>
          </a:p>
        </p:txBody>
      </p:sp>
      <p:sp>
        <p:nvSpPr>
          <p:cNvPr id="9" name="Rectangle 8"/>
          <p:cNvSpPr/>
          <p:nvPr/>
        </p:nvSpPr>
        <p:spPr>
          <a:xfrm>
            <a:off x="417847" y="1369651"/>
            <a:ext cx="8518336" cy="3539430"/>
          </a:xfrm>
          <a:prstGeom prst="rect">
            <a:avLst/>
          </a:prstGeom>
        </p:spPr>
        <p:txBody>
          <a:bodyPr wrap="square">
            <a:spAutoFit/>
          </a:bodyPr>
          <a:lstStyle/>
          <a:p>
            <a:r>
              <a:rPr lang="en-US" sz="2800" dirty="0"/>
              <a:t> </a:t>
            </a:r>
            <a:endParaRPr lang="en-GB" sz="2800" dirty="0"/>
          </a:p>
          <a:p>
            <a:r>
              <a:rPr lang="en-GB" sz="2800" dirty="0"/>
              <a:t>On the </a:t>
            </a:r>
            <a:r>
              <a:rPr lang="en-GB" sz="2800" dirty="0">
                <a:hlinkClick r:id="rId2"/>
              </a:rPr>
              <a:t>website there is a case study </a:t>
            </a:r>
            <a:r>
              <a:rPr lang="en-GB" sz="2800" dirty="0"/>
              <a:t>‘Gordon Murray Design’ which illustrates these factors:</a:t>
            </a:r>
          </a:p>
          <a:p>
            <a:endParaRPr lang="en-GB" sz="2800" dirty="0"/>
          </a:p>
          <a:p>
            <a:endParaRPr lang="en-GB" sz="2800" dirty="0"/>
          </a:p>
          <a:p>
            <a:endParaRPr lang="en-GB" sz="2800" dirty="0"/>
          </a:p>
          <a:p>
            <a:r>
              <a:rPr lang="en-US" sz="2800" dirty="0"/>
              <a:t> </a:t>
            </a:r>
            <a:endParaRPr lang="en-GB" sz="2800" dirty="0"/>
          </a:p>
          <a:p>
            <a:endParaRPr lang="en-GB" sz="2800" dirty="0"/>
          </a:p>
        </p:txBody>
      </p:sp>
    </p:spTree>
    <p:extLst>
      <p:ext uri="{BB962C8B-B14F-4D97-AF65-F5344CB8AC3E}">
        <p14:creationId xmlns:p14="http://schemas.microsoft.com/office/powerpoint/2010/main" val="49454876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20706"/>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668481" y="243607"/>
            <a:ext cx="6301997"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Example: Gunfire at sea</a:t>
            </a:r>
            <a:endParaRPr lang="en-GB" sz="3600" b="1" dirty="0">
              <a:solidFill>
                <a:srgbClr val="008000"/>
              </a:solidFill>
              <a:latin typeface="+mj-lt"/>
              <a:ea typeface="+mj-ea"/>
              <a:cs typeface="+mj-cs"/>
            </a:endParaRPr>
          </a:p>
        </p:txBody>
      </p:sp>
      <p:sp>
        <p:nvSpPr>
          <p:cNvPr id="4" name="Content Placeholder 3"/>
          <p:cNvSpPr>
            <a:spLocks noGrp="1"/>
          </p:cNvSpPr>
          <p:nvPr>
            <p:ph idx="1"/>
          </p:nvPr>
        </p:nvSpPr>
        <p:spPr/>
        <p:txBody>
          <a:bodyPr/>
          <a:lstStyle/>
          <a:p>
            <a:pPr marL="0" indent="0">
              <a:buNone/>
            </a:pPr>
            <a:r>
              <a:rPr lang="en-US" dirty="0">
                <a:hlinkClick r:id="rId2"/>
              </a:rPr>
              <a:t>On the website there is a link to a famous study ‘Gunfire at sea’ highlighting the problem of compatibility and resistance to change arising from it</a:t>
            </a:r>
            <a:endParaRPr lang="en-US" dirty="0"/>
          </a:p>
          <a:p>
            <a:pPr marL="0" indent="0">
              <a:buNone/>
            </a:pPr>
            <a:endParaRPr lang="en-US" dirty="0"/>
          </a:p>
        </p:txBody>
      </p:sp>
    </p:spTree>
    <p:extLst>
      <p:ext uri="{BB962C8B-B14F-4D97-AF65-F5344CB8AC3E}">
        <p14:creationId xmlns:p14="http://schemas.microsoft.com/office/powerpoint/2010/main" val="64469602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20706"/>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979901" y="280890"/>
            <a:ext cx="5666532"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Example: Minimonos</a:t>
            </a:r>
            <a:endParaRPr lang="en-GB" sz="3600" b="1" dirty="0">
              <a:solidFill>
                <a:srgbClr val="008000"/>
              </a:solidFill>
              <a:latin typeface="+mj-lt"/>
              <a:ea typeface="+mj-ea"/>
              <a:cs typeface="+mj-cs"/>
            </a:endParaRPr>
          </a:p>
        </p:txBody>
      </p:sp>
      <p:sp>
        <p:nvSpPr>
          <p:cNvPr id="9" name="Rectangle 8"/>
          <p:cNvSpPr/>
          <p:nvPr/>
        </p:nvSpPr>
        <p:spPr>
          <a:xfrm>
            <a:off x="417847" y="1521749"/>
            <a:ext cx="8518336" cy="3939540"/>
          </a:xfrm>
          <a:prstGeom prst="rect">
            <a:avLst/>
          </a:prstGeom>
        </p:spPr>
        <p:txBody>
          <a:bodyPr wrap="square">
            <a:spAutoFit/>
          </a:bodyPr>
          <a:lstStyle/>
          <a:p>
            <a:pPr lvl="0"/>
            <a:r>
              <a:rPr lang="en-GB" sz="2800" dirty="0"/>
              <a:t>On the website there is a </a:t>
            </a:r>
            <a:r>
              <a:rPr lang="en-GB" sz="2800" dirty="0">
                <a:hlinkClick r:id="rId2"/>
              </a:rPr>
              <a:t>video interview (</a:t>
            </a:r>
            <a:r>
              <a:rPr lang="en-GB" sz="2800" dirty="0" err="1">
                <a:hlinkClick r:id="rId2"/>
              </a:rPr>
              <a:t>Minimonos</a:t>
            </a:r>
            <a:r>
              <a:rPr lang="en-GB" sz="2800" dirty="0"/>
              <a:t>) with Melissa Clark-Reynolds which highlights some of these issues</a:t>
            </a:r>
          </a:p>
          <a:p>
            <a:pPr lvl="0"/>
            <a:endParaRPr lang="en-GB" sz="2800" dirty="0"/>
          </a:p>
          <a:p>
            <a:pPr marL="457200" lvl="0" indent="-457200">
              <a:buFont typeface="Arial"/>
              <a:buChar char="•"/>
            </a:pPr>
            <a:endParaRPr lang="en-GB" sz="2800" dirty="0"/>
          </a:p>
          <a:p>
            <a:pPr marL="457200" lvl="0" indent="-457200">
              <a:buFont typeface="Arial"/>
              <a:buChar char="•"/>
            </a:pPr>
            <a:endParaRPr lang="en-GB" sz="2800" dirty="0"/>
          </a:p>
          <a:p>
            <a:pPr marL="457200" lvl="0" indent="-457200">
              <a:buFont typeface="Arial"/>
              <a:buChar char="•"/>
            </a:pPr>
            <a:endParaRPr lang="en-GB" sz="2800" dirty="0"/>
          </a:p>
          <a:p>
            <a:pPr marL="457200" lvl="0" indent="-457200">
              <a:buFont typeface="Arial"/>
              <a:buChar char="•"/>
            </a:pPr>
            <a:endParaRPr lang="en-GB" sz="2800" dirty="0"/>
          </a:p>
          <a:p>
            <a:pPr>
              <a:spcAft>
                <a:spcPts val="1800"/>
              </a:spcAft>
            </a:pPr>
            <a:endParaRPr lang="en-GB" sz="2600" dirty="0"/>
          </a:p>
        </p:txBody>
      </p:sp>
    </p:spTree>
    <p:extLst>
      <p:ext uri="{BB962C8B-B14F-4D97-AF65-F5344CB8AC3E}">
        <p14:creationId xmlns:p14="http://schemas.microsoft.com/office/powerpoint/2010/main" val="217348176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49531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9" name="Title 1"/>
          <p:cNvSpPr txBox="1">
            <a:spLocks/>
          </p:cNvSpPr>
          <p:nvPr/>
        </p:nvSpPr>
        <p:spPr>
          <a:xfrm>
            <a:off x="1016791" y="278490"/>
            <a:ext cx="6697256"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Example: Plaswood Recycling</a:t>
            </a:r>
            <a:endParaRPr lang="en-GB" sz="3600" b="1" dirty="0">
              <a:solidFill>
                <a:srgbClr val="008000"/>
              </a:solidFill>
              <a:latin typeface="+mj-lt"/>
              <a:ea typeface="+mj-ea"/>
              <a:cs typeface="+mj-cs"/>
            </a:endParaRPr>
          </a:p>
        </p:txBody>
      </p:sp>
      <p:sp>
        <p:nvSpPr>
          <p:cNvPr id="3" name="Content Placeholder 2"/>
          <p:cNvSpPr>
            <a:spLocks noGrp="1"/>
          </p:cNvSpPr>
          <p:nvPr>
            <p:ph idx="1"/>
          </p:nvPr>
        </p:nvSpPr>
        <p:spPr/>
        <p:txBody>
          <a:bodyPr>
            <a:normAutofit/>
          </a:bodyPr>
          <a:lstStyle/>
          <a:p>
            <a:r>
              <a:rPr lang="en-GB" dirty="0">
                <a:hlinkClick r:id="rId2"/>
              </a:rPr>
              <a:t>On the website there is a case ‘</a:t>
            </a:r>
            <a:r>
              <a:rPr lang="en-GB" dirty="0" err="1">
                <a:hlinkClick r:id="rId2"/>
              </a:rPr>
              <a:t>Plaswood</a:t>
            </a:r>
            <a:r>
              <a:rPr lang="en-GB" dirty="0">
                <a:hlinkClick r:id="rId2"/>
              </a:rPr>
              <a:t> recycling’ which highlights these factors:</a:t>
            </a:r>
            <a:endParaRPr lang="en-GB" dirty="0"/>
          </a:p>
          <a:p>
            <a:endParaRPr lang="en-GB" dirty="0"/>
          </a:p>
          <a:p>
            <a:endParaRPr lang="en-US" dirty="0"/>
          </a:p>
        </p:txBody>
      </p:sp>
    </p:spTree>
    <p:extLst>
      <p:ext uri="{BB962C8B-B14F-4D97-AF65-F5344CB8AC3E}">
        <p14:creationId xmlns:p14="http://schemas.microsoft.com/office/powerpoint/2010/main" val="342916242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AD80B4-D55C-EB42-9714-AEF28F32476C}"/>
              </a:ext>
            </a:extLst>
          </p:cNvPr>
          <p:cNvSpPr>
            <a:spLocks noGrp="1"/>
          </p:cNvSpPr>
          <p:nvPr>
            <p:ph type="title"/>
          </p:nvPr>
        </p:nvSpPr>
        <p:spPr>
          <a:xfrm>
            <a:off x="515125" y="1153572"/>
            <a:ext cx="2400300" cy="4461163"/>
          </a:xfrm>
        </p:spPr>
        <p:txBody>
          <a:bodyPr>
            <a:normAutofit/>
          </a:bodyPr>
          <a:lstStyle/>
          <a:p>
            <a:r>
              <a:rPr lang="en-US">
                <a:solidFill>
                  <a:srgbClr val="FFFFFF"/>
                </a:solidFill>
              </a:rPr>
              <a:t>Tools </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698C0A98-DEE9-C340-BEDA-4B37B2A6DEDC}"/>
              </a:ext>
            </a:extLst>
          </p:cNvPr>
          <p:cNvSpPr>
            <a:spLocks noGrp="1"/>
          </p:cNvSpPr>
          <p:nvPr>
            <p:ph idx="1"/>
          </p:nvPr>
        </p:nvSpPr>
        <p:spPr>
          <a:xfrm>
            <a:off x="3335481" y="591344"/>
            <a:ext cx="5179868" cy="5585619"/>
          </a:xfrm>
        </p:spPr>
        <p:txBody>
          <a:bodyPr anchor="ctr">
            <a:normAutofit/>
          </a:bodyPr>
          <a:lstStyle/>
          <a:p>
            <a:pPr>
              <a:lnSpc>
                <a:spcPct val="90000"/>
              </a:lnSpc>
            </a:pPr>
            <a:r>
              <a:rPr lang="en-US" sz="2000" dirty="0"/>
              <a:t>There are a variety of tools which can help deal with themes raised in this chapter</a:t>
            </a:r>
            <a:r>
              <a:rPr lang="en-US" sz="2000" dirty="0">
                <a:hlinkClick r:id="rId2"/>
              </a:rPr>
              <a:t>.  You can find them here</a:t>
            </a:r>
            <a:endParaRPr lang="en-US" sz="2000" dirty="0"/>
          </a:p>
          <a:p>
            <a:pPr>
              <a:lnSpc>
                <a:spcPct val="90000"/>
              </a:lnSpc>
            </a:pPr>
            <a:endParaRPr lang="en-US" sz="2000" dirty="0"/>
          </a:p>
          <a:p>
            <a:r>
              <a:rPr lang="en-GB" sz="2000" dirty="0"/>
              <a:t>Accelerating diffusion</a:t>
            </a:r>
          </a:p>
          <a:p>
            <a:r>
              <a:rPr lang="en-GB" sz="2000" dirty="0"/>
              <a:t>Agile innovation and lean start-up</a:t>
            </a:r>
          </a:p>
          <a:p>
            <a:r>
              <a:rPr lang="en-GB" sz="2000" dirty="0"/>
              <a:t>Conjoint analysis</a:t>
            </a:r>
          </a:p>
          <a:p>
            <a:r>
              <a:rPr lang="en-GB" sz="2000" dirty="0"/>
              <a:t>Change management</a:t>
            </a:r>
          </a:p>
          <a:p>
            <a:r>
              <a:rPr lang="en-GB" sz="2000" dirty="0"/>
              <a:t>Empathic design</a:t>
            </a:r>
          </a:p>
          <a:p>
            <a:r>
              <a:rPr lang="en-GB" sz="2000" dirty="0"/>
              <a:t>Quality function deployment (QFD)</a:t>
            </a:r>
          </a:p>
          <a:p>
            <a:pPr>
              <a:lnSpc>
                <a:spcPct val="90000"/>
              </a:lnSpc>
            </a:pPr>
            <a:endParaRPr lang="en-US" sz="2000" dirty="0"/>
          </a:p>
        </p:txBody>
      </p:sp>
    </p:spTree>
    <p:extLst>
      <p:ext uri="{BB962C8B-B14F-4D97-AF65-F5344CB8AC3E}">
        <p14:creationId xmlns:p14="http://schemas.microsoft.com/office/powerpoint/2010/main" val="61382984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8423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458167" y="360862"/>
            <a:ext cx="7367849" cy="917864"/>
          </a:xfrm>
          <a:prstGeom prst="rect">
            <a:avLst/>
          </a:prstGeom>
        </p:spPr>
        <p:txBody>
          <a:bodyPr vert="horz" lIns="91440" tIns="45720" rIns="91440" bIns="45720" rtlCol="0" anchor="ctr">
            <a:noAutofit/>
          </a:bodyPr>
          <a:lstStyle/>
          <a:p>
            <a:pPr lvl="0" algn="ctr"/>
            <a:r>
              <a:rPr lang="en-US" sz="3600" b="1" dirty="0">
                <a:solidFill>
                  <a:srgbClr val="008000"/>
                </a:solidFill>
                <a:latin typeface="+mj-lt"/>
                <a:ea typeface="+mj-ea"/>
                <a:cs typeface="+mj-cs"/>
              </a:rPr>
              <a:t>Tools to help with concept generation</a:t>
            </a:r>
            <a:endParaRPr lang="en-GB" sz="3600" b="1" dirty="0">
              <a:solidFill>
                <a:srgbClr val="008000"/>
              </a:solidFill>
              <a:latin typeface="+mj-lt"/>
              <a:ea typeface="+mj-ea"/>
              <a:cs typeface="+mj-cs"/>
            </a:endParaRPr>
          </a:p>
        </p:txBody>
      </p:sp>
      <p:sp>
        <p:nvSpPr>
          <p:cNvPr id="9" name="Rectangle 8"/>
          <p:cNvSpPr/>
          <p:nvPr/>
        </p:nvSpPr>
        <p:spPr>
          <a:xfrm>
            <a:off x="458167" y="1486293"/>
            <a:ext cx="8478016" cy="5201424"/>
          </a:xfrm>
          <a:prstGeom prst="rect">
            <a:avLst/>
          </a:prstGeom>
        </p:spPr>
        <p:txBody>
          <a:bodyPr wrap="square">
            <a:spAutoFit/>
          </a:bodyPr>
          <a:lstStyle/>
          <a:p>
            <a:pPr lvl="0">
              <a:spcAft>
                <a:spcPts val="1200"/>
              </a:spcAft>
              <a:buFont typeface="Arial"/>
              <a:buChar char="•"/>
            </a:pPr>
            <a:r>
              <a:rPr lang="en-US" sz="2800" dirty="0"/>
              <a:t> Surveys and focus;</a:t>
            </a:r>
            <a:endParaRPr lang="en-GB" sz="2800" dirty="0"/>
          </a:p>
          <a:p>
            <a:pPr lvl="0">
              <a:spcAft>
                <a:spcPts val="1200"/>
              </a:spcAft>
              <a:buFont typeface="Arial"/>
              <a:buChar char="•"/>
            </a:pPr>
            <a:r>
              <a:rPr lang="en-US" sz="2800" dirty="0"/>
              <a:t> Latent needs analysis;</a:t>
            </a:r>
            <a:endParaRPr lang="en-GB" sz="2800" dirty="0"/>
          </a:p>
          <a:p>
            <a:pPr lvl="0">
              <a:spcAft>
                <a:spcPts val="1200"/>
              </a:spcAft>
              <a:buFont typeface="Arial"/>
              <a:buChar char="•"/>
            </a:pPr>
            <a:r>
              <a:rPr lang="en-US" sz="2800" dirty="0"/>
              <a:t> Lead-users;</a:t>
            </a:r>
            <a:endParaRPr lang="en-GB" sz="2800" dirty="0"/>
          </a:p>
          <a:p>
            <a:pPr lvl="0">
              <a:spcAft>
                <a:spcPts val="1200"/>
              </a:spcAft>
              <a:buFont typeface="Arial"/>
              <a:buChar char="•"/>
            </a:pPr>
            <a:r>
              <a:rPr lang="en-US" sz="2800" dirty="0"/>
              <a:t> Customer-developers; </a:t>
            </a:r>
            <a:endParaRPr lang="en-GB" sz="2800" dirty="0"/>
          </a:p>
          <a:p>
            <a:pPr lvl="0">
              <a:spcAft>
                <a:spcPts val="1200"/>
              </a:spcAft>
              <a:buFont typeface="Arial"/>
              <a:buChar char="•"/>
            </a:pPr>
            <a:r>
              <a:rPr lang="en-US" sz="2800" dirty="0"/>
              <a:t> Competitive analysis;</a:t>
            </a:r>
            <a:endParaRPr lang="en-GB" sz="2800" dirty="0"/>
          </a:p>
          <a:p>
            <a:pPr lvl="0">
              <a:spcAft>
                <a:spcPts val="1200"/>
              </a:spcAft>
              <a:buFont typeface="Arial"/>
              <a:buChar char="•"/>
            </a:pPr>
            <a:r>
              <a:rPr lang="en-US" sz="2800" dirty="0"/>
              <a:t> Industry experts or consultants; </a:t>
            </a:r>
            <a:endParaRPr lang="en-GB" sz="2800" dirty="0"/>
          </a:p>
          <a:p>
            <a:pPr lvl="0">
              <a:spcAft>
                <a:spcPts val="1200"/>
              </a:spcAft>
              <a:buFont typeface="Arial"/>
              <a:buChar char="•"/>
            </a:pPr>
            <a:r>
              <a:rPr lang="en-US" sz="2800" dirty="0"/>
              <a:t> Extrapolating trends; </a:t>
            </a:r>
            <a:endParaRPr lang="en-GB" sz="2800" dirty="0"/>
          </a:p>
          <a:p>
            <a:pPr lvl="0">
              <a:spcAft>
                <a:spcPts val="1200"/>
              </a:spcAft>
              <a:buFont typeface="Arial"/>
              <a:buChar char="•"/>
            </a:pPr>
            <a:r>
              <a:rPr lang="en-US" sz="2800" dirty="0"/>
              <a:t> Building scenarios; </a:t>
            </a:r>
            <a:endParaRPr lang="en-GB" sz="2800" dirty="0"/>
          </a:p>
          <a:p>
            <a:pPr lvl="0">
              <a:spcAft>
                <a:spcPts val="1200"/>
              </a:spcAft>
              <a:buFont typeface="Arial"/>
              <a:buChar char="•"/>
            </a:pPr>
            <a:r>
              <a:rPr lang="en-US" sz="2800" dirty="0"/>
              <a:t> Market experimentation.</a:t>
            </a:r>
            <a:endParaRPr lang="en-GB" sz="2800" dirty="0"/>
          </a:p>
        </p:txBody>
      </p:sp>
    </p:spTree>
    <p:extLst>
      <p:ext uri="{BB962C8B-B14F-4D97-AF65-F5344CB8AC3E}">
        <p14:creationId xmlns:p14="http://schemas.microsoft.com/office/powerpoint/2010/main" val="67047452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8423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899592" y="260648"/>
            <a:ext cx="7367849" cy="917864"/>
          </a:xfrm>
          <a:prstGeom prst="rect">
            <a:avLst/>
          </a:prstGeom>
        </p:spPr>
        <p:txBody>
          <a:bodyPr vert="horz" lIns="91440" tIns="45720" rIns="91440" bIns="45720" rtlCol="0" anchor="ctr">
            <a:noAutofit/>
          </a:bodyPr>
          <a:lstStyle/>
          <a:p>
            <a:pPr lvl="0" algn="ctr"/>
            <a:r>
              <a:rPr lang="en-US" sz="3600" b="1" dirty="0">
                <a:solidFill>
                  <a:srgbClr val="008000"/>
                </a:solidFill>
                <a:latin typeface="+mj-lt"/>
                <a:ea typeface="+mj-ea"/>
                <a:cs typeface="+mj-cs"/>
              </a:rPr>
              <a:t>Tools to help project selection – financial methods</a:t>
            </a:r>
            <a:endParaRPr lang="en-GB" sz="3600" b="1" dirty="0">
              <a:solidFill>
                <a:srgbClr val="008000"/>
              </a:solidFill>
              <a:latin typeface="+mj-lt"/>
              <a:ea typeface="+mj-ea"/>
              <a:cs typeface="+mj-cs"/>
            </a:endParaRPr>
          </a:p>
        </p:txBody>
      </p:sp>
      <p:sp>
        <p:nvSpPr>
          <p:cNvPr id="9" name="Rectangle 8"/>
          <p:cNvSpPr/>
          <p:nvPr/>
        </p:nvSpPr>
        <p:spPr>
          <a:xfrm>
            <a:off x="467544" y="2060848"/>
            <a:ext cx="8478016" cy="2585323"/>
          </a:xfrm>
          <a:prstGeom prst="rect">
            <a:avLst/>
          </a:prstGeom>
        </p:spPr>
        <p:txBody>
          <a:bodyPr wrap="square">
            <a:spAutoFit/>
          </a:bodyPr>
          <a:lstStyle/>
          <a:p>
            <a:pPr lvl="0">
              <a:spcAft>
                <a:spcPts val="3000"/>
              </a:spcAft>
              <a:buFont typeface="Arial"/>
              <a:buChar char="•"/>
            </a:pPr>
            <a:r>
              <a:rPr lang="en-US" sz="2800" dirty="0"/>
              <a:t> Discounted cash flows, such as net present value/internal rate of return. </a:t>
            </a:r>
            <a:endParaRPr lang="en-GB" sz="2800" dirty="0"/>
          </a:p>
          <a:p>
            <a:pPr lvl="0">
              <a:spcAft>
                <a:spcPts val="3000"/>
              </a:spcAft>
              <a:buFont typeface="Arial"/>
              <a:buChar char="•"/>
            </a:pPr>
            <a:r>
              <a:rPr lang="en-US" sz="2800" dirty="0"/>
              <a:t> Cost-benefit analysis. </a:t>
            </a:r>
            <a:endParaRPr lang="en-GB" sz="2800" dirty="0"/>
          </a:p>
          <a:p>
            <a:pPr lvl="0">
              <a:spcAft>
                <a:spcPts val="3000"/>
              </a:spcAft>
              <a:buFont typeface="Arial"/>
              <a:buChar char="•"/>
            </a:pPr>
            <a:r>
              <a:rPr lang="en-US" sz="2800" dirty="0"/>
              <a:t> Simple calculations of the payback period. </a:t>
            </a:r>
            <a:endParaRPr lang="en-GB" sz="2800" dirty="0"/>
          </a:p>
        </p:txBody>
      </p:sp>
      <p:pic>
        <p:nvPicPr>
          <p:cNvPr id="22530" name="Picture 2" descr="Image result for tools"/>
          <p:cNvPicPr>
            <a:picLocks noChangeAspect="1" noChangeArrowheads="1"/>
          </p:cNvPicPr>
          <p:nvPr/>
        </p:nvPicPr>
        <p:blipFill>
          <a:blip r:embed="rId2" cstate="print"/>
          <a:srcRect/>
          <a:stretch>
            <a:fillRect/>
          </a:stretch>
        </p:blipFill>
        <p:spPr bwMode="auto">
          <a:xfrm>
            <a:off x="2771799" y="4797152"/>
            <a:ext cx="3763651" cy="1846592"/>
          </a:xfrm>
          <a:prstGeom prst="rect">
            <a:avLst/>
          </a:prstGeom>
          <a:noFill/>
        </p:spPr>
      </p:pic>
    </p:spTree>
    <p:extLst>
      <p:ext uri="{BB962C8B-B14F-4D97-AF65-F5344CB8AC3E}">
        <p14:creationId xmlns:p14="http://schemas.microsoft.com/office/powerpoint/2010/main" val="265587786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8423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115616" y="332656"/>
            <a:ext cx="7096595" cy="917864"/>
          </a:xfrm>
          <a:prstGeom prst="rect">
            <a:avLst/>
          </a:prstGeom>
        </p:spPr>
        <p:txBody>
          <a:bodyPr vert="horz" lIns="91440" tIns="45720" rIns="91440" bIns="45720" rtlCol="0" anchor="ctr">
            <a:noAutofit/>
          </a:bodyPr>
          <a:lstStyle/>
          <a:p>
            <a:pPr lvl="0" algn="ctr"/>
            <a:r>
              <a:rPr lang="en-US" sz="3600" b="1" dirty="0">
                <a:solidFill>
                  <a:srgbClr val="008000"/>
                </a:solidFill>
                <a:latin typeface="+mj-lt"/>
                <a:ea typeface="+mj-ea"/>
                <a:cs typeface="+mj-cs"/>
              </a:rPr>
              <a:t>Tools to help project selection – non-financial methods</a:t>
            </a:r>
            <a:endParaRPr lang="en-GB" sz="3600" b="1" dirty="0">
              <a:solidFill>
                <a:srgbClr val="008000"/>
              </a:solidFill>
              <a:latin typeface="+mj-lt"/>
              <a:ea typeface="+mj-ea"/>
              <a:cs typeface="+mj-cs"/>
            </a:endParaRPr>
          </a:p>
        </p:txBody>
      </p:sp>
      <p:sp>
        <p:nvSpPr>
          <p:cNvPr id="9" name="Rectangle 8"/>
          <p:cNvSpPr/>
          <p:nvPr/>
        </p:nvSpPr>
        <p:spPr>
          <a:xfrm>
            <a:off x="467544" y="1772816"/>
            <a:ext cx="8478016" cy="3477875"/>
          </a:xfrm>
          <a:prstGeom prst="rect">
            <a:avLst/>
          </a:prstGeom>
        </p:spPr>
        <p:txBody>
          <a:bodyPr wrap="square">
            <a:spAutoFit/>
          </a:bodyPr>
          <a:lstStyle/>
          <a:p>
            <a:pPr lvl="0">
              <a:spcAft>
                <a:spcPts val="2400"/>
              </a:spcAft>
              <a:buFont typeface="Arial"/>
              <a:buChar char="•"/>
            </a:pPr>
            <a:r>
              <a:rPr lang="en-US" sz="2800" dirty="0"/>
              <a:t> Ranking.</a:t>
            </a:r>
            <a:endParaRPr lang="en-GB" sz="2800" dirty="0"/>
          </a:p>
          <a:p>
            <a:pPr lvl="0">
              <a:spcAft>
                <a:spcPts val="2400"/>
              </a:spcAft>
              <a:buFont typeface="Arial"/>
              <a:buChar char="•"/>
            </a:pPr>
            <a:r>
              <a:rPr lang="en-US" sz="2800" dirty="0"/>
              <a:t> Profiles.</a:t>
            </a:r>
            <a:endParaRPr lang="en-GB" sz="2800" dirty="0"/>
          </a:p>
          <a:p>
            <a:pPr lvl="0">
              <a:spcAft>
                <a:spcPts val="2400"/>
              </a:spcAft>
              <a:buFont typeface="Arial"/>
              <a:buChar char="•"/>
            </a:pPr>
            <a:r>
              <a:rPr lang="en-US" sz="2800" dirty="0"/>
              <a:t> Simulated outcomes. </a:t>
            </a:r>
            <a:endParaRPr lang="en-GB" sz="2800" dirty="0"/>
          </a:p>
          <a:p>
            <a:pPr lvl="0">
              <a:spcAft>
                <a:spcPts val="2400"/>
              </a:spcAft>
              <a:buFont typeface="Arial"/>
              <a:buChar char="•"/>
            </a:pPr>
            <a:r>
              <a:rPr lang="en-US" sz="2800" dirty="0"/>
              <a:t> Strategic clusters. </a:t>
            </a:r>
            <a:endParaRPr lang="en-GB" sz="2800" dirty="0"/>
          </a:p>
          <a:p>
            <a:pPr>
              <a:spcAft>
                <a:spcPts val="2400"/>
              </a:spcAft>
              <a:buFont typeface="Arial"/>
              <a:buChar char="•"/>
            </a:pPr>
            <a:r>
              <a:rPr lang="en-US" sz="2800" dirty="0"/>
              <a:t> Interactive.</a:t>
            </a:r>
          </a:p>
        </p:txBody>
      </p:sp>
    </p:spTree>
    <p:extLst>
      <p:ext uri="{BB962C8B-B14F-4D97-AF65-F5344CB8AC3E}">
        <p14:creationId xmlns:p14="http://schemas.microsoft.com/office/powerpoint/2010/main" val="386050435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8423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458167" y="280890"/>
            <a:ext cx="7096595" cy="917864"/>
          </a:xfrm>
          <a:prstGeom prst="rect">
            <a:avLst/>
          </a:prstGeom>
        </p:spPr>
        <p:txBody>
          <a:bodyPr vert="horz" lIns="91440" tIns="45720" rIns="91440" bIns="45720" rtlCol="0" anchor="ctr">
            <a:noAutofit/>
          </a:bodyPr>
          <a:lstStyle/>
          <a:p>
            <a:pPr lvl="0" algn="ctr"/>
            <a:r>
              <a:rPr lang="en-US" sz="3600" b="1" dirty="0">
                <a:solidFill>
                  <a:srgbClr val="008000"/>
                </a:solidFill>
                <a:latin typeface="+mj-lt"/>
                <a:ea typeface="+mj-ea"/>
                <a:cs typeface="+mj-cs"/>
              </a:rPr>
              <a:t>Tools to help product development</a:t>
            </a:r>
            <a:endParaRPr lang="en-GB" sz="3600" b="1" dirty="0">
              <a:solidFill>
                <a:srgbClr val="008000"/>
              </a:solidFill>
              <a:latin typeface="+mj-lt"/>
              <a:ea typeface="+mj-ea"/>
              <a:cs typeface="+mj-cs"/>
            </a:endParaRPr>
          </a:p>
        </p:txBody>
      </p:sp>
      <p:sp>
        <p:nvSpPr>
          <p:cNvPr id="9" name="Rectangle 8"/>
          <p:cNvSpPr/>
          <p:nvPr/>
        </p:nvSpPr>
        <p:spPr>
          <a:xfrm>
            <a:off x="458167" y="1486293"/>
            <a:ext cx="8478016" cy="4955203"/>
          </a:xfrm>
          <a:prstGeom prst="rect">
            <a:avLst/>
          </a:prstGeom>
        </p:spPr>
        <p:txBody>
          <a:bodyPr wrap="square">
            <a:spAutoFit/>
          </a:bodyPr>
          <a:lstStyle/>
          <a:p>
            <a:pPr lvl="0">
              <a:spcAft>
                <a:spcPts val="2400"/>
              </a:spcAft>
              <a:buFont typeface="Arial"/>
              <a:buChar char="•"/>
            </a:pPr>
            <a:r>
              <a:rPr lang="en-US" sz="2800" dirty="0"/>
              <a:t> Design for Manufacture (DFM).</a:t>
            </a:r>
            <a:endParaRPr lang="en-GB" sz="2800" dirty="0"/>
          </a:p>
          <a:p>
            <a:pPr lvl="0">
              <a:spcAft>
                <a:spcPts val="2400"/>
              </a:spcAft>
              <a:buFont typeface="Arial"/>
              <a:buChar char="•"/>
            </a:pPr>
            <a:r>
              <a:rPr lang="en-US" sz="2800" dirty="0"/>
              <a:t> Rapid Prototyping.</a:t>
            </a:r>
            <a:endParaRPr lang="en-GB" sz="2800" dirty="0"/>
          </a:p>
          <a:p>
            <a:pPr lvl="0">
              <a:spcAft>
                <a:spcPts val="2400"/>
              </a:spcAft>
              <a:buFont typeface="Arial"/>
              <a:buChar char="•"/>
            </a:pPr>
            <a:r>
              <a:rPr lang="en-US" sz="2800" dirty="0"/>
              <a:t> Computer-aided Techniques (CAD/CAM).</a:t>
            </a:r>
            <a:endParaRPr lang="en-GB" sz="2800" dirty="0"/>
          </a:p>
          <a:p>
            <a:pPr lvl="0">
              <a:spcAft>
                <a:spcPts val="2400"/>
              </a:spcAft>
              <a:buFont typeface="Arial"/>
              <a:buChar char="•"/>
            </a:pPr>
            <a:r>
              <a:rPr lang="en-US" sz="2800" dirty="0"/>
              <a:t> Quality Function Deployment (QFD). </a:t>
            </a:r>
          </a:p>
          <a:p>
            <a:pPr lvl="0">
              <a:spcAft>
                <a:spcPts val="2400"/>
              </a:spcAft>
              <a:buFont typeface="Arial"/>
              <a:buChar char="•"/>
            </a:pPr>
            <a:r>
              <a:rPr lang="en-US" sz="2800" dirty="0">
                <a:hlinkClick r:id="rId2"/>
              </a:rPr>
              <a:t>For more on these see the toolbox on the website:</a:t>
            </a:r>
            <a:endParaRPr lang="en-US" sz="2800" dirty="0"/>
          </a:p>
          <a:p>
            <a:pPr lvl="0">
              <a:spcAft>
                <a:spcPts val="2400"/>
              </a:spcAft>
              <a:buFont typeface="Arial"/>
              <a:buChar char="•"/>
            </a:pPr>
            <a:endParaRPr lang="en-US" sz="2800" dirty="0"/>
          </a:p>
          <a:p>
            <a:pPr lvl="0">
              <a:spcAft>
                <a:spcPts val="2400"/>
              </a:spcAft>
            </a:pPr>
            <a:endParaRPr lang="en-US" sz="2800" dirty="0">
              <a:solidFill>
                <a:srgbClr val="FF0000"/>
              </a:solidFill>
            </a:endParaRPr>
          </a:p>
        </p:txBody>
      </p:sp>
    </p:spTree>
    <p:extLst>
      <p:ext uri="{BB962C8B-B14F-4D97-AF65-F5344CB8AC3E}">
        <p14:creationId xmlns:p14="http://schemas.microsoft.com/office/powerpoint/2010/main" val="106796331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20706"/>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539552" y="260648"/>
            <a:ext cx="7552464" cy="917864"/>
          </a:xfrm>
          <a:prstGeom prst="rect">
            <a:avLst/>
          </a:prstGeom>
        </p:spPr>
        <p:txBody>
          <a:bodyPr vert="horz" lIns="91440" tIns="45720" rIns="91440" bIns="45720" rtlCol="0" anchor="ctr">
            <a:noAutofit/>
          </a:bodyPr>
          <a:lstStyle/>
          <a:p>
            <a:pPr lvl="0" algn="ctr">
              <a:spcBef>
                <a:spcPct val="0"/>
              </a:spcBef>
              <a:defRPr/>
            </a:pPr>
            <a:r>
              <a:rPr lang="en-US" sz="3600" b="1" dirty="0">
                <a:solidFill>
                  <a:srgbClr val="008000"/>
                </a:solidFill>
                <a:latin typeface="+mj-lt"/>
                <a:ea typeface="+mj-ea"/>
                <a:cs typeface="+mj-cs"/>
              </a:rPr>
              <a:t>Tool: Risk assessment matrix</a:t>
            </a:r>
            <a:endParaRPr lang="en-GB" sz="3600" b="1" dirty="0">
              <a:solidFill>
                <a:srgbClr val="008000"/>
              </a:solidFill>
              <a:latin typeface="+mj-lt"/>
              <a:ea typeface="+mj-ea"/>
              <a:cs typeface="+mj-cs"/>
            </a:endParaRPr>
          </a:p>
        </p:txBody>
      </p:sp>
      <p:sp>
        <p:nvSpPr>
          <p:cNvPr id="9" name="Rectangle 8"/>
          <p:cNvSpPr/>
          <p:nvPr/>
        </p:nvSpPr>
        <p:spPr>
          <a:xfrm>
            <a:off x="683568" y="1700808"/>
            <a:ext cx="8118588" cy="2246769"/>
          </a:xfrm>
          <a:prstGeom prst="rect">
            <a:avLst/>
          </a:prstGeom>
        </p:spPr>
        <p:txBody>
          <a:bodyPr wrap="square">
            <a:spAutoFit/>
          </a:bodyPr>
          <a:lstStyle/>
          <a:p>
            <a:r>
              <a:rPr lang="en-GB" sz="2800" dirty="0">
                <a:hlinkClick r:id="rId2"/>
              </a:rPr>
              <a:t>On the website </a:t>
            </a:r>
            <a:r>
              <a:rPr lang="en-GB" sz="2800" dirty="0"/>
              <a:t>there is a description of this tool to help assess complexity issues</a:t>
            </a:r>
          </a:p>
          <a:p>
            <a:endParaRPr lang="en-GB" sz="2800" dirty="0"/>
          </a:p>
          <a:p>
            <a:endParaRPr lang="en-GB" sz="2800" dirty="0"/>
          </a:p>
          <a:p>
            <a:endParaRPr lang="en-GB" sz="2800" dirty="0"/>
          </a:p>
        </p:txBody>
      </p:sp>
      <p:pic>
        <p:nvPicPr>
          <p:cNvPr id="31746" name="Picture 2" descr="Image result for risk"/>
          <p:cNvPicPr>
            <a:picLocks noChangeAspect="1" noChangeArrowheads="1"/>
          </p:cNvPicPr>
          <p:nvPr/>
        </p:nvPicPr>
        <p:blipFill>
          <a:blip r:embed="rId3" cstate="print"/>
          <a:srcRect/>
          <a:stretch>
            <a:fillRect/>
          </a:stretch>
        </p:blipFill>
        <p:spPr bwMode="auto">
          <a:xfrm>
            <a:off x="3059832" y="4049688"/>
            <a:ext cx="2808312" cy="2808312"/>
          </a:xfrm>
          <a:prstGeom prst="rect">
            <a:avLst/>
          </a:prstGeom>
          <a:noFill/>
        </p:spPr>
      </p:pic>
    </p:spTree>
    <p:extLst>
      <p:ext uri="{BB962C8B-B14F-4D97-AF65-F5344CB8AC3E}">
        <p14:creationId xmlns:p14="http://schemas.microsoft.com/office/powerpoint/2010/main" val="461743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043608" y="332656"/>
            <a:ext cx="6814948"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Accelerating diffusion</a:t>
            </a:r>
            <a:endParaRPr lang="en-GB" sz="3600" b="1" dirty="0">
              <a:solidFill>
                <a:srgbClr val="008000"/>
              </a:solidFill>
              <a:latin typeface="+mj-lt"/>
              <a:ea typeface="+mj-ea"/>
              <a:cs typeface="+mj-cs"/>
            </a:endParaRPr>
          </a:p>
        </p:txBody>
      </p:sp>
      <p:sp>
        <p:nvSpPr>
          <p:cNvPr id="12" name="Rectangle 11"/>
          <p:cNvSpPr/>
          <p:nvPr/>
        </p:nvSpPr>
        <p:spPr>
          <a:xfrm>
            <a:off x="604711" y="1584185"/>
            <a:ext cx="8331472" cy="4401205"/>
          </a:xfrm>
          <a:prstGeom prst="rect">
            <a:avLst/>
          </a:prstGeom>
        </p:spPr>
        <p:txBody>
          <a:bodyPr wrap="square">
            <a:spAutoFit/>
          </a:bodyPr>
          <a:lstStyle/>
          <a:p>
            <a:r>
              <a:rPr lang="en-GB" sz="2800" dirty="0"/>
              <a:t>On the website there is a tool describing the use of models to help think about </a:t>
            </a:r>
            <a:r>
              <a:rPr lang="en-GB" sz="2800" dirty="0">
                <a:hlinkClick r:id="rId2"/>
              </a:rPr>
              <a:t>accelerating diffusion.</a:t>
            </a:r>
            <a:endParaRPr lang="en-GB" sz="2800" dirty="0"/>
          </a:p>
          <a:p>
            <a:endParaRPr lang="en-GB" sz="2800" dirty="0"/>
          </a:p>
          <a:p>
            <a:endParaRPr lang="en-GB" sz="2800" dirty="0"/>
          </a:p>
          <a:p>
            <a:endParaRPr lang="en-GB" sz="2800" dirty="0">
              <a:hlinkClick r:id="rId3"/>
            </a:endParaRPr>
          </a:p>
          <a:p>
            <a:r>
              <a:rPr lang="en-GB" sz="2800" dirty="0">
                <a:hlinkClick r:id="rId3"/>
              </a:rPr>
              <a:t>There is also an activity linked to this in the activities section</a:t>
            </a:r>
            <a:endParaRPr lang="en-GB" sz="2800" dirty="0"/>
          </a:p>
          <a:p>
            <a:endParaRPr lang="en-GB" sz="2800" b="1" dirty="0"/>
          </a:p>
          <a:p>
            <a:endParaRPr lang="en-GB" sz="2800" dirty="0"/>
          </a:p>
          <a:p>
            <a:r>
              <a:rPr lang="en-US" sz="2800" dirty="0"/>
              <a:t> </a:t>
            </a:r>
          </a:p>
        </p:txBody>
      </p:sp>
    </p:spTree>
    <p:extLst>
      <p:ext uri="{BB962C8B-B14F-4D97-AF65-F5344CB8AC3E}">
        <p14:creationId xmlns:p14="http://schemas.microsoft.com/office/powerpoint/2010/main" val="152435568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62F87A-B1B7-FD4A-A39A-50818E83FC0B}"/>
              </a:ext>
            </a:extLst>
          </p:cNvPr>
          <p:cNvSpPr>
            <a:spLocks noGrp="1"/>
          </p:cNvSpPr>
          <p:nvPr>
            <p:ph type="title"/>
          </p:nvPr>
        </p:nvSpPr>
        <p:spPr>
          <a:xfrm>
            <a:off x="515125" y="1153572"/>
            <a:ext cx="2400300" cy="4461163"/>
          </a:xfrm>
        </p:spPr>
        <p:txBody>
          <a:bodyPr>
            <a:normAutofit/>
          </a:bodyPr>
          <a:lstStyle/>
          <a:p>
            <a:r>
              <a:rPr lang="en-US" sz="3100">
                <a:solidFill>
                  <a:srgbClr val="FFFFFF"/>
                </a:solidFill>
              </a:rPr>
              <a:t>Assessments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300B727-214E-D140-B0D9-8DF9906E14FF}"/>
              </a:ext>
            </a:extLst>
          </p:cNvPr>
          <p:cNvSpPr>
            <a:spLocks noGrp="1"/>
          </p:cNvSpPr>
          <p:nvPr>
            <p:ph idx="1"/>
          </p:nvPr>
        </p:nvSpPr>
        <p:spPr>
          <a:xfrm>
            <a:off x="3335481" y="591344"/>
            <a:ext cx="5179868" cy="5585619"/>
          </a:xfrm>
        </p:spPr>
        <p:txBody>
          <a:bodyPr anchor="ctr">
            <a:normAutofit/>
          </a:bodyPr>
          <a:lstStyle/>
          <a:p>
            <a:r>
              <a:rPr lang="en-US" dirty="0"/>
              <a:t>The following slides offer some example assessment questions and discussion themes for individual or group activity</a:t>
            </a:r>
          </a:p>
          <a:p>
            <a:endParaRPr lang="en-US" dirty="0"/>
          </a:p>
        </p:txBody>
      </p:sp>
    </p:spTree>
    <p:extLst>
      <p:ext uri="{BB962C8B-B14F-4D97-AF65-F5344CB8AC3E}">
        <p14:creationId xmlns:p14="http://schemas.microsoft.com/office/powerpoint/2010/main" val="1890274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433555"/>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424040" y="204072"/>
            <a:ext cx="6442297" cy="971912"/>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Assessment questions</a:t>
            </a:r>
            <a:endParaRPr lang="en-GB" sz="3600" b="1" dirty="0">
              <a:solidFill>
                <a:srgbClr val="008000"/>
              </a:solidFill>
              <a:latin typeface="+mj-lt"/>
              <a:ea typeface="+mj-ea"/>
              <a:cs typeface="+mj-cs"/>
            </a:endParaRPr>
          </a:p>
        </p:txBody>
      </p:sp>
      <p:sp>
        <p:nvSpPr>
          <p:cNvPr id="8" name="Rectangle 7"/>
          <p:cNvSpPr/>
          <p:nvPr/>
        </p:nvSpPr>
        <p:spPr>
          <a:xfrm>
            <a:off x="458167" y="1714500"/>
            <a:ext cx="8478016" cy="4832092"/>
          </a:xfrm>
          <a:prstGeom prst="rect">
            <a:avLst/>
          </a:prstGeom>
        </p:spPr>
        <p:txBody>
          <a:bodyPr wrap="square">
            <a:spAutoFit/>
          </a:bodyPr>
          <a:lstStyle/>
          <a:p>
            <a:r>
              <a:rPr lang="en-US" sz="2800" dirty="0"/>
              <a:t>1.	What are the key differences between managing operations in services and manufacturing? Think of a business, and identify the relative contributions to value added by the service and physical product components.</a:t>
            </a:r>
            <a:endParaRPr lang="en-GB" sz="2800" dirty="0"/>
          </a:p>
          <a:p>
            <a:r>
              <a:rPr lang="en-US" sz="2800" dirty="0"/>
              <a:t> </a:t>
            </a:r>
            <a:endParaRPr lang="en-GB" sz="2800" dirty="0"/>
          </a:p>
          <a:p>
            <a:r>
              <a:rPr lang="en-US" sz="2800" dirty="0"/>
              <a:t>2.	To what extent do you think that manufacturing and services are converging? Try to think of an example of a manufacturing operation that increasingly features a service. Conversely, identify a service operation that is becoming more product-based.</a:t>
            </a:r>
            <a:endParaRPr lang="en-GB" sz="2800" dirty="0"/>
          </a:p>
          <a:p>
            <a:r>
              <a:rPr lang="en-US" sz="2800" dirty="0"/>
              <a:t> </a:t>
            </a:r>
            <a:endParaRPr lang="en-GB" sz="2800" dirty="0"/>
          </a:p>
        </p:txBody>
      </p:sp>
    </p:spTree>
    <p:extLst>
      <p:ext uri="{BB962C8B-B14F-4D97-AF65-F5344CB8AC3E}">
        <p14:creationId xmlns:p14="http://schemas.microsoft.com/office/powerpoint/2010/main" val="128921947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433555"/>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424040" y="204072"/>
            <a:ext cx="6442297" cy="971912"/>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Assessment questions</a:t>
            </a:r>
            <a:endParaRPr lang="en-GB" sz="3600" b="1" dirty="0">
              <a:solidFill>
                <a:srgbClr val="008000"/>
              </a:solidFill>
              <a:latin typeface="+mj-lt"/>
              <a:ea typeface="+mj-ea"/>
              <a:cs typeface="+mj-cs"/>
            </a:endParaRPr>
          </a:p>
        </p:txBody>
      </p:sp>
      <p:sp>
        <p:nvSpPr>
          <p:cNvPr id="8" name="Rectangle 7"/>
          <p:cNvSpPr/>
          <p:nvPr/>
        </p:nvSpPr>
        <p:spPr>
          <a:xfrm>
            <a:off x="458167" y="1714500"/>
            <a:ext cx="8478016" cy="4401205"/>
          </a:xfrm>
          <a:prstGeom prst="rect">
            <a:avLst/>
          </a:prstGeom>
        </p:spPr>
        <p:txBody>
          <a:bodyPr wrap="square">
            <a:spAutoFit/>
          </a:bodyPr>
          <a:lstStyle/>
          <a:p>
            <a:r>
              <a:rPr lang="en-US" sz="2800" dirty="0"/>
              <a:t>3.	In what ways do think the development of new products differs from the development of new services?</a:t>
            </a:r>
            <a:endParaRPr lang="en-GB" sz="2800" dirty="0"/>
          </a:p>
          <a:p>
            <a:r>
              <a:rPr lang="en-GB" sz="2800" dirty="0"/>
              <a:t> </a:t>
            </a:r>
          </a:p>
          <a:p>
            <a:r>
              <a:rPr lang="en-GB" sz="2800" dirty="0"/>
              <a:t>4.	Identify the relative importance of product/service attributes and organizational factors in successful development.</a:t>
            </a:r>
          </a:p>
          <a:p>
            <a:r>
              <a:rPr lang="en-GB" sz="2800" dirty="0"/>
              <a:t> </a:t>
            </a:r>
          </a:p>
          <a:p>
            <a:r>
              <a:rPr lang="en-GB" sz="2800" dirty="0"/>
              <a:t>5.	In practice, how many stages and gates do you think a process for new product development should have?</a:t>
            </a:r>
          </a:p>
          <a:p>
            <a:r>
              <a:rPr lang="en-US" sz="2800" dirty="0"/>
              <a:t> </a:t>
            </a:r>
            <a:endParaRPr lang="en-GB" sz="2800" dirty="0"/>
          </a:p>
        </p:txBody>
      </p:sp>
    </p:spTree>
    <p:extLst>
      <p:ext uri="{BB962C8B-B14F-4D97-AF65-F5344CB8AC3E}">
        <p14:creationId xmlns:p14="http://schemas.microsoft.com/office/powerpoint/2010/main" val="77282773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433555"/>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424040" y="204072"/>
            <a:ext cx="6442297" cy="971912"/>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Assessment questions</a:t>
            </a:r>
            <a:endParaRPr lang="en-GB" sz="3600" b="1" dirty="0">
              <a:solidFill>
                <a:srgbClr val="008000"/>
              </a:solidFill>
              <a:latin typeface="+mj-lt"/>
              <a:ea typeface="+mj-ea"/>
              <a:cs typeface="+mj-cs"/>
            </a:endParaRPr>
          </a:p>
        </p:txBody>
      </p:sp>
      <p:sp>
        <p:nvSpPr>
          <p:cNvPr id="8" name="Rectangle 7"/>
          <p:cNvSpPr/>
          <p:nvPr/>
        </p:nvSpPr>
        <p:spPr>
          <a:xfrm>
            <a:off x="458167" y="1714500"/>
            <a:ext cx="8478016" cy="4832093"/>
          </a:xfrm>
          <a:prstGeom prst="rect">
            <a:avLst/>
          </a:prstGeom>
        </p:spPr>
        <p:txBody>
          <a:bodyPr wrap="square">
            <a:spAutoFit/>
          </a:bodyPr>
          <a:lstStyle/>
          <a:p>
            <a:r>
              <a:rPr lang="en-US" sz="2800" dirty="0"/>
              <a:t>6.	What is the difference between the ‘stage-gate’ and 	‘development funnel’ models of the new product 	development process?</a:t>
            </a:r>
            <a:endParaRPr lang="en-GB" sz="2800" dirty="0"/>
          </a:p>
          <a:p>
            <a:r>
              <a:rPr lang="en-GB" sz="2800" dirty="0"/>
              <a:t> </a:t>
            </a:r>
          </a:p>
          <a:p>
            <a:pPr marL="514350" indent="-514350">
              <a:buAutoNum type="arabicPeriod" startAt="7"/>
            </a:pPr>
            <a:r>
              <a:rPr lang="en-US" sz="2800" dirty="0"/>
              <a:t>What effect does the novelty of the new product or service have on the development process? </a:t>
            </a:r>
          </a:p>
          <a:p>
            <a:endParaRPr lang="en-US" sz="2800" dirty="0"/>
          </a:p>
          <a:p>
            <a:pPr marL="514350" indent="-514350"/>
            <a:r>
              <a:rPr lang="en-US" sz="2800" dirty="0"/>
              <a:t>8.	What factors influence the adoption of innovations, and which of these can be managed? </a:t>
            </a:r>
          </a:p>
          <a:p>
            <a:pPr marL="514350" indent="-514350">
              <a:buAutoNum type="arabicPeriod" startAt="7"/>
            </a:pPr>
            <a:endParaRPr lang="en-GB" sz="2800" dirty="0"/>
          </a:p>
          <a:p>
            <a:r>
              <a:rPr lang="en-US" sz="2800" dirty="0"/>
              <a:t> </a:t>
            </a:r>
            <a:endParaRPr lang="en-GB" sz="2800" dirty="0"/>
          </a:p>
        </p:txBody>
      </p:sp>
    </p:spTree>
    <p:extLst>
      <p:ext uri="{BB962C8B-B14F-4D97-AF65-F5344CB8AC3E}">
        <p14:creationId xmlns:p14="http://schemas.microsoft.com/office/powerpoint/2010/main" val="69595284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US" dirty="0"/>
              <a:t>Which components of a business plan are most important to attract resources? </a:t>
            </a:r>
          </a:p>
          <a:p>
            <a:r>
              <a:rPr lang="en-US" dirty="0"/>
              <a:t>How can forecasting be used to identify and reduce risk and uncertainty? </a:t>
            </a:r>
          </a:p>
          <a:p>
            <a:r>
              <a:rPr lang="en-US" dirty="0"/>
              <a:t>What is meant by the ‘fuzzy front end’ and how can it be better managed? </a:t>
            </a:r>
          </a:p>
          <a:p>
            <a:r>
              <a:rPr lang="en-US" dirty="0"/>
              <a:t>What is the difference between risk and uncertainty? </a:t>
            </a:r>
          </a:p>
          <a:p>
            <a:r>
              <a:rPr lang="en-US" dirty="0"/>
              <a:t>What are the relative advantages and disadvantages of using quantitative and qualitative methods for assessing projects? </a:t>
            </a:r>
          </a:p>
          <a:p>
            <a:endParaRPr lang="en-US" dirty="0"/>
          </a:p>
        </p:txBody>
      </p:sp>
      <p:cxnSp>
        <p:nvCxnSpPr>
          <p:cNvPr id="4" name="Straight Connector 3"/>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7" name="Title 1"/>
          <p:cNvSpPr>
            <a:spLocks noGrp="1"/>
          </p:cNvSpPr>
          <p:nvPr>
            <p:ph type="title"/>
          </p:nvPr>
        </p:nvSpPr>
        <p:spPr>
          <a:xfrm>
            <a:off x="457200" y="274638"/>
            <a:ext cx="8229600" cy="1143000"/>
          </a:xfrm>
        </p:spPr>
        <p:txBody>
          <a:bodyPr>
            <a:noAutofit/>
          </a:bodyPr>
          <a:lstStyle/>
          <a:p>
            <a:pPr lvl="0">
              <a:defRPr/>
            </a:pPr>
            <a:r>
              <a:rPr lang="en-GB" sz="3600" b="1" dirty="0">
                <a:solidFill>
                  <a:srgbClr val="008000"/>
                </a:solidFill>
              </a:rPr>
              <a:t>Discussion questions</a:t>
            </a:r>
          </a:p>
        </p:txBody>
      </p:sp>
    </p:spTree>
    <p:extLst>
      <p:ext uri="{BB962C8B-B14F-4D97-AF65-F5344CB8AC3E}">
        <p14:creationId xmlns:p14="http://schemas.microsoft.com/office/powerpoint/2010/main" val="41997012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TotalTime>
  <Words>3635</Words>
  <Application>Microsoft Macintosh PowerPoint</Application>
  <PresentationFormat>On-screen Show (4:3)</PresentationFormat>
  <Paragraphs>402</Paragraphs>
  <Slides>79</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79</vt:i4>
      </vt:variant>
    </vt:vector>
  </HeadingPairs>
  <TitlesOfParts>
    <vt:vector size="82" baseType="lpstr">
      <vt:lpstr>Arial</vt:lpstr>
      <vt:lpstr>Calibri</vt:lpstr>
      <vt:lpstr>Office Theme</vt:lpstr>
      <vt:lpstr>Teaching Resources and Instructors’ Guidelines</vt:lpstr>
      <vt:lpstr>Chapter 10: Creating new products and services</vt:lpstr>
      <vt:lpstr>Learning Objectives</vt:lpstr>
      <vt:lpstr>Core themes and material from the book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Summary</vt:lpstr>
      <vt:lpstr>Summary</vt:lpstr>
      <vt:lpstr>Summary</vt:lpstr>
      <vt:lpstr>PowerPoint Presentation</vt:lpstr>
      <vt:lpstr>PowerPoint Presentation</vt:lpstr>
      <vt:lpstr>PowerPoint Presentation</vt:lpstr>
      <vt:lpstr>PowerPoint Presentation</vt:lpstr>
      <vt:lpstr>PowerPoint Presentation</vt:lpstr>
      <vt:lpstr>Videos</vt:lpstr>
      <vt:lpstr>PowerPoint Presentation</vt:lpstr>
      <vt:lpstr>PowerPoint Presentation</vt:lpstr>
      <vt:lpstr>PowerPoint Presentation</vt:lpstr>
      <vt:lpstr>PowerPoint Presentation</vt:lpstr>
      <vt:lpstr>PowerPoint Presentation</vt:lpstr>
      <vt:lpstr>PowerPoint Presentation</vt:lpstr>
      <vt:lpstr>Blogs and podcasts</vt:lpstr>
      <vt:lpstr>Activities</vt:lpstr>
      <vt:lpstr>PowerPoint Presentation</vt:lpstr>
      <vt:lpstr>PowerPoint Presentation</vt:lpstr>
      <vt:lpstr>PowerPoint Presentation</vt:lpstr>
      <vt:lpstr>Cases </vt:lpstr>
      <vt:lpstr>PowerPoint Presentation</vt:lpstr>
      <vt:lpstr>PowerPoint Presentation</vt:lpstr>
      <vt:lpstr>PowerPoint Presentation</vt:lpstr>
      <vt:lpstr>PowerPoint Presentation</vt:lpstr>
      <vt:lpstr>PowerPoint Presentation</vt:lpstr>
      <vt:lpstr>Tools </vt:lpstr>
      <vt:lpstr>PowerPoint Presentation</vt:lpstr>
      <vt:lpstr>PowerPoint Presentation</vt:lpstr>
      <vt:lpstr>PowerPoint Presentation</vt:lpstr>
      <vt:lpstr>PowerPoint Presentation</vt:lpstr>
      <vt:lpstr>PowerPoint Presentation</vt:lpstr>
      <vt:lpstr>PowerPoint Presentation</vt:lpstr>
      <vt:lpstr>Assessments</vt:lpstr>
      <vt:lpstr>PowerPoint Presentation</vt:lpstr>
      <vt:lpstr>PowerPoint Presentation</vt:lpstr>
      <vt:lpstr>PowerPoint Presentation</vt:lpstr>
      <vt:lpstr>Discussion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Teaching Resources and Instructors’ Guidelines</dc:title>
  <dc:creator>john bessant</dc:creator>
  <cp:lastModifiedBy>john bessant</cp:lastModifiedBy>
  <cp:revision>9</cp:revision>
  <dcterms:created xsi:type="dcterms:W3CDTF">2020-11-14T19:11:00Z</dcterms:created>
  <dcterms:modified xsi:type="dcterms:W3CDTF">2024-11-03T18:25:49Z</dcterms:modified>
</cp:coreProperties>
</file>