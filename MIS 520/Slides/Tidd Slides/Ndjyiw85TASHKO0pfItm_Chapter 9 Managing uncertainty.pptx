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7" r:id="rId2"/>
    <p:sldId id="258" r:id="rId3"/>
    <p:sldId id="259" r:id="rId4"/>
    <p:sldId id="318" r:id="rId5"/>
    <p:sldId id="260" r:id="rId6"/>
    <p:sldId id="261" r:id="rId7"/>
    <p:sldId id="262" r:id="rId8"/>
    <p:sldId id="263" r:id="rId9"/>
    <p:sldId id="264" r:id="rId10"/>
    <p:sldId id="265" r:id="rId11"/>
    <p:sldId id="266" r:id="rId12"/>
    <p:sldId id="267" r:id="rId13"/>
    <p:sldId id="268" r:id="rId14"/>
    <p:sldId id="269" r:id="rId15"/>
    <p:sldId id="271" r:id="rId16"/>
    <p:sldId id="304" r:id="rId17"/>
    <p:sldId id="305" r:id="rId18"/>
    <p:sldId id="306" r:id="rId19"/>
    <p:sldId id="307" r:id="rId20"/>
    <p:sldId id="308" r:id="rId21"/>
    <p:sldId id="275" r:id="rId22"/>
    <p:sldId id="276" r:id="rId23"/>
    <p:sldId id="279" r:id="rId24"/>
    <p:sldId id="280" r:id="rId25"/>
    <p:sldId id="283" r:id="rId26"/>
    <p:sldId id="285" r:id="rId27"/>
    <p:sldId id="286" r:id="rId28"/>
    <p:sldId id="287" r:id="rId29"/>
    <p:sldId id="288" r:id="rId30"/>
    <p:sldId id="289" r:id="rId31"/>
    <p:sldId id="293" r:id="rId32"/>
    <p:sldId id="294" r:id="rId33"/>
    <p:sldId id="295" r:id="rId34"/>
    <p:sldId id="297" r:id="rId35"/>
    <p:sldId id="298" r:id="rId36"/>
    <p:sldId id="299" r:id="rId37"/>
    <p:sldId id="326" r:id="rId38"/>
    <p:sldId id="327" r:id="rId39"/>
    <p:sldId id="345" r:id="rId40"/>
    <p:sldId id="344" r:id="rId41"/>
    <p:sldId id="310" r:id="rId42"/>
    <p:sldId id="282" r:id="rId43"/>
    <p:sldId id="274" r:id="rId44"/>
    <p:sldId id="302" r:id="rId45"/>
    <p:sldId id="353" r:id="rId46"/>
    <p:sldId id="292" r:id="rId47"/>
    <p:sldId id="394" r:id="rId48"/>
    <p:sldId id="365" r:id="rId49"/>
    <p:sldId id="395" r:id="rId50"/>
    <p:sldId id="396"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752"/>
  </p:normalViewPr>
  <p:slideViewPr>
    <p:cSldViewPr>
      <p:cViewPr varScale="1">
        <p:scale>
          <a:sx n="116" d="100"/>
          <a:sy n="116" d="100"/>
        </p:scale>
        <p:origin x="1760" y="184"/>
      </p:cViewPr>
      <p:guideLst>
        <p:guide orient="horz" pos="2160"/>
        <p:guide pos="2880"/>
      </p:guideLst>
    </p:cSldViewPr>
  </p:slideViewPr>
  <p:notesTextViewPr>
    <p:cViewPr>
      <p:scale>
        <a:sx n="100" d="100"/>
        <a:sy n="100" d="100"/>
      </p:scale>
      <p:origin x="0" y="0"/>
    </p:cViewPr>
  </p:notesTextViewPr>
  <p:sorterViewPr>
    <p:cViewPr>
      <p:scale>
        <a:sx n="1" d="1"/>
        <a:sy n="1" d="1"/>
      </p:scale>
      <p:origin x="0" y="-201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235009-2662-254D-879C-678973A7ED8C}" type="datetimeFigureOut">
              <a:rPr lang="en-US" smtClean="0"/>
              <a:t>11/3/24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D90D07-4E4C-E943-A5C3-6C0E77FFE47E}" type="slidenum">
              <a:rPr lang="en-US" smtClean="0"/>
              <a:t>‹#›</a:t>
            </a:fld>
            <a:endParaRPr lang="en-US"/>
          </a:p>
        </p:txBody>
      </p:sp>
    </p:spTree>
    <p:extLst>
      <p:ext uri="{BB962C8B-B14F-4D97-AF65-F5344CB8AC3E}">
        <p14:creationId xmlns:p14="http://schemas.microsoft.com/office/powerpoint/2010/main" val="27079598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videos </a:t>
            </a:r>
          </a:p>
        </p:txBody>
      </p:sp>
      <p:sp>
        <p:nvSpPr>
          <p:cNvPr id="4" name="Slide Number Placeholder 3"/>
          <p:cNvSpPr>
            <a:spLocks noGrp="1"/>
          </p:cNvSpPr>
          <p:nvPr>
            <p:ph type="sldNum" sz="quarter" idx="5"/>
          </p:nvPr>
        </p:nvSpPr>
        <p:spPr/>
        <p:txBody>
          <a:bodyPr/>
          <a:lstStyle/>
          <a:p>
            <a:fld id="{C43EEF7A-835F-4F95-B48D-CD2F7A44E3BA}" type="slidenum">
              <a:rPr lang="en-GB" smtClean="0"/>
              <a:pPr/>
              <a:t>37</a:t>
            </a:fld>
            <a:endParaRPr lang="en-GB"/>
          </a:p>
        </p:txBody>
      </p:sp>
    </p:spTree>
    <p:extLst>
      <p:ext uri="{BB962C8B-B14F-4D97-AF65-F5344CB8AC3E}">
        <p14:creationId xmlns:p14="http://schemas.microsoft.com/office/powerpoint/2010/main" val="2790738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51F4166-F7BB-43A2-90DE-5BA3612FF427}" type="datetimeFigureOut">
              <a:rPr lang="en-GB" smtClean="0"/>
              <a:pPr/>
              <a:t>03/11/2024</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A0D469B-B562-4AD2-B5D9-EE82CCC2CD4B}"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1F4166-F7BB-43A2-90DE-5BA3612FF427}" type="datetimeFigureOut">
              <a:rPr lang="en-GB" smtClean="0"/>
              <a:pPr/>
              <a:t>03/11/2024</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0D469B-B562-4AD2-B5D9-EE82CCC2CD4B}"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OLE_LINK13" TargetMode="Externa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OLE_LINK31" TargetMode="Externa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OLE_LINK16"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oleObject" Target="!OLE_LINK32"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OLE_LINK21"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oleObject" Target="Macintosh%20HD:Users:annatrifilova:Documents:Teaching:wiley%20strategic%20innovation%20management:Final%20MS%20August%204:Chapter%208%20Forecasting.docx!OLE_LINK10"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oleObject" Target="!OLE_LINK11"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oleObject" Target="!OLE_LINK12"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OLE_LINK28"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oleObject" Target="Macintosh%20HD:Users:annatrifilova:Documents:Teaching:wiley%20strategic%20innovation%20management:Wiley_Teaching_Guide:Lecturer_Guide:SIM%20Lecturer%20guide%20ch%209%20%20.docx!OLE_LINK26"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oleObject" Target="Document17!OLE_LINK33"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OLE_LINK30"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hyperlink" Target="https://youtu.be/6UCUPN6v_ts" TargetMode="External"/><Relationship Id="rId3" Type="http://schemas.openxmlformats.org/officeDocument/2006/relationships/image" Target="../media/image29.jpeg"/><Relationship Id="rId7" Type="http://schemas.openxmlformats.org/officeDocument/2006/relationships/hyperlink" Target="https://youtu.be/KFBdgleJi0I"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youtu.be/Nk0_gJAsT5Y" TargetMode="External"/><Relationship Id="rId5" Type="http://schemas.openxmlformats.org/officeDocument/2006/relationships/hyperlink" Target="https://youtu.be/L6p65wnBm88" TargetMode="External"/><Relationship Id="rId4" Type="http://schemas.openxmlformats.org/officeDocument/2006/relationships/hyperlink" Target="https://youtu.be/uPWHaATTeEw" TargetMode="External"/><Relationship Id="rId9" Type="http://schemas.openxmlformats.org/officeDocument/2006/relationships/hyperlink" Target="https://youtu.be/xJmD_lzMzNE" TargetMode="External"/></Relationships>
</file>

<file path=ppt/slides/_rels/slide38.xml.rels><?xml version="1.0" encoding="UTF-8" standalone="yes"?>
<Relationships xmlns="http://schemas.openxmlformats.org/package/2006/relationships"><Relationship Id="rId2" Type="http://schemas.openxmlformats.org/officeDocument/2006/relationships/hyperlink" Target="https://www.youtube.com/watch?v=bHbwflRnM6A&amp;feature=youtu.be"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johnbessant.org/category/blog/" TargetMode="External"/><Relationship Id="rId2" Type="http://schemas.openxmlformats.org/officeDocument/2006/relationships/hyperlink" Target="https://podcasters.spotify.com/pod/show/john-bessant"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hyperlink" Target="https://www.johnbessant.org/_files/ugd/6ba33a_48ac4628a09344529fbdd0534700fd4f.pdf" TargetMode="Externa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hyperlink" Target="https://www.johnbessant.org/_files/ugd/f6594a_7a3d6e094237497893a6297e15b57f71.pdf" TargetMode="Externa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hyperlink" Target="https://www.johnbessant.org/case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johnbessant.org/reports"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hyperlink" Target="https://www.johnbessant.org/tools"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5A8AFA4-5C32-4100-9C6D-839A47E15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B5F253-7949-47C2-9DBD-1570ECDA2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4349" y="685800"/>
            <a:ext cx="4066277" cy="5486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251319" y="1254763"/>
            <a:ext cx="2583711" cy="2481729"/>
          </a:xfrm>
        </p:spPr>
        <p:txBody>
          <a:bodyPr vert="horz" lIns="91440" tIns="45720" rIns="91440" bIns="45720" rtlCol="0" anchor="b">
            <a:normAutofit/>
          </a:bodyPr>
          <a:lstStyle/>
          <a:p>
            <a:pPr>
              <a:lnSpc>
                <a:spcPct val="90000"/>
              </a:lnSpc>
            </a:pPr>
            <a:r>
              <a:rPr lang="en-US" sz="2800" b="1">
                <a:solidFill>
                  <a:srgbClr val="595959"/>
                </a:solidFill>
              </a:rPr>
              <a:t>Teaching Resources and Instructors’ Guidelines</a:t>
            </a:r>
            <a:endParaRPr lang="en-US" sz="2800" u="sng">
              <a:solidFill>
                <a:srgbClr val="595959"/>
              </a:solidFill>
            </a:endParaRPr>
          </a:p>
        </p:txBody>
      </p:sp>
      <p:sp>
        <p:nvSpPr>
          <p:cNvPr id="5" name="Rectangle 4"/>
          <p:cNvSpPr/>
          <p:nvPr/>
        </p:nvSpPr>
        <p:spPr>
          <a:xfrm>
            <a:off x="1386884" y="4046453"/>
            <a:ext cx="2312581" cy="1785506"/>
          </a:xfrm>
          <a:prstGeom prst="rect">
            <a:avLst/>
          </a:prstGeom>
        </p:spPr>
        <p:txBody>
          <a:bodyPr vert="horz" lIns="91440" tIns="45720" rIns="91440" bIns="45720" rtlCol="0" anchor="t">
            <a:normAutofit/>
          </a:bodyPr>
          <a:lstStyle/>
          <a:p>
            <a:pPr algn="ctr">
              <a:lnSpc>
                <a:spcPct val="90000"/>
              </a:lnSpc>
              <a:spcBef>
                <a:spcPts val="1000"/>
              </a:spcBef>
            </a:pPr>
            <a:r>
              <a:rPr lang="en-US" sz="1200">
                <a:solidFill>
                  <a:srgbClr val="595959"/>
                </a:solidFill>
              </a:rPr>
              <a:t>Chapter 9: Dealing with Uncertainty</a:t>
            </a:r>
          </a:p>
        </p:txBody>
      </p:sp>
      <p:pic>
        <p:nvPicPr>
          <p:cNvPr id="3" name="Picture 2">
            <a:extLst>
              <a:ext uri="{FF2B5EF4-FFF2-40B4-BE49-F238E27FC236}">
                <a16:creationId xmlns:a16="http://schemas.microsoft.com/office/drawing/2014/main" id="{014220EC-3606-0F6B-6E66-470260C23BF2}"/>
              </a:ext>
            </a:extLst>
          </p:cNvPr>
          <p:cNvPicPr>
            <a:picLocks noChangeAspect="1"/>
          </p:cNvPicPr>
          <p:nvPr/>
        </p:nvPicPr>
        <p:blipFill>
          <a:blip r:embed="rId2">
            <a:extLst>
              <a:ext uri="{28A0092B-C50C-407E-A947-70E740481C1C}">
                <a14:useLocalDpi xmlns:a14="http://schemas.microsoft.com/office/drawing/2010/main" val="0"/>
              </a:ext>
            </a:extLst>
          </a:blip>
          <a:srcRect l="2202" r="22522"/>
          <a:stretch/>
        </p:blipFill>
        <p:spPr>
          <a:xfrm>
            <a:off x="4580627" y="685799"/>
            <a:ext cx="405765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algn="l">
              <a:lnSpc>
                <a:spcPct val="90000"/>
              </a:lnSpc>
            </a:pPr>
            <a:r>
              <a:rPr lang="en-US" sz="3400" b="1" kern="1200">
                <a:solidFill>
                  <a:srgbClr val="FFFFFF"/>
                </a:solidFill>
                <a:latin typeface="+mj-lt"/>
                <a:ea typeface="+mj-ea"/>
                <a:cs typeface="+mj-cs"/>
              </a:rPr>
              <a:t>Chapter 9: Decision-making under uncertainty</a:t>
            </a:r>
            <a:endParaRPr lang="en-US" sz="3400" kern="1200">
              <a:solidFill>
                <a:srgbClr val="FFFFFF"/>
              </a:solidFill>
              <a:latin typeface="+mj-lt"/>
              <a:ea typeface="+mj-ea"/>
              <a:cs typeface="+mj-cs"/>
            </a:endParaRP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marL="0" marR="0" lvl="0" indent="-228600" fontAlgn="auto">
              <a:lnSpc>
                <a:spcPct val="90000"/>
              </a:lnSpc>
              <a:spcAft>
                <a:spcPts val="600"/>
              </a:spcAft>
              <a:buClrTx/>
              <a:buSzTx/>
              <a:buFont typeface="Arial" panose="020B0604020202020204" pitchFamily="34" charset="0"/>
              <a:buChar char="•"/>
              <a:tabLst/>
              <a:defRPr/>
            </a:pPr>
            <a:endParaRPr kumimoji="0" lang="en-US" b="1" u="none" strike="noStrike" cap="none" spc="0" normalizeH="0" baseline="0" noProof="0">
              <a:ln>
                <a:noFill/>
              </a:ln>
              <a:effectLst/>
              <a:uLnTx/>
              <a:uFillTx/>
            </a:endParaRPr>
          </a:p>
          <a:p>
            <a:pPr indent="-228600">
              <a:lnSpc>
                <a:spcPct val="90000"/>
              </a:lnSpc>
              <a:spcAft>
                <a:spcPts val="600"/>
              </a:spcAft>
              <a:buFont typeface="Arial" panose="020B0604020202020204" pitchFamily="34" charset="0"/>
              <a:buChar char="•"/>
            </a:pPr>
            <a:r>
              <a:rPr lang="en-US" i="1"/>
              <a:t> In the following PowerPoint slides you will find the key headings from </a:t>
            </a:r>
            <a:r>
              <a:rPr lang="en-US" b="1"/>
              <a:t>CHAPTER 9</a:t>
            </a:r>
            <a:r>
              <a:rPr lang="en-US" i="1"/>
              <a:t> together with the main illustrations, tables, etc.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There are also slides summarizing the key messages in bullet-point fashion, and a wide range of activities which you can use to help students explore around these themes.  </a:t>
            </a:r>
          </a:p>
          <a:p>
            <a:pPr indent="-228600">
              <a:lnSpc>
                <a:spcPct val="90000"/>
              </a:lnSpc>
              <a:spcAft>
                <a:spcPts val="600"/>
              </a:spcAft>
              <a:buFont typeface="Arial" panose="020B0604020202020204" pitchFamily="34" charset="0"/>
              <a:buChar char="•"/>
            </a:pPr>
            <a:endParaRPr lang="en-US" i="1"/>
          </a:p>
          <a:p>
            <a:pPr indent="-228600">
              <a:lnSpc>
                <a:spcPct val="90000"/>
              </a:lnSpc>
              <a:spcAft>
                <a:spcPts val="600"/>
              </a:spcAft>
              <a:buFont typeface="Arial" panose="020B0604020202020204" pitchFamily="34" charset="0"/>
              <a:buChar char="•"/>
            </a:pPr>
            <a:r>
              <a:rPr lang="en-US" i="1"/>
              <a:t>Finally there are some reflection questions which can be used as the basis for discussion or assignments.</a:t>
            </a:r>
          </a:p>
          <a:p>
            <a:pPr indent="-228600">
              <a:lnSpc>
                <a:spcPct val="90000"/>
              </a:lnSpc>
              <a:spcAft>
                <a:spcPts val="600"/>
              </a:spcAft>
              <a:buFont typeface="Arial" panose="020B0604020202020204" pitchFamily="34" charset="0"/>
              <a:buChar char="•"/>
            </a:pPr>
            <a:endParaRPr lang="en-US" i="1"/>
          </a:p>
        </p:txBody>
      </p:sp>
      <p:cxnSp>
        <p:nvCxnSpPr>
          <p:cNvPr id="7" name="Straight Connector 6"/>
          <p:cNvCxnSpPr/>
          <p:nvPr/>
        </p:nvCxnSpPr>
        <p:spPr>
          <a:xfrm>
            <a:off x="458167" y="1507529"/>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5125" y="1153572"/>
            <a:ext cx="2400300" cy="4461163"/>
          </a:xfrm>
        </p:spPr>
        <p:txBody>
          <a:bodyPr vert="horz" lIns="91440" tIns="45720" rIns="91440" bIns="45720" rtlCol="0" anchor="ctr">
            <a:normAutofit/>
          </a:bodyPr>
          <a:lstStyle/>
          <a:p>
            <a:pPr lvl="0" algn="l">
              <a:lnSpc>
                <a:spcPct val="90000"/>
              </a:lnSpc>
              <a:defRPr/>
            </a:pPr>
            <a:r>
              <a:rPr lang="en-US" sz="4100" b="1" kern="1200" dirty="0">
                <a:solidFill>
                  <a:srgbClr val="FFFFFF"/>
                </a:solidFill>
                <a:latin typeface="+mj-lt"/>
                <a:ea typeface="+mj-ea"/>
                <a:cs typeface="+mj-cs"/>
              </a:rPr>
              <a:t>Learning objectives</a:t>
            </a:r>
          </a:p>
        </p:txBody>
      </p:sp>
      <p:sp>
        <p:nvSpPr>
          <p:cNvPr id="16" name="Arc 1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itle 1"/>
          <p:cNvSpPr txBox="1">
            <a:spLocks/>
          </p:cNvSpPr>
          <p:nvPr/>
        </p:nvSpPr>
        <p:spPr>
          <a:xfrm>
            <a:off x="3335481" y="591344"/>
            <a:ext cx="5179868" cy="5585619"/>
          </a:xfrm>
          <a:prstGeom prst="rect">
            <a:avLst/>
          </a:prstGeom>
        </p:spPr>
        <p:txBody>
          <a:bodyPr vert="horz" lIns="91440" tIns="45720" rIns="91440" bIns="45720" rtlCol="0" anchor="ctr">
            <a:normAutofit/>
          </a:bodyPr>
          <a:lstStyle/>
          <a:p>
            <a:pPr lvl="0" indent="-228600">
              <a:lnSpc>
                <a:spcPct val="90000"/>
              </a:lnSpc>
              <a:spcAft>
                <a:spcPts val="3000"/>
              </a:spcAft>
              <a:buFont typeface="Arial" panose="020B0604020202020204" pitchFamily="34" charset="0"/>
              <a:buChar char="•"/>
            </a:pPr>
            <a:r>
              <a:rPr lang="en-US" i="1" dirty="0"/>
              <a:t> By the end of this chapter you will:</a:t>
            </a:r>
          </a:p>
          <a:p>
            <a:pPr lvl="0" indent="-228600">
              <a:lnSpc>
                <a:spcPct val="90000"/>
              </a:lnSpc>
              <a:spcAft>
                <a:spcPts val="3000"/>
              </a:spcAft>
              <a:buFont typeface="Arial" panose="020B0604020202020204" pitchFamily="34" charset="0"/>
              <a:buChar char="•"/>
            </a:pPr>
            <a:r>
              <a:rPr lang="en-US" i="1" dirty="0"/>
              <a:t>understand the need for selection decisions in innovation;</a:t>
            </a:r>
            <a:endParaRPr lang="en-US" b="1" dirty="0"/>
          </a:p>
          <a:p>
            <a:pPr lvl="0" indent="-228600">
              <a:lnSpc>
                <a:spcPct val="90000"/>
              </a:lnSpc>
              <a:spcAft>
                <a:spcPts val="3000"/>
              </a:spcAft>
              <a:buFont typeface="Arial" panose="020B0604020202020204" pitchFamily="34" charset="0"/>
              <a:buChar char="•"/>
            </a:pPr>
            <a:r>
              <a:rPr lang="en-US" i="1" dirty="0"/>
              <a:t> recognize the difficulties of decision-making under uncertainty;</a:t>
            </a:r>
            <a:endParaRPr lang="en-US" b="1" dirty="0"/>
          </a:p>
          <a:p>
            <a:pPr lvl="0" indent="-228600">
              <a:lnSpc>
                <a:spcPct val="90000"/>
              </a:lnSpc>
              <a:spcAft>
                <a:spcPts val="3000"/>
              </a:spcAft>
              <a:buFont typeface="Arial" panose="020B0604020202020204" pitchFamily="34" charset="0"/>
              <a:buChar char="•"/>
            </a:pPr>
            <a:r>
              <a:rPr lang="en-US" i="1" dirty="0"/>
              <a:t> appreciate the range of methods to forecast, select and the need to balance between speed and detail;</a:t>
            </a:r>
            <a:endParaRPr lang="en-US" b="1" dirty="0"/>
          </a:p>
          <a:p>
            <a:pPr lvl="0" indent="-228600">
              <a:lnSpc>
                <a:spcPct val="90000"/>
              </a:lnSpc>
              <a:spcAft>
                <a:spcPts val="3000"/>
              </a:spcAft>
              <a:buFont typeface="Arial" panose="020B0604020202020204" pitchFamily="34" charset="0"/>
              <a:buChar char="•"/>
            </a:pPr>
            <a:r>
              <a:rPr lang="en-US" i="1" dirty="0"/>
              <a:t> understand the different selection challenges across innovation space</a:t>
            </a:r>
            <a:endParaRPr lang="en-US" b="1" dirty="0"/>
          </a:p>
        </p:txBody>
      </p:sp>
      <p:cxnSp>
        <p:nvCxnSpPr>
          <p:cNvPr id="7" name="Straight Connector 6"/>
          <p:cNvCxnSpPr/>
          <p:nvPr/>
        </p:nvCxnSpPr>
        <p:spPr>
          <a:xfrm>
            <a:off x="458167" y="1433555"/>
            <a:ext cx="8478016" cy="158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5986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4377" y="775849"/>
            <a:ext cx="2240924"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FF829E-164C-C647-862D-C0E45AB0C1E5}"/>
              </a:ext>
            </a:extLst>
          </p:cNvPr>
          <p:cNvSpPr>
            <a:spLocks noGrp="1"/>
          </p:cNvSpPr>
          <p:nvPr>
            <p:ph type="title"/>
          </p:nvPr>
        </p:nvSpPr>
        <p:spPr>
          <a:xfrm>
            <a:off x="5310553" y="647593"/>
            <a:ext cx="3350844" cy="3060541"/>
          </a:xfrm>
        </p:spPr>
        <p:txBody>
          <a:bodyPr vert="horz" lIns="91440" tIns="45720" rIns="91440" bIns="45720" rtlCol="0" anchor="b">
            <a:normAutofit/>
          </a:bodyPr>
          <a:lstStyle/>
          <a:p>
            <a:pPr>
              <a:lnSpc>
                <a:spcPct val="90000"/>
              </a:lnSpc>
            </a:pPr>
            <a:r>
              <a:rPr lang="en-US" sz="4700" kern="1200">
                <a:solidFill>
                  <a:srgbClr val="FFFFFF"/>
                </a:solidFill>
                <a:latin typeface="+mj-lt"/>
                <a:ea typeface="+mj-ea"/>
                <a:cs typeface="+mj-cs"/>
              </a:rPr>
              <a:t>Core themes and material from the book</a:t>
            </a:r>
          </a:p>
        </p:txBody>
      </p:sp>
      <p:sp>
        <p:nvSpPr>
          <p:cNvPr id="16"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8276" y="366810"/>
            <a:ext cx="4593285"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047FB8FE-B6DD-411D-B9FE-1BD2B5EA19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060" y="1834479"/>
            <a:ext cx="3189041" cy="3189041"/>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3771652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547664"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Why is selection important?</a:t>
            </a:r>
            <a:endParaRPr lang="en-GB" sz="3600" b="1" dirty="0">
              <a:solidFill>
                <a:srgbClr val="008000"/>
              </a:solidFill>
              <a:latin typeface="+mj-lt"/>
              <a:ea typeface="+mj-ea"/>
              <a:cs typeface="+mj-cs"/>
            </a:endParaRPr>
          </a:p>
        </p:txBody>
      </p:sp>
      <p:sp>
        <p:nvSpPr>
          <p:cNvPr id="8" name="Rectangle 7"/>
          <p:cNvSpPr/>
          <p:nvPr/>
        </p:nvSpPr>
        <p:spPr>
          <a:xfrm>
            <a:off x="458167" y="1951672"/>
            <a:ext cx="8261454" cy="4262706"/>
          </a:xfrm>
          <a:prstGeom prst="rect">
            <a:avLst/>
          </a:prstGeom>
        </p:spPr>
        <p:txBody>
          <a:bodyPr wrap="square">
            <a:spAutoFit/>
          </a:bodyPr>
          <a:lstStyle/>
          <a:p>
            <a:pPr lvl="1">
              <a:spcAft>
                <a:spcPts val="3000"/>
              </a:spcAft>
              <a:buFont typeface="Arial"/>
              <a:buChar char="•"/>
            </a:pPr>
            <a:r>
              <a:rPr lang="en-US" sz="2800" dirty="0"/>
              <a:t> Plenty of things we could do but we have </a:t>
            </a:r>
            <a:r>
              <a:rPr lang="en-US" sz="2800" dirty="0">
                <a:solidFill>
                  <a:schemeClr val="tx1">
                    <a:lumMod val="50000"/>
                    <a:lumOff val="50000"/>
                  </a:schemeClr>
                </a:solidFill>
              </a:rPr>
              <a:t>limited resources</a:t>
            </a:r>
            <a:r>
              <a:rPr lang="en-US" sz="2800" dirty="0"/>
              <a:t>.</a:t>
            </a:r>
            <a:endParaRPr lang="en-GB" sz="2800" dirty="0"/>
          </a:p>
          <a:p>
            <a:pPr lvl="1">
              <a:spcAft>
                <a:spcPts val="3000"/>
              </a:spcAft>
              <a:buFont typeface="Arial"/>
              <a:buChar char="•"/>
            </a:pPr>
            <a:r>
              <a:rPr lang="en-US" sz="2800" dirty="0"/>
              <a:t> Random choice is </a:t>
            </a:r>
            <a:r>
              <a:rPr lang="en-US" sz="2800" dirty="0">
                <a:solidFill>
                  <a:schemeClr val="tx1">
                    <a:lumMod val="50000"/>
                    <a:lumOff val="50000"/>
                  </a:schemeClr>
                </a:solidFill>
              </a:rPr>
              <a:t>gambling</a:t>
            </a:r>
            <a:r>
              <a:rPr lang="en-US" sz="2800" dirty="0"/>
              <a:t>.</a:t>
            </a:r>
            <a:endParaRPr lang="en-GB" sz="2800" dirty="0"/>
          </a:p>
          <a:p>
            <a:pPr lvl="1">
              <a:spcAft>
                <a:spcPts val="3000"/>
              </a:spcAft>
              <a:buFont typeface="Arial"/>
              <a:buChar char="•"/>
            </a:pPr>
            <a:r>
              <a:rPr lang="en-US" sz="2800" dirty="0"/>
              <a:t> Innovation involves uncertainty and risk so we need ways of choosing </a:t>
            </a:r>
            <a:r>
              <a:rPr lang="en-US" sz="2800" dirty="0">
                <a:solidFill>
                  <a:schemeClr val="tx1">
                    <a:lumMod val="50000"/>
                    <a:lumOff val="50000"/>
                  </a:schemeClr>
                </a:solidFill>
              </a:rPr>
              <a:t>projects to balance risk and reward</a:t>
            </a:r>
            <a:r>
              <a:rPr lang="en-US" sz="2800" dirty="0"/>
              <a:t>.</a:t>
            </a:r>
            <a:endParaRPr lang="en-GB" sz="2800" dirty="0"/>
          </a:p>
          <a:p>
            <a:pPr lvl="1">
              <a:spcAft>
                <a:spcPts val="3000"/>
              </a:spcAft>
              <a:buFont typeface="Arial"/>
              <a:buChar char="•"/>
            </a:pPr>
            <a:r>
              <a:rPr lang="en-US" sz="2800" dirty="0"/>
              <a:t> Building </a:t>
            </a:r>
            <a:r>
              <a:rPr lang="en-US" sz="2800" dirty="0">
                <a:solidFill>
                  <a:schemeClr val="tx1">
                    <a:lumMod val="50000"/>
                    <a:lumOff val="50000"/>
                  </a:schemeClr>
                </a:solidFill>
              </a:rPr>
              <a:t>a balanced portfolio</a:t>
            </a:r>
            <a:r>
              <a:rPr lang="en-US" sz="2800" dirty="0"/>
              <a:t>.</a:t>
            </a:r>
            <a:endParaRPr lang="en-GB" sz="2800" dirty="0"/>
          </a:p>
        </p:txBody>
      </p:sp>
      <p:sp>
        <p:nvSpPr>
          <p:cNvPr id="59394" name="AutoShape 2" descr="Image result for sele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GB" dirty="0"/>
          </a:p>
        </p:txBody>
      </p:sp>
      <p:pic>
        <p:nvPicPr>
          <p:cNvPr id="59396" name="Picture 4" descr="Image result for selection"/>
          <p:cNvPicPr>
            <a:picLocks noChangeAspect="1" noChangeArrowheads="1"/>
          </p:cNvPicPr>
          <p:nvPr/>
        </p:nvPicPr>
        <p:blipFill>
          <a:blip r:embed="rId2" cstate="print"/>
          <a:srcRect/>
          <a:stretch>
            <a:fillRect/>
          </a:stretch>
        </p:blipFill>
        <p:spPr bwMode="auto">
          <a:xfrm>
            <a:off x="6804248" y="5112567"/>
            <a:ext cx="1187864" cy="1745433"/>
          </a:xfrm>
          <a:prstGeom prst="rect">
            <a:avLst/>
          </a:prstGeom>
          <a:noFill/>
        </p:spPr>
      </p:pic>
    </p:spTree>
    <p:extLst>
      <p:ext uri="{BB962C8B-B14F-4D97-AF65-F5344CB8AC3E}">
        <p14:creationId xmlns:p14="http://schemas.microsoft.com/office/powerpoint/2010/main" val="2247440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691680" y="188640"/>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The funnel of uncertainty</a:t>
            </a:r>
            <a:endParaRPr lang="en-GB" sz="3600" b="1" dirty="0">
              <a:solidFill>
                <a:srgbClr val="008000"/>
              </a:solidFill>
              <a:latin typeface="+mj-lt"/>
              <a:ea typeface="+mj-ea"/>
              <a:cs typeface="+mj-cs"/>
            </a:endParaRPr>
          </a:p>
        </p:txBody>
      </p:sp>
      <p:cxnSp>
        <p:nvCxnSpPr>
          <p:cNvPr id="7" name="Straight Connector 6"/>
          <p:cNvCxnSpPr/>
          <p:nvPr/>
        </p:nvCxnSpPr>
        <p:spPr>
          <a:xfrm>
            <a:off x="467544" y="1124744"/>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3" name="Picture 2" descr="A picture containing text&#10;&#10;Description automatically generated">
            <a:extLst>
              <a:ext uri="{FF2B5EF4-FFF2-40B4-BE49-F238E27FC236}">
                <a16:creationId xmlns:a16="http://schemas.microsoft.com/office/drawing/2014/main" id="{E0885AF5-C1C2-0C43-B706-60F4FA27F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4037"/>
            <a:ext cx="9144000" cy="5744743"/>
          </a:xfrm>
          <a:prstGeom prst="rect">
            <a:avLst/>
          </a:prstGeom>
        </p:spPr>
      </p:pic>
    </p:spTree>
    <p:extLst>
      <p:ext uri="{BB962C8B-B14F-4D97-AF65-F5344CB8AC3E}">
        <p14:creationId xmlns:p14="http://schemas.microsoft.com/office/powerpoint/2010/main" val="1769176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txBox="1">
            <a:spLocks/>
          </p:cNvSpPr>
          <p:nvPr/>
        </p:nvSpPr>
        <p:spPr>
          <a:xfrm>
            <a:off x="1547664"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The innovation funnel</a:t>
            </a:r>
            <a:endParaRPr lang="en-GB" sz="3600" b="1" dirty="0">
              <a:solidFill>
                <a:srgbClr val="008000"/>
              </a:solidFill>
              <a:latin typeface="+mj-lt"/>
              <a:ea typeface="+mj-ea"/>
              <a:cs typeface="+mj-cs"/>
            </a:endParaRPr>
          </a:p>
        </p:txBody>
      </p:sp>
      <p:pic>
        <p:nvPicPr>
          <p:cNvPr id="3" name="Picture 2" descr="Shape, arrow&#10;&#10;Description automatically generated">
            <a:extLst>
              <a:ext uri="{FF2B5EF4-FFF2-40B4-BE49-F238E27FC236}">
                <a16:creationId xmlns:a16="http://schemas.microsoft.com/office/drawing/2014/main" id="{13139755-946F-D647-B35D-CE2D78BDA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12776"/>
            <a:ext cx="9144000" cy="4933400"/>
          </a:xfrm>
          <a:prstGeom prst="rect">
            <a:avLst/>
          </a:prstGeom>
        </p:spPr>
      </p:pic>
    </p:spTree>
    <p:extLst>
      <p:ext uri="{BB962C8B-B14F-4D97-AF65-F5344CB8AC3E}">
        <p14:creationId xmlns:p14="http://schemas.microsoft.com/office/powerpoint/2010/main" val="3578433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19672" y="332656"/>
            <a:ext cx="5739505"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Uncertainty in project planning</a:t>
            </a:r>
            <a:endParaRPr lang="en-GB" sz="3600" b="1" dirty="0">
              <a:solidFill>
                <a:srgbClr val="008000"/>
              </a:solidFill>
              <a:latin typeface="+mj-lt"/>
              <a:ea typeface="+mj-ea"/>
              <a:cs typeface="+mj-cs"/>
            </a:endParaRP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683568" y="1844824"/>
            <a:ext cx="7974468" cy="4442414"/>
          </a:xfrm>
          <a:prstGeom prst="rect">
            <a:avLst/>
          </a:prstGeom>
        </p:spPr>
      </p:pic>
      <p:pic>
        <p:nvPicPr>
          <p:cNvPr id="56322" name="Picture 2" descr="Image result for uncertainty"/>
          <p:cNvPicPr>
            <a:picLocks noChangeAspect="1" noChangeArrowheads="1"/>
          </p:cNvPicPr>
          <p:nvPr/>
        </p:nvPicPr>
        <p:blipFill>
          <a:blip r:embed="rId3" cstate="print"/>
          <a:srcRect/>
          <a:stretch>
            <a:fillRect/>
          </a:stretch>
        </p:blipFill>
        <p:spPr bwMode="auto">
          <a:xfrm>
            <a:off x="7020272" y="260648"/>
            <a:ext cx="1619672" cy="1115774"/>
          </a:xfrm>
          <a:prstGeom prst="rect">
            <a:avLst/>
          </a:prstGeom>
          <a:noFill/>
        </p:spPr>
      </p:pic>
    </p:spTree>
    <p:extLst>
      <p:ext uri="{BB962C8B-B14F-4D97-AF65-F5344CB8AC3E}">
        <p14:creationId xmlns:p14="http://schemas.microsoft.com/office/powerpoint/2010/main" val="1985045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67544" y="170080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51520" y="332656"/>
            <a:ext cx="5739505"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Approaches to project selection</a:t>
            </a:r>
            <a:endParaRPr lang="en-GB" sz="3600" b="1" dirty="0">
              <a:solidFill>
                <a:srgbClr val="008000"/>
              </a:solidFill>
              <a:latin typeface="+mj-lt"/>
              <a:ea typeface="+mj-ea"/>
              <a:cs typeface="+mj-cs"/>
            </a:endParaRPr>
          </a:p>
        </p:txBody>
      </p:sp>
      <p:graphicFrame>
        <p:nvGraphicFramePr>
          <p:cNvPr id="187395" name="Object 3"/>
          <p:cNvGraphicFramePr>
            <a:graphicFrameLocks noChangeAspect="1"/>
          </p:cNvGraphicFramePr>
          <p:nvPr/>
        </p:nvGraphicFramePr>
        <p:xfrm>
          <a:off x="467544" y="2204864"/>
          <a:ext cx="8505526" cy="4043909"/>
        </p:xfrm>
        <a:graphic>
          <a:graphicData uri="http://schemas.openxmlformats.org/presentationml/2006/ole">
            <mc:AlternateContent xmlns:mc="http://schemas.openxmlformats.org/markup-compatibility/2006">
              <mc:Choice xmlns:v="urn:schemas-microsoft-com:vml" Requires="v">
                <p:oleObj name="Document" r:id="rId2" imgW="22501587" imgH="9752381" progId="Word.Document.12">
                  <p:link updateAutomatic="1"/>
                </p:oleObj>
              </mc:Choice>
              <mc:Fallback>
                <p:oleObj name="Document" r:id="rId2" imgW="22501587" imgH="9752381"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204864"/>
                        <a:ext cx="8505526" cy="40439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100" name="Picture 4" descr="Image result for selection"/>
          <p:cNvPicPr>
            <a:picLocks noChangeAspect="1" noChangeArrowheads="1"/>
          </p:cNvPicPr>
          <p:nvPr/>
        </p:nvPicPr>
        <p:blipFill>
          <a:blip r:embed="rId4" cstate="print"/>
          <a:srcRect/>
          <a:stretch>
            <a:fillRect/>
          </a:stretch>
        </p:blipFill>
        <p:spPr bwMode="auto">
          <a:xfrm>
            <a:off x="6372200" y="182038"/>
            <a:ext cx="2160240" cy="1215495"/>
          </a:xfrm>
          <a:prstGeom prst="rect">
            <a:avLst/>
          </a:prstGeom>
          <a:noFill/>
        </p:spPr>
      </p:pic>
    </p:spTree>
    <p:extLst>
      <p:ext uri="{BB962C8B-B14F-4D97-AF65-F5344CB8AC3E}">
        <p14:creationId xmlns:p14="http://schemas.microsoft.com/office/powerpoint/2010/main" val="961675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395536" y="170080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539552" y="332656"/>
            <a:ext cx="5739505"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Approaches to project selection (continued)</a:t>
            </a:r>
            <a:endParaRPr lang="en-GB" sz="3600" b="1" dirty="0">
              <a:solidFill>
                <a:srgbClr val="008000"/>
              </a:solidFill>
              <a:latin typeface="+mj-lt"/>
              <a:ea typeface="+mj-ea"/>
              <a:cs typeface="+mj-cs"/>
            </a:endParaRPr>
          </a:p>
        </p:txBody>
      </p:sp>
      <p:graphicFrame>
        <p:nvGraphicFramePr>
          <p:cNvPr id="189448" name="Object 8"/>
          <p:cNvGraphicFramePr>
            <a:graphicFrameLocks noChangeAspect="1"/>
          </p:cNvGraphicFramePr>
          <p:nvPr/>
        </p:nvGraphicFramePr>
        <p:xfrm>
          <a:off x="395536" y="1988840"/>
          <a:ext cx="8470329" cy="4512410"/>
        </p:xfrm>
        <a:graphic>
          <a:graphicData uri="http://schemas.openxmlformats.org/presentationml/2006/ole">
            <mc:AlternateContent xmlns:mc="http://schemas.openxmlformats.org/markup-compatibility/2006">
              <mc:Choice xmlns:v="urn:schemas-microsoft-com:vml" Requires="v">
                <p:oleObj name="Document" r:id="rId2" imgW="22501587" imgH="11987302" progId="Word.Document.12">
                  <p:link updateAutomatic="1"/>
                </p:oleObj>
              </mc:Choice>
              <mc:Fallback>
                <p:oleObj name="Document" r:id="rId2" imgW="22501587" imgH="11987302"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988840"/>
                        <a:ext cx="8470329" cy="45124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 name="Picture 4" descr="Image result for selection"/>
          <p:cNvPicPr>
            <a:picLocks noChangeAspect="1" noChangeArrowheads="1"/>
          </p:cNvPicPr>
          <p:nvPr/>
        </p:nvPicPr>
        <p:blipFill>
          <a:blip r:embed="rId4" cstate="print"/>
          <a:srcRect/>
          <a:stretch>
            <a:fillRect/>
          </a:stretch>
        </p:blipFill>
        <p:spPr bwMode="auto">
          <a:xfrm>
            <a:off x="6372200" y="182038"/>
            <a:ext cx="2160240" cy="1215495"/>
          </a:xfrm>
          <a:prstGeom prst="rect">
            <a:avLst/>
          </a:prstGeom>
          <a:noFill/>
        </p:spPr>
      </p:pic>
    </p:spTree>
    <p:extLst>
      <p:ext uri="{BB962C8B-B14F-4D97-AF65-F5344CB8AC3E}">
        <p14:creationId xmlns:p14="http://schemas.microsoft.com/office/powerpoint/2010/main" val="2102307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332656"/>
            <a:ext cx="5739505"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Simple checklist</a:t>
            </a:r>
            <a:endParaRPr lang="en-GB" sz="3600" b="1" dirty="0">
              <a:solidFill>
                <a:srgbClr val="008000"/>
              </a:solidFill>
              <a:latin typeface="+mj-lt"/>
              <a:ea typeface="+mj-ea"/>
              <a:cs typeface="+mj-cs"/>
            </a:endParaRPr>
          </a:p>
        </p:txBody>
      </p:sp>
      <p:sp>
        <p:nvSpPr>
          <p:cNvPr id="8" name="Rectangle 7"/>
          <p:cNvSpPr/>
          <p:nvPr/>
        </p:nvSpPr>
        <p:spPr>
          <a:xfrm>
            <a:off x="467544" y="1556792"/>
            <a:ext cx="8478016" cy="5093703"/>
          </a:xfrm>
          <a:prstGeom prst="rect">
            <a:avLst/>
          </a:prstGeom>
        </p:spPr>
        <p:txBody>
          <a:bodyPr wrap="square">
            <a:spAutoFit/>
          </a:bodyPr>
          <a:lstStyle/>
          <a:p>
            <a:pPr>
              <a:spcAft>
                <a:spcPts val="1800"/>
              </a:spcAft>
            </a:pPr>
            <a:r>
              <a:rPr lang="en-US" sz="2800" dirty="0"/>
              <a:t>A list of factors which are considered important in making a decision in a specific case. Criteria include </a:t>
            </a:r>
            <a:r>
              <a:rPr lang="en-US" sz="2800" dirty="0">
                <a:solidFill>
                  <a:schemeClr val="tx1">
                    <a:lumMod val="50000"/>
                    <a:lumOff val="50000"/>
                  </a:schemeClr>
                </a:solidFill>
              </a:rPr>
              <a:t>technical and commercial details</a:t>
            </a:r>
            <a:r>
              <a:rPr lang="en-US" sz="2800" dirty="0"/>
              <a:t>, </a:t>
            </a:r>
            <a:r>
              <a:rPr lang="en-US" sz="2800" dirty="0">
                <a:solidFill>
                  <a:schemeClr val="tx1">
                    <a:lumMod val="50000"/>
                    <a:lumOff val="50000"/>
                  </a:schemeClr>
                </a:solidFill>
              </a:rPr>
              <a:t>legal and financial factors</a:t>
            </a:r>
            <a:r>
              <a:rPr lang="en-US" sz="2800" dirty="0"/>
              <a:t>, </a:t>
            </a:r>
            <a:r>
              <a:rPr lang="en-US" sz="2800" dirty="0">
                <a:solidFill>
                  <a:schemeClr val="tx1">
                    <a:lumMod val="50000"/>
                    <a:lumOff val="50000"/>
                  </a:schemeClr>
                </a:solidFill>
              </a:rPr>
              <a:t>company targets </a:t>
            </a:r>
            <a:r>
              <a:rPr lang="en-US" sz="2800" dirty="0"/>
              <a:t>and </a:t>
            </a:r>
            <a:r>
              <a:rPr lang="en-US" sz="2800" dirty="0">
                <a:solidFill>
                  <a:schemeClr val="tx1">
                    <a:lumMod val="50000"/>
                    <a:lumOff val="50000"/>
                  </a:schemeClr>
                </a:solidFill>
              </a:rPr>
              <a:t>company strategy</a:t>
            </a:r>
            <a:r>
              <a:rPr lang="en-US" sz="2800" dirty="0"/>
              <a:t>. The technique can be strengthened by:</a:t>
            </a:r>
            <a:endParaRPr lang="en-GB" sz="2800" dirty="0"/>
          </a:p>
          <a:p>
            <a:pPr lvl="1">
              <a:spcAft>
                <a:spcPts val="1800"/>
              </a:spcAft>
              <a:buFont typeface="Arial"/>
              <a:buChar char="•"/>
            </a:pPr>
            <a:r>
              <a:rPr lang="en-US" sz="2800" dirty="0"/>
              <a:t> including some </a:t>
            </a:r>
            <a:r>
              <a:rPr lang="en-US" sz="2800" dirty="0">
                <a:solidFill>
                  <a:schemeClr val="tx1">
                    <a:lumMod val="50000"/>
                    <a:lumOff val="50000"/>
                  </a:schemeClr>
                </a:solidFill>
              </a:rPr>
              <a:t>quantitative factors </a:t>
            </a:r>
            <a:r>
              <a:rPr lang="en-US" sz="2800" dirty="0"/>
              <a:t>among the whole list of factors;</a:t>
            </a:r>
            <a:endParaRPr lang="en-GB" sz="2800" dirty="0"/>
          </a:p>
          <a:p>
            <a:pPr lvl="1">
              <a:spcAft>
                <a:spcPts val="1800"/>
              </a:spcAft>
              <a:buFont typeface="Arial"/>
              <a:buChar char="•"/>
            </a:pPr>
            <a:r>
              <a:rPr lang="en-US" sz="2800" dirty="0"/>
              <a:t> assigning </a:t>
            </a:r>
            <a:r>
              <a:rPr lang="en-US" sz="2800" dirty="0">
                <a:solidFill>
                  <a:schemeClr val="tx1">
                    <a:lumMod val="50000"/>
                    <a:lumOff val="50000"/>
                  </a:schemeClr>
                </a:solidFill>
              </a:rPr>
              <a:t>different weights to different f</a:t>
            </a:r>
            <a:r>
              <a:rPr lang="en-US" sz="2800" dirty="0"/>
              <a:t>actors;</a:t>
            </a:r>
            <a:endParaRPr lang="en-GB" sz="2800" dirty="0"/>
          </a:p>
          <a:p>
            <a:pPr lvl="1">
              <a:spcAft>
                <a:spcPts val="1800"/>
              </a:spcAft>
              <a:buFont typeface="Arial"/>
              <a:buChar char="•"/>
            </a:pPr>
            <a:r>
              <a:rPr lang="en-US" sz="2800" dirty="0"/>
              <a:t> developing </a:t>
            </a:r>
            <a:r>
              <a:rPr lang="en-US" sz="2800" dirty="0">
                <a:solidFill>
                  <a:schemeClr val="tx1">
                    <a:lumMod val="50000"/>
                    <a:lumOff val="50000"/>
                  </a:schemeClr>
                </a:solidFill>
              </a:rPr>
              <a:t>a systematic way of arriving at an overall opinion</a:t>
            </a:r>
            <a:r>
              <a:rPr lang="en-US" sz="2800" dirty="0"/>
              <a:t> on the project, such as a score or index.</a:t>
            </a:r>
            <a:endParaRPr lang="en-GB" sz="2800" dirty="0"/>
          </a:p>
        </p:txBody>
      </p:sp>
      <p:pic>
        <p:nvPicPr>
          <p:cNvPr id="55298" name="Picture 2" descr="Image result for checklist"/>
          <p:cNvPicPr>
            <a:picLocks noChangeAspect="1" noChangeArrowheads="1"/>
          </p:cNvPicPr>
          <p:nvPr/>
        </p:nvPicPr>
        <p:blipFill>
          <a:blip r:embed="rId2" cstate="print"/>
          <a:srcRect/>
          <a:stretch>
            <a:fillRect/>
          </a:stretch>
        </p:blipFill>
        <p:spPr bwMode="auto">
          <a:xfrm>
            <a:off x="6732240" y="188640"/>
            <a:ext cx="1315998" cy="1127810"/>
          </a:xfrm>
          <a:prstGeom prst="rect">
            <a:avLst/>
          </a:prstGeom>
          <a:noFill/>
        </p:spPr>
      </p:pic>
    </p:spTree>
    <p:extLst>
      <p:ext uri="{BB962C8B-B14F-4D97-AF65-F5344CB8AC3E}">
        <p14:creationId xmlns:p14="http://schemas.microsoft.com/office/powerpoint/2010/main" val="4214560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19672" y="332656"/>
            <a:ext cx="5739505"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Example of a checklist</a:t>
            </a:r>
            <a:endParaRPr lang="en-GB" sz="3600" b="1" dirty="0">
              <a:solidFill>
                <a:srgbClr val="008000"/>
              </a:solidFill>
              <a:latin typeface="+mj-lt"/>
              <a:ea typeface="+mj-ea"/>
              <a:cs typeface="+mj-cs"/>
            </a:endParaRPr>
          </a:p>
        </p:txBody>
      </p:sp>
      <p:graphicFrame>
        <p:nvGraphicFramePr>
          <p:cNvPr id="202755" name="Object 3"/>
          <p:cNvGraphicFramePr>
            <a:graphicFrameLocks noChangeAspect="1"/>
          </p:cNvGraphicFramePr>
          <p:nvPr/>
        </p:nvGraphicFramePr>
        <p:xfrm>
          <a:off x="458788" y="1608138"/>
          <a:ext cx="8477250" cy="4856162"/>
        </p:xfrm>
        <a:graphic>
          <a:graphicData uri="http://schemas.openxmlformats.org/presentationml/2006/ole">
            <mc:AlternateContent xmlns:mc="http://schemas.openxmlformats.org/markup-compatibility/2006">
              <mc:Choice xmlns:v="urn:schemas-microsoft-com:vml" Requires="v">
                <p:oleObj name="Document" r:id="rId2" imgW="22349206" imgH="13511111" progId="Word.Document.12">
                  <p:link updateAutomatic="1"/>
                </p:oleObj>
              </mc:Choice>
              <mc:Fallback>
                <p:oleObj name="Document" r:id="rId2" imgW="22349206" imgH="13511111"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1608138"/>
                        <a:ext cx="8477250" cy="4856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86558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332656"/>
            <a:ext cx="757461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Example of a checklist (continued)</a:t>
            </a:r>
            <a:endParaRPr lang="en-GB" sz="3600" b="1" dirty="0">
              <a:solidFill>
                <a:srgbClr val="008000"/>
              </a:solidFill>
              <a:latin typeface="+mj-lt"/>
              <a:ea typeface="+mj-ea"/>
              <a:cs typeface="+mj-cs"/>
            </a:endParaRPr>
          </a:p>
        </p:txBody>
      </p:sp>
      <p:graphicFrame>
        <p:nvGraphicFramePr>
          <p:cNvPr id="203783" name="Object 7"/>
          <p:cNvGraphicFramePr>
            <a:graphicFrameLocks noChangeAspect="1"/>
          </p:cNvGraphicFramePr>
          <p:nvPr/>
        </p:nvGraphicFramePr>
        <p:xfrm>
          <a:off x="458167" y="1602769"/>
          <a:ext cx="8450514" cy="4820634"/>
        </p:xfrm>
        <a:graphic>
          <a:graphicData uri="http://schemas.openxmlformats.org/presentationml/2006/ole">
            <mc:AlternateContent xmlns:mc="http://schemas.openxmlformats.org/markup-compatibility/2006">
              <mc:Choice xmlns:v="urn:schemas-microsoft-com:vml" Requires="v">
                <p:oleObj name="Document" r:id="rId2" imgW="22349206" imgH="12749206" progId="Word.Document.12">
                  <p:link updateAutomatic="1"/>
                </p:oleObj>
              </mc:Choice>
              <mc:Fallback>
                <p:oleObj name="Document" r:id="rId2" imgW="22349206" imgH="12749206"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7" y="1602769"/>
                        <a:ext cx="8450514" cy="48206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34248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755576" y="332656"/>
            <a:ext cx="757461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Example of a checklist (continued)</a:t>
            </a:r>
            <a:endParaRPr lang="en-GB" sz="3600" b="1" dirty="0">
              <a:solidFill>
                <a:srgbClr val="008000"/>
              </a:solidFill>
              <a:latin typeface="+mj-lt"/>
              <a:ea typeface="+mj-ea"/>
              <a:cs typeface="+mj-cs"/>
            </a:endParaRPr>
          </a:p>
        </p:txBody>
      </p:sp>
      <p:graphicFrame>
        <p:nvGraphicFramePr>
          <p:cNvPr id="204806" name="Object 6"/>
          <p:cNvGraphicFramePr>
            <a:graphicFrameLocks noChangeAspect="1"/>
          </p:cNvGraphicFramePr>
          <p:nvPr/>
        </p:nvGraphicFramePr>
        <p:xfrm>
          <a:off x="458166" y="1664413"/>
          <a:ext cx="8359889" cy="3932948"/>
        </p:xfrm>
        <a:graphic>
          <a:graphicData uri="http://schemas.openxmlformats.org/presentationml/2006/ole">
            <mc:AlternateContent xmlns:mc="http://schemas.openxmlformats.org/markup-compatibility/2006">
              <mc:Choice xmlns:v="urn:schemas-microsoft-com:vml" Requires="v">
                <p:oleObj name="Document" r:id="rId2" imgW="22349206" imgH="10514286" progId="Word.Document.12">
                  <p:link updateAutomatic="1"/>
                </p:oleObj>
              </mc:Choice>
              <mc:Fallback>
                <p:oleObj name="Document" r:id="rId2" imgW="22349206" imgH="10514286"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6" y="1664413"/>
                        <a:ext cx="8359889" cy="39329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96993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395536" y="1196752"/>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03648" y="188640"/>
            <a:ext cx="5739505"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Business case</a:t>
            </a:r>
            <a:endParaRPr lang="en-GB" sz="3600" b="1" dirty="0">
              <a:solidFill>
                <a:srgbClr val="008000"/>
              </a:solidFill>
              <a:latin typeface="+mj-lt"/>
              <a:ea typeface="+mj-ea"/>
              <a:cs typeface="+mj-cs"/>
            </a:endParaRPr>
          </a:p>
        </p:txBody>
      </p:sp>
      <p:sp>
        <p:nvSpPr>
          <p:cNvPr id="8" name="Rectangle 7"/>
          <p:cNvSpPr/>
          <p:nvPr/>
        </p:nvSpPr>
        <p:spPr>
          <a:xfrm>
            <a:off x="303608" y="1412776"/>
            <a:ext cx="8840392" cy="5293757"/>
          </a:xfrm>
          <a:prstGeom prst="rect">
            <a:avLst/>
          </a:prstGeom>
        </p:spPr>
        <p:txBody>
          <a:bodyPr wrap="square">
            <a:spAutoFit/>
          </a:bodyPr>
          <a:lstStyle/>
          <a:p>
            <a:pPr lvl="0"/>
            <a:r>
              <a:rPr lang="en-US" sz="2600" dirty="0"/>
              <a:t>Business case – the story behind a proposed project</a:t>
            </a:r>
            <a:r>
              <a:rPr lang="en-GB" sz="2600" dirty="0"/>
              <a:t> </a:t>
            </a:r>
            <a:r>
              <a:rPr lang="en-US" sz="2600" dirty="0"/>
              <a:t>should contain:</a:t>
            </a:r>
          </a:p>
          <a:p>
            <a:pPr lvl="1">
              <a:buFont typeface="Arial"/>
              <a:buChar char="•"/>
            </a:pPr>
            <a:r>
              <a:rPr lang="en-US" sz="2600" dirty="0"/>
              <a:t> </a:t>
            </a:r>
            <a:r>
              <a:rPr lang="en-US" sz="2600" dirty="0">
                <a:solidFill>
                  <a:schemeClr val="tx1">
                    <a:lumMod val="50000"/>
                    <a:lumOff val="50000"/>
                  </a:schemeClr>
                </a:solidFill>
              </a:rPr>
              <a:t>details</a:t>
            </a:r>
            <a:r>
              <a:rPr lang="en-US" sz="2600" dirty="0"/>
              <a:t> of the product or service;</a:t>
            </a:r>
            <a:endParaRPr lang="en-GB" sz="2600" dirty="0"/>
          </a:p>
          <a:p>
            <a:pPr lvl="1">
              <a:buFont typeface="Arial"/>
              <a:buChar char="•"/>
            </a:pPr>
            <a:r>
              <a:rPr lang="en-US" sz="2600" dirty="0"/>
              <a:t> </a:t>
            </a:r>
            <a:r>
              <a:rPr lang="en-US" sz="2600" dirty="0">
                <a:solidFill>
                  <a:schemeClr val="tx1">
                    <a:lumMod val="50000"/>
                    <a:lumOff val="50000"/>
                  </a:schemeClr>
                </a:solidFill>
              </a:rPr>
              <a:t>assessment</a:t>
            </a:r>
            <a:r>
              <a:rPr lang="en-US" sz="2600" dirty="0"/>
              <a:t> of the market opportunity;</a:t>
            </a:r>
          </a:p>
          <a:p>
            <a:pPr lvl="1">
              <a:buFont typeface="Arial"/>
              <a:buChar char="•"/>
            </a:pPr>
            <a:r>
              <a:rPr lang="en-US" sz="2600" dirty="0"/>
              <a:t> </a:t>
            </a:r>
            <a:r>
              <a:rPr lang="en-US" sz="2600" dirty="0">
                <a:solidFill>
                  <a:schemeClr val="tx1">
                    <a:lumMod val="50000"/>
                    <a:lumOff val="50000"/>
                  </a:schemeClr>
                </a:solidFill>
              </a:rPr>
              <a:t>identification</a:t>
            </a:r>
            <a:r>
              <a:rPr lang="en-US" sz="2600" dirty="0"/>
              <a:t> of target customers;</a:t>
            </a:r>
            <a:endParaRPr lang="en-GB" sz="2600" dirty="0"/>
          </a:p>
          <a:p>
            <a:pPr lvl="1">
              <a:buFont typeface="Arial"/>
              <a:buChar char="•"/>
            </a:pPr>
            <a:r>
              <a:rPr lang="en-US" sz="2600" dirty="0"/>
              <a:t> </a:t>
            </a:r>
            <a:r>
              <a:rPr lang="en-US" sz="2600" dirty="0">
                <a:solidFill>
                  <a:schemeClr val="tx1">
                    <a:lumMod val="50000"/>
                    <a:lumOff val="50000"/>
                  </a:schemeClr>
                </a:solidFill>
              </a:rPr>
              <a:t>barriers to entry </a:t>
            </a:r>
            <a:r>
              <a:rPr lang="en-US" sz="2600" dirty="0"/>
              <a:t>and </a:t>
            </a:r>
            <a:r>
              <a:rPr lang="en-US" sz="2600" dirty="0">
                <a:solidFill>
                  <a:schemeClr val="tx1">
                    <a:lumMod val="50000"/>
                    <a:lumOff val="50000"/>
                  </a:schemeClr>
                </a:solidFill>
              </a:rPr>
              <a:t>competitor analysis</a:t>
            </a:r>
            <a:r>
              <a:rPr lang="en-US" sz="2600" dirty="0"/>
              <a:t>;</a:t>
            </a:r>
            <a:endParaRPr lang="en-GB" sz="2600" dirty="0"/>
          </a:p>
          <a:p>
            <a:pPr lvl="1">
              <a:buFont typeface="Arial"/>
              <a:buChar char="•"/>
            </a:pPr>
            <a:r>
              <a:rPr lang="en-US" sz="2600" dirty="0"/>
              <a:t> </a:t>
            </a:r>
            <a:r>
              <a:rPr lang="en-US" sz="2600" dirty="0">
                <a:solidFill>
                  <a:schemeClr val="tx1">
                    <a:lumMod val="50000"/>
                    <a:lumOff val="50000"/>
                  </a:schemeClr>
                </a:solidFill>
              </a:rPr>
              <a:t>experience, expertise </a:t>
            </a:r>
            <a:r>
              <a:rPr lang="en-US" sz="2600" dirty="0"/>
              <a:t>and </a:t>
            </a:r>
            <a:r>
              <a:rPr lang="en-US" sz="2600" dirty="0">
                <a:solidFill>
                  <a:schemeClr val="tx1">
                    <a:lumMod val="50000"/>
                    <a:lumOff val="50000"/>
                  </a:schemeClr>
                </a:solidFill>
              </a:rPr>
              <a:t>commitment</a:t>
            </a:r>
            <a:r>
              <a:rPr lang="en-US" sz="2600" dirty="0"/>
              <a:t> of the management team; </a:t>
            </a:r>
            <a:endParaRPr lang="en-GB" sz="2600" dirty="0"/>
          </a:p>
          <a:p>
            <a:pPr lvl="1">
              <a:buFont typeface="Arial"/>
              <a:buChar char="•"/>
            </a:pPr>
            <a:r>
              <a:rPr lang="en-US" sz="2600" dirty="0"/>
              <a:t> </a:t>
            </a:r>
            <a:r>
              <a:rPr lang="en-US" sz="2600" dirty="0">
                <a:solidFill>
                  <a:schemeClr val="tx1">
                    <a:lumMod val="50000"/>
                    <a:lumOff val="50000"/>
                  </a:schemeClr>
                </a:solidFill>
              </a:rPr>
              <a:t>strategy</a:t>
            </a:r>
            <a:r>
              <a:rPr lang="en-US" sz="2600" dirty="0"/>
              <a:t> for pricing, distribution and sales;</a:t>
            </a:r>
            <a:endParaRPr lang="en-GB" sz="2600" dirty="0"/>
          </a:p>
          <a:p>
            <a:pPr lvl="1">
              <a:buFont typeface="Arial"/>
              <a:buChar char="•"/>
            </a:pPr>
            <a:r>
              <a:rPr lang="en-US" sz="2600" dirty="0"/>
              <a:t> </a:t>
            </a:r>
            <a:r>
              <a:rPr lang="en-US" sz="2600" dirty="0">
                <a:solidFill>
                  <a:schemeClr val="tx1">
                    <a:lumMod val="50000"/>
                    <a:lumOff val="50000"/>
                  </a:schemeClr>
                </a:solidFill>
              </a:rPr>
              <a:t>identification</a:t>
            </a:r>
            <a:r>
              <a:rPr lang="en-US" sz="2600" dirty="0"/>
              <a:t> and </a:t>
            </a:r>
            <a:r>
              <a:rPr lang="en-US" sz="2600" dirty="0">
                <a:solidFill>
                  <a:schemeClr val="tx1">
                    <a:lumMod val="50000"/>
                    <a:lumOff val="50000"/>
                  </a:schemeClr>
                </a:solidFill>
              </a:rPr>
              <a:t>planning</a:t>
            </a:r>
            <a:r>
              <a:rPr lang="en-US" sz="2600" dirty="0"/>
              <a:t> for key risks;</a:t>
            </a:r>
            <a:endParaRPr lang="en-GB" sz="2600" dirty="0"/>
          </a:p>
          <a:p>
            <a:pPr lvl="1">
              <a:buFont typeface="Arial"/>
              <a:buChar char="•"/>
            </a:pPr>
            <a:r>
              <a:rPr lang="en-US" sz="2600" dirty="0"/>
              <a:t> </a:t>
            </a:r>
            <a:r>
              <a:rPr lang="en-US" sz="2600" dirty="0">
                <a:solidFill>
                  <a:schemeClr val="tx1">
                    <a:lumMod val="50000"/>
                    <a:lumOff val="50000"/>
                  </a:schemeClr>
                </a:solidFill>
              </a:rPr>
              <a:t>cash-flow calculation</a:t>
            </a:r>
            <a:r>
              <a:rPr lang="en-US" sz="2600" dirty="0"/>
              <a:t>, including breakeven points and sensitivity;</a:t>
            </a:r>
            <a:endParaRPr lang="en-GB" sz="2600" dirty="0"/>
          </a:p>
          <a:p>
            <a:pPr lvl="1">
              <a:buFont typeface="Arial"/>
              <a:buChar char="•"/>
            </a:pPr>
            <a:r>
              <a:rPr lang="en-US" sz="2600" dirty="0"/>
              <a:t> </a:t>
            </a:r>
            <a:r>
              <a:rPr lang="en-US" sz="2600" dirty="0">
                <a:solidFill>
                  <a:schemeClr val="tx1">
                    <a:lumMod val="50000"/>
                    <a:lumOff val="50000"/>
                  </a:schemeClr>
                </a:solidFill>
              </a:rPr>
              <a:t>financial and other resource requirements </a:t>
            </a:r>
            <a:r>
              <a:rPr lang="en-US" sz="2600" dirty="0"/>
              <a:t>of the business.</a:t>
            </a:r>
            <a:endParaRPr lang="en-GB" sz="2600" dirty="0"/>
          </a:p>
        </p:txBody>
      </p:sp>
    </p:spTree>
    <p:extLst>
      <p:ext uri="{BB962C8B-B14F-4D97-AF65-F5344CB8AC3E}">
        <p14:creationId xmlns:p14="http://schemas.microsoft.com/office/powerpoint/2010/main" val="3250431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916832"/>
            <a:ext cx="8229600" cy="4525963"/>
          </a:xfrm>
        </p:spPr>
        <p:txBody>
          <a:bodyPr/>
          <a:lstStyle/>
          <a:p>
            <a:pPr marL="0" indent="0">
              <a:buNone/>
            </a:pPr>
            <a:r>
              <a:rPr lang="en-US" dirty="0"/>
              <a:t>Choice of method depends on:</a:t>
            </a:r>
          </a:p>
          <a:p>
            <a:pPr marL="0" indent="0">
              <a:buNone/>
            </a:pPr>
            <a:endParaRPr lang="en-US" dirty="0"/>
          </a:p>
          <a:p>
            <a:pPr marL="400050" lvl="1" indent="0">
              <a:buNone/>
            </a:pPr>
            <a:r>
              <a:rPr lang="en-US" b="1" dirty="0"/>
              <a:t>• </a:t>
            </a:r>
            <a:r>
              <a:rPr lang="en-US" dirty="0">
                <a:solidFill>
                  <a:schemeClr val="tx1">
                    <a:lumMod val="50000"/>
                    <a:lumOff val="50000"/>
                  </a:schemeClr>
                </a:solidFill>
              </a:rPr>
              <a:t>what </a:t>
            </a:r>
            <a:r>
              <a:rPr lang="en-US" dirty="0"/>
              <a:t>we are trying to forecast</a:t>
            </a:r>
            <a:br>
              <a:rPr lang="en-US" dirty="0"/>
            </a:br>
            <a:r>
              <a:rPr lang="en-US" b="1" dirty="0"/>
              <a:t>• </a:t>
            </a:r>
            <a:r>
              <a:rPr lang="en-US" dirty="0">
                <a:solidFill>
                  <a:schemeClr val="tx1">
                    <a:lumMod val="50000"/>
                    <a:lumOff val="50000"/>
                  </a:schemeClr>
                </a:solidFill>
              </a:rPr>
              <a:t>rate</a:t>
            </a:r>
            <a:r>
              <a:rPr lang="en-US" dirty="0"/>
              <a:t> of technological and market change </a:t>
            </a:r>
          </a:p>
          <a:p>
            <a:pPr marL="400050" lvl="1" indent="0">
              <a:buNone/>
            </a:pPr>
            <a:r>
              <a:rPr lang="en-US" b="1" dirty="0"/>
              <a:t>• </a:t>
            </a:r>
            <a:r>
              <a:rPr lang="en-US" dirty="0">
                <a:solidFill>
                  <a:schemeClr val="tx1">
                    <a:lumMod val="50000"/>
                    <a:lumOff val="50000"/>
                  </a:schemeClr>
                </a:solidFill>
              </a:rPr>
              <a:t>availability</a:t>
            </a:r>
            <a:r>
              <a:rPr lang="en-US" dirty="0"/>
              <a:t> and </a:t>
            </a:r>
            <a:r>
              <a:rPr lang="en-US" dirty="0">
                <a:solidFill>
                  <a:schemeClr val="tx1">
                    <a:lumMod val="50000"/>
                    <a:lumOff val="50000"/>
                  </a:schemeClr>
                </a:solidFill>
              </a:rPr>
              <a:t>accuracy</a:t>
            </a:r>
            <a:r>
              <a:rPr lang="en-US" dirty="0"/>
              <a:t> of information </a:t>
            </a:r>
          </a:p>
          <a:p>
            <a:pPr marL="400050" lvl="1" indent="0">
              <a:buNone/>
            </a:pPr>
            <a:r>
              <a:rPr lang="en-US" b="1" dirty="0"/>
              <a:t>• </a:t>
            </a:r>
            <a:r>
              <a:rPr lang="en-US" dirty="0"/>
              <a:t>the company’s </a:t>
            </a:r>
            <a:r>
              <a:rPr lang="en-US" dirty="0">
                <a:solidFill>
                  <a:schemeClr val="tx1">
                    <a:lumMod val="50000"/>
                    <a:lumOff val="50000"/>
                  </a:schemeClr>
                </a:solidFill>
              </a:rPr>
              <a:t>planning horizon</a:t>
            </a:r>
            <a:br>
              <a:rPr lang="en-US" dirty="0"/>
            </a:br>
            <a:r>
              <a:rPr lang="en-US" b="1" dirty="0"/>
              <a:t>• </a:t>
            </a:r>
            <a:r>
              <a:rPr lang="en-US" dirty="0"/>
              <a:t>the </a:t>
            </a:r>
            <a:r>
              <a:rPr lang="en-US" dirty="0">
                <a:solidFill>
                  <a:schemeClr val="tx1">
                    <a:lumMod val="50000"/>
                    <a:lumOff val="50000"/>
                  </a:schemeClr>
                </a:solidFill>
              </a:rPr>
              <a:t>resources</a:t>
            </a:r>
            <a:r>
              <a:rPr lang="en-US" dirty="0"/>
              <a:t> available for forecasting. </a:t>
            </a:r>
          </a:p>
          <a:p>
            <a:endParaRPr lang="en-US" dirty="0"/>
          </a:p>
        </p:txBody>
      </p:sp>
      <p:cxnSp>
        <p:nvCxnSpPr>
          <p:cNvPr id="4" name="Straight Connector 3"/>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 name="Title 1"/>
          <p:cNvSpPr>
            <a:spLocks noGrp="1"/>
          </p:cNvSpPr>
          <p:nvPr>
            <p:ph type="title"/>
          </p:nvPr>
        </p:nvSpPr>
        <p:spPr>
          <a:xfrm>
            <a:off x="-1044624" y="260648"/>
            <a:ext cx="8229600" cy="1143000"/>
          </a:xfrm>
        </p:spPr>
        <p:txBody>
          <a:bodyPr>
            <a:noAutofit/>
          </a:bodyPr>
          <a:lstStyle/>
          <a:p>
            <a:pPr lvl="0">
              <a:defRPr/>
            </a:pPr>
            <a:r>
              <a:rPr lang="en-GB" sz="3600" b="1" dirty="0">
                <a:solidFill>
                  <a:srgbClr val="008000"/>
                </a:solidFill>
              </a:rPr>
              <a:t>Forecasting innovation</a:t>
            </a:r>
          </a:p>
        </p:txBody>
      </p:sp>
      <p:pic>
        <p:nvPicPr>
          <p:cNvPr id="78850" name="Picture 2" descr="Image result for forecasting"/>
          <p:cNvPicPr>
            <a:picLocks noChangeAspect="1" noChangeArrowheads="1"/>
          </p:cNvPicPr>
          <p:nvPr/>
        </p:nvPicPr>
        <p:blipFill>
          <a:blip r:embed="rId2" cstate="print"/>
          <a:srcRect/>
          <a:stretch>
            <a:fillRect/>
          </a:stretch>
        </p:blipFill>
        <p:spPr bwMode="auto">
          <a:xfrm>
            <a:off x="6156176" y="0"/>
            <a:ext cx="2119288" cy="1296144"/>
          </a:xfrm>
          <a:prstGeom prst="rect">
            <a:avLst/>
          </a:prstGeom>
          <a:noFill/>
        </p:spPr>
      </p:pic>
    </p:spTree>
    <p:extLst>
      <p:ext uri="{BB962C8B-B14F-4D97-AF65-F5344CB8AC3E}">
        <p14:creationId xmlns:p14="http://schemas.microsoft.com/office/powerpoint/2010/main" val="2404039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619672"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Types of forecasting</a:t>
            </a:r>
            <a:endParaRPr lang="en-GB" sz="3600" b="1" dirty="0">
              <a:solidFill>
                <a:srgbClr val="008000"/>
              </a:solidFill>
              <a:latin typeface="+mj-lt"/>
              <a:ea typeface="+mj-ea"/>
              <a:cs typeface="+mj-cs"/>
            </a:endParaRPr>
          </a:p>
        </p:txBody>
      </p:sp>
      <p:graphicFrame>
        <p:nvGraphicFramePr>
          <p:cNvPr id="44034" name="Object 2"/>
          <p:cNvGraphicFramePr>
            <a:graphicFrameLocks noChangeAspect="1"/>
          </p:cNvGraphicFramePr>
          <p:nvPr/>
        </p:nvGraphicFramePr>
        <p:xfrm>
          <a:off x="590550" y="1781771"/>
          <a:ext cx="8247063" cy="4564062"/>
        </p:xfrm>
        <a:graphic>
          <a:graphicData uri="http://schemas.openxmlformats.org/presentationml/2006/ole">
            <mc:AlternateContent xmlns:mc="http://schemas.openxmlformats.org/markup-compatibility/2006">
              <mc:Choice xmlns:v="urn:schemas-microsoft-com:vml" Requires="v">
                <p:oleObj name="Document" r:id="rId2" imgW="22501587" imgH="10361905" progId="Word.Document.12">
                  <p:link updateAutomatic="1"/>
                </p:oleObj>
              </mc:Choice>
              <mc:Fallback>
                <p:oleObj name="Document" r:id="rId2" imgW="22501587" imgH="10361905" progId="Word.Document.12">
                  <p:link updateAutomatic="1"/>
                  <p:pic>
                    <p:nvPicPr>
                      <p:cNvPr id="4403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550" y="1781771"/>
                        <a:ext cx="8247063" cy="4564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 name="Rectangle 8"/>
          <p:cNvSpPr/>
          <p:nvPr/>
        </p:nvSpPr>
        <p:spPr>
          <a:xfrm>
            <a:off x="909558" y="5991890"/>
            <a:ext cx="7927985" cy="353943"/>
          </a:xfrm>
          <a:prstGeom prst="rect">
            <a:avLst/>
          </a:prstGeom>
          <a:solidFill>
            <a:schemeClr val="bg1"/>
          </a:solidFill>
        </p:spPr>
        <p:txBody>
          <a:bodyPr wrap="square">
            <a:spAutoFit/>
          </a:bodyPr>
          <a:lstStyle/>
          <a:p>
            <a:pPr algn="ctr"/>
            <a:endParaRPr lang="en-US" sz="1700" dirty="0">
              <a:solidFill>
                <a:srgbClr val="FF0000"/>
              </a:solidFill>
            </a:endParaRPr>
          </a:p>
        </p:txBody>
      </p:sp>
    </p:spTree>
    <p:extLst>
      <p:ext uri="{BB962C8B-B14F-4D97-AF65-F5344CB8AC3E}">
        <p14:creationId xmlns:p14="http://schemas.microsoft.com/office/powerpoint/2010/main" val="1415154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75656"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Types of forecasting (continued)</a:t>
            </a:r>
            <a:endParaRPr lang="en-GB" sz="3600" b="1" dirty="0">
              <a:solidFill>
                <a:srgbClr val="008000"/>
              </a:solidFill>
              <a:latin typeface="+mj-lt"/>
              <a:ea typeface="+mj-ea"/>
              <a:cs typeface="+mj-cs"/>
            </a:endParaRPr>
          </a:p>
        </p:txBody>
      </p:sp>
      <p:graphicFrame>
        <p:nvGraphicFramePr>
          <p:cNvPr id="76803" name="Object 3"/>
          <p:cNvGraphicFramePr>
            <a:graphicFrameLocks noChangeAspect="1"/>
          </p:cNvGraphicFramePr>
          <p:nvPr/>
        </p:nvGraphicFramePr>
        <p:xfrm>
          <a:off x="458788" y="2008188"/>
          <a:ext cx="8488362" cy="3933825"/>
        </p:xfrm>
        <a:graphic>
          <a:graphicData uri="http://schemas.openxmlformats.org/presentationml/2006/ole">
            <mc:AlternateContent xmlns:mc="http://schemas.openxmlformats.org/markup-compatibility/2006">
              <mc:Choice xmlns:v="urn:schemas-microsoft-com:vml" Requires="v">
                <p:oleObj name="Document" r:id="rId2" imgW="22501587" imgH="8126984" progId="Word.Document.12">
                  <p:link updateAutomatic="1"/>
                </p:oleObj>
              </mc:Choice>
              <mc:Fallback>
                <p:oleObj name="Document" r:id="rId2" imgW="22501587" imgH="8126984" progId="Word.Document.12">
                  <p:link updateAutomatic="1"/>
                  <p:pic>
                    <p:nvPicPr>
                      <p:cNvPr id="7680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2008188"/>
                        <a:ext cx="8488362" cy="3933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131201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75656" y="332656"/>
            <a:ext cx="5739505" cy="917864"/>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Use of forecasting</a:t>
            </a:r>
            <a:endParaRPr lang="en-GB" sz="3600" b="1" dirty="0">
              <a:solidFill>
                <a:srgbClr val="008000"/>
              </a:solidFill>
              <a:latin typeface="+mj-lt"/>
              <a:ea typeface="+mj-ea"/>
              <a:cs typeface="+mj-cs"/>
            </a:endParaRPr>
          </a:p>
        </p:txBody>
      </p:sp>
      <p:graphicFrame>
        <p:nvGraphicFramePr>
          <p:cNvPr id="81923" name="Object 3"/>
          <p:cNvGraphicFramePr>
            <a:graphicFrameLocks noChangeAspect="1"/>
          </p:cNvGraphicFramePr>
          <p:nvPr/>
        </p:nvGraphicFramePr>
        <p:xfrm>
          <a:off x="544477" y="1892299"/>
          <a:ext cx="8366360" cy="3199345"/>
        </p:xfrm>
        <a:graphic>
          <a:graphicData uri="http://schemas.openxmlformats.org/presentationml/2006/ole">
            <mc:AlternateContent xmlns:mc="http://schemas.openxmlformats.org/markup-compatibility/2006">
              <mc:Choice xmlns:v="urn:schemas-microsoft-com:vml" Requires="v">
                <p:oleObj name="Document" r:id="rId2" imgW="22603175" imgH="6146032" progId="Word.Document.12">
                  <p:link updateAutomatic="1"/>
                </p:oleObj>
              </mc:Choice>
              <mc:Fallback>
                <p:oleObj name="Document" r:id="rId2" imgW="22603175" imgH="6146032" progId="Word.Document.12">
                  <p:link updateAutomatic="1"/>
                  <p:pic>
                    <p:nvPicPr>
                      <p:cNvPr id="8192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77" y="1892299"/>
                        <a:ext cx="8366360" cy="319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 name="Rectangle 8"/>
          <p:cNvSpPr/>
          <p:nvPr/>
        </p:nvSpPr>
        <p:spPr>
          <a:xfrm>
            <a:off x="593797" y="4906709"/>
            <a:ext cx="7927985" cy="1231106"/>
          </a:xfrm>
          <a:prstGeom prst="rect">
            <a:avLst/>
          </a:prstGeom>
          <a:solidFill>
            <a:schemeClr val="bg1"/>
          </a:solidFill>
        </p:spPr>
        <p:txBody>
          <a:bodyPr wrap="square">
            <a:spAutoFit/>
          </a:bodyPr>
          <a:lstStyle/>
          <a:p>
            <a:pPr>
              <a:spcAft>
                <a:spcPts val="1200"/>
              </a:spcAft>
            </a:pPr>
            <a:r>
              <a:rPr lang="en-US" sz="1600" dirty="0"/>
              <a:t>Usefulness Scale: 1-5, 5=critical, based on manager assessments of 50 development projects in 25 firms. * denotes difference in usefulness rating is statistically significant at 5% level</a:t>
            </a:r>
            <a:endParaRPr lang="en-GB" sz="1600" dirty="0"/>
          </a:p>
          <a:p>
            <a:pPr>
              <a:spcAft>
                <a:spcPts val="1200"/>
              </a:spcAft>
            </a:pPr>
            <a:r>
              <a:rPr lang="en-GB" sz="1600" i="1" dirty="0"/>
              <a:t>Source</a:t>
            </a:r>
            <a:r>
              <a:rPr lang="en-GB" sz="1600" dirty="0"/>
              <a:t>: Adapted from Tidd, J. and Bodley, K.</a:t>
            </a:r>
            <a:r>
              <a:rPr lang="en-GB" sz="1600" b="1" dirty="0"/>
              <a:t> </a:t>
            </a:r>
            <a:r>
              <a:rPr lang="en-GB" sz="1600" dirty="0"/>
              <a:t>(2002) ‘The affect of project novelty on the new product development process’</a:t>
            </a:r>
            <a:r>
              <a:rPr lang="en-GB" sz="1600" i="1" dirty="0"/>
              <a:t>, R&amp;D Management,</a:t>
            </a:r>
            <a:r>
              <a:rPr lang="en-GB" sz="1600" dirty="0"/>
              <a:t> 32(2), 127-138.</a:t>
            </a:r>
          </a:p>
        </p:txBody>
      </p:sp>
    </p:spTree>
    <p:extLst>
      <p:ext uri="{BB962C8B-B14F-4D97-AF65-F5344CB8AC3E}">
        <p14:creationId xmlns:p14="http://schemas.microsoft.com/office/powerpoint/2010/main" val="997132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83568" y="332656"/>
            <a:ext cx="7212767" cy="917864"/>
          </a:xfrm>
          <a:prstGeom prst="rect">
            <a:avLst/>
          </a:prstGeom>
        </p:spPr>
        <p:txBody>
          <a:bodyPr vert="horz" lIns="91440" tIns="45720" rIns="91440" bIns="45720" rtlCol="0" anchor="ctr">
            <a:noAutofit/>
          </a:bodyPr>
          <a:lstStyle/>
          <a:p>
            <a:pPr lvl="0" algn="ctr">
              <a:spcBef>
                <a:spcPct val="0"/>
              </a:spcBef>
              <a:defRPr/>
            </a:pPr>
            <a:r>
              <a:rPr lang="en-US" sz="3600" b="1" dirty="0">
                <a:solidFill>
                  <a:srgbClr val="008000"/>
                </a:solidFill>
                <a:latin typeface="+mj-lt"/>
                <a:ea typeface="+mj-ea"/>
                <a:cs typeface="+mj-cs"/>
              </a:rPr>
              <a:t>The most common forecasting methods</a:t>
            </a:r>
            <a:endParaRPr lang="en-GB" sz="3600" b="1" dirty="0">
              <a:solidFill>
                <a:srgbClr val="008000"/>
              </a:solidFill>
              <a:latin typeface="+mj-lt"/>
              <a:ea typeface="+mj-ea"/>
              <a:cs typeface="+mj-cs"/>
            </a:endParaRPr>
          </a:p>
        </p:txBody>
      </p:sp>
      <p:sp>
        <p:nvSpPr>
          <p:cNvPr id="8" name="Rectangle 7"/>
          <p:cNvSpPr/>
          <p:nvPr/>
        </p:nvSpPr>
        <p:spPr>
          <a:xfrm>
            <a:off x="467544" y="2132856"/>
            <a:ext cx="8478016" cy="3477875"/>
          </a:xfrm>
          <a:prstGeom prst="rect">
            <a:avLst/>
          </a:prstGeom>
        </p:spPr>
        <p:txBody>
          <a:bodyPr wrap="square">
            <a:spAutoFit/>
          </a:bodyPr>
          <a:lstStyle/>
          <a:p>
            <a:pPr lvl="1">
              <a:spcAft>
                <a:spcPts val="2400"/>
              </a:spcAft>
              <a:buFont typeface="Arial"/>
              <a:buChar char="•"/>
            </a:pPr>
            <a:r>
              <a:rPr lang="en-US" sz="2800" dirty="0"/>
              <a:t> customer or market surveys;</a:t>
            </a:r>
            <a:endParaRPr lang="en-GB" sz="2800" dirty="0"/>
          </a:p>
          <a:p>
            <a:pPr lvl="1">
              <a:spcAft>
                <a:spcPts val="2400"/>
              </a:spcAft>
              <a:buFont typeface="Arial"/>
              <a:buChar char="•"/>
            </a:pPr>
            <a:r>
              <a:rPr lang="en-US" sz="2800" dirty="0"/>
              <a:t> internal analysis (e.g. brainstorming);</a:t>
            </a:r>
          </a:p>
          <a:p>
            <a:pPr lvl="1">
              <a:spcAft>
                <a:spcPts val="2400"/>
              </a:spcAft>
              <a:buFont typeface="Arial"/>
              <a:buChar char="•"/>
            </a:pPr>
            <a:r>
              <a:rPr lang="en-US" sz="2800" dirty="0"/>
              <a:t> external analysis (e.g. benchmarking);</a:t>
            </a:r>
          </a:p>
          <a:p>
            <a:pPr lvl="1">
              <a:spcAft>
                <a:spcPts val="2400"/>
              </a:spcAft>
              <a:buFont typeface="Arial"/>
              <a:buChar char="•"/>
            </a:pPr>
            <a:r>
              <a:rPr lang="en-US" sz="2800" dirty="0"/>
              <a:t> external analysis (e.g. Delphi or expert opinion); </a:t>
            </a:r>
            <a:endParaRPr lang="en-GB" sz="2800" dirty="0"/>
          </a:p>
          <a:p>
            <a:pPr lvl="1">
              <a:spcAft>
                <a:spcPts val="2400"/>
              </a:spcAft>
              <a:buFont typeface="Arial"/>
              <a:buChar char="•"/>
            </a:pPr>
            <a:r>
              <a:rPr lang="en-US" sz="2800" dirty="0"/>
              <a:t> scenario development.</a:t>
            </a:r>
            <a:endParaRPr lang="en-GB" sz="2800" dirty="0"/>
          </a:p>
        </p:txBody>
      </p:sp>
    </p:spTree>
    <p:extLst>
      <p:ext uri="{BB962C8B-B14F-4D97-AF65-F5344CB8AC3E}">
        <p14:creationId xmlns:p14="http://schemas.microsoft.com/office/powerpoint/2010/main" val="1990288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35696" y="332656"/>
            <a:ext cx="5395101"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The problem of multiple projects</a:t>
            </a:r>
            <a:endParaRPr lang="en-GB" sz="3600" b="1" dirty="0">
              <a:solidFill>
                <a:srgbClr val="008000"/>
              </a:solidFill>
              <a:latin typeface="+mj-lt"/>
              <a:ea typeface="+mj-ea"/>
              <a:cs typeface="+mj-cs"/>
            </a:endParaRPr>
          </a:p>
        </p:txBody>
      </p:sp>
      <p:sp>
        <p:nvSpPr>
          <p:cNvPr id="8" name="Rectangle 7"/>
          <p:cNvSpPr/>
          <p:nvPr/>
        </p:nvSpPr>
        <p:spPr>
          <a:xfrm>
            <a:off x="1331640" y="2348880"/>
            <a:ext cx="8840392" cy="3447098"/>
          </a:xfrm>
          <a:prstGeom prst="rect">
            <a:avLst/>
          </a:prstGeom>
        </p:spPr>
        <p:txBody>
          <a:bodyPr wrap="square">
            <a:spAutoFit/>
          </a:bodyPr>
          <a:lstStyle/>
          <a:p>
            <a:pPr>
              <a:spcAft>
                <a:spcPts val="1200"/>
              </a:spcAft>
            </a:pPr>
            <a:r>
              <a:rPr lang="en-US" sz="2800" dirty="0"/>
              <a:t>The problem of multiple projects:</a:t>
            </a:r>
          </a:p>
          <a:p>
            <a:pPr>
              <a:spcAft>
                <a:spcPts val="1200"/>
              </a:spcAft>
            </a:pPr>
            <a:endParaRPr lang="en-GB" sz="2800" dirty="0"/>
          </a:p>
          <a:p>
            <a:pPr lvl="1">
              <a:spcAft>
                <a:spcPts val="1200"/>
              </a:spcAft>
              <a:buFont typeface="Arial"/>
              <a:buChar char="•"/>
            </a:pPr>
            <a:r>
              <a:rPr lang="en-US" sz="2800" dirty="0"/>
              <a:t> Business case OK for single project.</a:t>
            </a:r>
            <a:endParaRPr lang="en-GB" sz="2800" dirty="0"/>
          </a:p>
          <a:p>
            <a:pPr lvl="1">
              <a:spcAft>
                <a:spcPts val="1200"/>
              </a:spcAft>
              <a:buFont typeface="Arial"/>
              <a:buChar char="•"/>
            </a:pPr>
            <a:r>
              <a:rPr lang="en-US" sz="2800" dirty="0"/>
              <a:t> How to assess competing projects?</a:t>
            </a:r>
            <a:endParaRPr lang="en-GB" sz="2800" dirty="0"/>
          </a:p>
          <a:p>
            <a:pPr lvl="1">
              <a:spcAft>
                <a:spcPts val="1200"/>
              </a:spcAft>
              <a:buFont typeface="Arial"/>
              <a:buChar char="•"/>
            </a:pPr>
            <a:r>
              <a:rPr lang="en-US" sz="2800" dirty="0"/>
              <a:t> Need to </a:t>
            </a:r>
            <a:r>
              <a:rPr lang="en-US" sz="2800" dirty="0">
                <a:solidFill>
                  <a:schemeClr val="tx1">
                    <a:lumMod val="50000"/>
                    <a:lumOff val="50000"/>
                  </a:schemeClr>
                </a:solidFill>
              </a:rPr>
              <a:t>balance</a:t>
            </a:r>
            <a:r>
              <a:rPr lang="en-US" sz="2800" dirty="0"/>
              <a:t> risk and reward.</a:t>
            </a:r>
            <a:endParaRPr lang="en-GB" sz="2800" dirty="0"/>
          </a:p>
          <a:p>
            <a:pPr lvl="1">
              <a:spcAft>
                <a:spcPts val="1200"/>
              </a:spcAft>
              <a:buFont typeface="Arial"/>
              <a:buChar char="•"/>
            </a:pPr>
            <a:r>
              <a:rPr lang="en-US" sz="2800" dirty="0"/>
              <a:t> Need for portfolio management</a:t>
            </a:r>
            <a:r>
              <a:rPr lang="en-GB" sz="2800" dirty="0"/>
              <a:t>.</a:t>
            </a:r>
          </a:p>
        </p:txBody>
      </p:sp>
    </p:spTree>
    <p:extLst>
      <p:ext uri="{BB962C8B-B14F-4D97-AF65-F5344CB8AC3E}">
        <p14:creationId xmlns:p14="http://schemas.microsoft.com/office/powerpoint/2010/main" val="3597322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99592" y="332656"/>
            <a:ext cx="7133587"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Problems due to lack of portfolio management</a:t>
            </a:r>
            <a:endParaRPr lang="en-GB" sz="3600" b="1" dirty="0">
              <a:solidFill>
                <a:srgbClr val="008000"/>
              </a:solidFill>
              <a:latin typeface="+mj-lt"/>
              <a:ea typeface="+mj-ea"/>
              <a:cs typeface="+mj-cs"/>
            </a:endParaRPr>
          </a:p>
        </p:txBody>
      </p:sp>
      <p:pic>
        <p:nvPicPr>
          <p:cNvPr id="2" name="Picture 1" descr="Screen Shot 2015-07-11 at 09.13.32.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8300" y="1585905"/>
            <a:ext cx="8407400" cy="5270500"/>
          </a:xfrm>
          <a:prstGeom prst="rect">
            <a:avLst/>
          </a:prstGeom>
        </p:spPr>
      </p:pic>
      <p:sp>
        <p:nvSpPr>
          <p:cNvPr id="3" name="TextBox 2">
            <a:extLst>
              <a:ext uri="{FF2B5EF4-FFF2-40B4-BE49-F238E27FC236}">
                <a16:creationId xmlns:a16="http://schemas.microsoft.com/office/drawing/2014/main" id="{5277CD58-4949-1B47-8FCD-CB76E0380D8B}"/>
              </a:ext>
            </a:extLst>
          </p:cNvPr>
          <p:cNvSpPr txBox="1"/>
          <p:nvPr/>
        </p:nvSpPr>
        <p:spPr>
          <a:xfrm>
            <a:off x="683568" y="1772816"/>
            <a:ext cx="1008112" cy="369332"/>
          </a:xfrm>
          <a:prstGeom prst="rect">
            <a:avLst/>
          </a:prstGeom>
          <a:solidFill>
            <a:schemeClr val="accent5"/>
          </a:solidFill>
        </p:spPr>
        <p:txBody>
          <a:bodyPr wrap="square" rtlCol="0">
            <a:spAutoFit/>
          </a:bodyPr>
          <a:lstStyle/>
          <a:p>
            <a:endParaRPr lang="en-US" dirty="0"/>
          </a:p>
        </p:txBody>
      </p:sp>
    </p:spTree>
    <p:extLst>
      <p:ext uri="{BB962C8B-B14F-4D97-AF65-F5344CB8AC3E}">
        <p14:creationId xmlns:p14="http://schemas.microsoft.com/office/powerpoint/2010/main" val="2900509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763688" y="332656"/>
            <a:ext cx="5395101"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Example of a bubble chart</a:t>
            </a:r>
            <a:endParaRPr lang="en-GB" sz="3600" b="1" dirty="0">
              <a:solidFill>
                <a:srgbClr val="008000"/>
              </a:solidFill>
              <a:latin typeface="+mj-lt"/>
              <a:ea typeface="+mj-ea"/>
              <a:cs typeface="+mj-cs"/>
            </a:endParaRPr>
          </a:p>
        </p:txBody>
      </p:sp>
      <p:pic>
        <p:nvPicPr>
          <p:cNvPr id="9" name="Picture 8"/>
          <p:cNvPicPr/>
          <p:nvPr/>
        </p:nvPicPr>
        <p:blipFill>
          <a:blip r:embed="rId2" cstate="print">
            <a:extLst>
              <a:ext uri="{28A0092B-C50C-407E-A947-70E740481C1C}">
                <a14:useLocalDpi xmlns:a14="http://schemas.microsoft.com/office/drawing/2010/main" val="0"/>
              </a:ext>
            </a:extLst>
          </a:blip>
          <a:stretch>
            <a:fillRect/>
          </a:stretch>
        </p:blipFill>
        <p:spPr>
          <a:xfrm>
            <a:off x="683568" y="1844824"/>
            <a:ext cx="7742050" cy="4648029"/>
          </a:xfrm>
          <a:prstGeom prst="rect">
            <a:avLst/>
          </a:prstGeom>
        </p:spPr>
      </p:pic>
    </p:spTree>
    <p:extLst>
      <p:ext uri="{BB962C8B-B14F-4D97-AF65-F5344CB8AC3E}">
        <p14:creationId xmlns:p14="http://schemas.microsoft.com/office/powerpoint/2010/main" val="9878464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835696" y="332656"/>
            <a:ext cx="5395101"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The A D Little matrix</a:t>
            </a:r>
            <a:endParaRPr lang="en-GB" sz="3600" b="1" dirty="0">
              <a:solidFill>
                <a:srgbClr val="008000"/>
              </a:solidFill>
              <a:latin typeface="+mj-lt"/>
              <a:ea typeface="+mj-ea"/>
              <a:cs typeface="+mj-cs"/>
            </a:endParaRPr>
          </a:p>
        </p:txBody>
      </p:sp>
      <p:sp>
        <p:nvSpPr>
          <p:cNvPr id="8" name="Rectangle 7"/>
          <p:cNvSpPr/>
          <p:nvPr/>
        </p:nvSpPr>
        <p:spPr>
          <a:xfrm>
            <a:off x="467544" y="1844824"/>
            <a:ext cx="8478016" cy="4493538"/>
          </a:xfrm>
          <a:prstGeom prst="rect">
            <a:avLst/>
          </a:prstGeom>
        </p:spPr>
        <p:txBody>
          <a:bodyPr wrap="square">
            <a:spAutoFit/>
          </a:bodyPr>
          <a:lstStyle/>
          <a:p>
            <a:pPr>
              <a:buFont typeface="Arial"/>
              <a:buChar char="•"/>
            </a:pPr>
            <a:r>
              <a:rPr lang="en-US" sz="2600" dirty="0"/>
              <a:t> A D Little matrix groups technological knowledge into four key groups: </a:t>
            </a:r>
            <a:r>
              <a:rPr lang="en-US" sz="2600" dirty="0">
                <a:solidFill>
                  <a:schemeClr val="tx1">
                    <a:lumMod val="50000"/>
                    <a:lumOff val="50000"/>
                  </a:schemeClr>
                </a:solidFill>
              </a:rPr>
              <a:t>base, key, emerging and pacing</a:t>
            </a:r>
            <a:r>
              <a:rPr lang="en-US" sz="2600" dirty="0"/>
              <a:t>.</a:t>
            </a:r>
          </a:p>
          <a:p>
            <a:pPr>
              <a:buFont typeface="Arial"/>
              <a:buChar char="•"/>
            </a:pPr>
            <a:endParaRPr lang="en-US" sz="2600" dirty="0"/>
          </a:p>
          <a:p>
            <a:pPr>
              <a:buFont typeface="Arial"/>
              <a:buChar char="•"/>
            </a:pPr>
            <a:r>
              <a:rPr lang="en-US" sz="2600" dirty="0"/>
              <a:t> Making this distinction helps: identify a strategy for acquisition based on the degree of potential impact; the importance to the enterprise; the protectability of the knowledge</a:t>
            </a:r>
            <a:r>
              <a:rPr lang="en-GB" sz="2600" dirty="0"/>
              <a:t>.</a:t>
            </a:r>
          </a:p>
          <a:p>
            <a:pPr>
              <a:buFont typeface="Arial"/>
              <a:buChar char="•"/>
            </a:pPr>
            <a:endParaRPr lang="en-GB" sz="2600" dirty="0"/>
          </a:p>
          <a:p>
            <a:pPr>
              <a:buFont typeface="Arial"/>
              <a:buChar char="•"/>
            </a:pPr>
            <a:r>
              <a:rPr lang="en-US" sz="2600" dirty="0"/>
              <a:t> Models of this can be refined, for example, by adding to the matrix information about different markets and their rate of growth or decline</a:t>
            </a:r>
            <a:r>
              <a:rPr lang="en-GB" sz="2600" dirty="0"/>
              <a:t>  </a:t>
            </a:r>
            <a:endParaRPr lang="en-US" sz="2600" dirty="0"/>
          </a:p>
        </p:txBody>
      </p:sp>
    </p:spTree>
    <p:extLst>
      <p:ext uri="{BB962C8B-B14F-4D97-AF65-F5344CB8AC3E}">
        <p14:creationId xmlns:p14="http://schemas.microsoft.com/office/powerpoint/2010/main" val="2426016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4" y="332094"/>
            <a:ext cx="5395101"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Example of a bubble chart</a:t>
            </a:r>
            <a:r>
              <a:rPr lang="en-GB" sz="3600" b="1" dirty="0">
                <a:solidFill>
                  <a:srgbClr val="008000"/>
                </a:solidFill>
                <a:latin typeface="+mj-lt"/>
                <a:ea typeface="+mj-ea"/>
                <a:cs typeface="+mj-cs"/>
              </a:rPr>
              <a:t> </a:t>
            </a:r>
          </a:p>
        </p:txBody>
      </p:sp>
      <p:pic>
        <p:nvPicPr>
          <p:cNvPr id="9" name="Picture 8"/>
          <p:cNvPicPr>
            <a:picLocks noChangeAspect="1"/>
          </p:cNvPicPr>
          <p:nvPr/>
        </p:nvPicPr>
        <p:blipFill>
          <a:blip r:embed="rId2" cstate="print"/>
          <a:stretch>
            <a:fillRect/>
          </a:stretch>
        </p:blipFill>
        <p:spPr>
          <a:xfrm>
            <a:off x="1855577" y="1839188"/>
            <a:ext cx="5776495" cy="4272426"/>
          </a:xfrm>
          <a:prstGeom prst="rect">
            <a:avLst/>
          </a:prstGeom>
        </p:spPr>
      </p:pic>
    </p:spTree>
    <p:extLst>
      <p:ext uri="{BB962C8B-B14F-4D97-AF65-F5344CB8AC3E}">
        <p14:creationId xmlns:p14="http://schemas.microsoft.com/office/powerpoint/2010/main" val="1033988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99592" y="332656"/>
            <a:ext cx="7414329"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Example of stage gate system</a:t>
            </a:r>
            <a:endParaRPr lang="en-GB" sz="3600" b="1" dirty="0">
              <a:solidFill>
                <a:srgbClr val="008000"/>
              </a:solidFill>
              <a:latin typeface="+mj-lt"/>
              <a:ea typeface="+mj-ea"/>
              <a:cs typeface="+mj-cs"/>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2588" y="1780355"/>
            <a:ext cx="5838825" cy="43529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662333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332656"/>
            <a:ext cx="741432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Implementing a stage gate system</a:t>
            </a:r>
            <a:endParaRPr lang="en-GB" sz="3600" b="1" dirty="0">
              <a:solidFill>
                <a:srgbClr val="008000"/>
              </a:solidFill>
              <a:latin typeface="+mj-lt"/>
              <a:ea typeface="+mj-ea"/>
              <a:cs typeface="+mj-cs"/>
            </a:endParaRPr>
          </a:p>
        </p:txBody>
      </p:sp>
      <p:sp>
        <p:nvSpPr>
          <p:cNvPr id="11" name="Rectangle 10"/>
          <p:cNvSpPr/>
          <p:nvPr/>
        </p:nvSpPr>
        <p:spPr>
          <a:xfrm>
            <a:off x="539552" y="2276872"/>
            <a:ext cx="8233380" cy="2677656"/>
          </a:xfrm>
          <a:prstGeom prst="rect">
            <a:avLst/>
          </a:prstGeom>
          <a:solidFill>
            <a:schemeClr val="bg1"/>
          </a:solidFill>
        </p:spPr>
        <p:txBody>
          <a:bodyPr wrap="square">
            <a:spAutoFit/>
          </a:bodyPr>
          <a:lstStyle/>
          <a:p>
            <a:r>
              <a:rPr lang="en-US" sz="2800" dirty="0"/>
              <a:t>The case of ABC Electronics describes the design and implementation of a stage gate system.</a:t>
            </a:r>
          </a:p>
          <a:p>
            <a:r>
              <a:rPr lang="en-US" sz="2800" dirty="0">
                <a:hlinkClick r:id="rId2"/>
              </a:rPr>
              <a:t>See the website for this and other cases</a:t>
            </a:r>
            <a:endParaRPr lang="en-US" sz="2800" dirty="0"/>
          </a:p>
          <a:p>
            <a:endParaRPr lang="en-US" sz="2800" dirty="0"/>
          </a:p>
          <a:p>
            <a:endParaRPr lang="en-US" sz="2800" dirty="0"/>
          </a:p>
          <a:p>
            <a:endParaRPr lang="en-GB" sz="2800" dirty="0"/>
          </a:p>
        </p:txBody>
      </p:sp>
    </p:spTree>
    <p:extLst>
      <p:ext uri="{BB962C8B-B14F-4D97-AF65-F5344CB8AC3E}">
        <p14:creationId xmlns:p14="http://schemas.microsoft.com/office/powerpoint/2010/main" val="3783885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2195736" y="332656"/>
            <a:ext cx="480327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Dealing with radical innovation</a:t>
            </a:r>
            <a:endParaRPr lang="en-GB" sz="3600" b="1" dirty="0">
              <a:solidFill>
                <a:srgbClr val="008000"/>
              </a:solidFill>
              <a:latin typeface="+mj-lt"/>
              <a:ea typeface="+mj-ea"/>
              <a:cs typeface="+mj-cs"/>
            </a:endParaRPr>
          </a:p>
        </p:txBody>
      </p:sp>
      <p:sp>
        <p:nvSpPr>
          <p:cNvPr id="8" name="Rectangle 7"/>
          <p:cNvSpPr/>
          <p:nvPr/>
        </p:nvSpPr>
        <p:spPr>
          <a:xfrm>
            <a:off x="458167" y="1951672"/>
            <a:ext cx="8261454" cy="3477875"/>
          </a:xfrm>
          <a:prstGeom prst="rect">
            <a:avLst/>
          </a:prstGeom>
        </p:spPr>
        <p:txBody>
          <a:bodyPr wrap="square">
            <a:spAutoFit/>
          </a:bodyPr>
          <a:lstStyle/>
          <a:p>
            <a:pPr>
              <a:spcAft>
                <a:spcPts val="4800"/>
              </a:spcAft>
              <a:buFont typeface="Arial"/>
              <a:buChar char="•"/>
            </a:pPr>
            <a:r>
              <a:rPr lang="en-US" sz="2800" dirty="0"/>
              <a:t> Problem is such </a:t>
            </a:r>
            <a:r>
              <a:rPr lang="en-US" sz="2800" dirty="0">
                <a:solidFill>
                  <a:schemeClr val="tx1">
                    <a:lumMod val="50000"/>
                    <a:lumOff val="50000"/>
                  </a:schemeClr>
                </a:solidFill>
              </a:rPr>
              <a:t>high uncertainty </a:t>
            </a:r>
            <a:r>
              <a:rPr lang="en-US" sz="2800" dirty="0"/>
              <a:t>that it becomes hard to evaluate.</a:t>
            </a:r>
            <a:endParaRPr lang="en-GB" sz="2800" dirty="0"/>
          </a:p>
          <a:p>
            <a:pPr>
              <a:spcAft>
                <a:spcPts val="4800"/>
              </a:spcAft>
              <a:buFont typeface="Arial"/>
              <a:buChar char="•"/>
            </a:pPr>
            <a:r>
              <a:rPr lang="en-US" sz="2800" dirty="0"/>
              <a:t> Risk is that organization rejects these options.</a:t>
            </a:r>
            <a:endParaRPr lang="en-GB" sz="2800" dirty="0"/>
          </a:p>
          <a:p>
            <a:pPr>
              <a:spcAft>
                <a:spcPts val="4800"/>
              </a:spcAft>
              <a:buFont typeface="Arial"/>
              <a:buChar char="•"/>
            </a:pPr>
            <a:r>
              <a:rPr lang="en-US" sz="2800" dirty="0"/>
              <a:t> Need some way of handling and evaluating these projects.</a:t>
            </a:r>
            <a:endParaRPr lang="en-GB" sz="2800" dirty="0"/>
          </a:p>
        </p:txBody>
      </p:sp>
    </p:spTree>
    <p:extLst>
      <p:ext uri="{BB962C8B-B14F-4D97-AF65-F5344CB8AC3E}">
        <p14:creationId xmlns:p14="http://schemas.microsoft.com/office/powerpoint/2010/main" val="40798639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4741" name="Object 5"/>
          <p:cNvGraphicFramePr>
            <a:graphicFrameLocks noChangeAspect="1"/>
          </p:cNvGraphicFramePr>
          <p:nvPr/>
        </p:nvGraphicFramePr>
        <p:xfrm>
          <a:off x="458167" y="1146595"/>
          <a:ext cx="8478016" cy="5358565"/>
        </p:xfrm>
        <a:graphic>
          <a:graphicData uri="http://schemas.openxmlformats.org/presentationml/2006/ole">
            <mc:AlternateContent xmlns:mc="http://schemas.openxmlformats.org/markup-compatibility/2006">
              <mc:Choice xmlns:v="urn:schemas-microsoft-com:vml" Requires="v">
                <p:oleObj name="Document" r:id="rId2" imgW="22501587" imgH="14222222" progId="Word.Document.12">
                  <p:link updateAutomatic="1"/>
                </p:oleObj>
              </mc:Choice>
              <mc:Fallback>
                <p:oleObj name="Document" r:id="rId2" imgW="22501587" imgH="14222222"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7" y="1146595"/>
                        <a:ext cx="8478016" cy="53585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 name="Straight Connector 6"/>
          <p:cNvCxnSpPr/>
          <p:nvPr/>
        </p:nvCxnSpPr>
        <p:spPr>
          <a:xfrm>
            <a:off x="458167" y="1039027"/>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188640"/>
            <a:ext cx="713358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Typical reactions to ‘wild’ ideas</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39278465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34923"/>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043608" y="260648"/>
            <a:ext cx="7133587"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Typical reactions to ‘wild’ ideas (continued)</a:t>
            </a:r>
            <a:endParaRPr lang="en-GB" sz="3600" b="1" dirty="0">
              <a:solidFill>
                <a:srgbClr val="008000"/>
              </a:solidFill>
              <a:latin typeface="+mj-lt"/>
              <a:ea typeface="+mj-ea"/>
              <a:cs typeface="+mj-cs"/>
            </a:endParaRPr>
          </a:p>
        </p:txBody>
      </p:sp>
      <p:graphicFrame>
        <p:nvGraphicFramePr>
          <p:cNvPr id="245763" name="Object 3"/>
          <p:cNvGraphicFramePr>
            <a:graphicFrameLocks noChangeAspect="1"/>
          </p:cNvGraphicFramePr>
          <p:nvPr/>
        </p:nvGraphicFramePr>
        <p:xfrm>
          <a:off x="458167" y="1568449"/>
          <a:ext cx="8478016" cy="5144405"/>
        </p:xfrm>
        <a:graphic>
          <a:graphicData uri="http://schemas.openxmlformats.org/presentationml/2006/ole">
            <mc:AlternateContent xmlns:mc="http://schemas.openxmlformats.org/markup-compatibility/2006">
              <mc:Choice xmlns:v="urn:schemas-microsoft-com:vml" Requires="v">
                <p:oleObj name="Document" r:id="rId2" imgW="22501587" imgH="14882540" progId="Word.Document.12">
                  <p:link updateAutomatic="1"/>
                </p:oleObj>
              </mc:Choice>
              <mc:Fallback>
                <p:oleObj name="Document" r:id="rId2" imgW="22501587" imgH="14882540"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7" y="1568449"/>
                        <a:ext cx="8478016" cy="51444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59772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332656"/>
            <a:ext cx="7414329"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A map of innovation selection space</a:t>
            </a:r>
            <a:endParaRPr lang="en-GB" sz="3600" b="1" dirty="0">
              <a:solidFill>
                <a:srgbClr val="008000"/>
              </a:solidFill>
              <a:latin typeface="+mj-lt"/>
              <a:ea typeface="+mj-ea"/>
              <a:cs typeface="+mj-cs"/>
            </a:endParaRPr>
          </a:p>
        </p:txBody>
      </p:sp>
      <p:pic>
        <p:nvPicPr>
          <p:cNvPr id="2" name="Picture 1" descr="Screen Shot 2015-07-11 at 09.17.55.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420888"/>
            <a:ext cx="6985000" cy="3302000"/>
          </a:xfrm>
          <a:prstGeom prst="rect">
            <a:avLst/>
          </a:prstGeom>
        </p:spPr>
      </p:pic>
    </p:spTree>
    <p:extLst>
      <p:ext uri="{BB962C8B-B14F-4D97-AF65-F5344CB8AC3E}">
        <p14:creationId xmlns:p14="http://schemas.microsoft.com/office/powerpoint/2010/main" val="3580481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7327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188640"/>
            <a:ext cx="7133587"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Selection challenges mapped on to the model</a:t>
            </a:r>
            <a:endParaRPr lang="en-GB" sz="3600" b="1" dirty="0">
              <a:solidFill>
                <a:srgbClr val="008000"/>
              </a:solidFill>
              <a:latin typeface="+mj-lt"/>
              <a:ea typeface="+mj-ea"/>
              <a:cs typeface="+mj-cs"/>
            </a:endParaRPr>
          </a:p>
        </p:txBody>
      </p:sp>
      <p:graphicFrame>
        <p:nvGraphicFramePr>
          <p:cNvPr id="286722" name="Object 2"/>
          <p:cNvGraphicFramePr>
            <a:graphicFrameLocks noChangeAspect="1"/>
          </p:cNvGraphicFramePr>
          <p:nvPr/>
        </p:nvGraphicFramePr>
        <p:xfrm>
          <a:off x="458167" y="1590439"/>
          <a:ext cx="8338044" cy="4438437"/>
        </p:xfrm>
        <a:graphic>
          <a:graphicData uri="http://schemas.openxmlformats.org/presentationml/2006/ole">
            <mc:AlternateContent xmlns:mc="http://schemas.openxmlformats.org/markup-compatibility/2006">
              <mc:Choice xmlns:v="urn:schemas-microsoft-com:vml" Requires="v">
                <p:oleObj name="Document" r:id="rId2" imgW="22501587" imgH="8584127" progId="Word.Document.12">
                  <p:link updateAutomatic="1"/>
                </p:oleObj>
              </mc:Choice>
              <mc:Fallback>
                <p:oleObj name="Document" r:id="rId2" imgW="22501587" imgH="8584127"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7" y="1590439"/>
                        <a:ext cx="8338044" cy="4438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807442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6094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971600" y="188640"/>
            <a:ext cx="7133587"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Selection challenges mapped on to the model (continued)</a:t>
            </a:r>
            <a:endParaRPr lang="en-GB" sz="3600" b="1" dirty="0">
              <a:solidFill>
                <a:srgbClr val="008000"/>
              </a:solidFill>
              <a:latin typeface="+mj-lt"/>
              <a:ea typeface="+mj-ea"/>
              <a:cs typeface="+mj-cs"/>
            </a:endParaRPr>
          </a:p>
        </p:txBody>
      </p:sp>
      <p:graphicFrame>
        <p:nvGraphicFramePr>
          <p:cNvPr id="252931" name="Object 3"/>
          <p:cNvGraphicFramePr>
            <a:graphicFrameLocks noChangeAspect="1"/>
          </p:cNvGraphicFramePr>
          <p:nvPr/>
        </p:nvGraphicFramePr>
        <p:xfrm>
          <a:off x="458167" y="1454820"/>
          <a:ext cx="8381382" cy="5067215"/>
        </p:xfrm>
        <a:graphic>
          <a:graphicData uri="http://schemas.openxmlformats.org/presentationml/2006/ole">
            <mc:AlternateContent xmlns:mc="http://schemas.openxmlformats.org/markup-compatibility/2006">
              <mc:Choice xmlns:v="urn:schemas-microsoft-com:vml" Requires="v">
                <p:oleObj name="Document" r:id="rId2" imgW="22501587" imgH="11022222" progId="Word.Document.12">
                  <p:link updateAutomatic="1"/>
                </p:oleObj>
              </mc:Choice>
              <mc:Fallback>
                <p:oleObj name="Document" r:id="rId2" imgW="22501587" imgH="11022222" progId="Word.Document.12">
                  <p:link updateAutomatic="1"/>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167" y="1454820"/>
                        <a:ext cx="8381382" cy="506721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91715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86293"/>
            <a:ext cx="8478016" cy="3970318"/>
          </a:xfrm>
          <a:prstGeom prst="rect">
            <a:avLst/>
          </a:prstGeom>
        </p:spPr>
        <p:txBody>
          <a:bodyPr wrap="square">
            <a:spAutoFit/>
          </a:bodyPr>
          <a:lstStyle/>
          <a:p>
            <a:r>
              <a:rPr lang="en-US" sz="2800" dirty="0"/>
              <a:t>In this chapter we have looked at some of the challenges in making the selection decision – moving from considering all the possible trigger signals about what we could do in terms of innovation to committing resources to some particular projects. </a:t>
            </a:r>
          </a:p>
          <a:p>
            <a:endParaRPr lang="en-GB" sz="2800" dirty="0"/>
          </a:p>
          <a:p>
            <a:r>
              <a:rPr lang="en-US" sz="2800" dirty="0"/>
              <a:t>This quickly raises the issue of uncertainty and how we convert it to some kind of manageable risk – and build a portfolio of projects spreading this risk.</a:t>
            </a:r>
            <a:endParaRPr lang="en-GB" sz="2800" dirty="0"/>
          </a:p>
        </p:txBody>
      </p:sp>
    </p:spTree>
    <p:extLst>
      <p:ext uri="{BB962C8B-B14F-4D97-AF65-F5344CB8AC3E}">
        <p14:creationId xmlns:p14="http://schemas.microsoft.com/office/powerpoint/2010/main" val="11241252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86293"/>
            <a:ext cx="8478016" cy="2246769"/>
          </a:xfrm>
          <a:prstGeom prst="rect">
            <a:avLst/>
          </a:prstGeom>
        </p:spPr>
        <p:txBody>
          <a:bodyPr wrap="square">
            <a:spAutoFit/>
          </a:bodyPr>
          <a:lstStyle/>
          <a:p>
            <a:pPr lvl="0"/>
            <a:r>
              <a:rPr lang="en-US" sz="2800" dirty="0"/>
              <a:t>Tools and techniques for doing so for incremental innovation are relatively straightforward (though there is never a guarantee of success), but as we increase the radical nature of the innovation there is a need for different approaches. </a:t>
            </a:r>
            <a:endParaRPr lang="en-GB" sz="2800" dirty="0"/>
          </a:p>
        </p:txBody>
      </p:sp>
    </p:spTree>
    <p:extLst>
      <p:ext uri="{BB962C8B-B14F-4D97-AF65-F5344CB8AC3E}">
        <p14:creationId xmlns:p14="http://schemas.microsoft.com/office/powerpoint/2010/main" val="642289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22482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424040" y="204072"/>
            <a:ext cx="6442297" cy="971912"/>
          </a:xfrm>
          <a:prstGeom prst="rect">
            <a:avLst/>
          </a:prstGeom>
        </p:spPr>
        <p:txBody>
          <a:bodyPr vert="horz" lIns="91440" tIns="45720" rIns="91440" bIns="45720" rtlCol="0" anchor="ctr">
            <a:noAutofit/>
          </a:bodyPr>
          <a:lstStyle/>
          <a:p>
            <a:pPr algn="ctr">
              <a:spcBef>
                <a:spcPct val="0"/>
              </a:spcBef>
              <a:defRPr/>
            </a:pPr>
            <a:r>
              <a:rPr lang="en-US" sz="3600" b="1" dirty="0">
                <a:solidFill>
                  <a:srgbClr val="008000"/>
                </a:solidFill>
                <a:latin typeface="+mj-lt"/>
                <a:ea typeface="+mj-ea"/>
                <a:cs typeface="+mj-cs"/>
              </a:rPr>
              <a:t>Summary</a:t>
            </a:r>
            <a:endParaRPr lang="en-GB" sz="3600" b="1" dirty="0">
              <a:solidFill>
                <a:srgbClr val="008000"/>
              </a:solidFill>
              <a:latin typeface="+mj-lt"/>
              <a:ea typeface="+mj-ea"/>
              <a:cs typeface="+mj-cs"/>
            </a:endParaRPr>
          </a:p>
        </p:txBody>
      </p:sp>
      <p:sp>
        <p:nvSpPr>
          <p:cNvPr id="9" name="Rectangle 8"/>
          <p:cNvSpPr/>
          <p:nvPr/>
        </p:nvSpPr>
        <p:spPr>
          <a:xfrm>
            <a:off x="458167" y="1486293"/>
            <a:ext cx="8478016" cy="3108544"/>
          </a:xfrm>
          <a:prstGeom prst="rect">
            <a:avLst/>
          </a:prstGeom>
        </p:spPr>
        <p:txBody>
          <a:bodyPr wrap="square">
            <a:spAutoFit/>
          </a:bodyPr>
          <a:lstStyle/>
          <a:p>
            <a:pPr lvl="0"/>
            <a:r>
              <a:rPr lang="en-US" sz="2800" dirty="0"/>
              <a:t>The problem is further compounded because of the simplifying assumptions we make when framing the complex world – and the risk is that in selecting projects which fit our frame we may miss important opportunities or challenges. For this reason we need techniques which help the organization look and make decisions ‘outside the box’. </a:t>
            </a:r>
            <a:endParaRPr lang="en-GB" sz="2800" dirty="0"/>
          </a:p>
        </p:txBody>
      </p:sp>
    </p:spTree>
    <p:extLst>
      <p:ext uri="{BB962C8B-B14F-4D97-AF65-F5344CB8AC3E}">
        <p14:creationId xmlns:p14="http://schemas.microsoft.com/office/powerpoint/2010/main" val="3616047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0BCDA0-42BA-42AB-8E58-A25C965D01F9}"/>
              </a:ext>
            </a:extLst>
          </p:cNvPr>
          <p:cNvPicPr>
            <a:picLocks noChangeAspect="1"/>
          </p:cNvPicPr>
          <p:nvPr/>
        </p:nvPicPr>
        <p:blipFill rotWithShape="1">
          <a:blip r:embed="rId3"/>
          <a:srcRect l="19722" r="44833" b="-1"/>
          <a:stretch/>
        </p:blipFill>
        <p:spPr>
          <a:xfrm>
            <a:off x="-5524" y="10"/>
            <a:ext cx="3641692" cy="6857990"/>
          </a:xfrm>
          <a:custGeom>
            <a:avLst/>
            <a:gdLst/>
            <a:ahLst/>
            <a:cxnLst/>
            <a:rect l="l" t="t" r="r" b="b"/>
            <a:pathLst>
              <a:path w="4636517" h="6858000">
                <a:moveTo>
                  <a:pt x="0" y="0"/>
                </a:moveTo>
                <a:lnTo>
                  <a:pt x="4636517" y="0"/>
                </a:lnTo>
                <a:lnTo>
                  <a:pt x="4636517" y="6858000"/>
                </a:lnTo>
                <a:lnTo>
                  <a:pt x="0" y="6858000"/>
                </a:lnTo>
                <a:close/>
              </a:path>
            </a:pathLst>
          </a:custGeom>
        </p:spPr>
      </p:pic>
      <p:sp>
        <p:nvSpPr>
          <p:cNvPr id="2" name="Title 1">
            <a:extLst>
              <a:ext uri="{FF2B5EF4-FFF2-40B4-BE49-F238E27FC236}">
                <a16:creationId xmlns:a16="http://schemas.microsoft.com/office/drawing/2014/main" id="{614D8143-9088-1A4A-858B-DB874C43BBC6}"/>
              </a:ext>
            </a:extLst>
          </p:cNvPr>
          <p:cNvSpPr>
            <a:spLocks noGrp="1"/>
          </p:cNvSpPr>
          <p:nvPr>
            <p:ph type="title"/>
          </p:nvPr>
        </p:nvSpPr>
        <p:spPr>
          <a:xfrm>
            <a:off x="4370286" y="407987"/>
            <a:ext cx="4291113" cy="1325563"/>
          </a:xfrm>
        </p:spPr>
        <p:txBody>
          <a:bodyPr>
            <a:normAutofit/>
          </a:bodyPr>
          <a:lstStyle/>
          <a:p>
            <a:r>
              <a:rPr lang="en-US" dirty="0"/>
              <a:t>Videos</a:t>
            </a:r>
          </a:p>
        </p:txBody>
      </p:sp>
      <p:sp>
        <p:nvSpPr>
          <p:cNvPr id="3" name="Content Placeholder 2">
            <a:extLst>
              <a:ext uri="{FF2B5EF4-FFF2-40B4-BE49-F238E27FC236}">
                <a16:creationId xmlns:a16="http://schemas.microsoft.com/office/drawing/2014/main" id="{49BFE31F-7315-164A-BF78-744336F5540D}"/>
              </a:ext>
            </a:extLst>
          </p:cNvPr>
          <p:cNvSpPr>
            <a:spLocks noGrp="1"/>
          </p:cNvSpPr>
          <p:nvPr>
            <p:ph idx="1"/>
          </p:nvPr>
        </p:nvSpPr>
        <p:spPr>
          <a:xfrm>
            <a:off x="4370286" y="1868487"/>
            <a:ext cx="4291113" cy="4351338"/>
          </a:xfrm>
        </p:spPr>
        <p:txBody>
          <a:bodyPr>
            <a:normAutofit/>
          </a:bodyPr>
          <a:lstStyle/>
          <a:p>
            <a:pPr marL="0" indent="0">
              <a:lnSpc>
                <a:spcPct val="90000"/>
              </a:lnSpc>
              <a:buNone/>
            </a:pPr>
            <a:r>
              <a:rPr lang="en-US" sz="2000" dirty="0"/>
              <a:t>There are several videos which can help explore and present the key themes of the chapter:</a:t>
            </a:r>
          </a:p>
          <a:p>
            <a:pPr>
              <a:lnSpc>
                <a:spcPct val="90000"/>
              </a:lnSpc>
            </a:pPr>
            <a:r>
              <a:rPr lang="en-GB" sz="2000" u="sng" dirty="0">
                <a:hlinkClick r:id="rId4"/>
              </a:rPr>
              <a:t>Selecting innovation opportunities</a:t>
            </a:r>
            <a:r>
              <a:rPr lang="en-GB" sz="2000" dirty="0"/>
              <a:t> </a:t>
            </a:r>
            <a:r>
              <a:rPr lang="en-GB" sz="2000" u="sng" dirty="0">
                <a:hlinkClick r:id="rId5"/>
              </a:rPr>
              <a:t>Selecting selection</a:t>
            </a:r>
            <a:r>
              <a:rPr lang="en-GB" sz="2000" dirty="0"/>
              <a:t> </a:t>
            </a:r>
          </a:p>
          <a:p>
            <a:pPr>
              <a:lnSpc>
                <a:spcPct val="90000"/>
              </a:lnSpc>
            </a:pPr>
            <a:r>
              <a:rPr lang="en-GB" sz="2000" u="sng" dirty="0">
                <a:hlinkClick r:id="rId6"/>
              </a:rPr>
              <a:t>Portfolio management</a:t>
            </a:r>
            <a:r>
              <a:rPr lang="en-GB" sz="2000" dirty="0"/>
              <a:t> </a:t>
            </a:r>
          </a:p>
          <a:p>
            <a:pPr>
              <a:lnSpc>
                <a:spcPct val="90000"/>
              </a:lnSpc>
            </a:pPr>
            <a:r>
              <a:rPr lang="en-GB" sz="2000" u="sng" dirty="0">
                <a:hlinkClick r:id="rId7"/>
              </a:rPr>
              <a:t>Business models part 1</a:t>
            </a:r>
            <a:r>
              <a:rPr lang="en-GB" sz="2000" dirty="0"/>
              <a:t> </a:t>
            </a:r>
          </a:p>
          <a:p>
            <a:pPr>
              <a:lnSpc>
                <a:spcPct val="90000"/>
              </a:lnSpc>
            </a:pPr>
            <a:r>
              <a:rPr lang="en-GB" sz="2000" u="sng" dirty="0">
                <a:hlinkClick r:id="rId8"/>
              </a:rPr>
              <a:t>Business models part 2</a:t>
            </a:r>
            <a:r>
              <a:rPr lang="en-GB" sz="2000" dirty="0"/>
              <a:t> </a:t>
            </a:r>
          </a:p>
          <a:p>
            <a:pPr>
              <a:lnSpc>
                <a:spcPct val="90000"/>
              </a:lnSpc>
            </a:pPr>
            <a:r>
              <a:rPr lang="en-GB" sz="2000" u="sng" dirty="0">
                <a:hlinkClick r:id="rId9"/>
              </a:rPr>
              <a:t>Radical selection</a:t>
            </a:r>
            <a:endParaRPr lang="en-GB" sz="2000" u="sng" dirty="0"/>
          </a:p>
          <a:p>
            <a:pPr>
              <a:lnSpc>
                <a:spcPct val="90000"/>
              </a:lnSpc>
            </a:pPr>
            <a:endParaRPr lang="en-US" sz="2000" dirty="0"/>
          </a:p>
        </p:txBody>
      </p:sp>
    </p:spTree>
    <p:extLst>
      <p:ext uri="{BB962C8B-B14F-4D97-AF65-F5344CB8AC3E}">
        <p14:creationId xmlns:p14="http://schemas.microsoft.com/office/powerpoint/2010/main" val="39983714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283303-6375-854D-8718-841F984CA2FE}"/>
              </a:ext>
            </a:extLst>
          </p:cNvPr>
          <p:cNvSpPr>
            <a:spLocks noGrp="1"/>
          </p:cNvSpPr>
          <p:nvPr>
            <p:ph type="title"/>
          </p:nvPr>
        </p:nvSpPr>
        <p:spPr>
          <a:xfrm>
            <a:off x="515125" y="1153572"/>
            <a:ext cx="2400300" cy="4461163"/>
          </a:xfrm>
        </p:spPr>
        <p:txBody>
          <a:bodyPr>
            <a:normAutofit/>
          </a:bodyPr>
          <a:lstStyle/>
          <a:p>
            <a:r>
              <a:rPr lang="en-US">
                <a:solidFill>
                  <a:srgbClr val="FFFFFF"/>
                </a:solidFill>
              </a:rPr>
              <a:t>Videos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2944ED5-EDDC-0E4C-82A0-31D50A44C8F4}"/>
              </a:ext>
            </a:extLst>
          </p:cNvPr>
          <p:cNvSpPr>
            <a:spLocks noGrp="1"/>
          </p:cNvSpPr>
          <p:nvPr>
            <p:ph idx="1"/>
          </p:nvPr>
        </p:nvSpPr>
        <p:spPr>
          <a:xfrm>
            <a:off x="3335481" y="591344"/>
            <a:ext cx="5179868" cy="5585619"/>
          </a:xfrm>
        </p:spPr>
        <p:txBody>
          <a:bodyPr anchor="ctr">
            <a:normAutofit/>
          </a:bodyPr>
          <a:lstStyle/>
          <a:p>
            <a:r>
              <a:rPr lang="en-US" dirty="0"/>
              <a:t>On the website there is a video interview with </a:t>
            </a:r>
            <a:r>
              <a:rPr lang="en-GB" sz="3200" dirty="0">
                <a:hlinkClick r:id="rId2"/>
              </a:rPr>
              <a:t>Michael Bartl of Hyve</a:t>
            </a:r>
            <a:r>
              <a:rPr lang="en-GB" sz="3200" dirty="0"/>
              <a:t>, talking about the use of ‘</a:t>
            </a:r>
            <a:r>
              <a:rPr lang="en-GB" sz="3200" dirty="0" err="1"/>
              <a:t>netnography</a:t>
            </a:r>
            <a:r>
              <a:rPr lang="en-GB" sz="3200" dirty="0"/>
              <a:t>’ in the search for new innovation opportunities</a:t>
            </a:r>
          </a:p>
          <a:p>
            <a:pPr lvl="0"/>
            <a:endParaRPr lang="en-GB" dirty="0"/>
          </a:p>
          <a:p>
            <a:endParaRPr lang="en-US" dirty="0"/>
          </a:p>
          <a:p>
            <a:endParaRPr lang="en-US" dirty="0"/>
          </a:p>
        </p:txBody>
      </p:sp>
    </p:spTree>
    <p:extLst>
      <p:ext uri="{BB962C8B-B14F-4D97-AF65-F5344CB8AC3E}">
        <p14:creationId xmlns:p14="http://schemas.microsoft.com/office/powerpoint/2010/main" val="585628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987897-E368-6B40-A432-FCFC66E718D4}"/>
              </a:ext>
            </a:extLst>
          </p:cNvPr>
          <p:cNvSpPr>
            <a:spLocks noGrp="1"/>
          </p:cNvSpPr>
          <p:nvPr>
            <p:ph type="title"/>
          </p:nvPr>
        </p:nvSpPr>
        <p:spPr>
          <a:xfrm>
            <a:off x="515125" y="1153572"/>
            <a:ext cx="2400300" cy="4461163"/>
          </a:xfrm>
        </p:spPr>
        <p:txBody>
          <a:bodyPr>
            <a:normAutofit/>
          </a:bodyPr>
          <a:lstStyle/>
          <a:p>
            <a:r>
              <a:rPr lang="en-US">
                <a:solidFill>
                  <a:srgbClr val="FFFFFF"/>
                </a:solidFill>
              </a:rPr>
              <a:t>Blogs and podcasts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0F7953-C336-3B4A-8A1A-58F5A985ACE7}"/>
              </a:ext>
            </a:extLst>
          </p:cNvPr>
          <p:cNvSpPr>
            <a:spLocks noGrp="1"/>
          </p:cNvSpPr>
          <p:nvPr>
            <p:ph idx="1"/>
          </p:nvPr>
        </p:nvSpPr>
        <p:spPr>
          <a:xfrm>
            <a:off x="3335481" y="591344"/>
            <a:ext cx="5179868" cy="5585619"/>
          </a:xfrm>
        </p:spPr>
        <p:txBody>
          <a:bodyPr anchor="ctr">
            <a:normAutofit/>
          </a:bodyPr>
          <a:lstStyle/>
          <a:p>
            <a:pPr>
              <a:lnSpc>
                <a:spcPct val="90000"/>
              </a:lnSpc>
            </a:pPr>
            <a:r>
              <a:rPr lang="en-US" dirty="0"/>
              <a:t>There are </a:t>
            </a:r>
            <a:r>
              <a:rPr lang="en-US" dirty="0">
                <a:hlinkClick r:id="rId2"/>
              </a:rPr>
              <a:t>several podcasts  </a:t>
            </a:r>
            <a:r>
              <a:rPr lang="en-US" dirty="0"/>
              <a:t>and </a:t>
            </a:r>
            <a:r>
              <a:rPr lang="en-US" dirty="0">
                <a:hlinkClick r:id="rId3"/>
              </a:rPr>
              <a:t>blogs </a:t>
            </a:r>
            <a:r>
              <a:rPr lang="en-US" dirty="0"/>
              <a:t>picking up key themes around managing innovation as a process and some of the key variables:</a:t>
            </a:r>
          </a:p>
          <a:p>
            <a:pPr>
              <a:lnSpc>
                <a:spcPct val="90000"/>
              </a:lnSpc>
            </a:pPr>
            <a:endParaRPr lang="en-US" dirty="0"/>
          </a:p>
          <a:p>
            <a:pPr>
              <a:lnSpc>
                <a:spcPct val="90000"/>
              </a:lnSpc>
            </a:pPr>
            <a:endParaRPr lang="en-US" dirty="0"/>
          </a:p>
        </p:txBody>
      </p:sp>
    </p:spTree>
    <p:extLst>
      <p:ext uri="{BB962C8B-B14F-4D97-AF65-F5344CB8AC3E}">
        <p14:creationId xmlns:p14="http://schemas.microsoft.com/office/powerpoint/2010/main" val="627796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829F1-84C0-044B-BBE4-ABFAD581D452}"/>
              </a:ext>
            </a:extLst>
          </p:cNvPr>
          <p:cNvSpPr>
            <a:spLocks noGrp="1"/>
          </p:cNvSpPr>
          <p:nvPr>
            <p:ph type="title"/>
          </p:nvPr>
        </p:nvSpPr>
        <p:spPr>
          <a:xfrm>
            <a:off x="515125" y="1153572"/>
            <a:ext cx="2400300" cy="4461163"/>
          </a:xfrm>
        </p:spPr>
        <p:txBody>
          <a:bodyPr>
            <a:normAutofit/>
          </a:bodyPr>
          <a:lstStyle/>
          <a:p>
            <a:r>
              <a:rPr lang="en-US">
                <a:solidFill>
                  <a:srgbClr val="FFFFFF"/>
                </a:solidFill>
              </a:rPr>
              <a:t>Activities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2B2D3D1-2581-F94B-9851-1F31823967E9}"/>
              </a:ext>
            </a:extLst>
          </p:cNvPr>
          <p:cNvSpPr>
            <a:spLocks noGrp="1"/>
          </p:cNvSpPr>
          <p:nvPr>
            <p:ph idx="1"/>
          </p:nvPr>
        </p:nvSpPr>
        <p:spPr>
          <a:xfrm>
            <a:off x="3335481" y="591344"/>
            <a:ext cx="5179868" cy="5585619"/>
          </a:xfrm>
        </p:spPr>
        <p:txBody>
          <a:bodyPr anchor="ctr">
            <a:normAutofit/>
          </a:bodyPr>
          <a:lstStyle/>
          <a:p>
            <a:r>
              <a:rPr lang="en-US" dirty="0"/>
              <a:t>There are a variety of activities (for both groups and individuals and for online as well as offline work.  These include:</a:t>
            </a:r>
          </a:p>
        </p:txBody>
      </p:sp>
    </p:spTree>
    <p:extLst>
      <p:ext uri="{BB962C8B-B14F-4D97-AF65-F5344CB8AC3E}">
        <p14:creationId xmlns:p14="http://schemas.microsoft.com/office/powerpoint/2010/main" val="3252626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128988"/>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04711" y="1392186"/>
            <a:ext cx="8331472" cy="1815882"/>
          </a:xfrm>
          <a:prstGeom prst="rect">
            <a:avLst/>
          </a:prstGeom>
        </p:spPr>
        <p:txBody>
          <a:bodyPr wrap="square">
            <a:spAutoFit/>
          </a:bodyPr>
          <a:lstStyle/>
          <a:p>
            <a:r>
              <a:rPr lang="en-GB" sz="2800" dirty="0"/>
              <a:t>Ask students to pick one of the tools in </a:t>
            </a:r>
            <a:r>
              <a:rPr lang="en-GB" sz="2800" dirty="0">
                <a:hlinkClick r:id="rId2"/>
              </a:rPr>
              <a:t>the Market research toolkit </a:t>
            </a:r>
            <a:r>
              <a:rPr lang="en-GB" sz="2800" dirty="0"/>
              <a:t>and apply it to try and explore the potential market for a new product or service idea</a:t>
            </a:r>
          </a:p>
          <a:p>
            <a:endParaRPr lang="en-US" sz="2800" dirty="0">
              <a:solidFill>
                <a:srgbClr val="FF0000"/>
              </a:solidFill>
            </a:endParaRPr>
          </a:p>
        </p:txBody>
      </p:sp>
      <p:sp>
        <p:nvSpPr>
          <p:cNvPr id="6" name="Title 1"/>
          <p:cNvSpPr txBox="1">
            <a:spLocks/>
          </p:cNvSpPr>
          <p:nvPr/>
        </p:nvSpPr>
        <p:spPr>
          <a:xfrm>
            <a:off x="611560" y="188640"/>
            <a:ext cx="7512144" cy="917864"/>
          </a:xfrm>
          <a:prstGeom prst="rect">
            <a:avLst/>
          </a:prstGeom>
        </p:spPr>
        <p:txBody>
          <a:bodyPr vert="horz" lIns="91440" tIns="45720" rIns="91440" bIns="45720" rtlCol="0" anchor="ctr">
            <a:noAutofit/>
          </a:bodyPr>
          <a:lstStyle/>
          <a:p>
            <a:pPr lvl="0" algn="ctr">
              <a:spcBef>
                <a:spcPct val="0"/>
              </a:spcBef>
              <a:defRPr/>
            </a:pPr>
            <a:r>
              <a:rPr kumimoji="0" lang="en-GB" sz="3600" b="1" i="0" u="none" strike="noStrike" kern="1200" cap="none" spc="0" normalizeH="0" baseline="0" noProof="0" dirty="0">
                <a:ln>
                  <a:noFill/>
                </a:ln>
                <a:solidFill>
                  <a:srgbClr val="008000"/>
                </a:solidFill>
                <a:effectLst/>
                <a:uLnTx/>
                <a:uFillTx/>
                <a:latin typeface="+mj-lt"/>
                <a:ea typeface="+mj-ea"/>
                <a:cs typeface="+mj-cs"/>
              </a:rPr>
              <a:t>Activity</a:t>
            </a:r>
            <a:r>
              <a:rPr lang="en-GB" sz="3600" b="1" dirty="0">
                <a:solidFill>
                  <a:srgbClr val="008000"/>
                </a:solidFill>
                <a:latin typeface="+mj-lt"/>
                <a:ea typeface="+mj-ea"/>
                <a:cs typeface="+mj-cs"/>
              </a:rPr>
              <a:t>: </a:t>
            </a:r>
            <a:r>
              <a:rPr lang="en-US" sz="3600" b="1" dirty="0">
                <a:solidFill>
                  <a:srgbClr val="008000"/>
                </a:solidFill>
                <a:latin typeface="+mj-lt"/>
                <a:ea typeface="+mj-ea"/>
                <a:cs typeface="+mj-cs"/>
              </a:rPr>
              <a:t>Market research toolkit</a:t>
            </a:r>
            <a:endParaRPr lang="en-GB" sz="3600" b="1" dirty="0">
              <a:solidFill>
                <a:srgbClr val="008000"/>
              </a:solidFill>
              <a:latin typeface="+mj-lt"/>
              <a:ea typeface="+mj-ea"/>
              <a:cs typeface="+mj-cs"/>
            </a:endParaRPr>
          </a:p>
        </p:txBody>
      </p:sp>
    </p:spTree>
    <p:extLst>
      <p:ext uri="{BB962C8B-B14F-4D97-AF65-F5344CB8AC3E}">
        <p14:creationId xmlns:p14="http://schemas.microsoft.com/office/powerpoint/2010/main" val="11697413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8423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361565" y="332094"/>
            <a:ext cx="6529432"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Activity: Bubble charts</a:t>
            </a:r>
            <a:endParaRPr lang="en-GB" sz="3600" b="1" dirty="0">
              <a:solidFill>
                <a:srgbClr val="008000"/>
              </a:solidFill>
              <a:latin typeface="+mj-lt"/>
              <a:ea typeface="+mj-ea"/>
              <a:cs typeface="+mj-cs"/>
            </a:endParaRPr>
          </a:p>
        </p:txBody>
      </p:sp>
      <p:sp>
        <p:nvSpPr>
          <p:cNvPr id="9" name="Rectangle 8"/>
          <p:cNvSpPr/>
          <p:nvPr/>
        </p:nvSpPr>
        <p:spPr>
          <a:xfrm>
            <a:off x="458167" y="1486293"/>
            <a:ext cx="8478016" cy="954107"/>
          </a:xfrm>
          <a:prstGeom prst="rect">
            <a:avLst/>
          </a:prstGeom>
        </p:spPr>
        <p:txBody>
          <a:bodyPr wrap="square">
            <a:spAutoFit/>
          </a:bodyPr>
          <a:lstStyle/>
          <a:p>
            <a:r>
              <a:rPr lang="en-GB" sz="2800" dirty="0">
                <a:hlinkClick r:id="rId2"/>
              </a:rPr>
              <a:t>On the website there is activity for students with bubble charts as a tool</a:t>
            </a:r>
            <a:endParaRPr lang="en-GB" sz="2800" dirty="0"/>
          </a:p>
        </p:txBody>
      </p:sp>
    </p:spTree>
    <p:extLst>
      <p:ext uri="{BB962C8B-B14F-4D97-AF65-F5344CB8AC3E}">
        <p14:creationId xmlns:p14="http://schemas.microsoft.com/office/powerpoint/2010/main" val="833523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827584" y="332656"/>
            <a:ext cx="7281543" cy="917864"/>
          </a:xfrm>
          <a:prstGeom prst="rect">
            <a:avLst/>
          </a:prstGeom>
        </p:spPr>
        <p:txBody>
          <a:bodyPr vert="horz" lIns="91440" tIns="45720" rIns="91440" bIns="45720" rtlCol="0" anchor="ctr">
            <a:noAutofit/>
          </a:bodyPr>
          <a:lstStyle/>
          <a:p>
            <a:pPr lvl="0" algn="ctr"/>
            <a:r>
              <a:rPr lang="en-US" sz="3600" b="1" dirty="0">
                <a:solidFill>
                  <a:srgbClr val="008000"/>
                </a:solidFill>
                <a:latin typeface="+mj-lt"/>
                <a:ea typeface="+mj-ea"/>
                <a:cs typeface="+mj-cs"/>
              </a:rPr>
              <a:t>Activity: Business model canvas</a:t>
            </a:r>
            <a:endParaRPr lang="en-GB" sz="3600" b="1" dirty="0">
              <a:solidFill>
                <a:srgbClr val="008000"/>
              </a:solidFill>
              <a:latin typeface="+mj-lt"/>
              <a:ea typeface="+mj-ea"/>
              <a:cs typeface="+mj-cs"/>
            </a:endParaRPr>
          </a:p>
        </p:txBody>
      </p:sp>
      <p:sp>
        <p:nvSpPr>
          <p:cNvPr id="8" name="Rectangle 7"/>
          <p:cNvSpPr/>
          <p:nvPr/>
        </p:nvSpPr>
        <p:spPr>
          <a:xfrm>
            <a:off x="258924" y="1486293"/>
            <a:ext cx="8840392" cy="3108543"/>
          </a:xfrm>
          <a:prstGeom prst="rect">
            <a:avLst/>
          </a:prstGeom>
        </p:spPr>
        <p:txBody>
          <a:bodyPr wrap="square">
            <a:spAutoFit/>
          </a:bodyPr>
          <a:lstStyle/>
          <a:p>
            <a:r>
              <a:rPr lang="en-US" sz="2800" dirty="0"/>
              <a:t>Business models provide a powerful way of representing how an innovation will create and deliver value. </a:t>
            </a:r>
          </a:p>
          <a:p>
            <a:endParaRPr lang="en-US" sz="2800" dirty="0">
              <a:hlinkClick r:id="rId2"/>
            </a:endParaRPr>
          </a:p>
          <a:p>
            <a:r>
              <a:rPr lang="en-US" sz="2800" dirty="0">
                <a:hlinkClick r:id="rId2"/>
              </a:rPr>
              <a:t>On the website there is the activity build on the framework of the Business Model Canvas to help develop thinking around business models</a:t>
            </a:r>
            <a:endParaRPr lang="en-GB" sz="2800" dirty="0"/>
          </a:p>
          <a:p>
            <a:pPr lvl="0"/>
            <a:endParaRPr lang="en-GB" sz="2800" dirty="0"/>
          </a:p>
        </p:txBody>
      </p:sp>
    </p:spTree>
    <p:extLst>
      <p:ext uri="{BB962C8B-B14F-4D97-AF65-F5344CB8AC3E}">
        <p14:creationId xmlns:p14="http://schemas.microsoft.com/office/powerpoint/2010/main" val="40686670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310265"/>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611560" y="188640"/>
            <a:ext cx="7820386" cy="971912"/>
          </a:xfrm>
          <a:prstGeom prst="rect">
            <a:avLst/>
          </a:prstGeom>
        </p:spPr>
        <p:txBody>
          <a:bodyPr vert="horz" lIns="91440" tIns="45720" rIns="91440" bIns="45720" rtlCol="0" anchor="ctr">
            <a:noAutofit/>
          </a:bodyPr>
          <a:lstStyle/>
          <a:p>
            <a:pPr algn="ctr">
              <a:spcBef>
                <a:spcPct val="0"/>
              </a:spcBef>
              <a:defRPr/>
            </a:pPr>
            <a:r>
              <a:rPr lang="en-US" sz="3400" b="1" dirty="0">
                <a:solidFill>
                  <a:srgbClr val="008000"/>
                </a:solidFill>
                <a:latin typeface="+mj-lt"/>
                <a:ea typeface="+mj-ea"/>
                <a:cs typeface="+mj-cs"/>
              </a:rPr>
              <a:t>Team project exercises</a:t>
            </a:r>
            <a:endParaRPr lang="en-GB" sz="3400" b="1" dirty="0">
              <a:solidFill>
                <a:srgbClr val="008000"/>
              </a:solidFill>
              <a:latin typeface="+mj-lt"/>
              <a:ea typeface="+mj-ea"/>
              <a:cs typeface="+mj-cs"/>
            </a:endParaRPr>
          </a:p>
        </p:txBody>
      </p:sp>
      <p:sp>
        <p:nvSpPr>
          <p:cNvPr id="8" name="Rectangle 7"/>
          <p:cNvSpPr/>
          <p:nvPr/>
        </p:nvSpPr>
        <p:spPr>
          <a:xfrm>
            <a:off x="467544" y="1556792"/>
            <a:ext cx="8478016" cy="1815882"/>
          </a:xfrm>
          <a:prstGeom prst="rect">
            <a:avLst/>
          </a:prstGeom>
        </p:spPr>
        <p:txBody>
          <a:bodyPr wrap="square">
            <a:spAutoFit/>
          </a:bodyPr>
          <a:lstStyle/>
          <a:p>
            <a:r>
              <a:rPr lang="en-US" sz="2800" dirty="0"/>
              <a:t>Choose a new service innovation and then, working as a group, try and ‘reverse engineer’ the way the business case for this was developed.  Use the framework of the Business Model Canvas to help focus your research.</a:t>
            </a:r>
            <a:endParaRPr lang="en-GB" sz="2800" dirty="0"/>
          </a:p>
        </p:txBody>
      </p:sp>
    </p:spTree>
    <p:extLst>
      <p:ext uri="{BB962C8B-B14F-4D97-AF65-F5344CB8AC3E}">
        <p14:creationId xmlns:p14="http://schemas.microsoft.com/office/powerpoint/2010/main" val="1566386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F3E2-DE82-684F-AB96-D65AACA856AA}"/>
              </a:ext>
            </a:extLst>
          </p:cNvPr>
          <p:cNvSpPr>
            <a:spLocks noGrp="1"/>
          </p:cNvSpPr>
          <p:nvPr>
            <p:ph type="title"/>
          </p:nvPr>
        </p:nvSpPr>
        <p:spPr>
          <a:xfrm>
            <a:off x="515125" y="1153572"/>
            <a:ext cx="2400300" cy="4461163"/>
          </a:xfrm>
        </p:spPr>
        <p:txBody>
          <a:bodyPr>
            <a:normAutofit/>
          </a:bodyPr>
          <a:lstStyle/>
          <a:p>
            <a:r>
              <a:rPr lang="en-US">
                <a:solidFill>
                  <a:srgbClr val="FFFFFF"/>
                </a:solidFill>
              </a:rPr>
              <a:t>Cases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FC5492F-86A8-4E4C-88C3-DE87089A6DE2}"/>
              </a:ext>
            </a:extLst>
          </p:cNvPr>
          <p:cNvSpPr>
            <a:spLocks noGrp="1"/>
          </p:cNvSpPr>
          <p:nvPr>
            <p:ph idx="1"/>
          </p:nvPr>
        </p:nvSpPr>
        <p:spPr>
          <a:xfrm>
            <a:off x="3335481" y="591344"/>
            <a:ext cx="5179868" cy="5585619"/>
          </a:xfrm>
        </p:spPr>
        <p:txBody>
          <a:bodyPr anchor="ctr">
            <a:normAutofit fontScale="70000" lnSpcReduction="20000"/>
          </a:bodyPr>
          <a:lstStyle/>
          <a:p>
            <a:pPr marL="0" indent="0">
              <a:lnSpc>
                <a:spcPct val="90000"/>
              </a:lnSpc>
              <a:buNone/>
            </a:pPr>
            <a:r>
              <a:rPr lang="en-US" dirty="0">
                <a:hlinkClick r:id="rId2"/>
              </a:rPr>
              <a:t>There are several case studies on the website </a:t>
            </a:r>
            <a:r>
              <a:rPr lang="en-US" dirty="0"/>
              <a:t>which highlight key themes in the chapter, including:</a:t>
            </a:r>
          </a:p>
          <a:p>
            <a:pPr marL="0" indent="0">
              <a:lnSpc>
                <a:spcPct val="90000"/>
              </a:lnSpc>
              <a:buNone/>
            </a:pPr>
            <a:endParaRPr lang="en-US" dirty="0"/>
          </a:p>
          <a:p>
            <a:r>
              <a:rPr lang="en-GB" dirty="0"/>
              <a:t>The </a:t>
            </a:r>
            <a:r>
              <a:rPr lang="en-GB" dirty="0" err="1"/>
              <a:t>Plaswood</a:t>
            </a:r>
            <a:r>
              <a:rPr lang="en-GB" dirty="0"/>
              <a:t> Recycling case, which provides a good example of how to assess a new business concept</a:t>
            </a:r>
          </a:p>
          <a:p>
            <a:r>
              <a:rPr lang="en-GB" dirty="0"/>
              <a:t>Philips Lighting describing how the transition in the underlying mindset when faced with radical innovation was managed</a:t>
            </a:r>
          </a:p>
          <a:p>
            <a:r>
              <a:rPr lang="en-GB" dirty="0"/>
              <a:t>Lufthansa Systems and Liberty Global using different evaluation approaches in the context of online innovation platforms</a:t>
            </a:r>
          </a:p>
          <a:p>
            <a:r>
              <a:rPr lang="en-GB" dirty="0"/>
              <a:t>Gunfire at sea - </a:t>
            </a:r>
            <a:r>
              <a:rPr lang="en-US" sz="3200" dirty="0"/>
              <a:t> a famous case study which highlights the challenges of introducing radical ideas into established organizations. </a:t>
            </a:r>
            <a:endParaRPr lang="en-GB" dirty="0"/>
          </a:p>
          <a:p>
            <a:pPr>
              <a:lnSpc>
                <a:spcPct val="90000"/>
              </a:lnSpc>
            </a:pPr>
            <a:endParaRPr lang="en-US" dirty="0"/>
          </a:p>
        </p:txBody>
      </p:sp>
    </p:spTree>
    <p:extLst>
      <p:ext uri="{BB962C8B-B14F-4D97-AF65-F5344CB8AC3E}">
        <p14:creationId xmlns:p14="http://schemas.microsoft.com/office/powerpoint/2010/main" val="35719769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p:nvPr/>
        </p:nvCxnSpPr>
        <p:spPr>
          <a:xfrm>
            <a:off x="458167" y="1507529"/>
            <a:ext cx="8478016"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Title 1"/>
          <p:cNvSpPr txBox="1">
            <a:spLocks/>
          </p:cNvSpPr>
          <p:nvPr/>
        </p:nvSpPr>
        <p:spPr>
          <a:xfrm>
            <a:off x="1979712" y="332656"/>
            <a:ext cx="5062201" cy="917864"/>
          </a:xfrm>
          <a:prstGeom prst="rect">
            <a:avLst/>
          </a:prstGeom>
        </p:spPr>
        <p:txBody>
          <a:bodyPr vert="horz" lIns="91440" tIns="45720" rIns="91440" bIns="45720" rtlCol="0" anchor="ctr">
            <a:noAutofit/>
          </a:bodyPr>
          <a:lstStyle/>
          <a:p>
            <a:pPr algn="ctr"/>
            <a:r>
              <a:rPr lang="en-US" sz="3600" b="1" dirty="0">
                <a:solidFill>
                  <a:srgbClr val="008000"/>
                </a:solidFill>
                <a:latin typeface="+mj-lt"/>
                <a:ea typeface="+mj-ea"/>
                <a:cs typeface="+mj-cs"/>
              </a:rPr>
              <a:t>Research study and examples</a:t>
            </a:r>
            <a:endParaRPr lang="en-GB" sz="3600" b="1" dirty="0">
              <a:solidFill>
                <a:srgbClr val="008000"/>
              </a:solidFill>
              <a:latin typeface="+mj-lt"/>
              <a:ea typeface="+mj-ea"/>
              <a:cs typeface="+mj-cs"/>
            </a:endParaRPr>
          </a:p>
        </p:txBody>
      </p:sp>
      <p:sp>
        <p:nvSpPr>
          <p:cNvPr id="8" name="Rectangle 7"/>
          <p:cNvSpPr/>
          <p:nvPr/>
        </p:nvSpPr>
        <p:spPr>
          <a:xfrm>
            <a:off x="458167" y="1951672"/>
            <a:ext cx="8261454" cy="1815882"/>
          </a:xfrm>
          <a:prstGeom prst="rect">
            <a:avLst/>
          </a:prstGeom>
        </p:spPr>
        <p:txBody>
          <a:bodyPr wrap="square">
            <a:spAutoFit/>
          </a:bodyPr>
          <a:lstStyle/>
          <a:p>
            <a:r>
              <a:rPr lang="en-US" sz="2800" dirty="0">
                <a:hlinkClick r:id="rId2"/>
              </a:rPr>
              <a:t>This AIM (Advanced Institute of Management Research) report on “Radical innovation – Making the right bets” looks at some of the challenges in radical project selection</a:t>
            </a:r>
            <a:endParaRPr lang="en-GB" sz="2800" dirty="0"/>
          </a:p>
        </p:txBody>
      </p:sp>
    </p:spTree>
    <p:extLst>
      <p:ext uri="{BB962C8B-B14F-4D97-AF65-F5344CB8AC3E}">
        <p14:creationId xmlns:p14="http://schemas.microsoft.com/office/powerpoint/2010/main" val="29744482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AD80B4-D55C-EB42-9714-AEF28F32476C}"/>
              </a:ext>
            </a:extLst>
          </p:cNvPr>
          <p:cNvSpPr>
            <a:spLocks noGrp="1"/>
          </p:cNvSpPr>
          <p:nvPr>
            <p:ph type="title"/>
          </p:nvPr>
        </p:nvSpPr>
        <p:spPr>
          <a:xfrm>
            <a:off x="515125" y="1153572"/>
            <a:ext cx="2400300" cy="4461163"/>
          </a:xfrm>
        </p:spPr>
        <p:txBody>
          <a:bodyPr>
            <a:normAutofit/>
          </a:bodyPr>
          <a:lstStyle/>
          <a:p>
            <a:r>
              <a:rPr lang="en-US">
                <a:solidFill>
                  <a:srgbClr val="FFFFFF"/>
                </a:solidFill>
              </a:rPr>
              <a:t>Tools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98C0A98-DEE9-C340-BEDA-4B37B2A6DEDC}"/>
              </a:ext>
            </a:extLst>
          </p:cNvPr>
          <p:cNvSpPr>
            <a:spLocks noGrp="1"/>
          </p:cNvSpPr>
          <p:nvPr>
            <p:ph idx="1"/>
          </p:nvPr>
        </p:nvSpPr>
        <p:spPr>
          <a:xfrm>
            <a:off x="3335481" y="591344"/>
            <a:ext cx="5179868" cy="5585619"/>
          </a:xfrm>
        </p:spPr>
        <p:txBody>
          <a:bodyPr anchor="ctr">
            <a:normAutofit fontScale="62500" lnSpcReduction="20000"/>
          </a:bodyPr>
          <a:lstStyle/>
          <a:p>
            <a:pPr>
              <a:lnSpc>
                <a:spcPct val="90000"/>
              </a:lnSpc>
            </a:pPr>
            <a:r>
              <a:rPr lang="en-US" sz="2700" dirty="0"/>
              <a:t>There are a variety of tools which can help deal with themes raised in this chapter.  </a:t>
            </a:r>
            <a:r>
              <a:rPr lang="en-US" sz="2700" dirty="0">
                <a:hlinkClick r:id="rId2"/>
              </a:rPr>
              <a:t>You can find them all on the website here</a:t>
            </a:r>
            <a:endParaRPr lang="en-US" sz="2700" dirty="0"/>
          </a:p>
          <a:p>
            <a:pPr>
              <a:lnSpc>
                <a:spcPct val="90000"/>
              </a:lnSpc>
            </a:pPr>
            <a:endParaRPr lang="en-US" sz="2700" dirty="0"/>
          </a:p>
          <a:p>
            <a:r>
              <a:rPr lang="en-GB" dirty="0"/>
              <a:t>Cause and effect analysis</a:t>
            </a:r>
          </a:p>
          <a:p>
            <a:r>
              <a:rPr lang="en-GB" dirty="0"/>
              <a:t>Decision matrix</a:t>
            </a:r>
          </a:p>
          <a:p>
            <a:r>
              <a:rPr lang="en-GB" dirty="0"/>
              <a:t>Delphi method</a:t>
            </a:r>
          </a:p>
          <a:p>
            <a:r>
              <a:rPr lang="en-GB" dirty="0"/>
              <a:t>Failure Mode and Effect analysis (FMEA)</a:t>
            </a:r>
          </a:p>
          <a:p>
            <a:r>
              <a:rPr lang="en-GB" dirty="0"/>
              <a:t>Risk assessment matrix</a:t>
            </a:r>
          </a:p>
          <a:p>
            <a:r>
              <a:rPr lang="en-GB" dirty="0"/>
              <a:t>Scenario development</a:t>
            </a:r>
          </a:p>
          <a:p>
            <a:r>
              <a:rPr lang="en-GB" dirty="0"/>
              <a:t>Market research toolkit</a:t>
            </a:r>
          </a:p>
          <a:p>
            <a:r>
              <a:rPr lang="en-GB" dirty="0"/>
              <a:t>Portfolio management</a:t>
            </a:r>
          </a:p>
          <a:p>
            <a:r>
              <a:rPr lang="en-GB" dirty="0"/>
              <a:t>Boston Box</a:t>
            </a:r>
          </a:p>
          <a:p>
            <a:r>
              <a:rPr lang="en-GB" dirty="0"/>
              <a:t>Stage gate methods</a:t>
            </a:r>
          </a:p>
          <a:p>
            <a:r>
              <a:rPr lang="en-GB" dirty="0"/>
              <a:t>Bubble charts</a:t>
            </a:r>
          </a:p>
          <a:p>
            <a:r>
              <a:rPr lang="en-GB" dirty="0"/>
              <a:t>Business case</a:t>
            </a:r>
          </a:p>
          <a:p>
            <a:r>
              <a:rPr lang="en-GB" dirty="0"/>
              <a:t>Business model Canvas</a:t>
            </a:r>
          </a:p>
          <a:p>
            <a:r>
              <a:rPr lang="en-GB" dirty="0"/>
              <a:t>Entrepreneur’s storyboard</a:t>
            </a:r>
          </a:p>
          <a:p>
            <a:pPr>
              <a:lnSpc>
                <a:spcPct val="90000"/>
              </a:lnSpc>
            </a:pPr>
            <a:endParaRPr lang="en-US" sz="2700" dirty="0"/>
          </a:p>
        </p:txBody>
      </p:sp>
    </p:spTree>
    <p:extLst>
      <p:ext uri="{BB962C8B-B14F-4D97-AF65-F5344CB8AC3E}">
        <p14:creationId xmlns:p14="http://schemas.microsoft.com/office/powerpoint/2010/main" val="22326978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62F87A-B1B7-FD4A-A39A-50818E83FC0B}"/>
              </a:ext>
            </a:extLst>
          </p:cNvPr>
          <p:cNvSpPr>
            <a:spLocks noGrp="1"/>
          </p:cNvSpPr>
          <p:nvPr>
            <p:ph type="title"/>
          </p:nvPr>
        </p:nvSpPr>
        <p:spPr>
          <a:xfrm>
            <a:off x="515125" y="1153572"/>
            <a:ext cx="2400300" cy="4461163"/>
          </a:xfrm>
        </p:spPr>
        <p:txBody>
          <a:bodyPr>
            <a:normAutofit/>
          </a:bodyPr>
          <a:lstStyle/>
          <a:p>
            <a:r>
              <a:rPr lang="en-US" sz="3100">
                <a:solidFill>
                  <a:srgbClr val="FFFFFF"/>
                </a:solidFill>
              </a:rPr>
              <a:t>Assessments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300B727-214E-D140-B0D9-8DF9906E14FF}"/>
              </a:ext>
            </a:extLst>
          </p:cNvPr>
          <p:cNvSpPr>
            <a:spLocks noGrp="1"/>
          </p:cNvSpPr>
          <p:nvPr>
            <p:ph idx="1"/>
          </p:nvPr>
        </p:nvSpPr>
        <p:spPr>
          <a:xfrm>
            <a:off x="3335481" y="591344"/>
            <a:ext cx="5179868" cy="5585619"/>
          </a:xfrm>
        </p:spPr>
        <p:txBody>
          <a:bodyPr anchor="ctr">
            <a:normAutofit/>
          </a:bodyPr>
          <a:lstStyle/>
          <a:p>
            <a:r>
              <a:rPr lang="en-US" dirty="0"/>
              <a:t>The following slides offer some example assessment questions and discussion themes for individual or group activity</a:t>
            </a:r>
          </a:p>
          <a:p>
            <a:endParaRPr lang="en-US" dirty="0"/>
          </a:p>
        </p:txBody>
      </p:sp>
    </p:spTree>
    <p:extLst>
      <p:ext uri="{BB962C8B-B14F-4D97-AF65-F5344CB8AC3E}">
        <p14:creationId xmlns:p14="http://schemas.microsoft.com/office/powerpoint/2010/main" val="3471916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2A863D-C4A4-A443-9C25-AB8316BEF1D0}"/>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Assessment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B6D2269-621C-7444-AFA4-098777BA7491}"/>
              </a:ext>
            </a:extLst>
          </p:cNvPr>
          <p:cNvSpPr>
            <a:spLocks noGrp="1"/>
          </p:cNvSpPr>
          <p:nvPr>
            <p:ph idx="1"/>
          </p:nvPr>
        </p:nvSpPr>
        <p:spPr>
          <a:xfrm>
            <a:off x="3335481" y="591344"/>
            <a:ext cx="5179868" cy="5585619"/>
          </a:xfrm>
        </p:spPr>
        <p:txBody>
          <a:bodyPr anchor="ctr">
            <a:normAutofit/>
          </a:bodyPr>
          <a:lstStyle/>
          <a:p>
            <a:pPr lvl="0">
              <a:lnSpc>
                <a:spcPct val="90000"/>
              </a:lnSpc>
            </a:pPr>
            <a:r>
              <a:rPr lang="en-US" sz="2700" dirty="0"/>
              <a:t>1. How might an organization assess a portfolio of possible innovation projects?  What are the relative strengths and weaknesses of different approaches?</a:t>
            </a:r>
          </a:p>
          <a:p>
            <a:pPr lvl="0">
              <a:lnSpc>
                <a:spcPct val="90000"/>
              </a:lnSpc>
            </a:pPr>
            <a:endParaRPr lang="en-GB" sz="2700" dirty="0"/>
          </a:p>
          <a:p>
            <a:pPr lvl="0">
              <a:lnSpc>
                <a:spcPct val="90000"/>
              </a:lnSpc>
            </a:pPr>
            <a:r>
              <a:rPr lang="en-US" sz="2700" dirty="0"/>
              <a:t>2.	You have been asked to help implement a stage gate system within an organization.  What factors would you consider in design and introduction of this approach?</a:t>
            </a:r>
            <a:endParaRPr lang="en-GB" sz="2700" dirty="0"/>
          </a:p>
          <a:p>
            <a:pPr>
              <a:lnSpc>
                <a:spcPct val="90000"/>
              </a:lnSpc>
            </a:pPr>
            <a:endParaRPr lang="en-US" sz="2700" dirty="0"/>
          </a:p>
        </p:txBody>
      </p:sp>
    </p:spTree>
    <p:extLst>
      <p:ext uri="{BB962C8B-B14F-4D97-AF65-F5344CB8AC3E}">
        <p14:creationId xmlns:p14="http://schemas.microsoft.com/office/powerpoint/2010/main" val="952275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2A863D-C4A4-A443-9C25-AB8316BEF1D0}"/>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Assessment and discussion questions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B6D2269-621C-7444-AFA4-098777BA7491}"/>
              </a:ext>
            </a:extLst>
          </p:cNvPr>
          <p:cNvSpPr>
            <a:spLocks noGrp="1"/>
          </p:cNvSpPr>
          <p:nvPr>
            <p:ph idx="1"/>
          </p:nvPr>
        </p:nvSpPr>
        <p:spPr>
          <a:xfrm>
            <a:off x="3335481" y="591344"/>
            <a:ext cx="5179868" cy="5585619"/>
          </a:xfrm>
        </p:spPr>
        <p:txBody>
          <a:bodyPr anchor="ctr">
            <a:normAutofit/>
          </a:bodyPr>
          <a:lstStyle/>
          <a:p>
            <a:pPr lvl="0">
              <a:lnSpc>
                <a:spcPct val="90000"/>
              </a:lnSpc>
            </a:pPr>
            <a:r>
              <a:rPr lang="en-US" dirty="0"/>
              <a:t>3.	Jane Wilson has a great new idea for an internet-based service business helping match students to internship opportunities.  What factors should she consider in developing a business plan for this?</a:t>
            </a:r>
            <a:endParaRPr lang="en-GB" dirty="0"/>
          </a:p>
          <a:p>
            <a:pPr lvl="0">
              <a:lnSpc>
                <a:spcPct val="90000"/>
              </a:lnSpc>
            </a:pPr>
            <a:endParaRPr lang="en-US" dirty="0"/>
          </a:p>
          <a:p>
            <a:pPr lvl="0">
              <a:lnSpc>
                <a:spcPct val="90000"/>
              </a:lnSpc>
            </a:pPr>
            <a:r>
              <a:rPr lang="en-US" dirty="0"/>
              <a:t>4.	What typical problems emerge as a result of a lack of portfolio management?</a:t>
            </a:r>
          </a:p>
          <a:p>
            <a:pPr>
              <a:lnSpc>
                <a:spcPct val="90000"/>
              </a:lnSpc>
            </a:pPr>
            <a:endParaRPr lang="en-US" dirty="0"/>
          </a:p>
        </p:txBody>
      </p:sp>
    </p:spTree>
    <p:extLst>
      <p:ext uri="{BB962C8B-B14F-4D97-AF65-F5344CB8AC3E}">
        <p14:creationId xmlns:p14="http://schemas.microsoft.com/office/powerpoint/2010/main" val="989043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1842</TotalTime>
  <Words>1607</Words>
  <Application>Microsoft Macintosh PowerPoint</Application>
  <PresentationFormat>On-screen Show (4:3)</PresentationFormat>
  <Paragraphs>162</Paragraphs>
  <Slides>50</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Links</vt:lpstr>
      </vt:variant>
      <vt:variant>
        <vt:i4>12</vt:i4>
      </vt:variant>
      <vt:variant>
        <vt:lpstr>Slide Titles</vt:lpstr>
      </vt:variant>
      <vt:variant>
        <vt:i4>50</vt:i4>
      </vt:variant>
    </vt:vector>
  </HeadingPairs>
  <TitlesOfParts>
    <vt:vector size="65" baseType="lpstr">
      <vt:lpstr>Arial</vt:lpstr>
      <vt:lpstr>Calibri</vt:lpstr>
      <vt:lpstr>Office Theme</vt:lpstr>
      <vt:lpstr>!OLE_LINK13</vt:lpstr>
      <vt:lpstr>!OLE_LINK31</vt:lpstr>
      <vt:lpstr>!OLE_LINK16</vt:lpstr>
      <vt:lpstr>!OLE_LINK32</vt:lpstr>
      <vt:lpstr>!OLE_LINK21</vt:lpstr>
      <vt:lpstr>Macintosh%20HD:Users:annatrifilova:Documents:Teaching:wiley%20strategic%20innovation%20management:Final%20MS%20August%204:Chapter%208%20Forecasting.docx!OLE_LINK10</vt:lpstr>
      <vt:lpstr>!OLE_LINK11</vt:lpstr>
      <vt:lpstr>!OLE_LINK12</vt:lpstr>
      <vt:lpstr>!OLE_LINK28</vt:lpstr>
      <vt:lpstr>Macintosh%20HD:Users:annatrifilova:Documents:Teaching:wiley%20strategic%20innovation%20management:Wiley_Teaching_Guide:Lecturer_Guide:SIM%20Lecturer%20guide%20ch%209%20%20.docx!OLE_LINK26</vt:lpstr>
      <vt:lpstr>Document17!OLE_LINK33</vt:lpstr>
      <vt:lpstr>!OLE_LINK30</vt:lpstr>
      <vt:lpstr>Teaching Resources and Instructors’ Guidelines</vt:lpstr>
      <vt:lpstr>Chapter 9: Decision-making under uncertainty</vt:lpstr>
      <vt:lpstr>Learning objectives</vt:lpstr>
      <vt:lpstr>Core themes and material from the 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Forecasting innovation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Videos</vt:lpstr>
      <vt:lpstr>Videos</vt:lpstr>
      <vt:lpstr>Blogs and podcasts</vt:lpstr>
      <vt:lpstr>Activities</vt:lpstr>
      <vt:lpstr>PowerPoint Presentation</vt:lpstr>
      <vt:lpstr>PowerPoint Presentation</vt:lpstr>
      <vt:lpstr>PowerPoint Presentation</vt:lpstr>
      <vt:lpstr>PowerPoint Presentation</vt:lpstr>
      <vt:lpstr>Cases </vt:lpstr>
      <vt:lpstr>PowerPoint Presentation</vt:lpstr>
      <vt:lpstr>Tools </vt:lpstr>
      <vt:lpstr>Assessments</vt:lpstr>
      <vt:lpstr>Assessment and discussion questions</vt:lpstr>
      <vt:lpstr>Assessment and discussion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Resources and Instructors’ Guidelines</dc:title>
  <dc:creator>john bessant</dc:creator>
  <cp:lastModifiedBy>john bessant</cp:lastModifiedBy>
  <cp:revision>6</cp:revision>
  <dcterms:created xsi:type="dcterms:W3CDTF">2020-11-14T19:07:14Z</dcterms:created>
  <dcterms:modified xsi:type="dcterms:W3CDTF">2024-11-03T18:18:32Z</dcterms:modified>
</cp:coreProperties>
</file>