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258" r:id="rId3"/>
    <p:sldId id="260" r:id="rId4"/>
    <p:sldId id="318" r:id="rId5"/>
    <p:sldId id="261" r:id="rId6"/>
    <p:sldId id="367" r:id="rId7"/>
    <p:sldId id="264" r:id="rId8"/>
    <p:sldId id="368" r:id="rId9"/>
    <p:sldId id="266" r:id="rId10"/>
    <p:sldId id="267" r:id="rId11"/>
    <p:sldId id="270" r:id="rId12"/>
    <p:sldId id="271" r:id="rId13"/>
    <p:sldId id="283" r:id="rId14"/>
    <p:sldId id="290" r:id="rId15"/>
    <p:sldId id="292" r:id="rId16"/>
    <p:sldId id="293" r:id="rId17"/>
    <p:sldId id="296" r:id="rId18"/>
    <p:sldId id="297" r:id="rId19"/>
    <p:sldId id="298" r:id="rId20"/>
    <p:sldId id="300" r:id="rId21"/>
    <p:sldId id="301" r:id="rId22"/>
    <p:sldId id="302" r:id="rId23"/>
    <p:sldId id="303" r:id="rId24"/>
    <p:sldId id="304" r:id="rId25"/>
    <p:sldId id="326" r:id="rId26"/>
    <p:sldId id="370" r:id="rId27"/>
    <p:sldId id="369" r:id="rId28"/>
    <p:sldId id="371" r:id="rId29"/>
    <p:sldId id="328" r:id="rId30"/>
    <p:sldId id="344" r:id="rId31"/>
    <p:sldId id="263" r:id="rId32"/>
    <p:sldId id="265" r:id="rId33"/>
    <p:sldId id="269" r:id="rId34"/>
    <p:sldId id="388" r:id="rId35"/>
    <p:sldId id="389" r:id="rId36"/>
    <p:sldId id="390" r:id="rId37"/>
    <p:sldId id="281" r:id="rId38"/>
    <p:sldId id="282" r:id="rId39"/>
    <p:sldId id="284" r:id="rId40"/>
    <p:sldId id="289" r:id="rId41"/>
    <p:sldId id="295" r:id="rId42"/>
    <p:sldId id="372" r:id="rId43"/>
    <p:sldId id="375" r:id="rId44"/>
    <p:sldId id="262" r:id="rId45"/>
    <p:sldId id="287" r:id="rId46"/>
    <p:sldId id="299" r:id="rId47"/>
    <p:sldId id="353" r:id="rId48"/>
    <p:sldId id="366" r:id="rId49"/>
    <p:sldId id="373" r:id="rId50"/>
    <p:sldId id="374" r:id="rId51"/>
    <p:sldId id="276" r:id="rId52"/>
    <p:sldId id="277" r:id="rId53"/>
    <p:sldId id="278" r:id="rId54"/>
    <p:sldId id="279" r:id="rId55"/>
    <p:sldId id="280" r:id="rId56"/>
    <p:sldId id="268" r:id="rId57"/>
    <p:sldId id="286" r:id="rId58"/>
    <p:sldId id="288" r:id="rId59"/>
    <p:sldId id="294" r:id="rId60"/>
    <p:sldId id="365" r:id="rId61"/>
    <p:sldId id="376" r:id="rId62"/>
    <p:sldId id="377"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40"/>
  </p:normalViewPr>
  <p:slideViewPr>
    <p:cSldViewPr>
      <p:cViewPr varScale="1">
        <p:scale>
          <a:sx n="116" d="100"/>
          <a:sy n="116" d="100"/>
        </p:scale>
        <p:origin x="1760" y="192"/>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531B5-CADF-C145-9384-FA8E92A02E93}" type="datetimeFigureOut">
              <a:rPr lang="en-US" smtClean="0"/>
              <a:t>11/2/24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5C6840-8270-0846-87AF-849549B64EA9}" type="slidenum">
              <a:rPr lang="en-US" smtClean="0"/>
              <a:t>‹#›</a:t>
            </a:fld>
            <a:endParaRPr lang="en-US"/>
          </a:p>
        </p:txBody>
      </p:sp>
    </p:spTree>
    <p:extLst>
      <p:ext uri="{BB962C8B-B14F-4D97-AF65-F5344CB8AC3E}">
        <p14:creationId xmlns:p14="http://schemas.microsoft.com/office/powerpoint/2010/main" val="4092228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25</a:t>
            </a:fld>
            <a:endParaRPr lang="en-GB"/>
          </a:p>
        </p:txBody>
      </p:sp>
    </p:spTree>
    <p:extLst>
      <p:ext uri="{BB962C8B-B14F-4D97-AF65-F5344CB8AC3E}">
        <p14:creationId xmlns:p14="http://schemas.microsoft.com/office/powerpoint/2010/main" val="111614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E358FC1-1EEC-4B84-B75F-77E7E355B0C0}"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385BFAF-CB7B-4ADB-A68A-A4766F3B1C79}"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358FC1-1EEC-4B84-B75F-77E7E355B0C0}" type="datetimeFigureOut">
              <a:rPr lang="en-GB" smtClean="0"/>
              <a:pPr/>
              <a:t>02/11/2024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85BFAF-CB7B-4ADB-A68A-A4766F3B1C79}"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Macintosh%20HD:Users:annatrifilova:Documents:Teaching:wiley%20strategic%20innovation%20management:Wiley_Teaching_Guide:Lecturer_Guide:SIM%20Lecturer%20guide%20chapter%202.docx!OLE_LINK12"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johnbessant.org/_files/ugd/6ba33a_5049dac2290f4caf8ce6ea25a017d8b5.pdf" TargetMode="External"/><Relationship Id="rId2" Type="http://schemas.openxmlformats.org/officeDocument/2006/relationships/hyperlink" Target="https://www.johnbessant.org/_files/ugd/6ba33a_0c0100c8887f4bcdb4cb7d0b3d7a92ad.pdf" TargetMode="Externa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youtube.com/watch?v=Mg8BML9nAI8&amp;feature=youtu.be" TargetMode="External"/><Relationship Id="rId4" Type="http://schemas.openxmlformats.org/officeDocument/2006/relationships/hyperlink" Target="https://www.youtube.com/watch?v=xzjwG_0J6ew&amp;feature=youtu.be" TargetMode="External"/></Relationships>
</file>

<file path=ppt/slides/_rels/slide26.xml.rels><?xml version="1.0" encoding="UTF-8" standalone="yes"?>
<Relationships xmlns="http://schemas.openxmlformats.org/package/2006/relationships"><Relationship Id="rId2" Type="http://schemas.openxmlformats.org/officeDocument/2006/relationships/hyperlink" Target="https://www.ted.com/talks/martin_reeves_your_strategy_needs_a_strategy"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vimeo.com/160130228?turnstile=0.x609zRMgadNmJsdhC3Uk13hibppjarGXifSKvQmWWOxCWPIepJv_bOLuWG1nJpMdnxmH4eD7SOjUqI5phkODY8BfqrLmwv0equsce-GzWejUh4BHlMuTtK1kyC478fNUEH8Bn9E9kwCJn_DTIXkiNutZssxE5uveclOAyen0t5NEkFc1kRrRl79azkC80s2OouRSlzMO7wL0bEk82lBGZn8ftrGqQnMSf09cTXVdI4OHC_49ewNMYFquIsTR0iqMsGFXRc1hMXfIsj-ZmNnl6gH-bV_ebqGiT_BvNRZLYylYu9IGSytrh-XDY8xgvLDu3RzJmIkX69kFfpozO3W27YNWwWNi_Z475OkA0kjA_oSK5iiWT_7mkoWU0fTjBOiUkF4ud8gWZ0agQQcARHs7ur1-ZwetXyqgg8pl_7YbMPc.S0jgWfLZGiZzj7r0omP5YA.1c7508ba3b901d7d370dca05058f28bf0d88d5e7750ec76628a3abc86cc0af11"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youtu.be/tu7178mH3oo"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johnbessant.org/feed" TargetMode="External"/><Relationship Id="rId2" Type="http://schemas.openxmlformats.org/officeDocument/2006/relationships/hyperlink" Target="https://www.buzzsprout.com/721626"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johnbessant.org/_files/ugd/6ba33a_8b93b22dabfb479481ea41df70fe5bdc.pdf" TargetMode="External"/><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www.johnbessant.org/cases" TargetMode="External"/><Relationship Id="rId2" Type="http://schemas.openxmlformats.org/officeDocument/2006/relationships/hyperlink" Target="https://www.johnbessant.org/_files/ugd/f6594a_937f2ebb68964cbab3931f93049e3131.pdf"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youtu.be/K8NBSFxdDHU" TargetMode="External"/><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hyperlink" Target="https://www.johnbessant.org/_files/ugd/f6594a_64268a2920f242f7bea4750a6410d952.pdf"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youtu.be/IrCqZb0VjN8" TargetMode="Externa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hyperlink" Target="https://vimeo.com/160130228" TargetMode="External"/><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hyperlink" Target="https://www.johnbessant.org/_files/ugd/f6594a_1a04d043c80d4c2b902d18e596e1bc59.pdf"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hyperlink" Target="https://www.johnbessant.org/_files/ugd/6ba33a_45978315e729420b89ee53f0784aa5ce.pdf"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s://f6594a47-5cab-403a-8ba2-03f677bd02f0.usrfiles.com/ugd/6ba33a_3d93b0c9dc5c464bb83d9dbbfb69a379.pdf" TargetMode="External"/><Relationship Id="rId2" Type="http://schemas.openxmlformats.org/officeDocument/2006/relationships/hyperlink" Target="https://www.johnbessant.org/_files/ugd/6ba33a_b2dbae4587c94315a47d06c10f7ae198.pdf"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johnbessant.org/_files/ugd/6ba33a_c5653027b28a4bcd88e8a96e0f10bd57.pdf"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youtube.com/watch?v=JYcfcR9n2WY&amp;feature=youtu.be" TargetMode="External"/><Relationship Id="rId2" Type="http://schemas.openxmlformats.org/officeDocument/2006/relationships/hyperlink" Target="https://www.johnbessant.org/_files/ugd/6ba33a_b71fd3c8aefe4ff09120ed595ab3ebe4.pdf"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youtube.com/watch?v=uPWHaATTeEw&amp;feature=youtu.be" TargetMode="Externa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www.johnbessant.org/tools" TargetMode="External"/><Relationship Id="rId2" Type="http://schemas.openxmlformats.org/officeDocument/2006/relationships/hyperlink" Target="https://www.johnbessant.org/_files/ugd/6ba33a_9eaa9c691df74107be489ad300871eaa.pdf" TargetMode="Externa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hyperlink" Target="https://www.johnbessant.org/_files/ugd/f6594a_75c683c1ef8e4651860b984162bca4e7.pdf" TargetMode="Externa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https://www.johnbessant.org/_files/ugd/6ba33a_4a08194b4649414683f66be812c8b76b.pdf" TargetMode="External"/><Relationship Id="rId2" Type="http://schemas.openxmlformats.org/officeDocument/2006/relationships/hyperlink" Target="https://www.johnbessant.org/_files/ugd/6ba33a_bec432eae1b542798901223ef0c10531.pdf" TargetMode="Externa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hyperlink" Target="https://www.johnbessant.org/_files/ugd/6ba33a_813606110a9b429380939abd5ecb03ae.pdf" TargetMode="Externa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4: Developing an innovation strategy</a:t>
            </a:r>
          </a:p>
        </p:txBody>
      </p:sp>
      <p:pic>
        <p:nvPicPr>
          <p:cNvPr id="3" name="Picture 2">
            <a:extLst>
              <a:ext uri="{FF2B5EF4-FFF2-40B4-BE49-F238E27FC236}">
                <a16:creationId xmlns:a16="http://schemas.microsoft.com/office/drawing/2014/main" id="{1C14279C-57BA-3FDA-66AC-463A3C4AF962}"/>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3700" kern="1200">
                <a:solidFill>
                  <a:srgbClr val="FFFFFF"/>
                </a:solidFill>
                <a:latin typeface="+mj-lt"/>
                <a:ea typeface="+mj-ea"/>
                <a:cs typeface="+mj-cs"/>
              </a:rPr>
              <a:t>Chapter 4: Developing an innovation strategy</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4</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lvl="0" algn="l">
              <a:lnSpc>
                <a:spcPct val="90000"/>
              </a:lnSpc>
              <a:defRPr/>
            </a:pPr>
            <a:r>
              <a:rPr lang="en-US" sz="4100" b="1" kern="1200">
                <a:solidFill>
                  <a:srgbClr val="FFFFFF"/>
                </a:solidFill>
                <a:latin typeface="+mj-lt"/>
                <a:ea typeface="+mj-ea"/>
                <a:cs typeface="+mj-cs"/>
              </a:rPr>
              <a:t>Learning objectives</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lvl="0" indent="-228600">
              <a:lnSpc>
                <a:spcPct val="90000"/>
              </a:lnSpc>
              <a:spcAft>
                <a:spcPts val="600"/>
              </a:spcAft>
              <a:buFont typeface="Arial" panose="020B0604020202020204" pitchFamily="34" charset="0"/>
              <a:buChar char="•"/>
            </a:pPr>
            <a:endParaRPr lang="en-US" i="1" dirty="0"/>
          </a:p>
          <a:p>
            <a:pPr lvl="0" indent="-228600">
              <a:lnSpc>
                <a:spcPct val="90000"/>
              </a:lnSpc>
              <a:spcAft>
                <a:spcPts val="600"/>
              </a:spcAft>
              <a:buFont typeface="Arial" panose="020B0604020202020204" pitchFamily="34" charset="0"/>
              <a:buChar char="•"/>
            </a:pPr>
            <a:r>
              <a:rPr lang="en-US" i="1" dirty="0"/>
              <a:t>By the end of this chapter you will understand:</a:t>
            </a:r>
          </a:p>
          <a:p>
            <a:pPr lvl="0" indent="-228600">
              <a:lnSpc>
                <a:spcPct val="90000"/>
              </a:lnSpc>
              <a:spcAft>
                <a:spcPts val="600"/>
              </a:spcAft>
              <a:buFont typeface="Arial" panose="020B0604020202020204" pitchFamily="34" charset="0"/>
              <a:buChar char="•"/>
            </a:pPr>
            <a:endParaRPr lang="en-US" i="1" dirty="0"/>
          </a:p>
          <a:p>
            <a:pPr marL="342900" lvl="0" indent="-228600">
              <a:lnSpc>
                <a:spcPct val="90000"/>
              </a:lnSpc>
              <a:spcAft>
                <a:spcPts val="600"/>
              </a:spcAft>
              <a:buFont typeface="Arial" panose="020B0604020202020204" pitchFamily="34" charset="0"/>
              <a:buChar char="•"/>
            </a:pPr>
            <a:r>
              <a:rPr lang="en-US" i="1" dirty="0"/>
              <a:t>The importance of innovation strategy as a framework to guide the process of change;</a:t>
            </a:r>
            <a:endParaRPr lang="en-US" dirty="0"/>
          </a:p>
          <a:p>
            <a:pPr indent="-228600">
              <a:lnSpc>
                <a:spcPct val="90000"/>
              </a:lnSpc>
              <a:spcAft>
                <a:spcPts val="600"/>
              </a:spcAft>
              <a:buFont typeface="Arial" panose="020B0604020202020204" pitchFamily="34" charset="0"/>
              <a:buChar char="•"/>
            </a:pPr>
            <a:endParaRPr lang="en-US" dirty="0"/>
          </a:p>
          <a:p>
            <a:pPr lvl="0" indent="-228600">
              <a:lnSpc>
                <a:spcPct val="90000"/>
              </a:lnSpc>
              <a:spcAft>
                <a:spcPts val="600"/>
              </a:spcAft>
              <a:buFont typeface="Arial" panose="020B0604020202020204" pitchFamily="34" charset="0"/>
              <a:buChar char="•"/>
            </a:pPr>
            <a:r>
              <a:rPr lang="en-US" i="1" dirty="0"/>
              <a:t> The three core elements of innovation strategy formulation:</a:t>
            </a:r>
            <a:endParaRPr lang="en-US" dirty="0"/>
          </a:p>
          <a:p>
            <a:pPr indent="-228600">
              <a:lnSpc>
                <a:spcPct val="90000"/>
              </a:lnSpc>
              <a:spcAft>
                <a:spcPts val="600"/>
              </a:spcAft>
              <a:buFont typeface="Arial" panose="020B0604020202020204" pitchFamily="34" charset="0"/>
              <a:buChar char="•"/>
            </a:pPr>
            <a:endParaRPr lang="en-US" dirty="0"/>
          </a:p>
          <a:p>
            <a:pPr lvl="1" indent="-228600">
              <a:lnSpc>
                <a:spcPct val="90000"/>
              </a:lnSpc>
              <a:spcAft>
                <a:spcPts val="600"/>
              </a:spcAft>
              <a:buFont typeface="Arial" panose="020B0604020202020204" pitchFamily="34" charset="0"/>
              <a:buChar char="•"/>
            </a:pPr>
            <a:r>
              <a:rPr lang="en-US" i="1" dirty="0"/>
              <a:t> Strategic analysis – exploring where we could innovate;</a:t>
            </a:r>
            <a:endParaRPr lang="en-US" dirty="0"/>
          </a:p>
          <a:p>
            <a:pPr lvl="1" indent="-228600">
              <a:lnSpc>
                <a:spcPct val="90000"/>
              </a:lnSpc>
              <a:spcAft>
                <a:spcPts val="600"/>
              </a:spcAft>
              <a:buFont typeface="Arial" panose="020B0604020202020204" pitchFamily="34" charset="0"/>
              <a:buChar char="•"/>
            </a:pPr>
            <a:r>
              <a:rPr lang="en-US" i="1" dirty="0"/>
              <a:t> Strategic choice – choosing between different options;</a:t>
            </a:r>
            <a:endParaRPr lang="en-US" dirty="0"/>
          </a:p>
          <a:p>
            <a:pPr lvl="1" indent="-228600">
              <a:lnSpc>
                <a:spcPct val="90000"/>
              </a:lnSpc>
              <a:spcAft>
                <a:spcPts val="600"/>
              </a:spcAft>
              <a:buFont typeface="Arial" panose="020B0604020202020204" pitchFamily="34" charset="0"/>
              <a:buChar char="•"/>
            </a:pPr>
            <a:r>
              <a:rPr lang="en-US" i="1" dirty="0"/>
              <a:t> Strategic implementation – planning to make innovation happen;</a:t>
            </a:r>
            <a:endParaRPr lang="en-US" dirty="0"/>
          </a:p>
          <a:p>
            <a:pPr indent="-228600">
              <a:lnSpc>
                <a:spcPct val="90000"/>
              </a:lnSpc>
              <a:spcAft>
                <a:spcPts val="600"/>
              </a:spcAft>
              <a:buFont typeface="Arial" panose="020B0604020202020204" pitchFamily="34" charset="0"/>
              <a:buChar char="•"/>
            </a:pPr>
            <a:endParaRPr lang="en-US" dirty="0"/>
          </a:p>
          <a:p>
            <a:pPr lvl="0" indent="-228600">
              <a:lnSpc>
                <a:spcPct val="90000"/>
              </a:lnSpc>
              <a:spcAft>
                <a:spcPts val="600"/>
              </a:spcAft>
              <a:buFont typeface="Arial" panose="020B0604020202020204" pitchFamily="34" charset="0"/>
              <a:buChar char="•"/>
            </a:pPr>
            <a:r>
              <a:rPr lang="en-US" i="1" dirty="0"/>
              <a:t> The importance of dynamic capability and the role of innovation strategy in building this.</a:t>
            </a:r>
            <a:endParaRPr lang="en-US" dirty="0"/>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6968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107132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67544" y="260648"/>
            <a:ext cx="5221477" cy="917864"/>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Why strategy?</a:t>
            </a:r>
          </a:p>
        </p:txBody>
      </p:sp>
      <p:sp>
        <p:nvSpPr>
          <p:cNvPr id="8" name="Rectangle 7"/>
          <p:cNvSpPr/>
          <p:nvPr/>
        </p:nvSpPr>
        <p:spPr>
          <a:xfrm>
            <a:off x="467544" y="2132856"/>
            <a:ext cx="8478016" cy="5478423"/>
          </a:xfrm>
          <a:prstGeom prst="rect">
            <a:avLst/>
          </a:prstGeom>
        </p:spPr>
        <p:txBody>
          <a:bodyPr wrap="square">
            <a:spAutoFit/>
          </a:bodyPr>
          <a:lstStyle/>
          <a:p>
            <a:r>
              <a:rPr lang="en-US" sz="2400" dirty="0"/>
              <a:t>Innovation is about change – but simply changing things randomly and in different directions is not likely to move the organization forward.  </a:t>
            </a:r>
          </a:p>
          <a:p>
            <a:endParaRPr lang="en-US" sz="2400" dirty="0"/>
          </a:p>
          <a:p>
            <a:r>
              <a:rPr lang="en-US" sz="2400" dirty="0"/>
              <a:t>As the old saying has it, ‘if you don’t know where you are going, you’ll probably end up somewhere else!’.  </a:t>
            </a:r>
          </a:p>
          <a:p>
            <a:endParaRPr lang="en-US" sz="2400" dirty="0"/>
          </a:p>
          <a:p>
            <a:r>
              <a:rPr lang="en-US" sz="2400" dirty="0"/>
              <a:t>So we need an innovation strategy, some kind of roadmap for guiding and shaping change and making sure we try and spend our limited resources as wisely as we can.</a:t>
            </a:r>
            <a:r>
              <a:rPr lang="en-GB" sz="2400" dirty="0"/>
              <a:t> </a:t>
            </a:r>
            <a:endParaRPr lang="en-US" sz="2400" i="1" dirty="0">
              <a:solidFill>
                <a:srgbClr val="000090"/>
              </a:solidFill>
            </a:endParaRPr>
          </a:p>
          <a:p>
            <a:endParaRPr lang="en-US" sz="2800" dirty="0">
              <a:solidFill>
                <a:srgbClr val="000090"/>
              </a:solidFill>
            </a:endParaRPr>
          </a:p>
          <a:p>
            <a:pPr lvl="0"/>
            <a:endParaRPr lang="en-GB" sz="2600" dirty="0"/>
          </a:p>
          <a:p>
            <a:r>
              <a:rPr lang="en-GB" sz="2800" dirty="0"/>
              <a:t> </a:t>
            </a:r>
          </a:p>
          <a:p>
            <a:endParaRPr lang="en-GB" sz="2800" dirty="0"/>
          </a:p>
        </p:txBody>
      </p:sp>
      <p:sp>
        <p:nvSpPr>
          <p:cNvPr id="60418" name="AutoShape 2" descr="Image result for strateg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60420" name="Picture 4" descr="Image result for strategy"/>
          <p:cNvPicPr>
            <a:picLocks noChangeAspect="1" noChangeArrowheads="1"/>
          </p:cNvPicPr>
          <p:nvPr/>
        </p:nvPicPr>
        <p:blipFill>
          <a:blip r:embed="rId2" cstate="print"/>
          <a:srcRect/>
          <a:stretch>
            <a:fillRect/>
          </a:stretch>
        </p:blipFill>
        <p:spPr bwMode="auto">
          <a:xfrm>
            <a:off x="5940152" y="0"/>
            <a:ext cx="2112169" cy="1385234"/>
          </a:xfrm>
          <a:prstGeom prst="rect">
            <a:avLst/>
          </a:prstGeom>
          <a:noFill/>
        </p:spPr>
      </p:pic>
    </p:spTree>
    <p:extLst>
      <p:ext uri="{BB962C8B-B14F-4D97-AF65-F5344CB8AC3E}">
        <p14:creationId xmlns:p14="http://schemas.microsoft.com/office/powerpoint/2010/main" val="159876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E970-D6A6-6E48-B414-FB570F39535A}"/>
              </a:ext>
            </a:extLst>
          </p:cNvPr>
          <p:cNvSpPr>
            <a:spLocks noGrp="1"/>
          </p:cNvSpPr>
          <p:nvPr>
            <p:ph type="title"/>
          </p:nvPr>
        </p:nvSpPr>
        <p:spPr/>
        <p:txBody>
          <a:bodyPr/>
          <a:lstStyle/>
          <a:p>
            <a:r>
              <a:rPr lang="en-US" dirty="0"/>
              <a:t>Why strategy?</a:t>
            </a:r>
          </a:p>
        </p:txBody>
      </p:sp>
      <p:pic>
        <p:nvPicPr>
          <p:cNvPr id="5" name="Picture 4" descr="Text&#10;&#10;Description automatically generated">
            <a:extLst>
              <a:ext uri="{FF2B5EF4-FFF2-40B4-BE49-F238E27FC236}">
                <a16:creationId xmlns:a16="http://schemas.microsoft.com/office/drawing/2014/main" id="{22DAB31A-1B01-3F47-8A59-0E17A78D7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51647"/>
            <a:ext cx="9144000" cy="3954705"/>
          </a:xfrm>
          <a:prstGeom prst="rect">
            <a:avLst/>
          </a:prstGeom>
        </p:spPr>
      </p:pic>
    </p:spTree>
    <p:extLst>
      <p:ext uri="{BB962C8B-B14F-4D97-AF65-F5344CB8AC3E}">
        <p14:creationId xmlns:p14="http://schemas.microsoft.com/office/powerpoint/2010/main" val="1621910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67544" y="332656"/>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Strategy as a roadmap for change</a:t>
            </a:r>
            <a:endParaRPr lang="en-GB" sz="3600" b="1" dirty="0">
              <a:solidFill>
                <a:srgbClr val="008000"/>
              </a:solidFill>
              <a:latin typeface="+mj-lt"/>
              <a:ea typeface="+mj-ea"/>
              <a:cs typeface="+mj-cs"/>
            </a:endParaRPr>
          </a:p>
        </p:txBody>
      </p:sp>
      <p:sp>
        <p:nvSpPr>
          <p:cNvPr id="8" name="Rectangle 7"/>
          <p:cNvSpPr/>
          <p:nvPr/>
        </p:nvSpPr>
        <p:spPr>
          <a:xfrm>
            <a:off x="467544" y="2179796"/>
            <a:ext cx="8478016" cy="4678204"/>
          </a:xfrm>
          <a:prstGeom prst="rect">
            <a:avLst/>
          </a:prstGeom>
        </p:spPr>
        <p:txBody>
          <a:bodyPr wrap="square">
            <a:spAutoFit/>
          </a:bodyPr>
          <a:lstStyle/>
          <a:p>
            <a:r>
              <a:rPr lang="en-US" sz="2400" dirty="0"/>
              <a:t>Innovation strategy provides </a:t>
            </a:r>
            <a:r>
              <a:rPr lang="en-US" sz="2400" dirty="0">
                <a:solidFill>
                  <a:schemeClr val="bg1">
                    <a:lumMod val="50000"/>
                  </a:schemeClr>
                </a:solidFill>
              </a:rPr>
              <a:t>a direction for change</a:t>
            </a:r>
            <a:r>
              <a:rPr lang="en-US" sz="2400" dirty="0"/>
              <a:t>, helping the organization get towards where it wants to go. It may not be a simple ‘master plan’ or the realization of the entrepreneur’s initial Business Plan; more likely it will adapt and change over time.  </a:t>
            </a:r>
          </a:p>
          <a:p>
            <a:endParaRPr lang="en-US" sz="2400" dirty="0"/>
          </a:p>
          <a:p>
            <a:r>
              <a:rPr lang="en-US" sz="2400" dirty="0"/>
              <a:t>But it is a </a:t>
            </a:r>
            <a:r>
              <a:rPr lang="en-US" sz="2400" dirty="0">
                <a:solidFill>
                  <a:schemeClr val="bg1">
                    <a:lumMod val="50000"/>
                  </a:schemeClr>
                </a:solidFill>
              </a:rPr>
              <a:t>guiding framework </a:t>
            </a:r>
            <a:r>
              <a:rPr lang="en-US" sz="2400" dirty="0"/>
              <a:t>which helps focus and deploy limited resources in change projects that move the organization forward. That’s important if the organization is to survive and grow over time.</a:t>
            </a:r>
            <a:endParaRPr lang="en-US" sz="2400" dirty="0">
              <a:solidFill>
                <a:srgbClr val="000090"/>
              </a:solidFill>
            </a:endParaRPr>
          </a:p>
          <a:p>
            <a:pPr lvl="0"/>
            <a:endParaRPr lang="en-GB" sz="2600" dirty="0"/>
          </a:p>
          <a:p>
            <a:r>
              <a:rPr lang="en-GB" sz="2800" dirty="0"/>
              <a:t> </a:t>
            </a:r>
          </a:p>
          <a:p>
            <a:endParaRPr lang="en-GB" sz="2800" dirty="0"/>
          </a:p>
        </p:txBody>
      </p:sp>
      <p:pic>
        <p:nvPicPr>
          <p:cNvPr id="57346" name="Picture 2" descr="Image result for roadmap"/>
          <p:cNvPicPr>
            <a:picLocks noChangeAspect="1" noChangeArrowheads="1"/>
          </p:cNvPicPr>
          <p:nvPr/>
        </p:nvPicPr>
        <p:blipFill>
          <a:blip r:embed="rId2" cstate="print"/>
          <a:srcRect/>
          <a:stretch>
            <a:fillRect/>
          </a:stretch>
        </p:blipFill>
        <p:spPr bwMode="auto">
          <a:xfrm>
            <a:off x="6300192" y="0"/>
            <a:ext cx="2214667" cy="1328800"/>
          </a:xfrm>
          <a:prstGeom prst="rect">
            <a:avLst/>
          </a:prstGeom>
          <a:noFill/>
        </p:spPr>
      </p:pic>
    </p:spTree>
    <p:extLst>
      <p:ext uri="{BB962C8B-B14F-4D97-AF65-F5344CB8AC3E}">
        <p14:creationId xmlns:p14="http://schemas.microsoft.com/office/powerpoint/2010/main" val="1049691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ECE0C-D315-D043-9F90-DAE3F3BA1DD6}"/>
              </a:ext>
            </a:extLst>
          </p:cNvPr>
          <p:cNvSpPr>
            <a:spLocks noGrp="1"/>
          </p:cNvSpPr>
          <p:nvPr>
            <p:ph type="title"/>
          </p:nvPr>
        </p:nvSpPr>
        <p:spPr/>
        <p:txBody>
          <a:bodyPr/>
          <a:lstStyle/>
          <a:p>
            <a:r>
              <a:rPr lang="en-US" dirty="0"/>
              <a:t>Key themes in making strategy</a:t>
            </a:r>
          </a:p>
        </p:txBody>
      </p:sp>
      <p:pic>
        <p:nvPicPr>
          <p:cNvPr id="5" name="Picture 4" descr="A screenshot of a cell phone&#10;&#10;Description automatically generated">
            <a:extLst>
              <a:ext uri="{FF2B5EF4-FFF2-40B4-BE49-F238E27FC236}">
                <a16:creationId xmlns:a16="http://schemas.microsoft.com/office/drawing/2014/main" id="{0B5B1091-7B86-1443-B201-2DFB88629E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59002"/>
            <a:ext cx="9144000" cy="1939995"/>
          </a:xfrm>
          <a:prstGeom prst="rect">
            <a:avLst/>
          </a:prstGeom>
        </p:spPr>
      </p:pic>
    </p:spTree>
    <p:extLst>
      <p:ext uri="{BB962C8B-B14F-4D97-AF65-F5344CB8AC3E}">
        <p14:creationId xmlns:p14="http://schemas.microsoft.com/office/powerpoint/2010/main" val="1603886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35696" y="260648"/>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What’s in an innovation strategy?</a:t>
            </a:r>
            <a:endParaRPr lang="en-GB" sz="3600" b="1" dirty="0">
              <a:solidFill>
                <a:srgbClr val="008000"/>
              </a:solidFill>
              <a:latin typeface="+mj-lt"/>
              <a:ea typeface="+mj-ea"/>
              <a:cs typeface="+mj-cs"/>
            </a:endParaRPr>
          </a:p>
        </p:txBody>
      </p:sp>
      <p:sp>
        <p:nvSpPr>
          <p:cNvPr id="8" name="Rectangle 7"/>
          <p:cNvSpPr/>
          <p:nvPr/>
        </p:nvSpPr>
        <p:spPr>
          <a:xfrm>
            <a:off x="467544" y="2204864"/>
            <a:ext cx="8478016" cy="3801041"/>
          </a:xfrm>
          <a:prstGeom prst="rect">
            <a:avLst/>
          </a:prstGeom>
        </p:spPr>
        <p:txBody>
          <a:bodyPr wrap="square">
            <a:spAutoFit/>
          </a:bodyPr>
          <a:lstStyle/>
          <a:p>
            <a:pPr lvl="1">
              <a:spcAft>
                <a:spcPts val="1800"/>
              </a:spcAft>
              <a:buFont typeface="Arial"/>
              <a:buChar char="•"/>
            </a:pPr>
            <a:r>
              <a:rPr lang="en-US" sz="2800" dirty="0"/>
              <a:t> </a:t>
            </a:r>
            <a:r>
              <a:rPr lang="en-US" sz="2800" dirty="0">
                <a:solidFill>
                  <a:schemeClr val="bg1">
                    <a:lumMod val="50000"/>
                  </a:schemeClr>
                </a:solidFill>
              </a:rPr>
              <a:t>Strategic analysis </a:t>
            </a:r>
            <a:r>
              <a:rPr lang="en-US" sz="2800" dirty="0"/>
              <a:t>– what could we do?</a:t>
            </a:r>
            <a:endParaRPr lang="en-GB" sz="2800" b="1" dirty="0"/>
          </a:p>
          <a:p>
            <a:pPr lvl="1">
              <a:spcAft>
                <a:spcPts val="1800"/>
              </a:spcAft>
              <a:buFont typeface="Arial"/>
              <a:buChar char="•"/>
            </a:pPr>
            <a:r>
              <a:rPr lang="en-US" sz="2800" dirty="0"/>
              <a:t> </a:t>
            </a:r>
            <a:r>
              <a:rPr lang="en-US" sz="2800" dirty="0">
                <a:solidFill>
                  <a:schemeClr val="bg1">
                    <a:lumMod val="50000"/>
                  </a:schemeClr>
                </a:solidFill>
              </a:rPr>
              <a:t>Strategic selection </a:t>
            </a:r>
            <a:r>
              <a:rPr lang="en-US" sz="2800" dirty="0"/>
              <a:t>– what are we going to do, and why?</a:t>
            </a:r>
            <a:endParaRPr lang="en-GB" sz="2800" b="1" dirty="0"/>
          </a:p>
          <a:p>
            <a:pPr lvl="1">
              <a:spcAft>
                <a:spcPts val="1800"/>
              </a:spcAft>
              <a:buFont typeface="Arial"/>
              <a:buChar char="•"/>
            </a:pPr>
            <a:r>
              <a:rPr lang="en-US" sz="2800" dirty="0"/>
              <a:t> </a:t>
            </a:r>
            <a:r>
              <a:rPr lang="en-US" sz="2800" dirty="0">
                <a:solidFill>
                  <a:schemeClr val="bg1">
                    <a:lumMod val="50000"/>
                  </a:schemeClr>
                </a:solidFill>
              </a:rPr>
              <a:t>Strategic implementation </a:t>
            </a:r>
            <a:r>
              <a:rPr lang="en-US" sz="2800" dirty="0"/>
              <a:t>– how are we going to make it happen?</a:t>
            </a:r>
            <a:endParaRPr lang="en-GB" sz="2600" dirty="0"/>
          </a:p>
          <a:p>
            <a:r>
              <a:rPr lang="en-GB" sz="2800" dirty="0"/>
              <a:t> </a:t>
            </a:r>
          </a:p>
          <a:p>
            <a:endParaRPr lang="en-GB" sz="2800" dirty="0"/>
          </a:p>
        </p:txBody>
      </p:sp>
    </p:spTree>
    <p:extLst>
      <p:ext uri="{BB962C8B-B14F-4D97-AF65-F5344CB8AC3E}">
        <p14:creationId xmlns:p14="http://schemas.microsoft.com/office/powerpoint/2010/main" val="1113545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323528" y="260648"/>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Strategic analysis</a:t>
            </a:r>
            <a:endParaRPr lang="en-GB" sz="3600" b="1" dirty="0">
              <a:solidFill>
                <a:srgbClr val="008000"/>
              </a:solidFill>
              <a:latin typeface="+mj-lt"/>
              <a:ea typeface="+mj-ea"/>
              <a:cs typeface="+mj-cs"/>
            </a:endParaRPr>
          </a:p>
        </p:txBody>
      </p:sp>
      <p:sp>
        <p:nvSpPr>
          <p:cNvPr id="8" name="Rectangle 7"/>
          <p:cNvSpPr/>
          <p:nvPr/>
        </p:nvSpPr>
        <p:spPr>
          <a:xfrm>
            <a:off x="467544" y="1916832"/>
            <a:ext cx="8478016" cy="4262706"/>
          </a:xfrm>
          <a:prstGeom prst="rect">
            <a:avLst/>
          </a:prstGeom>
        </p:spPr>
        <p:txBody>
          <a:bodyPr wrap="square">
            <a:spAutoFit/>
          </a:bodyPr>
          <a:lstStyle/>
          <a:p>
            <a:pPr lvl="1">
              <a:spcAft>
                <a:spcPts val="1800"/>
              </a:spcAft>
              <a:buFont typeface="Arial"/>
              <a:buChar char="•"/>
            </a:pPr>
            <a:r>
              <a:rPr lang="en-US" sz="2800" dirty="0"/>
              <a:t> Where could we innovate?</a:t>
            </a:r>
            <a:endParaRPr lang="en-GB" sz="2800" dirty="0"/>
          </a:p>
          <a:p>
            <a:pPr lvl="1">
              <a:spcAft>
                <a:spcPts val="1800"/>
              </a:spcAft>
              <a:buFont typeface="Arial"/>
              <a:buChar char="•"/>
            </a:pPr>
            <a:r>
              <a:rPr lang="en-US" sz="2800" dirty="0"/>
              <a:t> Why would it be worth doing so?</a:t>
            </a:r>
            <a:endParaRPr lang="en-GB" sz="2800" dirty="0"/>
          </a:p>
          <a:p>
            <a:pPr lvl="1">
              <a:spcAft>
                <a:spcPts val="1800"/>
              </a:spcAft>
              <a:buFont typeface="Arial"/>
              <a:buChar char="•"/>
            </a:pPr>
            <a:r>
              <a:rPr lang="en-US" sz="2800" dirty="0"/>
              <a:t> Map the environment – technologies, competitors, markets, politics, etc.</a:t>
            </a:r>
            <a:endParaRPr lang="en-GB" sz="2800" dirty="0"/>
          </a:p>
          <a:p>
            <a:pPr lvl="1">
              <a:spcAft>
                <a:spcPts val="1800"/>
              </a:spcAft>
              <a:buFont typeface="Arial"/>
              <a:buChar char="•"/>
            </a:pPr>
            <a:r>
              <a:rPr lang="en-US" sz="2800" dirty="0"/>
              <a:t> Opportunities and threats?</a:t>
            </a:r>
            <a:endParaRPr lang="en-GB" sz="2800" dirty="0"/>
          </a:p>
          <a:p>
            <a:pPr lvl="1">
              <a:spcAft>
                <a:spcPts val="1800"/>
              </a:spcAft>
              <a:buFont typeface="Arial"/>
              <a:buChar char="•"/>
            </a:pPr>
            <a:r>
              <a:rPr lang="en-US" sz="2800" dirty="0"/>
              <a:t> Internal capabilities – strengths and weaknesses?</a:t>
            </a:r>
            <a:r>
              <a:rPr lang="en-GB" sz="2800" dirty="0"/>
              <a:t> </a:t>
            </a:r>
          </a:p>
          <a:p>
            <a:endParaRPr lang="en-GB" sz="2800" dirty="0"/>
          </a:p>
        </p:txBody>
      </p:sp>
      <p:pic>
        <p:nvPicPr>
          <p:cNvPr id="54274" name="Picture 2" descr="Image result for analysis"/>
          <p:cNvPicPr>
            <a:picLocks noChangeAspect="1" noChangeArrowheads="1"/>
          </p:cNvPicPr>
          <p:nvPr/>
        </p:nvPicPr>
        <p:blipFill>
          <a:blip r:embed="rId2" cstate="print"/>
          <a:srcRect/>
          <a:stretch>
            <a:fillRect/>
          </a:stretch>
        </p:blipFill>
        <p:spPr bwMode="auto">
          <a:xfrm>
            <a:off x="6084168" y="0"/>
            <a:ext cx="1989559" cy="1425529"/>
          </a:xfrm>
          <a:prstGeom prst="rect">
            <a:avLst/>
          </a:prstGeom>
          <a:noFill/>
        </p:spPr>
      </p:pic>
    </p:spTree>
    <p:extLst>
      <p:ext uri="{BB962C8B-B14F-4D97-AF65-F5344CB8AC3E}">
        <p14:creationId xmlns:p14="http://schemas.microsoft.com/office/powerpoint/2010/main" val="3119288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03648" y="332656"/>
            <a:ext cx="635383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Exploring innovation space</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pic>
        <p:nvPicPr>
          <p:cNvPr id="11" name="Picture 10"/>
          <p:cNvPicPr/>
          <p:nvPr/>
        </p:nvPicPr>
        <p:blipFill>
          <a:blip r:embed="rId2" cstate="print"/>
          <a:srcRect/>
          <a:stretch>
            <a:fillRect/>
          </a:stretch>
        </p:blipFill>
        <p:spPr bwMode="auto">
          <a:xfrm>
            <a:off x="2411760" y="2564904"/>
            <a:ext cx="4326337" cy="3520440"/>
          </a:xfrm>
          <a:prstGeom prst="rect">
            <a:avLst/>
          </a:prstGeom>
          <a:noFill/>
          <a:ln w="9525">
            <a:noFill/>
            <a:miter lim="800000"/>
            <a:headEnd/>
            <a:tailEnd/>
          </a:ln>
        </p:spPr>
      </p:pic>
    </p:spTree>
    <p:extLst>
      <p:ext uri="{BB962C8B-B14F-4D97-AF65-F5344CB8AC3E}">
        <p14:creationId xmlns:p14="http://schemas.microsoft.com/office/powerpoint/2010/main" val="4154815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476672"/>
            <a:ext cx="623053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4Ps dimensions of innovation space</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graphicFrame>
        <p:nvGraphicFramePr>
          <p:cNvPr id="87042" name="Object 2"/>
          <p:cNvGraphicFramePr>
            <a:graphicFrameLocks noChangeAspect="1"/>
          </p:cNvGraphicFramePr>
          <p:nvPr/>
        </p:nvGraphicFramePr>
        <p:xfrm>
          <a:off x="471530" y="1910993"/>
          <a:ext cx="8492342" cy="3623568"/>
        </p:xfrm>
        <a:graphic>
          <a:graphicData uri="http://schemas.openxmlformats.org/presentationml/2006/ole">
            <mc:AlternateContent xmlns:mc="http://schemas.openxmlformats.org/markup-compatibility/2006">
              <mc:Choice xmlns:v="urn:schemas-microsoft-com:vml" Requires="v">
                <p:oleObj name="Document" r:id="rId2" imgW="22501587" imgH="8330159" progId="Word.Document.12">
                  <p:link updateAutomatic="1"/>
                </p:oleObj>
              </mc:Choice>
              <mc:Fallback>
                <p:oleObj name="Document" r:id="rId2" imgW="22501587" imgH="8330159"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530" y="1910993"/>
                        <a:ext cx="8492342" cy="3623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09469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404664"/>
            <a:ext cx="5221477" cy="1039816"/>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Strategic competencies</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sp>
        <p:nvSpPr>
          <p:cNvPr id="11" name="Rectangle 10"/>
          <p:cNvSpPr/>
          <p:nvPr/>
        </p:nvSpPr>
        <p:spPr>
          <a:xfrm>
            <a:off x="458167" y="1780842"/>
            <a:ext cx="8518336" cy="3785652"/>
          </a:xfrm>
          <a:prstGeom prst="rect">
            <a:avLst/>
          </a:prstGeom>
        </p:spPr>
        <p:txBody>
          <a:bodyPr wrap="square">
            <a:spAutoFit/>
          </a:bodyPr>
          <a:lstStyle/>
          <a:p>
            <a:r>
              <a:rPr lang="en-US" sz="2400" dirty="0"/>
              <a:t>We need to consider that we don’t have completely free choice in innovation. We need to recognize that there is a degree of what is called ‘</a:t>
            </a:r>
            <a:r>
              <a:rPr lang="en-US" sz="2400" i="1" dirty="0"/>
              <a:t>path dependency’</a:t>
            </a:r>
            <a:r>
              <a:rPr lang="en-US" sz="2400" dirty="0"/>
              <a:t> – what we accumulate by way of knowledge and other resources shapes what we can – and can’t -do.  For example, if we see an opportunity for nuclear power as a new energy source this might be an interesting possibility – but pretty hard for us to achieve if we are in the business of ice cream selling! This ‘resource-based’ view looks from the inside out and suggests some of the ways in which we could deploy our particular strengths to advantage.</a:t>
            </a:r>
            <a:r>
              <a:rPr lang="en-GB" sz="2400" dirty="0"/>
              <a:t> </a:t>
            </a:r>
          </a:p>
        </p:txBody>
      </p:sp>
    </p:spTree>
    <p:extLst>
      <p:ext uri="{BB962C8B-B14F-4D97-AF65-F5344CB8AC3E}">
        <p14:creationId xmlns:p14="http://schemas.microsoft.com/office/powerpoint/2010/main" val="3462743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2122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95536" y="1844824"/>
            <a:ext cx="8009093" cy="3693318"/>
          </a:xfrm>
          <a:prstGeom prst="rect">
            <a:avLst/>
          </a:prstGeom>
        </p:spPr>
        <p:txBody>
          <a:bodyPr wrap="square">
            <a:spAutoFit/>
          </a:bodyPr>
          <a:lstStyle/>
          <a:p>
            <a:r>
              <a:rPr lang="en-US" sz="2600" dirty="0"/>
              <a:t>The MINE (Managing Innovation in the New Economy) research program at Ecole Polytechnique in Montreal, Canada, together with SPRU, University of Sussex, UK, conducted qualitative and quantitative studies to gain an understanding of the diversity of strategies for innovation. Almost 925 chief technology officers (CTOs) and senior managers of R&amp;D (from Asia, North and South America, and Europe) across all industrial sectors of the economy responded to a global survey. </a:t>
            </a:r>
            <a:endParaRPr lang="en-GB" sz="2600" dirty="0"/>
          </a:p>
        </p:txBody>
      </p:sp>
      <p:sp>
        <p:nvSpPr>
          <p:cNvPr id="6" name="Title 1"/>
          <p:cNvSpPr txBox="1">
            <a:spLocks/>
          </p:cNvSpPr>
          <p:nvPr/>
        </p:nvSpPr>
        <p:spPr>
          <a:xfrm>
            <a:off x="611560" y="260648"/>
            <a:ext cx="7512144" cy="1186358"/>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Diversity of strategic games for innovation</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476960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2122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567769"/>
            <a:ext cx="8009093" cy="4616648"/>
          </a:xfrm>
          <a:prstGeom prst="rect">
            <a:avLst/>
          </a:prstGeom>
        </p:spPr>
        <p:txBody>
          <a:bodyPr wrap="square">
            <a:spAutoFit/>
          </a:bodyPr>
          <a:lstStyle/>
          <a:p>
            <a:pPr>
              <a:spcAft>
                <a:spcPts val="1800"/>
              </a:spcAft>
            </a:pPr>
            <a:r>
              <a:rPr lang="en-US" sz="2400" dirty="0"/>
              <a:t>Each game is characterized by statistically different value-creation and -capture activities:</a:t>
            </a:r>
            <a:endParaRPr lang="en-GB" sz="2400" dirty="0"/>
          </a:p>
          <a:p>
            <a:pPr lvl="1">
              <a:spcAft>
                <a:spcPts val="600"/>
              </a:spcAft>
              <a:buFont typeface="Arial"/>
              <a:buChar char="•"/>
            </a:pPr>
            <a:r>
              <a:rPr lang="en-US" sz="2400" dirty="0"/>
              <a:t> Patent-driven discovery;</a:t>
            </a:r>
            <a:endParaRPr lang="en-GB" sz="2400" dirty="0"/>
          </a:p>
          <a:p>
            <a:pPr lvl="1">
              <a:spcAft>
                <a:spcPts val="600"/>
              </a:spcAft>
              <a:buFont typeface="Arial"/>
              <a:buChar char="•"/>
            </a:pPr>
            <a:r>
              <a:rPr lang="en-US" sz="2400" dirty="0"/>
              <a:t> Cost-based competition;</a:t>
            </a:r>
            <a:endParaRPr lang="en-GB" sz="2400" dirty="0"/>
          </a:p>
          <a:p>
            <a:pPr lvl="1">
              <a:spcAft>
                <a:spcPts val="600"/>
              </a:spcAft>
              <a:buFont typeface="Arial"/>
              <a:buChar char="•"/>
            </a:pPr>
            <a:r>
              <a:rPr lang="en-US" sz="2400" dirty="0"/>
              <a:t> Systems integration;</a:t>
            </a:r>
            <a:endParaRPr lang="en-GB" sz="2400" dirty="0"/>
          </a:p>
          <a:p>
            <a:pPr lvl="1">
              <a:spcAft>
                <a:spcPts val="600"/>
              </a:spcAft>
              <a:buFont typeface="Arial"/>
              <a:buChar char="•"/>
            </a:pPr>
            <a:r>
              <a:rPr lang="en-US" sz="2400" dirty="0"/>
              <a:t> Systems engineering and consulting;</a:t>
            </a:r>
            <a:endParaRPr lang="en-GB" sz="2400" dirty="0"/>
          </a:p>
          <a:p>
            <a:pPr lvl="1">
              <a:spcAft>
                <a:spcPts val="600"/>
              </a:spcAft>
              <a:buFont typeface="Arial"/>
              <a:buChar char="•"/>
            </a:pPr>
            <a:r>
              <a:rPr lang="en-US" sz="2400" dirty="0"/>
              <a:t> Platform orchestration;</a:t>
            </a:r>
            <a:endParaRPr lang="en-GB" sz="2400" dirty="0"/>
          </a:p>
          <a:p>
            <a:pPr lvl="1">
              <a:spcAft>
                <a:spcPts val="600"/>
              </a:spcAft>
              <a:buFont typeface="Arial"/>
              <a:buChar char="•"/>
            </a:pPr>
            <a:r>
              <a:rPr lang="en-US" sz="2400" dirty="0"/>
              <a:t> Customized mass-production;</a:t>
            </a:r>
            <a:endParaRPr lang="en-GB" sz="2400" dirty="0"/>
          </a:p>
          <a:p>
            <a:pPr lvl="1">
              <a:spcAft>
                <a:spcPts val="600"/>
              </a:spcAft>
              <a:buFont typeface="Arial"/>
              <a:buChar char="•"/>
            </a:pPr>
            <a:r>
              <a:rPr lang="en-US" sz="2400" dirty="0"/>
              <a:t> Innovation support and services.</a:t>
            </a:r>
            <a:endParaRPr lang="en-GB" sz="2400" dirty="0"/>
          </a:p>
          <a:p>
            <a:pPr>
              <a:spcAft>
                <a:spcPts val="1800"/>
              </a:spcAft>
            </a:pPr>
            <a:endParaRPr lang="en-GB" sz="2800" dirty="0"/>
          </a:p>
        </p:txBody>
      </p:sp>
      <p:sp>
        <p:nvSpPr>
          <p:cNvPr id="6" name="Title 1"/>
          <p:cNvSpPr txBox="1">
            <a:spLocks/>
          </p:cNvSpPr>
          <p:nvPr/>
        </p:nvSpPr>
        <p:spPr>
          <a:xfrm>
            <a:off x="458167" y="231605"/>
            <a:ext cx="7512144" cy="1186358"/>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Diversity of strategic games for innovation (continued)</a:t>
            </a:r>
            <a:endParaRPr lang="en-GB" sz="3600" b="1" dirty="0">
              <a:solidFill>
                <a:srgbClr val="008000"/>
              </a:solidFill>
              <a:latin typeface="+mj-lt"/>
              <a:ea typeface="+mj-ea"/>
              <a:cs typeface="+mj-cs"/>
            </a:endParaRPr>
          </a:p>
        </p:txBody>
      </p:sp>
      <p:sp>
        <p:nvSpPr>
          <p:cNvPr id="8" name="Rectangle 7"/>
          <p:cNvSpPr/>
          <p:nvPr/>
        </p:nvSpPr>
        <p:spPr>
          <a:xfrm>
            <a:off x="319207" y="6177100"/>
            <a:ext cx="8518336" cy="646331"/>
          </a:xfrm>
          <a:prstGeom prst="rect">
            <a:avLst/>
          </a:prstGeom>
        </p:spPr>
        <p:txBody>
          <a:bodyPr wrap="square">
            <a:spAutoFit/>
          </a:bodyPr>
          <a:lstStyle/>
          <a:p>
            <a:r>
              <a:rPr lang="en-US" i="1" dirty="0"/>
              <a:t>Source</a:t>
            </a:r>
            <a:r>
              <a:rPr lang="en-US" dirty="0"/>
              <a:t>: Miller, R. and S. Floricel (2007) Special Issue, </a:t>
            </a:r>
            <a:r>
              <a:rPr lang="en-US" i="1" dirty="0"/>
              <a:t>International Journal of Innovation Management</a:t>
            </a:r>
            <a:r>
              <a:rPr lang="en-US" dirty="0"/>
              <a:t>, </a:t>
            </a:r>
            <a:r>
              <a:rPr lang="en-US" b="1" dirty="0"/>
              <a:t>11</a:t>
            </a:r>
            <a:r>
              <a:rPr lang="en-US" dirty="0"/>
              <a:t> (1).</a:t>
            </a:r>
            <a:endParaRPr lang="en-GB" dirty="0"/>
          </a:p>
        </p:txBody>
      </p:sp>
    </p:spTree>
    <p:extLst>
      <p:ext uri="{BB962C8B-B14F-4D97-AF65-F5344CB8AC3E}">
        <p14:creationId xmlns:p14="http://schemas.microsoft.com/office/powerpoint/2010/main" val="116687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381174"/>
            <a:ext cx="7122551" cy="1371910"/>
          </a:xfrm>
          <a:prstGeom prst="rect">
            <a:avLst/>
          </a:prstGeom>
        </p:spPr>
        <p:txBody>
          <a:bodyPr vert="horz" lIns="91440" tIns="45720" rIns="91440" bIns="45720" rtlCol="0" anchor="ctr">
            <a:noAutofit/>
          </a:bodyPr>
          <a:lstStyle/>
          <a:p>
            <a:pPr lvl="0">
              <a:spcBef>
                <a:spcPct val="0"/>
              </a:spcBef>
              <a:defRPr/>
            </a:pPr>
            <a:r>
              <a:rPr lang="en-US" sz="3600" b="1" dirty="0">
                <a:solidFill>
                  <a:srgbClr val="008000"/>
                </a:solidFill>
                <a:latin typeface="+mj-lt"/>
                <a:ea typeface="+mj-ea"/>
                <a:cs typeface="+mj-cs"/>
              </a:rPr>
              <a:t>Strategic planning for implementation</a:t>
            </a:r>
            <a:r>
              <a:rPr lang="en-GB" sz="3600" b="1" dirty="0">
                <a:solidFill>
                  <a:srgbClr val="008000"/>
                </a:solidFill>
                <a:latin typeface="+mj-lt"/>
                <a:ea typeface="+mj-ea"/>
                <a:cs typeface="+mj-cs"/>
              </a:rPr>
              <a:t> </a:t>
            </a:r>
          </a:p>
          <a:p>
            <a:pPr>
              <a:spcBef>
                <a:spcPct val="0"/>
              </a:spcBef>
              <a:defRPr/>
            </a:pPr>
            <a:endParaRPr lang="en-GB" sz="3600" b="1" dirty="0">
              <a:solidFill>
                <a:srgbClr val="008000"/>
              </a:solidFill>
              <a:latin typeface="+mj-lt"/>
              <a:ea typeface="+mj-ea"/>
              <a:cs typeface="+mj-cs"/>
            </a:endParaRPr>
          </a:p>
        </p:txBody>
      </p:sp>
      <p:sp>
        <p:nvSpPr>
          <p:cNvPr id="11" name="Rectangle 10"/>
          <p:cNvSpPr/>
          <p:nvPr/>
        </p:nvSpPr>
        <p:spPr>
          <a:xfrm>
            <a:off x="395536" y="2204864"/>
            <a:ext cx="8518336" cy="1938992"/>
          </a:xfrm>
          <a:prstGeom prst="rect">
            <a:avLst/>
          </a:prstGeom>
        </p:spPr>
        <p:txBody>
          <a:bodyPr wrap="square">
            <a:spAutoFit/>
          </a:bodyPr>
          <a:lstStyle/>
          <a:p>
            <a:r>
              <a:rPr lang="en-US" sz="2400" dirty="0"/>
              <a:t>The third stage in innovation strategy development is to plan for implementation. Thinking through what we are going to need and how we will get these resources, who we might need to partner with, what likely roadblocks might we find on the way – all of these questions feed into this step.</a:t>
            </a:r>
            <a:endParaRPr lang="en-GB" sz="2400" b="1" dirty="0"/>
          </a:p>
        </p:txBody>
      </p:sp>
    </p:spTree>
    <p:extLst>
      <p:ext uri="{BB962C8B-B14F-4D97-AF65-F5344CB8AC3E}">
        <p14:creationId xmlns:p14="http://schemas.microsoft.com/office/powerpoint/2010/main" val="3770220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07704" y="188640"/>
            <a:ext cx="5221477" cy="1371910"/>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Communicating strategy</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sp>
        <p:nvSpPr>
          <p:cNvPr id="11" name="Rectangle 10"/>
          <p:cNvSpPr/>
          <p:nvPr/>
        </p:nvSpPr>
        <p:spPr>
          <a:xfrm>
            <a:off x="625664" y="1844824"/>
            <a:ext cx="8518336" cy="2277547"/>
          </a:xfrm>
          <a:prstGeom prst="rect">
            <a:avLst/>
          </a:prstGeom>
        </p:spPr>
        <p:txBody>
          <a:bodyPr wrap="square">
            <a:spAutoFit/>
          </a:bodyPr>
          <a:lstStyle/>
          <a:p>
            <a:pPr lvl="1">
              <a:spcAft>
                <a:spcPts val="1800"/>
              </a:spcAft>
              <a:buFont typeface="Arial"/>
              <a:buChar char="•"/>
            </a:pPr>
            <a:r>
              <a:rPr lang="en-US" sz="2800" dirty="0"/>
              <a:t> Need to share and enable ‘buy in’;</a:t>
            </a:r>
            <a:endParaRPr lang="en-GB" sz="2800" dirty="0"/>
          </a:p>
          <a:p>
            <a:pPr lvl="1">
              <a:spcAft>
                <a:spcPts val="1800"/>
              </a:spcAft>
              <a:buFont typeface="Arial"/>
              <a:buChar char="•"/>
            </a:pPr>
            <a:r>
              <a:rPr lang="en-US" sz="2800" dirty="0"/>
              <a:t> Need to break top level objectives down into manageable targets;</a:t>
            </a:r>
            <a:endParaRPr lang="en-GB" sz="2800" dirty="0"/>
          </a:p>
          <a:p>
            <a:pPr lvl="1">
              <a:spcAft>
                <a:spcPts val="1800"/>
              </a:spcAft>
              <a:buFont typeface="Arial"/>
              <a:buChar char="•"/>
            </a:pPr>
            <a:r>
              <a:rPr lang="en-US" sz="2800" dirty="0"/>
              <a:t> Policy deployment</a:t>
            </a:r>
            <a:r>
              <a:rPr lang="en-GB" sz="2800" dirty="0"/>
              <a:t>.</a:t>
            </a:r>
            <a:endParaRPr lang="en-GB" sz="2800" b="1" dirty="0"/>
          </a:p>
        </p:txBody>
      </p:sp>
      <p:pic>
        <p:nvPicPr>
          <p:cNvPr id="25602" name="Picture 2" descr="Image result for communication"/>
          <p:cNvPicPr>
            <a:picLocks noChangeAspect="1" noChangeArrowheads="1"/>
          </p:cNvPicPr>
          <p:nvPr/>
        </p:nvPicPr>
        <p:blipFill>
          <a:blip r:embed="rId2" cstate="print"/>
          <a:srcRect/>
          <a:stretch>
            <a:fillRect/>
          </a:stretch>
        </p:blipFill>
        <p:spPr bwMode="auto">
          <a:xfrm>
            <a:off x="2123728" y="4437112"/>
            <a:ext cx="5004048" cy="2001619"/>
          </a:xfrm>
          <a:prstGeom prst="rect">
            <a:avLst/>
          </a:prstGeom>
          <a:noFill/>
        </p:spPr>
      </p:pic>
    </p:spTree>
    <p:extLst>
      <p:ext uri="{BB962C8B-B14F-4D97-AF65-F5344CB8AC3E}">
        <p14:creationId xmlns:p14="http://schemas.microsoft.com/office/powerpoint/2010/main" val="2748077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90529" y="332094"/>
            <a:ext cx="5221477" cy="1371910"/>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Policy deployment</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sp>
        <p:nvSpPr>
          <p:cNvPr id="11" name="Rectangle 10"/>
          <p:cNvSpPr/>
          <p:nvPr/>
        </p:nvSpPr>
        <p:spPr>
          <a:xfrm>
            <a:off x="458167" y="1780842"/>
            <a:ext cx="8518336" cy="1815882"/>
          </a:xfrm>
          <a:prstGeom prst="rect">
            <a:avLst/>
          </a:prstGeom>
        </p:spPr>
        <p:txBody>
          <a:bodyPr wrap="square">
            <a:spAutoFit/>
          </a:bodyPr>
          <a:lstStyle/>
          <a:p>
            <a:r>
              <a:rPr lang="en-GB" sz="2800" dirty="0"/>
              <a:t>Use </a:t>
            </a:r>
            <a:r>
              <a:rPr lang="en-GB" sz="2800" dirty="0">
                <a:hlinkClick r:id="rId2"/>
              </a:rPr>
              <a:t>how/why charts </a:t>
            </a:r>
            <a:r>
              <a:rPr lang="en-GB" sz="2800" dirty="0"/>
              <a:t>as an activity to illustrate </a:t>
            </a:r>
            <a:r>
              <a:rPr lang="en-GB" sz="2800" dirty="0">
                <a:hlinkClick r:id="rId3"/>
              </a:rPr>
              <a:t>policy deployment</a:t>
            </a:r>
            <a:endParaRPr lang="en-GB" sz="2800" dirty="0"/>
          </a:p>
          <a:p>
            <a:endParaRPr lang="en-GB" sz="2800" dirty="0"/>
          </a:p>
          <a:p>
            <a:endParaRPr lang="en-GB" sz="2800" dirty="0"/>
          </a:p>
        </p:txBody>
      </p:sp>
      <p:pic>
        <p:nvPicPr>
          <p:cNvPr id="24578" name="Picture 2" descr="Image result for deployment"/>
          <p:cNvPicPr>
            <a:picLocks noChangeAspect="1" noChangeArrowheads="1"/>
          </p:cNvPicPr>
          <p:nvPr/>
        </p:nvPicPr>
        <p:blipFill>
          <a:blip r:embed="rId4" cstate="print"/>
          <a:srcRect/>
          <a:stretch>
            <a:fillRect/>
          </a:stretch>
        </p:blipFill>
        <p:spPr bwMode="auto">
          <a:xfrm>
            <a:off x="3059832" y="4221088"/>
            <a:ext cx="2857500" cy="2219326"/>
          </a:xfrm>
          <a:prstGeom prst="rect">
            <a:avLst/>
          </a:prstGeom>
          <a:noFill/>
        </p:spPr>
      </p:pic>
    </p:spTree>
    <p:extLst>
      <p:ext uri="{BB962C8B-B14F-4D97-AF65-F5344CB8AC3E}">
        <p14:creationId xmlns:p14="http://schemas.microsoft.com/office/powerpoint/2010/main" val="4201047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91680" y="332656"/>
            <a:ext cx="5221477" cy="1371910"/>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Dynamic capability</a:t>
            </a:r>
            <a:endParaRPr lang="en-GB" sz="3600" b="1" dirty="0">
              <a:solidFill>
                <a:srgbClr val="008000"/>
              </a:solidFill>
              <a:latin typeface="+mj-lt"/>
              <a:ea typeface="+mj-ea"/>
              <a:cs typeface="+mj-cs"/>
            </a:endParaRPr>
          </a:p>
          <a:p>
            <a:pPr algn="ctr">
              <a:spcBef>
                <a:spcPct val="0"/>
              </a:spcBef>
              <a:defRPr/>
            </a:pPr>
            <a:endParaRPr lang="en-GB" sz="3600" b="1" dirty="0">
              <a:solidFill>
                <a:srgbClr val="008000"/>
              </a:solidFill>
              <a:latin typeface="+mj-lt"/>
              <a:ea typeface="+mj-ea"/>
              <a:cs typeface="+mj-cs"/>
            </a:endParaRPr>
          </a:p>
        </p:txBody>
      </p:sp>
      <p:sp>
        <p:nvSpPr>
          <p:cNvPr id="11" name="Rectangle 10"/>
          <p:cNvSpPr/>
          <p:nvPr/>
        </p:nvSpPr>
        <p:spPr>
          <a:xfrm>
            <a:off x="458166" y="1704004"/>
            <a:ext cx="8685833" cy="5201424"/>
          </a:xfrm>
          <a:prstGeom prst="rect">
            <a:avLst/>
          </a:prstGeom>
        </p:spPr>
        <p:txBody>
          <a:bodyPr wrap="square">
            <a:spAutoFit/>
          </a:bodyPr>
          <a:lstStyle/>
          <a:p>
            <a:r>
              <a:rPr lang="en-US" sz="2400" dirty="0"/>
              <a:t>Dynamic capability is ‘appropriately adapting, integrating and re-configuring internal and external organizational skills, resources and functional competencies towards a changing environment’:</a:t>
            </a:r>
          </a:p>
          <a:p>
            <a:endParaRPr lang="en-US" sz="2400" dirty="0"/>
          </a:p>
          <a:p>
            <a:pPr lvl="1">
              <a:buFont typeface="Arial"/>
              <a:buChar char="•"/>
            </a:pPr>
            <a:r>
              <a:rPr lang="en-US" sz="2600" dirty="0"/>
              <a:t> competitive and national positions (technology and intellectual property, as well as its customer base and upstream relations with suppliers);</a:t>
            </a:r>
            <a:endParaRPr lang="en-GB" sz="2600" dirty="0"/>
          </a:p>
          <a:p>
            <a:pPr lvl="1">
              <a:buFont typeface="Arial"/>
              <a:buChar char="•"/>
            </a:pPr>
            <a:r>
              <a:rPr lang="en-US" sz="2600" dirty="0"/>
              <a:t> technological paths (the strategic alternatives available to the firm, and the attractiveness of the opportunities which lie ahead);</a:t>
            </a:r>
            <a:endParaRPr lang="en-GB" sz="2600" dirty="0"/>
          </a:p>
          <a:p>
            <a:pPr lvl="1">
              <a:buFont typeface="Arial"/>
              <a:buChar char="•"/>
            </a:pPr>
            <a:r>
              <a:rPr lang="en-US" sz="2600" dirty="0"/>
              <a:t> organizational and managerial processes (the set of routines which define ‘the way we do things around here’).</a:t>
            </a:r>
            <a:endParaRPr lang="en-GB" sz="2600" dirty="0"/>
          </a:p>
          <a:p>
            <a:endParaRPr lang="en-GB" sz="2800" b="1" dirty="0"/>
          </a:p>
        </p:txBody>
      </p:sp>
    </p:spTree>
    <p:extLst>
      <p:ext uri="{BB962C8B-B14F-4D97-AF65-F5344CB8AC3E}">
        <p14:creationId xmlns:p14="http://schemas.microsoft.com/office/powerpoint/2010/main" val="3381677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260648"/>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8" name="Rectangle 7"/>
          <p:cNvSpPr/>
          <p:nvPr/>
        </p:nvSpPr>
        <p:spPr>
          <a:xfrm>
            <a:off x="458167" y="1714500"/>
            <a:ext cx="8049313" cy="3046988"/>
          </a:xfrm>
          <a:prstGeom prst="rect">
            <a:avLst/>
          </a:prstGeom>
        </p:spPr>
        <p:txBody>
          <a:bodyPr wrap="square">
            <a:spAutoFit/>
          </a:bodyPr>
          <a:lstStyle/>
          <a:p>
            <a:pPr lvl="1"/>
            <a:r>
              <a:rPr lang="en-US" sz="3200" dirty="0"/>
              <a:t>Innovation involves uncertainty and risk and no one has infinite resources. So it makes sense to have a clear sense of direction and a framework within which to make decisions about the changes our organization will make.</a:t>
            </a:r>
            <a:endParaRPr lang="en-GB" sz="3200" b="1" dirty="0"/>
          </a:p>
        </p:txBody>
      </p:sp>
    </p:spTree>
    <p:extLst>
      <p:ext uri="{BB962C8B-B14F-4D97-AF65-F5344CB8AC3E}">
        <p14:creationId xmlns:p14="http://schemas.microsoft.com/office/powerpoint/2010/main" val="965163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260648"/>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8" name="Rectangle 7"/>
          <p:cNvSpPr/>
          <p:nvPr/>
        </p:nvSpPr>
        <p:spPr>
          <a:xfrm>
            <a:off x="458167" y="1714500"/>
            <a:ext cx="8049313" cy="3539430"/>
          </a:xfrm>
          <a:prstGeom prst="rect">
            <a:avLst/>
          </a:prstGeom>
        </p:spPr>
        <p:txBody>
          <a:bodyPr wrap="square">
            <a:spAutoFit/>
          </a:bodyPr>
          <a:lstStyle/>
          <a:p>
            <a:pPr lvl="1"/>
            <a:r>
              <a:rPr lang="en-US" sz="3200" dirty="0"/>
              <a:t>Innovation strategy is not about writing a document or report so much as having a framework for discussion and alignment.</a:t>
            </a:r>
          </a:p>
          <a:p>
            <a:pPr lvl="1"/>
            <a:endParaRPr lang="en-US" sz="3200" dirty="0"/>
          </a:p>
          <a:p>
            <a:pPr lvl="1"/>
            <a:r>
              <a:rPr lang="en-US" sz="3200" dirty="0"/>
              <a:t>Innovation strategy is not a detailed plan and straight line journey so much as a flexible learning process</a:t>
            </a:r>
            <a:r>
              <a:rPr lang="en-GB" sz="3200" b="1" dirty="0"/>
              <a:t>.</a:t>
            </a:r>
            <a:r>
              <a:rPr lang="en-US" sz="3200" dirty="0"/>
              <a:t> </a:t>
            </a:r>
            <a:endParaRPr lang="en-GB" sz="3200" b="1" dirty="0"/>
          </a:p>
        </p:txBody>
      </p:sp>
    </p:spTree>
    <p:extLst>
      <p:ext uri="{BB962C8B-B14F-4D97-AF65-F5344CB8AC3E}">
        <p14:creationId xmlns:p14="http://schemas.microsoft.com/office/powerpoint/2010/main" val="3988162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260648"/>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8" name="Rectangle 7"/>
          <p:cNvSpPr/>
          <p:nvPr/>
        </p:nvSpPr>
        <p:spPr>
          <a:xfrm>
            <a:off x="458167" y="1714500"/>
            <a:ext cx="8049313" cy="5109091"/>
          </a:xfrm>
          <a:prstGeom prst="rect">
            <a:avLst/>
          </a:prstGeom>
        </p:spPr>
        <p:txBody>
          <a:bodyPr wrap="square">
            <a:spAutoFit/>
          </a:bodyPr>
          <a:lstStyle/>
          <a:p>
            <a:pPr lvl="1">
              <a:spcAft>
                <a:spcPts val="1200"/>
              </a:spcAft>
            </a:pPr>
            <a:r>
              <a:rPr lang="en-US" sz="3200" dirty="0"/>
              <a:t>At the heart of an innovation strategy are 3 core questions:</a:t>
            </a:r>
          </a:p>
          <a:p>
            <a:pPr lvl="2">
              <a:spcAft>
                <a:spcPts val="2400"/>
              </a:spcAft>
              <a:buFont typeface="Arial"/>
              <a:buChar char="•"/>
            </a:pPr>
            <a:r>
              <a:rPr lang="en-US" sz="3200" dirty="0"/>
              <a:t> Analysis – what could we do?</a:t>
            </a:r>
            <a:endParaRPr lang="en-GB" sz="3200" dirty="0"/>
          </a:p>
          <a:p>
            <a:pPr lvl="2">
              <a:spcAft>
                <a:spcPts val="2400"/>
              </a:spcAft>
              <a:buFont typeface="Arial"/>
              <a:buChar char="•"/>
            </a:pPr>
            <a:r>
              <a:rPr lang="en-US" sz="3200" dirty="0"/>
              <a:t> Selection – what are we going to do (and why)?</a:t>
            </a:r>
            <a:endParaRPr lang="en-GB" sz="3200" dirty="0"/>
          </a:p>
          <a:p>
            <a:pPr lvl="2">
              <a:spcAft>
                <a:spcPts val="2400"/>
              </a:spcAft>
              <a:buFont typeface="Arial"/>
              <a:buChar char="•"/>
            </a:pPr>
            <a:r>
              <a:rPr lang="en-US" sz="3200" dirty="0"/>
              <a:t> Implementation – how are we going to do it?</a:t>
            </a:r>
            <a:endParaRPr lang="en-GB" sz="3200" dirty="0"/>
          </a:p>
          <a:p>
            <a:pPr lvl="1"/>
            <a:endParaRPr lang="en-GB" sz="3200" b="1" dirty="0"/>
          </a:p>
        </p:txBody>
      </p:sp>
    </p:spTree>
    <p:extLst>
      <p:ext uri="{BB962C8B-B14F-4D97-AF65-F5344CB8AC3E}">
        <p14:creationId xmlns:p14="http://schemas.microsoft.com/office/powerpoint/2010/main" val="2832836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260648"/>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8" name="Rectangle 7"/>
          <p:cNvSpPr/>
          <p:nvPr/>
        </p:nvSpPr>
        <p:spPr>
          <a:xfrm>
            <a:off x="458167" y="1714500"/>
            <a:ext cx="8049313" cy="4524315"/>
          </a:xfrm>
          <a:prstGeom prst="rect">
            <a:avLst/>
          </a:prstGeom>
        </p:spPr>
        <p:txBody>
          <a:bodyPr wrap="square">
            <a:spAutoFit/>
          </a:bodyPr>
          <a:lstStyle/>
          <a:p>
            <a:r>
              <a:rPr lang="en-US" sz="3200" dirty="0"/>
              <a:t>There is a core role for leadership in innovation strategy to provide vision, direction and sometimes to stretch the organization in terms of its goals.</a:t>
            </a:r>
          </a:p>
          <a:p>
            <a:endParaRPr lang="en-GB" sz="3200" b="1" dirty="0"/>
          </a:p>
          <a:p>
            <a:r>
              <a:rPr lang="en-US" sz="3200" dirty="0"/>
              <a:t>Innovation strategy needs to be shared and communicated so that everyone in the organization understands and can contribute. </a:t>
            </a:r>
            <a:endParaRPr lang="en-GB" sz="3200" b="1" dirty="0"/>
          </a:p>
          <a:p>
            <a:pPr lvl="1"/>
            <a:endParaRPr lang="en-GB" sz="3200" b="1" dirty="0"/>
          </a:p>
        </p:txBody>
      </p:sp>
    </p:spTree>
    <p:extLst>
      <p:ext uri="{BB962C8B-B14F-4D97-AF65-F5344CB8AC3E}">
        <p14:creationId xmlns:p14="http://schemas.microsoft.com/office/powerpoint/2010/main" val="3869845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15616" y="260648"/>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8" name="Rectangle 7"/>
          <p:cNvSpPr/>
          <p:nvPr/>
        </p:nvSpPr>
        <p:spPr>
          <a:xfrm>
            <a:off x="458167" y="1714500"/>
            <a:ext cx="8271247" cy="5016757"/>
          </a:xfrm>
          <a:prstGeom prst="rect">
            <a:avLst/>
          </a:prstGeom>
        </p:spPr>
        <p:txBody>
          <a:bodyPr wrap="square">
            <a:spAutoFit/>
          </a:bodyPr>
          <a:lstStyle/>
          <a:p>
            <a:pPr lvl="1"/>
            <a:r>
              <a:rPr lang="en-US" sz="3200" dirty="0"/>
              <a:t>Innovation strategy is about building the capability to work in a complex and changing environment. So it is about building routines – capability – to make innovation happen, but it is also about being able to adapt and change those routines as the world shifts. This is ‘dynamic capability’.</a:t>
            </a:r>
          </a:p>
          <a:p>
            <a:pPr lvl="1"/>
            <a:endParaRPr lang="en-US" sz="3200" dirty="0"/>
          </a:p>
          <a:p>
            <a:pPr lvl="1"/>
            <a:r>
              <a:rPr lang="en-US" sz="3200" dirty="0"/>
              <a:t>Dynamic capability involves working with the organization’s paths, processes and positions. </a:t>
            </a:r>
            <a:endParaRPr lang="en-GB" sz="3200" b="1" dirty="0"/>
          </a:p>
        </p:txBody>
      </p:sp>
    </p:spTree>
    <p:extLst>
      <p:ext uri="{BB962C8B-B14F-4D97-AF65-F5344CB8AC3E}">
        <p14:creationId xmlns:p14="http://schemas.microsoft.com/office/powerpoint/2010/main" val="555950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a:bodyPr>
          <a:lstStyle/>
          <a:p>
            <a:pPr>
              <a:lnSpc>
                <a:spcPct val="90000"/>
              </a:lnSpc>
            </a:pPr>
            <a:r>
              <a:rPr lang="en-US" sz="2700" dirty="0"/>
              <a:t>There are several videos which can help explore and present the key themes of the chapter:</a:t>
            </a:r>
          </a:p>
          <a:p>
            <a:pPr>
              <a:lnSpc>
                <a:spcPct val="90000"/>
              </a:lnSpc>
            </a:pPr>
            <a:r>
              <a:rPr lang="en-US" sz="2700" dirty="0">
                <a:hlinkClick r:id="rId4"/>
              </a:rPr>
              <a:t>Introduction to innovation strategy</a:t>
            </a:r>
            <a:endParaRPr lang="en-US" sz="2700" dirty="0"/>
          </a:p>
          <a:p>
            <a:pPr>
              <a:lnSpc>
                <a:spcPct val="90000"/>
              </a:lnSpc>
            </a:pPr>
            <a:r>
              <a:rPr lang="en-US" sz="2700" dirty="0">
                <a:hlinkClick r:id="rId5"/>
              </a:rPr>
              <a:t>Armin Rau talking about his experiences within Swisscom</a:t>
            </a:r>
            <a:endParaRPr lang="en-US" sz="2700" dirty="0"/>
          </a:p>
        </p:txBody>
      </p:sp>
    </p:spTree>
    <p:extLst>
      <p:ext uri="{BB962C8B-B14F-4D97-AF65-F5344CB8AC3E}">
        <p14:creationId xmlns:p14="http://schemas.microsoft.com/office/powerpoint/2010/main" val="1478196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01F0B6-966E-FC4D-A5E8-145FAE4F3879}"/>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CEC9DC2-6AA4-8148-9D42-9781A2A6B4CC}"/>
              </a:ext>
            </a:extLst>
          </p:cNvPr>
          <p:cNvSpPr>
            <a:spLocks noGrp="1"/>
          </p:cNvSpPr>
          <p:nvPr>
            <p:ph idx="1"/>
          </p:nvPr>
        </p:nvSpPr>
        <p:spPr>
          <a:xfrm>
            <a:off x="3335481" y="591344"/>
            <a:ext cx="5179868" cy="5585619"/>
          </a:xfrm>
        </p:spPr>
        <p:txBody>
          <a:bodyPr anchor="ctr">
            <a:normAutofit/>
          </a:bodyPr>
          <a:lstStyle/>
          <a:p>
            <a:r>
              <a:rPr lang="en-GB" dirty="0"/>
              <a:t>Follow the link to watch Martin Reeve’s TED Talk on Strategy</a:t>
            </a:r>
          </a:p>
          <a:p>
            <a:endParaRPr lang="en-GB" b="1" dirty="0"/>
          </a:p>
          <a:p>
            <a:r>
              <a:rPr lang="en-GB" dirty="0">
                <a:hlinkClick r:id="rId2"/>
              </a:rPr>
              <a:t>https://www.ted.com/talks/martin_reeves_your_strategy_needs_a_strategy</a:t>
            </a:r>
            <a:endParaRPr lang="en-GB" dirty="0"/>
          </a:p>
          <a:p>
            <a:endParaRPr lang="en-US" dirty="0"/>
          </a:p>
        </p:txBody>
      </p:sp>
    </p:spTree>
    <p:extLst>
      <p:ext uri="{BB962C8B-B14F-4D97-AF65-F5344CB8AC3E}">
        <p14:creationId xmlns:p14="http://schemas.microsoft.com/office/powerpoint/2010/main" val="4224593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540256-8899-C64A-9DC9-C95070334AED}"/>
              </a:ext>
            </a:extLst>
          </p:cNvPr>
          <p:cNvSpPr>
            <a:spLocks noGrp="1"/>
          </p:cNvSpPr>
          <p:nvPr>
            <p:ph type="title"/>
          </p:nvPr>
        </p:nvSpPr>
        <p:spPr>
          <a:xfrm>
            <a:off x="515125" y="1153572"/>
            <a:ext cx="2400300" cy="4461163"/>
          </a:xfrm>
        </p:spPr>
        <p:txBody>
          <a:bodyPr>
            <a:normAutofit/>
          </a:bodyPr>
          <a:lstStyle/>
          <a:p>
            <a:r>
              <a:rPr lang="en-US">
                <a:solidFill>
                  <a:srgbClr val="FFFFFF"/>
                </a:solidFill>
              </a:rPr>
              <a:t>Working with the 4Ps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1095F3B-FD07-764E-A830-31A9D5653F2C}"/>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dirty="0">
                <a:hlinkClick r:id="rId2"/>
              </a:rPr>
              <a:t>The video of ‘Finnegan’s fish bar’ </a:t>
            </a:r>
            <a:r>
              <a:rPr lang="en-US" sz="2000" dirty="0"/>
              <a:t>shows how you can use the model with a simple organization to explore innovation space. One activity is to get the class to watch it and then choose another simple example – a shop, a restaurant, etc. – and construct a 4Ps map of where and why it might innovate.</a:t>
            </a:r>
            <a:endParaRPr lang="en-GB" sz="2000" dirty="0"/>
          </a:p>
          <a:p>
            <a:pPr>
              <a:lnSpc>
                <a:spcPct val="90000"/>
              </a:lnSpc>
            </a:pPr>
            <a:endParaRPr lang="en-GB" sz="2000" dirty="0"/>
          </a:p>
          <a:p>
            <a:pPr>
              <a:lnSpc>
                <a:spcPct val="90000"/>
              </a:lnSpc>
            </a:pPr>
            <a:endParaRPr lang="en-US" sz="2000" u="sng" dirty="0"/>
          </a:p>
          <a:p>
            <a:pPr>
              <a:lnSpc>
                <a:spcPct val="90000"/>
              </a:lnSpc>
            </a:pPr>
            <a:endParaRPr lang="en-US" sz="2000" dirty="0"/>
          </a:p>
        </p:txBody>
      </p:sp>
    </p:spTree>
    <p:extLst>
      <p:ext uri="{BB962C8B-B14F-4D97-AF65-F5344CB8AC3E}">
        <p14:creationId xmlns:p14="http://schemas.microsoft.com/office/powerpoint/2010/main" val="1636167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FB8B62-F4C7-5C4D-BF17-0C7783455406}"/>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A6AAF6F-FE52-E948-A66E-EAA9C434C1E6}"/>
              </a:ext>
            </a:extLst>
          </p:cNvPr>
          <p:cNvSpPr>
            <a:spLocks noGrp="1"/>
          </p:cNvSpPr>
          <p:nvPr>
            <p:ph idx="1"/>
          </p:nvPr>
        </p:nvSpPr>
        <p:spPr>
          <a:xfrm>
            <a:off x="3335481" y="591344"/>
            <a:ext cx="5179868" cy="5585619"/>
          </a:xfrm>
        </p:spPr>
        <p:txBody>
          <a:bodyPr anchor="ctr">
            <a:normAutofit/>
          </a:bodyPr>
          <a:lstStyle/>
          <a:p>
            <a:r>
              <a:rPr lang="en-GB" dirty="0">
                <a:hlinkClick r:id="rId2"/>
              </a:rPr>
              <a:t>Follow this link to watch a video of John Bessant </a:t>
            </a:r>
            <a:r>
              <a:rPr lang="en-GB" dirty="0"/>
              <a:t>exploring the need for dynamic capability </a:t>
            </a:r>
          </a:p>
          <a:p>
            <a:endParaRPr lang="en-GB" b="1" dirty="0"/>
          </a:p>
          <a:p>
            <a:endParaRPr lang="en-US" dirty="0"/>
          </a:p>
        </p:txBody>
      </p:sp>
    </p:spTree>
    <p:extLst>
      <p:ext uri="{BB962C8B-B14F-4D97-AF65-F5344CB8AC3E}">
        <p14:creationId xmlns:p14="http://schemas.microsoft.com/office/powerpoint/2010/main" val="3542834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r>
              <a:rPr lang="en-US" dirty="0"/>
              <a:t>There are </a:t>
            </a:r>
            <a:r>
              <a:rPr lang="en-US" dirty="0">
                <a:hlinkClick r:id="rId2"/>
              </a:rPr>
              <a:t>several podcasts </a:t>
            </a:r>
            <a:r>
              <a:rPr lang="en-US" dirty="0"/>
              <a:t>picking up key themes around managing innovation as a process and some of the key variables</a:t>
            </a:r>
          </a:p>
          <a:p>
            <a:r>
              <a:rPr lang="en-US" dirty="0"/>
              <a:t>You can also find a number of </a:t>
            </a:r>
            <a:r>
              <a:rPr lang="en-US" dirty="0">
                <a:hlinkClick r:id="rId3"/>
              </a:rPr>
              <a:t>blog posts </a:t>
            </a:r>
            <a:r>
              <a:rPr lang="en-US" dirty="0"/>
              <a:t>which pick up themes linked to strategy</a:t>
            </a:r>
          </a:p>
        </p:txBody>
      </p:sp>
    </p:spTree>
    <p:extLst>
      <p:ext uri="{BB962C8B-B14F-4D97-AF65-F5344CB8AC3E}">
        <p14:creationId xmlns:p14="http://schemas.microsoft.com/office/powerpoint/2010/main" val="3474723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2372661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69204"/>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188640"/>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Game 1</a:t>
            </a:r>
            <a:r>
              <a:rPr lang="en-GB" sz="3600" b="1" dirty="0">
                <a:solidFill>
                  <a:srgbClr val="008000"/>
                </a:solidFill>
                <a:latin typeface="+mj-lt"/>
                <a:ea typeface="+mj-ea"/>
                <a:cs typeface="+mj-cs"/>
              </a:rPr>
              <a:t>: Paper Planes</a:t>
            </a:r>
          </a:p>
        </p:txBody>
      </p:sp>
      <p:pic>
        <p:nvPicPr>
          <p:cNvPr id="10" name="Picture 9"/>
          <p:cNvPicPr>
            <a:picLocks noChangeAspect="1"/>
          </p:cNvPicPr>
          <p:nvPr/>
        </p:nvPicPr>
        <p:blipFill>
          <a:blip r:embed="rId2" cstate="print"/>
          <a:stretch>
            <a:fillRect/>
          </a:stretch>
        </p:blipFill>
        <p:spPr>
          <a:xfrm>
            <a:off x="4803036" y="3487847"/>
            <a:ext cx="4050146" cy="1936923"/>
          </a:xfrm>
          <a:prstGeom prst="rect">
            <a:avLst/>
          </a:prstGeom>
        </p:spPr>
      </p:pic>
      <p:sp>
        <p:nvSpPr>
          <p:cNvPr id="12" name="Rectangle 11"/>
          <p:cNvSpPr/>
          <p:nvPr/>
        </p:nvSpPr>
        <p:spPr>
          <a:xfrm>
            <a:off x="508459" y="1909457"/>
            <a:ext cx="4294577" cy="5093702"/>
          </a:xfrm>
          <a:prstGeom prst="rect">
            <a:avLst/>
          </a:prstGeom>
        </p:spPr>
        <p:txBody>
          <a:bodyPr wrap="square">
            <a:spAutoFit/>
          </a:bodyPr>
          <a:lstStyle/>
          <a:p>
            <a:r>
              <a:rPr lang="en-US" sz="2500" dirty="0"/>
              <a:t>This is a simple interactive way to act as a good ‘icebreaker’ with students but also with innovation management generally as a course, helping to think holistically about challenges of innovation and its strategy</a:t>
            </a:r>
            <a:r>
              <a:rPr lang="en-GB" sz="2500" dirty="0"/>
              <a:t> </a:t>
            </a:r>
          </a:p>
          <a:p>
            <a:endParaRPr lang="en-GB" sz="2500" dirty="0"/>
          </a:p>
          <a:p>
            <a:r>
              <a:rPr lang="en-GB" sz="2500" dirty="0">
                <a:hlinkClick r:id="rId3"/>
              </a:rPr>
              <a:t>You can find details here</a:t>
            </a:r>
            <a:endParaRPr lang="en-GB" sz="2500" dirty="0"/>
          </a:p>
          <a:p>
            <a:endParaRPr lang="en-US" sz="2500" dirty="0"/>
          </a:p>
          <a:p>
            <a:endParaRPr lang="en-US" sz="2500" dirty="0"/>
          </a:p>
          <a:p>
            <a:pPr lvl="0"/>
            <a:endParaRPr lang="en-GB" sz="2500" dirty="0"/>
          </a:p>
        </p:txBody>
      </p:sp>
    </p:spTree>
    <p:extLst>
      <p:ext uri="{BB962C8B-B14F-4D97-AF65-F5344CB8AC3E}">
        <p14:creationId xmlns:p14="http://schemas.microsoft.com/office/powerpoint/2010/main" val="2841004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35696" y="332656"/>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Activity 1: Strategy as a roadmap for change</a:t>
            </a:r>
            <a:endParaRPr lang="en-GB" sz="3600" b="1" dirty="0">
              <a:solidFill>
                <a:srgbClr val="008000"/>
              </a:solidFill>
              <a:latin typeface="+mj-lt"/>
              <a:ea typeface="+mj-ea"/>
              <a:cs typeface="+mj-cs"/>
            </a:endParaRPr>
          </a:p>
        </p:txBody>
      </p:sp>
      <p:sp>
        <p:nvSpPr>
          <p:cNvPr id="8" name="Rectangle 7"/>
          <p:cNvSpPr/>
          <p:nvPr/>
        </p:nvSpPr>
        <p:spPr>
          <a:xfrm>
            <a:off x="467544" y="1700808"/>
            <a:ext cx="8478016" cy="5106013"/>
          </a:xfrm>
          <a:prstGeom prst="rect">
            <a:avLst/>
          </a:prstGeom>
        </p:spPr>
        <p:txBody>
          <a:bodyPr wrap="square">
            <a:spAutoFit/>
          </a:bodyPr>
          <a:lstStyle/>
          <a:p>
            <a:pPr>
              <a:lnSpc>
                <a:spcPct val="95000"/>
              </a:lnSpc>
            </a:pPr>
            <a:r>
              <a:rPr lang="en-US" sz="2400" dirty="0"/>
              <a:t>There is </a:t>
            </a:r>
            <a:r>
              <a:rPr lang="en-US" sz="2400" dirty="0">
                <a:hlinkClick r:id="rId2"/>
              </a:rPr>
              <a:t>an activity around trying to ‘reverse engineer’ innovation strategies</a:t>
            </a:r>
            <a:endParaRPr lang="en-GB" sz="2400" dirty="0"/>
          </a:p>
          <a:p>
            <a:pPr>
              <a:lnSpc>
                <a:spcPct val="95000"/>
              </a:lnSpc>
            </a:pPr>
            <a:r>
              <a:rPr lang="en-US" sz="2400" dirty="0"/>
              <a:t> </a:t>
            </a:r>
            <a:endParaRPr lang="en-GB" sz="2400" dirty="0"/>
          </a:p>
          <a:p>
            <a:pPr>
              <a:lnSpc>
                <a:spcPct val="95000"/>
              </a:lnSpc>
            </a:pPr>
            <a:r>
              <a:rPr lang="en-US" sz="2400" dirty="0"/>
              <a:t> </a:t>
            </a:r>
            <a:endParaRPr lang="en-GB" sz="2400" dirty="0"/>
          </a:p>
          <a:p>
            <a:pPr>
              <a:lnSpc>
                <a:spcPct val="95000"/>
              </a:lnSpc>
            </a:pPr>
            <a:r>
              <a:rPr lang="en-US" sz="2400" dirty="0"/>
              <a:t>And some </a:t>
            </a:r>
            <a:r>
              <a:rPr lang="en-US" sz="2400" dirty="0">
                <a:hlinkClick r:id="rId3"/>
              </a:rPr>
              <a:t>case examples </a:t>
            </a:r>
            <a:r>
              <a:rPr lang="en-US" sz="2400" dirty="0"/>
              <a:t>can help explore this, for instance:</a:t>
            </a:r>
            <a:endParaRPr lang="en-GB" sz="2400" dirty="0"/>
          </a:p>
          <a:p>
            <a:pPr>
              <a:lnSpc>
                <a:spcPct val="95000"/>
              </a:lnSpc>
            </a:pPr>
            <a:endParaRPr lang="en-US" sz="2400" dirty="0"/>
          </a:p>
          <a:p>
            <a:pPr>
              <a:lnSpc>
                <a:spcPct val="95000"/>
              </a:lnSpc>
            </a:pPr>
            <a:r>
              <a:rPr lang="en-US" sz="2400" dirty="0"/>
              <a:t>Marshalls</a:t>
            </a:r>
            <a:endParaRPr lang="en-GB" sz="2400" dirty="0"/>
          </a:p>
          <a:p>
            <a:pPr>
              <a:lnSpc>
                <a:spcPct val="95000"/>
              </a:lnSpc>
            </a:pPr>
            <a:endParaRPr lang="en-US" sz="2400" dirty="0"/>
          </a:p>
          <a:p>
            <a:pPr>
              <a:lnSpc>
                <a:spcPct val="95000"/>
              </a:lnSpc>
            </a:pPr>
            <a:r>
              <a:rPr lang="en-US" sz="2400" dirty="0"/>
              <a:t>Aravind (strategy in social innovation)</a:t>
            </a:r>
          </a:p>
          <a:p>
            <a:pPr>
              <a:lnSpc>
                <a:spcPct val="95000"/>
              </a:lnSpc>
            </a:pPr>
            <a:endParaRPr lang="en-US" sz="2400" dirty="0">
              <a:solidFill>
                <a:srgbClr val="000090"/>
              </a:solidFill>
            </a:endParaRPr>
          </a:p>
          <a:p>
            <a:pPr>
              <a:lnSpc>
                <a:spcPct val="95000"/>
              </a:lnSpc>
            </a:pPr>
            <a:r>
              <a:rPr lang="en-US" sz="2400" dirty="0">
                <a:solidFill>
                  <a:srgbClr val="000090"/>
                </a:solidFill>
              </a:rPr>
              <a:t>Coloplast</a:t>
            </a:r>
          </a:p>
          <a:p>
            <a:pPr lvl="0"/>
            <a:endParaRPr lang="en-GB" sz="2500" dirty="0"/>
          </a:p>
          <a:p>
            <a:r>
              <a:rPr lang="en-GB" sz="2500" dirty="0"/>
              <a:t> </a:t>
            </a:r>
          </a:p>
          <a:p>
            <a:endParaRPr lang="en-GB" sz="2500" dirty="0"/>
          </a:p>
        </p:txBody>
      </p:sp>
    </p:spTree>
    <p:extLst>
      <p:ext uri="{BB962C8B-B14F-4D97-AF65-F5344CB8AC3E}">
        <p14:creationId xmlns:p14="http://schemas.microsoft.com/office/powerpoint/2010/main" val="20058644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90529" y="332094"/>
            <a:ext cx="522147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Activity 2: Tools to help strategic analysis</a:t>
            </a:r>
            <a:endParaRPr lang="en-GB" sz="3600" b="1" dirty="0">
              <a:solidFill>
                <a:srgbClr val="008000"/>
              </a:solidFill>
              <a:latin typeface="+mj-lt"/>
              <a:ea typeface="+mj-ea"/>
              <a:cs typeface="+mj-cs"/>
            </a:endParaRPr>
          </a:p>
        </p:txBody>
      </p:sp>
      <p:sp>
        <p:nvSpPr>
          <p:cNvPr id="8" name="Rectangle 7"/>
          <p:cNvSpPr/>
          <p:nvPr/>
        </p:nvSpPr>
        <p:spPr>
          <a:xfrm>
            <a:off x="395536" y="2204864"/>
            <a:ext cx="8478016" cy="2246769"/>
          </a:xfrm>
          <a:prstGeom prst="rect">
            <a:avLst/>
          </a:prstGeom>
        </p:spPr>
        <p:txBody>
          <a:bodyPr wrap="square">
            <a:spAutoFit/>
          </a:bodyPr>
          <a:lstStyle/>
          <a:p>
            <a:pPr>
              <a:spcAft>
                <a:spcPts val="3000"/>
              </a:spcAft>
            </a:pPr>
            <a:r>
              <a:rPr lang="en-US" sz="2800" dirty="0"/>
              <a:t>Use the different tools to help construct a strategic map – one option is to break the class into groups and get each to use a different tool but working on the same organization. These different perspectives can then be combined into a composite map.</a:t>
            </a:r>
            <a:endParaRPr lang="en-GB" sz="2800" dirty="0"/>
          </a:p>
        </p:txBody>
      </p:sp>
    </p:spTree>
    <p:extLst>
      <p:ext uri="{BB962C8B-B14F-4D97-AF65-F5344CB8AC3E}">
        <p14:creationId xmlns:p14="http://schemas.microsoft.com/office/powerpoint/2010/main" val="2312248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9" name="Picture 8" descr="Screen shot 2013-07-18 at 14"/>
          <p:cNvPicPr/>
          <p:nvPr/>
        </p:nvPicPr>
        <p:blipFill>
          <a:blip r:embed="rId2"/>
          <a:srcRect/>
          <a:stretch>
            <a:fillRect/>
          </a:stretch>
        </p:blipFill>
        <p:spPr bwMode="auto">
          <a:xfrm>
            <a:off x="458167" y="332094"/>
            <a:ext cx="965872" cy="845542"/>
          </a:xfrm>
          <a:prstGeom prst="rect">
            <a:avLst/>
          </a:prstGeom>
          <a:noFill/>
          <a:ln w="9525">
            <a:noFill/>
            <a:miter lim="800000"/>
            <a:headEnd/>
            <a:tailEnd/>
          </a:ln>
        </p:spPr>
      </p:pic>
      <p:sp>
        <p:nvSpPr>
          <p:cNvPr id="10" name="Rectangle 9"/>
          <p:cNvSpPr/>
          <p:nvPr/>
        </p:nvSpPr>
        <p:spPr>
          <a:xfrm>
            <a:off x="458167" y="1950893"/>
            <a:ext cx="8009093" cy="1815882"/>
          </a:xfrm>
          <a:prstGeom prst="rect">
            <a:avLst/>
          </a:prstGeom>
        </p:spPr>
        <p:txBody>
          <a:bodyPr wrap="square">
            <a:spAutoFit/>
          </a:bodyPr>
          <a:lstStyle/>
          <a:p>
            <a:r>
              <a:rPr lang="en-US" sz="2800" dirty="0"/>
              <a:t>There is a </a:t>
            </a:r>
            <a:r>
              <a:rPr lang="en-US" sz="2800" dirty="0">
                <a:hlinkClick r:id="rId3"/>
              </a:rPr>
              <a:t>video to begin to explore the model </a:t>
            </a:r>
            <a:endParaRPr lang="en-GB" sz="2800" dirty="0"/>
          </a:p>
          <a:p>
            <a:r>
              <a:rPr lang="en-US" sz="2800" dirty="0"/>
              <a:t> </a:t>
            </a:r>
            <a:endParaRPr lang="en-GB" sz="2800" dirty="0"/>
          </a:p>
          <a:p>
            <a:r>
              <a:rPr lang="en-US" sz="2800" dirty="0"/>
              <a:t>And there is a </a:t>
            </a:r>
            <a:r>
              <a:rPr lang="en-US" sz="2800" dirty="0">
                <a:hlinkClick r:id="rId4"/>
              </a:rPr>
              <a:t>detailed classroom activity suitable for group work</a:t>
            </a:r>
            <a:endParaRPr lang="en-GB" sz="2800" dirty="0"/>
          </a:p>
        </p:txBody>
      </p:sp>
      <p:sp>
        <p:nvSpPr>
          <p:cNvPr id="6" name="Title 1"/>
          <p:cNvSpPr txBox="1">
            <a:spLocks/>
          </p:cNvSpPr>
          <p:nvPr/>
        </p:nvSpPr>
        <p:spPr>
          <a:xfrm>
            <a:off x="1424039" y="332094"/>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 </a:t>
            </a:r>
            <a:r>
              <a:rPr lang="en-US" sz="3600" b="1" dirty="0">
                <a:solidFill>
                  <a:srgbClr val="008000"/>
                </a:solidFill>
                <a:latin typeface="+mj-lt"/>
                <a:ea typeface="+mj-ea"/>
                <a:cs typeface="+mj-cs"/>
                <a:hlinkClick r:id="rId4"/>
              </a:rPr>
              <a:t>Working with the 4Ps</a:t>
            </a:r>
            <a:endParaRPr lang="en-US" sz="3600" b="1" dirty="0">
              <a:solidFill>
                <a:srgbClr val="008000"/>
              </a:solidFill>
              <a:latin typeface="+mj-lt"/>
              <a:ea typeface="+mj-ea"/>
              <a:cs typeface="+mj-cs"/>
            </a:endParaRPr>
          </a:p>
        </p:txBody>
      </p:sp>
    </p:spTree>
    <p:extLst>
      <p:ext uri="{BB962C8B-B14F-4D97-AF65-F5344CB8AC3E}">
        <p14:creationId xmlns:p14="http://schemas.microsoft.com/office/powerpoint/2010/main" val="16386268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950893"/>
            <a:ext cx="8009093" cy="1815882"/>
          </a:xfrm>
          <a:prstGeom prst="rect">
            <a:avLst/>
          </a:prstGeom>
        </p:spPr>
        <p:txBody>
          <a:bodyPr wrap="square">
            <a:spAutoFit/>
          </a:bodyPr>
          <a:lstStyle/>
          <a:p>
            <a:r>
              <a:rPr lang="en-GB" sz="2800" dirty="0"/>
              <a:t>In this </a:t>
            </a:r>
            <a:r>
              <a:rPr lang="en-GB" sz="2800" dirty="0">
                <a:hlinkClick r:id="rId2"/>
              </a:rPr>
              <a:t>video John Bessant sets out the basic framework of the 4Ps </a:t>
            </a:r>
            <a:r>
              <a:rPr lang="en-GB" sz="2800" dirty="0"/>
              <a:t>and how it can be used to explore innovation space</a:t>
            </a:r>
          </a:p>
          <a:p>
            <a:endParaRPr lang="en-GB" sz="2800" dirty="0"/>
          </a:p>
        </p:txBody>
      </p:sp>
      <p:sp>
        <p:nvSpPr>
          <p:cNvPr id="6" name="Title 1"/>
          <p:cNvSpPr txBox="1">
            <a:spLocks/>
          </p:cNvSpPr>
          <p:nvPr/>
        </p:nvSpPr>
        <p:spPr>
          <a:xfrm>
            <a:off x="1424039" y="332094"/>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Video: The 4Ps approach</a:t>
            </a:r>
            <a:endParaRPr lang="en-US" sz="3600" b="1" dirty="0">
              <a:solidFill>
                <a:srgbClr val="008000"/>
              </a:solidFill>
              <a:latin typeface="+mj-lt"/>
              <a:ea typeface="+mj-ea"/>
              <a:cs typeface="+mj-cs"/>
            </a:endParaRPr>
          </a:p>
        </p:txBody>
      </p:sp>
      <p:pic>
        <p:nvPicPr>
          <p:cNvPr id="8" name="Picture 7" descr="Screen shot 2013-07-18 at 14"/>
          <p:cNvPicPr/>
          <p:nvPr/>
        </p:nvPicPr>
        <p:blipFill>
          <a:blip r:embed="rId3"/>
          <a:srcRect/>
          <a:stretch>
            <a:fillRect/>
          </a:stretch>
        </p:blipFill>
        <p:spPr bwMode="auto">
          <a:xfrm>
            <a:off x="455586" y="27945"/>
            <a:ext cx="1120299" cy="1096026"/>
          </a:xfrm>
          <a:prstGeom prst="rect">
            <a:avLst/>
          </a:prstGeom>
          <a:noFill/>
          <a:ln w="9525">
            <a:noFill/>
            <a:miter lim="800000"/>
            <a:headEnd/>
            <a:tailEnd/>
          </a:ln>
        </p:spPr>
      </p:pic>
      <p:pic>
        <p:nvPicPr>
          <p:cNvPr id="2" name="Picture 1" descr="A jellyfish with long tentacles&#10;&#10;Description automatically generated">
            <a:extLst>
              <a:ext uri="{FF2B5EF4-FFF2-40B4-BE49-F238E27FC236}">
                <a16:creationId xmlns:a16="http://schemas.microsoft.com/office/drawing/2014/main" id="{192425F5-4A07-5378-5E78-B388C490398C}"/>
              </a:ext>
            </a:extLst>
          </p:cNvPr>
          <p:cNvPicPr>
            <a:picLocks noChangeAspect="1"/>
          </p:cNvPicPr>
          <p:nvPr/>
        </p:nvPicPr>
        <p:blipFill>
          <a:blip r:embed="rId4"/>
          <a:stretch>
            <a:fillRect/>
          </a:stretch>
        </p:blipFill>
        <p:spPr>
          <a:xfrm>
            <a:off x="8103870" y="81871"/>
            <a:ext cx="816732" cy="923385"/>
          </a:xfrm>
          <a:prstGeom prst="rect">
            <a:avLst/>
          </a:prstGeom>
        </p:spPr>
      </p:pic>
    </p:spTree>
    <p:extLst>
      <p:ext uri="{BB962C8B-B14F-4D97-AF65-F5344CB8AC3E}">
        <p14:creationId xmlns:p14="http://schemas.microsoft.com/office/powerpoint/2010/main" val="2702010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2122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9" name="Picture 8" descr="Screen shot 2013-07-18 at 14"/>
          <p:cNvPicPr/>
          <p:nvPr/>
        </p:nvPicPr>
        <p:blipFill>
          <a:blip r:embed="rId2"/>
          <a:srcRect/>
          <a:stretch>
            <a:fillRect/>
          </a:stretch>
        </p:blipFill>
        <p:spPr bwMode="auto">
          <a:xfrm>
            <a:off x="458167" y="245791"/>
            <a:ext cx="965872" cy="845542"/>
          </a:xfrm>
          <a:prstGeom prst="rect">
            <a:avLst/>
          </a:prstGeom>
          <a:noFill/>
          <a:ln w="9525">
            <a:noFill/>
            <a:miter lim="800000"/>
            <a:headEnd/>
            <a:tailEnd/>
          </a:ln>
        </p:spPr>
      </p:pic>
      <p:sp>
        <p:nvSpPr>
          <p:cNvPr id="10" name="Rectangle 9"/>
          <p:cNvSpPr/>
          <p:nvPr/>
        </p:nvSpPr>
        <p:spPr>
          <a:xfrm>
            <a:off x="458167" y="1373498"/>
            <a:ext cx="8009093" cy="3000821"/>
          </a:xfrm>
          <a:prstGeom prst="rect">
            <a:avLst/>
          </a:prstGeom>
        </p:spPr>
        <p:txBody>
          <a:bodyPr wrap="square">
            <a:spAutoFit/>
          </a:bodyPr>
          <a:lstStyle/>
          <a:p>
            <a:r>
              <a:rPr lang="en-US" sz="2700" dirty="0">
                <a:hlinkClick r:id="rId3"/>
              </a:rPr>
              <a:t>The video of ‘Finnegan’s fish bar’ </a:t>
            </a:r>
            <a:r>
              <a:rPr lang="en-US" sz="2700" dirty="0"/>
              <a:t>shows how you can use the model with a simple </a:t>
            </a:r>
            <a:r>
              <a:rPr lang="en-US" sz="2700" dirty="0" err="1"/>
              <a:t>organisation</a:t>
            </a:r>
            <a:r>
              <a:rPr lang="en-US" sz="2700" dirty="0"/>
              <a:t> to explore innovation space. One activity is to get the class to watch it and then choose another simple example – a shop, a restaurant, etc. – and construct a 4Ps map of where and why it might innovate.</a:t>
            </a:r>
            <a:endParaRPr lang="en-GB" sz="2700" dirty="0"/>
          </a:p>
          <a:p>
            <a:r>
              <a:rPr lang="en-US" sz="2700" dirty="0"/>
              <a:t> </a:t>
            </a:r>
            <a:endParaRPr lang="en-GB" sz="2700" dirty="0"/>
          </a:p>
        </p:txBody>
      </p:sp>
      <p:sp>
        <p:nvSpPr>
          <p:cNvPr id="6" name="Title 1"/>
          <p:cNvSpPr txBox="1">
            <a:spLocks/>
          </p:cNvSpPr>
          <p:nvPr/>
        </p:nvSpPr>
        <p:spPr>
          <a:xfrm>
            <a:off x="1424039" y="245791"/>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Video: Using the </a:t>
            </a:r>
            <a:r>
              <a:rPr lang="en-US" sz="3600" b="1" dirty="0">
                <a:solidFill>
                  <a:srgbClr val="008000"/>
                </a:solidFill>
                <a:latin typeface="+mj-lt"/>
                <a:ea typeface="+mj-ea"/>
                <a:cs typeface="+mj-cs"/>
              </a:rPr>
              <a:t>4Ps</a:t>
            </a:r>
          </a:p>
        </p:txBody>
      </p:sp>
      <p:pic>
        <p:nvPicPr>
          <p:cNvPr id="8" name="Picture 7" descr="Screen shot 2013-07-18 at 14"/>
          <p:cNvPicPr/>
          <p:nvPr/>
        </p:nvPicPr>
        <p:blipFill>
          <a:blip r:embed="rId4"/>
          <a:srcRect/>
          <a:stretch>
            <a:fillRect/>
          </a:stretch>
        </p:blipFill>
        <p:spPr bwMode="auto">
          <a:xfrm>
            <a:off x="455586" y="67629"/>
            <a:ext cx="1120299" cy="1096026"/>
          </a:xfrm>
          <a:prstGeom prst="rect">
            <a:avLst/>
          </a:prstGeom>
          <a:noFill/>
          <a:ln w="9525">
            <a:noFill/>
            <a:miter lim="800000"/>
            <a:headEnd/>
            <a:tailEnd/>
          </a:ln>
        </p:spPr>
      </p:pic>
      <p:pic>
        <p:nvPicPr>
          <p:cNvPr id="2" name="Picture 1" descr="A jellyfish with long tentacles&#10;&#10;Description automatically generated">
            <a:extLst>
              <a:ext uri="{FF2B5EF4-FFF2-40B4-BE49-F238E27FC236}">
                <a16:creationId xmlns:a16="http://schemas.microsoft.com/office/drawing/2014/main" id="{0981C793-4FC0-E41A-406B-ED1D1BDCFB99}"/>
              </a:ext>
            </a:extLst>
          </p:cNvPr>
          <p:cNvPicPr>
            <a:picLocks noChangeAspect="1"/>
          </p:cNvPicPr>
          <p:nvPr/>
        </p:nvPicPr>
        <p:blipFill>
          <a:blip r:embed="rId5"/>
          <a:stretch>
            <a:fillRect/>
          </a:stretch>
        </p:blipFill>
        <p:spPr>
          <a:xfrm>
            <a:off x="8103870" y="81871"/>
            <a:ext cx="816732" cy="923385"/>
          </a:xfrm>
          <a:prstGeom prst="rect">
            <a:avLst/>
          </a:prstGeom>
        </p:spPr>
      </p:pic>
    </p:spTree>
    <p:extLst>
      <p:ext uri="{BB962C8B-B14F-4D97-AF65-F5344CB8AC3E}">
        <p14:creationId xmlns:p14="http://schemas.microsoft.com/office/powerpoint/2010/main" val="8324787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67544" y="1844824"/>
            <a:ext cx="8478016" cy="2000548"/>
          </a:xfrm>
          <a:prstGeom prst="rect">
            <a:avLst/>
          </a:prstGeom>
        </p:spPr>
        <p:txBody>
          <a:bodyPr wrap="square">
            <a:spAutoFit/>
          </a:bodyPr>
          <a:lstStyle/>
          <a:p>
            <a:r>
              <a:rPr lang="en-US" sz="2400" dirty="0"/>
              <a:t>The </a:t>
            </a:r>
            <a:r>
              <a:rPr lang="en-US" sz="2400" dirty="0">
                <a:hlinkClick r:id="rId2"/>
              </a:rPr>
              <a:t>Dragon’s Den activity </a:t>
            </a:r>
            <a:r>
              <a:rPr lang="en-US" sz="2400" dirty="0"/>
              <a:t>helps explore this as a way of judging projects and there are plenty of live media examples of this approach to watch and discuss:</a:t>
            </a:r>
          </a:p>
          <a:p>
            <a:endParaRPr lang="en-US" sz="2400" dirty="0"/>
          </a:p>
          <a:p>
            <a:endParaRPr lang="en-GB" sz="2800" dirty="0"/>
          </a:p>
        </p:txBody>
      </p:sp>
      <p:sp>
        <p:nvSpPr>
          <p:cNvPr id="6" name="Title 1"/>
          <p:cNvSpPr txBox="1">
            <a:spLocks/>
          </p:cNvSpPr>
          <p:nvPr/>
        </p:nvSpPr>
        <p:spPr>
          <a:xfrm>
            <a:off x="971600" y="188640"/>
            <a:ext cx="7216132" cy="917864"/>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 4: Dragon’s Den</a:t>
            </a:r>
          </a:p>
        </p:txBody>
      </p:sp>
    </p:spTree>
    <p:extLst>
      <p:ext uri="{BB962C8B-B14F-4D97-AF65-F5344CB8AC3E}">
        <p14:creationId xmlns:p14="http://schemas.microsoft.com/office/powerpoint/2010/main" val="2457168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67544" y="1841242"/>
            <a:ext cx="8478016" cy="4647426"/>
          </a:xfrm>
          <a:prstGeom prst="rect">
            <a:avLst/>
          </a:prstGeom>
        </p:spPr>
        <p:txBody>
          <a:bodyPr wrap="square">
            <a:spAutoFit/>
          </a:bodyPr>
          <a:lstStyle/>
          <a:p>
            <a:r>
              <a:rPr lang="en-US" sz="2400" dirty="0"/>
              <a:t>Divide the class into investors and entrepreneurs. </a:t>
            </a:r>
          </a:p>
          <a:p>
            <a:endParaRPr lang="en-US" sz="2400" dirty="0"/>
          </a:p>
          <a:p>
            <a:r>
              <a:rPr lang="en-US" sz="2400" dirty="0"/>
              <a:t>Version 1. Give a specific innovative product that groups should present to investors working on their innovation strategy.</a:t>
            </a:r>
          </a:p>
          <a:p>
            <a:endParaRPr lang="en-US" sz="2400" dirty="0"/>
          </a:p>
          <a:p>
            <a:r>
              <a:rPr lang="en-US" sz="2400" dirty="0"/>
              <a:t>Version 2. Alternatively, ask students to work on an innovative product that they are interested in. Give them time in class or at home to work on an innovation strategy prior to presenting to Dragons. Ask the Dragons to prepare with questions in advance, too. </a:t>
            </a:r>
          </a:p>
          <a:p>
            <a:endParaRPr lang="en-US" sz="2800" dirty="0"/>
          </a:p>
          <a:p>
            <a:endParaRPr lang="en-GB" sz="2800" dirty="0"/>
          </a:p>
        </p:txBody>
      </p:sp>
      <p:sp>
        <p:nvSpPr>
          <p:cNvPr id="6" name="Title 1"/>
          <p:cNvSpPr txBox="1">
            <a:spLocks/>
          </p:cNvSpPr>
          <p:nvPr/>
        </p:nvSpPr>
        <p:spPr>
          <a:xfrm>
            <a:off x="755576" y="332656"/>
            <a:ext cx="7216132" cy="917864"/>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 4: Dragon’s Den (continued)</a:t>
            </a:r>
          </a:p>
        </p:txBody>
      </p:sp>
    </p:spTree>
    <p:extLst>
      <p:ext uri="{BB962C8B-B14F-4D97-AF65-F5344CB8AC3E}">
        <p14:creationId xmlns:p14="http://schemas.microsoft.com/office/powerpoint/2010/main" val="1944088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395536" y="1844824"/>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11560" y="2420888"/>
            <a:ext cx="8009093" cy="2246769"/>
          </a:xfrm>
          <a:prstGeom prst="rect">
            <a:avLst/>
          </a:prstGeom>
        </p:spPr>
        <p:txBody>
          <a:bodyPr wrap="square">
            <a:spAutoFit/>
          </a:bodyPr>
          <a:lstStyle/>
          <a:p>
            <a:r>
              <a:rPr lang="en-US" sz="2800" dirty="0"/>
              <a:t>On the website there is a description of the tool – </a:t>
            </a:r>
            <a:r>
              <a:rPr lang="en-US" sz="2800" dirty="0">
                <a:hlinkClick r:id="rId2"/>
              </a:rPr>
              <a:t>competency mapping </a:t>
            </a:r>
            <a:r>
              <a:rPr lang="en-US" sz="2800" dirty="0"/>
              <a:t>– and an activity based on using this.</a:t>
            </a:r>
            <a:endParaRPr lang="en-GB" sz="2800" dirty="0"/>
          </a:p>
          <a:p>
            <a:r>
              <a:rPr lang="en-US" sz="2800" dirty="0"/>
              <a:t> </a:t>
            </a:r>
            <a:endParaRPr lang="en-GB" sz="2800" dirty="0"/>
          </a:p>
          <a:p>
            <a:r>
              <a:rPr lang="en-US" sz="2800" dirty="0"/>
              <a:t> </a:t>
            </a:r>
            <a:endParaRPr lang="en-GB" sz="2800" dirty="0"/>
          </a:p>
        </p:txBody>
      </p:sp>
      <p:sp>
        <p:nvSpPr>
          <p:cNvPr id="6" name="Title 1"/>
          <p:cNvSpPr txBox="1">
            <a:spLocks/>
          </p:cNvSpPr>
          <p:nvPr/>
        </p:nvSpPr>
        <p:spPr>
          <a:xfrm>
            <a:off x="755576" y="476672"/>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 5: </a:t>
            </a:r>
            <a:r>
              <a:rPr lang="en-US" sz="3600" b="1" dirty="0">
                <a:solidFill>
                  <a:srgbClr val="008000"/>
                </a:solidFill>
                <a:latin typeface="+mj-lt"/>
                <a:ea typeface="+mj-ea"/>
                <a:cs typeface="+mj-cs"/>
              </a:rPr>
              <a:t>Competencies and capabilities</a:t>
            </a:r>
            <a:r>
              <a:rPr lang="en-GB" sz="3600" b="1" dirty="0">
                <a:solidFill>
                  <a:srgbClr val="008000"/>
                </a:solidFill>
                <a:latin typeface="+mj-lt"/>
                <a:ea typeface="+mj-ea"/>
                <a:cs typeface="+mj-cs"/>
              </a:rPr>
              <a:t> </a:t>
            </a:r>
          </a:p>
        </p:txBody>
      </p:sp>
    </p:spTree>
    <p:extLst>
      <p:ext uri="{BB962C8B-B14F-4D97-AF65-F5344CB8AC3E}">
        <p14:creationId xmlns:p14="http://schemas.microsoft.com/office/powerpoint/2010/main" val="1168915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2122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67544" y="1916832"/>
            <a:ext cx="8009093" cy="2308324"/>
          </a:xfrm>
          <a:prstGeom prst="rect">
            <a:avLst/>
          </a:prstGeom>
        </p:spPr>
        <p:txBody>
          <a:bodyPr wrap="square">
            <a:spAutoFit/>
          </a:bodyPr>
          <a:lstStyle/>
          <a:p>
            <a:r>
              <a:rPr lang="en-US" sz="2400" dirty="0"/>
              <a:t>Explain ideas around ‘</a:t>
            </a:r>
            <a:r>
              <a:rPr lang="en-US" sz="2400" dirty="0">
                <a:solidFill>
                  <a:schemeClr val="bg1">
                    <a:lumMod val="50000"/>
                  </a:schemeClr>
                </a:solidFill>
              </a:rPr>
              <a:t>first mover</a:t>
            </a:r>
            <a:r>
              <a:rPr lang="en-US" sz="2400" dirty="0"/>
              <a:t>’, ‘</a:t>
            </a:r>
            <a:r>
              <a:rPr lang="en-US" sz="2400" dirty="0">
                <a:solidFill>
                  <a:schemeClr val="bg1">
                    <a:lumMod val="50000"/>
                  </a:schemeClr>
                </a:solidFill>
              </a:rPr>
              <a:t>fast follower</a:t>
            </a:r>
            <a:r>
              <a:rPr lang="en-US" sz="2400" dirty="0"/>
              <a:t>’ and an activity might be to try and identify examples of different strategic postures taken by firms in the same industry.  </a:t>
            </a:r>
          </a:p>
          <a:p>
            <a:endParaRPr lang="en-US" sz="2400" dirty="0"/>
          </a:p>
          <a:p>
            <a:r>
              <a:rPr lang="en-US" sz="2400" dirty="0"/>
              <a:t>Another activity is to try and use the strategic game framework described in the book and map an industry’s players on to that.</a:t>
            </a:r>
            <a:endParaRPr lang="en-GB" sz="2400" b="1" dirty="0"/>
          </a:p>
        </p:txBody>
      </p:sp>
      <p:sp>
        <p:nvSpPr>
          <p:cNvPr id="6" name="Title 1"/>
          <p:cNvSpPr txBox="1">
            <a:spLocks/>
          </p:cNvSpPr>
          <p:nvPr/>
        </p:nvSpPr>
        <p:spPr>
          <a:xfrm>
            <a:off x="899592" y="260648"/>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 </a:t>
            </a:r>
            <a:r>
              <a:rPr lang="en-GB" sz="3600" b="1" dirty="0">
                <a:solidFill>
                  <a:srgbClr val="008000"/>
                </a:solidFill>
                <a:latin typeface="+mj-lt"/>
                <a:ea typeface="+mj-ea"/>
                <a:cs typeface="+mj-cs"/>
              </a:rPr>
              <a:t>6: </a:t>
            </a:r>
            <a:r>
              <a:rPr lang="en-US" sz="3600" b="1" dirty="0">
                <a:solidFill>
                  <a:srgbClr val="008000"/>
                </a:solidFill>
                <a:latin typeface="+mj-lt"/>
                <a:ea typeface="+mj-ea"/>
                <a:cs typeface="+mj-cs"/>
              </a:rPr>
              <a:t>Strategic posture – how are we going to play the game?</a:t>
            </a:r>
            <a:r>
              <a:rPr lang="en-GB" sz="3600" b="1" dirty="0">
                <a:solidFill>
                  <a:srgbClr val="008000"/>
                </a:solidFill>
                <a:latin typeface="+mj-lt"/>
                <a:ea typeface="+mj-ea"/>
                <a:cs typeface="+mj-cs"/>
              </a:rPr>
              <a:t> </a:t>
            </a:r>
          </a:p>
        </p:txBody>
      </p:sp>
    </p:spTree>
    <p:extLst>
      <p:ext uri="{BB962C8B-B14F-4D97-AF65-F5344CB8AC3E}">
        <p14:creationId xmlns:p14="http://schemas.microsoft.com/office/powerpoint/2010/main" val="2062662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2122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8167" y="1432149"/>
            <a:ext cx="8009093" cy="2246769"/>
          </a:xfrm>
          <a:prstGeom prst="rect">
            <a:avLst/>
          </a:prstGeom>
        </p:spPr>
        <p:txBody>
          <a:bodyPr wrap="square">
            <a:spAutoFit/>
          </a:bodyPr>
          <a:lstStyle/>
          <a:p>
            <a:r>
              <a:rPr lang="en-US" sz="2800" dirty="0">
                <a:hlinkClick r:id="rId2"/>
              </a:rPr>
              <a:t>Strategic planning for implementation activity</a:t>
            </a:r>
            <a:endParaRPr lang="en-GB" sz="2800" dirty="0"/>
          </a:p>
          <a:p>
            <a:r>
              <a:rPr lang="en-US" sz="2800" dirty="0"/>
              <a:t> </a:t>
            </a:r>
          </a:p>
          <a:p>
            <a:endParaRPr lang="en-GB" sz="2800" dirty="0"/>
          </a:p>
          <a:p>
            <a:r>
              <a:rPr lang="en-US" sz="2800" dirty="0">
                <a:hlinkClick r:id="rId3"/>
              </a:rPr>
              <a:t>Also try using the FMEA tool</a:t>
            </a:r>
            <a:endParaRPr lang="en-US" sz="2800" dirty="0"/>
          </a:p>
          <a:p>
            <a:endParaRPr lang="en-US" sz="2800" dirty="0"/>
          </a:p>
        </p:txBody>
      </p:sp>
      <p:sp>
        <p:nvSpPr>
          <p:cNvPr id="6" name="Title 1"/>
          <p:cNvSpPr txBox="1">
            <a:spLocks/>
          </p:cNvSpPr>
          <p:nvPr/>
        </p:nvSpPr>
        <p:spPr>
          <a:xfrm>
            <a:off x="590135" y="231605"/>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 </a:t>
            </a:r>
            <a:r>
              <a:rPr lang="en-GB" sz="3600" b="1" dirty="0">
                <a:solidFill>
                  <a:srgbClr val="008000"/>
                </a:solidFill>
                <a:latin typeface="+mj-lt"/>
                <a:ea typeface="+mj-ea"/>
                <a:cs typeface="+mj-cs"/>
              </a:rPr>
              <a:t>7: </a:t>
            </a:r>
            <a:r>
              <a:rPr lang="en-US" sz="3600" b="1" dirty="0">
                <a:solidFill>
                  <a:srgbClr val="008000"/>
                </a:solidFill>
                <a:latin typeface="+mj-lt"/>
                <a:ea typeface="+mj-ea"/>
                <a:cs typeface="+mj-cs"/>
              </a:rPr>
              <a:t>Around implementation planning</a:t>
            </a:r>
            <a:r>
              <a:rPr lang="en-GB" sz="3600" b="1" dirty="0">
                <a:solidFill>
                  <a:srgbClr val="008000"/>
                </a:solidFill>
                <a:latin typeface="+mj-lt"/>
                <a:ea typeface="+mj-ea"/>
                <a:cs typeface="+mj-cs"/>
              </a:rPr>
              <a:t> </a:t>
            </a:r>
          </a:p>
        </p:txBody>
      </p:sp>
    </p:spTree>
    <p:extLst>
      <p:ext uri="{BB962C8B-B14F-4D97-AF65-F5344CB8AC3E}">
        <p14:creationId xmlns:p14="http://schemas.microsoft.com/office/powerpoint/2010/main" val="1907973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D5787A-70AE-2748-AEA2-5B00A9AD418E}"/>
              </a:ext>
            </a:extLst>
          </p:cNvPr>
          <p:cNvSpPr>
            <a:spLocks noGrp="1"/>
          </p:cNvSpPr>
          <p:nvPr>
            <p:ph type="title"/>
          </p:nvPr>
        </p:nvSpPr>
        <p:spPr>
          <a:xfrm>
            <a:off x="515125" y="1153572"/>
            <a:ext cx="2400300" cy="4461163"/>
          </a:xfrm>
        </p:spPr>
        <p:txBody>
          <a:bodyPr>
            <a:normAutofit/>
          </a:bodyPr>
          <a:lstStyle/>
          <a:p>
            <a:r>
              <a:rPr lang="en-US" sz="2800">
                <a:solidFill>
                  <a:srgbClr val="FFFFFF"/>
                </a:solidFill>
              </a:rPr>
              <a:t>Competencies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7D76219-0CDB-454D-AAC3-C7F50F956116}"/>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dirty="0"/>
              <a:t>There are </a:t>
            </a:r>
            <a:r>
              <a:rPr lang="en-US" sz="2000" dirty="0">
                <a:hlinkClick r:id="rId2"/>
              </a:rPr>
              <a:t>various case studies on the website</a:t>
            </a:r>
            <a:r>
              <a:rPr lang="en-US" sz="2000" dirty="0"/>
              <a:t> which can highlight in class the role played by accumulated knowledge – for example 3M, Corning, Kodak, Fuji, Philips, Marshalls, etc.  </a:t>
            </a:r>
          </a:p>
          <a:p>
            <a:pPr>
              <a:lnSpc>
                <a:spcPct val="90000"/>
              </a:lnSpc>
            </a:pPr>
            <a:endParaRPr lang="en-US" sz="2000" dirty="0"/>
          </a:p>
          <a:p>
            <a:pPr>
              <a:lnSpc>
                <a:spcPct val="90000"/>
              </a:lnSpc>
            </a:pPr>
            <a:r>
              <a:rPr lang="en-US" sz="2000" dirty="0"/>
              <a:t>An activity linked to these is to get students to try and explore the underlying competencies which such long-term businesses accumulate and how they deploy these.  Other useful examples might be Honda (power transmission), Samsung (electronics), Rolls Royce (turbines and power) etc.</a:t>
            </a:r>
            <a:endParaRPr lang="en-GB" sz="2000" dirty="0"/>
          </a:p>
          <a:p>
            <a:pPr>
              <a:lnSpc>
                <a:spcPct val="90000"/>
              </a:lnSpc>
            </a:pPr>
            <a:r>
              <a:rPr lang="en-US" sz="2000" dirty="0"/>
              <a:t> </a:t>
            </a:r>
            <a:endParaRPr lang="en-GB" sz="2000" dirty="0"/>
          </a:p>
          <a:p>
            <a:pPr>
              <a:lnSpc>
                <a:spcPct val="90000"/>
              </a:lnSpc>
            </a:pPr>
            <a:r>
              <a:rPr lang="en-US" sz="2000" dirty="0"/>
              <a:t>The detailed case of Tesco shows how a large retail organization builds competencies around market understanding – for example via its Clubcard.</a:t>
            </a:r>
          </a:p>
        </p:txBody>
      </p:sp>
    </p:spTree>
    <p:extLst>
      <p:ext uri="{BB962C8B-B14F-4D97-AF65-F5344CB8AC3E}">
        <p14:creationId xmlns:p14="http://schemas.microsoft.com/office/powerpoint/2010/main" val="405057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C9011D-D111-BE48-8EA1-16221B2724DA}"/>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Innovation strategy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C64264A-583F-DE40-97AE-9426221B41F0}"/>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t>Ask students to find a company whose experience they want to study. Using </a:t>
            </a:r>
            <a:r>
              <a:rPr lang="en-GB" sz="2200" dirty="0"/>
              <a:t>as an example the </a:t>
            </a:r>
            <a:r>
              <a:rPr lang="en-US" sz="2200" dirty="0"/>
              <a:t>video of ‘Finnegan’s fish bar’, ask students to interview a company of their choice using 4Ps model.  </a:t>
            </a:r>
          </a:p>
          <a:p>
            <a:pPr>
              <a:lnSpc>
                <a:spcPct val="90000"/>
              </a:lnSpc>
            </a:pPr>
            <a:endParaRPr lang="en-US" sz="2200" dirty="0"/>
          </a:p>
          <a:p>
            <a:pPr>
              <a:lnSpc>
                <a:spcPct val="90000"/>
              </a:lnSpc>
            </a:pPr>
            <a:r>
              <a:rPr lang="en-US" sz="2200" dirty="0"/>
              <a:t>Ask students to prepare a presentation or ideally a short video. As an element of competition among the groups, tell students that the best video might be send for the Innovation Portal. </a:t>
            </a:r>
          </a:p>
          <a:p>
            <a:pPr>
              <a:lnSpc>
                <a:spcPct val="90000"/>
              </a:lnSpc>
            </a:pPr>
            <a:endParaRPr lang="en-US" sz="2200" dirty="0"/>
          </a:p>
          <a:p>
            <a:pPr>
              <a:lnSpc>
                <a:spcPct val="90000"/>
              </a:lnSpc>
            </a:pPr>
            <a:endParaRPr lang="en-US" sz="2200" dirty="0"/>
          </a:p>
        </p:txBody>
      </p:sp>
    </p:spTree>
    <p:extLst>
      <p:ext uri="{BB962C8B-B14F-4D97-AF65-F5344CB8AC3E}">
        <p14:creationId xmlns:p14="http://schemas.microsoft.com/office/powerpoint/2010/main" val="1272369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91680" y="260648"/>
            <a:ext cx="5653197" cy="917864"/>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Discussion 1: Why strategy?</a:t>
            </a:r>
          </a:p>
        </p:txBody>
      </p:sp>
      <p:sp>
        <p:nvSpPr>
          <p:cNvPr id="8" name="Rectangle 7"/>
          <p:cNvSpPr/>
          <p:nvPr/>
        </p:nvSpPr>
        <p:spPr>
          <a:xfrm>
            <a:off x="467544" y="1810464"/>
            <a:ext cx="8478016" cy="4308872"/>
          </a:xfrm>
          <a:prstGeom prst="rect">
            <a:avLst/>
          </a:prstGeom>
        </p:spPr>
        <p:txBody>
          <a:bodyPr wrap="square">
            <a:spAutoFit/>
          </a:bodyPr>
          <a:lstStyle/>
          <a:p>
            <a:r>
              <a:rPr lang="en-US" sz="2400" dirty="0"/>
              <a:t>A good place to start is to explore the different ways in which innovation can provide strategic advantage – </a:t>
            </a:r>
            <a:r>
              <a:rPr lang="en-US" sz="2400" dirty="0">
                <a:hlinkClick r:id="rId2"/>
              </a:rPr>
              <a:t>and there is an activity to help do this either as an assignment or as a classroom discussion.</a:t>
            </a:r>
            <a:endParaRPr lang="en-GB" sz="2400" dirty="0"/>
          </a:p>
          <a:p>
            <a:r>
              <a:rPr lang="en-US" sz="2400" dirty="0"/>
              <a:t>  </a:t>
            </a:r>
            <a:endParaRPr lang="en-GB" sz="2400" dirty="0"/>
          </a:p>
          <a:p>
            <a:r>
              <a:rPr lang="en-US" sz="2400" dirty="0"/>
              <a:t>A variation on this is to ask about social innovation or innovation in the public sector – how does changing things here provide advantage?</a:t>
            </a:r>
            <a:endParaRPr lang="en-US" sz="2400" dirty="0">
              <a:solidFill>
                <a:srgbClr val="000090"/>
              </a:solidFill>
            </a:endParaRPr>
          </a:p>
          <a:p>
            <a:pPr lvl="0"/>
            <a:endParaRPr lang="en-GB" sz="2600" dirty="0"/>
          </a:p>
          <a:p>
            <a:r>
              <a:rPr lang="en-GB" sz="2800" dirty="0"/>
              <a:t> </a:t>
            </a:r>
          </a:p>
          <a:p>
            <a:endParaRPr lang="en-GB" sz="2800" dirty="0"/>
          </a:p>
        </p:txBody>
      </p:sp>
    </p:spTree>
    <p:extLst>
      <p:ext uri="{BB962C8B-B14F-4D97-AF65-F5344CB8AC3E}">
        <p14:creationId xmlns:p14="http://schemas.microsoft.com/office/powerpoint/2010/main" val="1907967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19675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11560" y="1484784"/>
            <a:ext cx="8009093" cy="4401205"/>
          </a:xfrm>
          <a:prstGeom prst="rect">
            <a:avLst/>
          </a:prstGeom>
        </p:spPr>
        <p:txBody>
          <a:bodyPr wrap="square">
            <a:spAutoFit/>
          </a:bodyPr>
          <a:lstStyle/>
          <a:p>
            <a:pPr>
              <a:spcAft>
                <a:spcPts val="1200"/>
              </a:spcAft>
            </a:pPr>
            <a:r>
              <a:rPr lang="en-US" sz="2400" b="1" dirty="0"/>
              <a:t>Key questions in this kind of approach are</a:t>
            </a:r>
            <a:r>
              <a:rPr lang="en-US" sz="2400" dirty="0"/>
              <a:t>:</a:t>
            </a:r>
            <a:endParaRPr lang="en-GB" sz="2400" b="1" dirty="0"/>
          </a:p>
          <a:p>
            <a:pPr lvl="1">
              <a:spcAft>
                <a:spcPts val="1200"/>
              </a:spcAft>
              <a:buFont typeface="Arial"/>
              <a:buChar char="•"/>
            </a:pPr>
            <a:r>
              <a:rPr lang="en-US" sz="2400" dirty="0"/>
              <a:t> What are the key competitive forces?</a:t>
            </a:r>
            <a:endParaRPr lang="en-GB" sz="2400" b="1" dirty="0"/>
          </a:p>
          <a:p>
            <a:pPr lvl="1">
              <a:spcAft>
                <a:spcPts val="1200"/>
              </a:spcAft>
              <a:buFont typeface="Arial"/>
              <a:buChar char="•"/>
            </a:pPr>
            <a:r>
              <a:rPr lang="en-US" sz="2400" dirty="0"/>
              <a:t> What are the barriers to entry – can anyone come into the game or are most potential competitors kept out because of high costs, need for specialized knowledge, etc.?</a:t>
            </a:r>
            <a:endParaRPr lang="en-GB" sz="2400" b="1" dirty="0"/>
          </a:p>
          <a:p>
            <a:pPr lvl="1">
              <a:spcAft>
                <a:spcPts val="1200"/>
              </a:spcAft>
              <a:buFont typeface="Arial"/>
              <a:buChar char="•"/>
            </a:pPr>
            <a:r>
              <a:rPr lang="en-US" sz="2400" dirty="0"/>
              <a:t> What is the likely threat from substitutes – different ways of delivering value in this game?</a:t>
            </a:r>
            <a:endParaRPr lang="en-GB" sz="2400" b="1" dirty="0"/>
          </a:p>
          <a:p>
            <a:pPr lvl="1">
              <a:spcAft>
                <a:spcPts val="1200"/>
              </a:spcAft>
              <a:buFont typeface="Arial"/>
              <a:buChar char="•"/>
            </a:pPr>
            <a:r>
              <a:rPr lang="en-US" sz="2400" dirty="0"/>
              <a:t> What is the relative power of key players – customers, suppliers, regulators – and how can that shape the game?</a:t>
            </a:r>
            <a:endParaRPr lang="en-GB" sz="2400" b="1" dirty="0"/>
          </a:p>
        </p:txBody>
      </p:sp>
      <p:sp>
        <p:nvSpPr>
          <p:cNvPr id="6" name="Title 1"/>
          <p:cNvSpPr txBox="1">
            <a:spLocks/>
          </p:cNvSpPr>
          <p:nvPr/>
        </p:nvSpPr>
        <p:spPr>
          <a:xfrm>
            <a:off x="683568" y="260648"/>
            <a:ext cx="7216132"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Discussion 2: </a:t>
            </a:r>
            <a:r>
              <a:rPr lang="en-US" sz="3600" b="1" dirty="0">
                <a:solidFill>
                  <a:srgbClr val="008000"/>
                </a:solidFill>
                <a:latin typeface="+mj-lt"/>
                <a:ea typeface="+mj-ea"/>
                <a:cs typeface="+mj-cs"/>
              </a:rPr>
              <a:t>Strategic positioning</a:t>
            </a:r>
            <a:r>
              <a:rPr lang="en-GB" sz="3600" b="1" dirty="0">
                <a:solidFill>
                  <a:srgbClr val="008000"/>
                </a:solidFill>
                <a:latin typeface="+mj-lt"/>
                <a:ea typeface="+mj-ea"/>
                <a:cs typeface="+mj-cs"/>
              </a:rPr>
              <a:t> </a:t>
            </a:r>
          </a:p>
        </p:txBody>
      </p:sp>
    </p:spTree>
    <p:extLst>
      <p:ext uri="{BB962C8B-B14F-4D97-AF65-F5344CB8AC3E}">
        <p14:creationId xmlns:p14="http://schemas.microsoft.com/office/powerpoint/2010/main" val="526356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332094"/>
            <a:ext cx="6907989" cy="917864"/>
          </a:xfrm>
          <a:prstGeom prst="rect">
            <a:avLst/>
          </a:prstGeom>
        </p:spPr>
        <p:txBody>
          <a:bodyPr vert="horz" lIns="91440" tIns="45720" rIns="91440" bIns="45720" rtlCol="0" anchor="ctr">
            <a:noAutofit/>
          </a:bodyPr>
          <a:lstStyle/>
          <a:p>
            <a:pPr lvl="0"/>
            <a:r>
              <a:rPr lang="en-GB" sz="3600" b="1" dirty="0">
                <a:solidFill>
                  <a:srgbClr val="008000"/>
                </a:solidFill>
                <a:latin typeface="+mj-lt"/>
                <a:ea typeface="+mj-ea"/>
                <a:cs typeface="+mj-cs"/>
              </a:rPr>
              <a:t>Discussion 3: </a:t>
            </a:r>
            <a:r>
              <a:rPr lang="en-US" sz="3600" b="1" dirty="0">
                <a:solidFill>
                  <a:srgbClr val="008000"/>
                </a:solidFill>
                <a:latin typeface="+mj-lt"/>
                <a:ea typeface="+mj-ea"/>
                <a:cs typeface="+mj-cs"/>
              </a:rPr>
              <a:t>Three key questions</a:t>
            </a:r>
            <a:endParaRPr lang="en-GB" sz="3600" b="1" dirty="0">
              <a:solidFill>
                <a:srgbClr val="008000"/>
              </a:solidFill>
              <a:latin typeface="+mj-lt"/>
              <a:ea typeface="+mj-ea"/>
              <a:cs typeface="+mj-cs"/>
            </a:endParaRPr>
          </a:p>
        </p:txBody>
      </p:sp>
      <p:sp>
        <p:nvSpPr>
          <p:cNvPr id="8" name="Rectangle 7"/>
          <p:cNvSpPr/>
          <p:nvPr/>
        </p:nvSpPr>
        <p:spPr>
          <a:xfrm>
            <a:off x="467544" y="1916832"/>
            <a:ext cx="8478016" cy="4662815"/>
          </a:xfrm>
          <a:prstGeom prst="rect">
            <a:avLst/>
          </a:prstGeom>
        </p:spPr>
        <p:txBody>
          <a:bodyPr wrap="square">
            <a:spAutoFit/>
          </a:bodyPr>
          <a:lstStyle/>
          <a:p>
            <a:r>
              <a:rPr lang="en-US" sz="2800" dirty="0"/>
              <a:t>Of the routines which we have:</a:t>
            </a:r>
            <a:endParaRPr lang="en-GB" sz="2800" dirty="0"/>
          </a:p>
          <a:p>
            <a:r>
              <a:rPr lang="en-US" sz="2800" dirty="0"/>
              <a:t>  </a:t>
            </a:r>
            <a:endParaRPr lang="en-GB" sz="2800" dirty="0"/>
          </a:p>
          <a:p>
            <a:pPr lvl="1">
              <a:spcAft>
                <a:spcPts val="1800"/>
              </a:spcAft>
              <a:buFont typeface="Arial"/>
              <a:buChar char="•"/>
            </a:pPr>
            <a:r>
              <a:rPr lang="en-US" sz="2800" dirty="0"/>
              <a:t> Which should we do more of, enhance and develop?</a:t>
            </a:r>
            <a:endParaRPr lang="en-GB" sz="2800" dirty="0"/>
          </a:p>
          <a:p>
            <a:pPr lvl="1">
              <a:spcAft>
                <a:spcPts val="1800"/>
              </a:spcAft>
              <a:buFont typeface="Arial"/>
              <a:buChar char="•"/>
            </a:pPr>
            <a:r>
              <a:rPr lang="en-US" sz="2800" dirty="0"/>
              <a:t> Which should we do less of, or even stop?</a:t>
            </a:r>
            <a:endParaRPr lang="en-GB" sz="2800" dirty="0"/>
          </a:p>
          <a:p>
            <a:pPr lvl="1">
              <a:spcAft>
                <a:spcPts val="1800"/>
              </a:spcAft>
              <a:buFont typeface="Arial"/>
              <a:buChar char="•"/>
            </a:pPr>
            <a:r>
              <a:rPr lang="en-US" sz="2800" dirty="0"/>
              <a:t> Which new routines do we need to learn and embed to cope with new features of our innovation environment?</a:t>
            </a:r>
            <a:r>
              <a:rPr lang="en-GB" sz="2800" dirty="0"/>
              <a:t> </a:t>
            </a:r>
            <a:endParaRPr lang="en-GB" sz="2600" dirty="0"/>
          </a:p>
          <a:p>
            <a:r>
              <a:rPr lang="en-GB" sz="2800" dirty="0"/>
              <a:t> </a:t>
            </a:r>
          </a:p>
          <a:p>
            <a:endParaRPr lang="en-GB" sz="2800" dirty="0"/>
          </a:p>
        </p:txBody>
      </p:sp>
    </p:spTree>
    <p:extLst>
      <p:ext uri="{BB962C8B-B14F-4D97-AF65-F5344CB8AC3E}">
        <p14:creationId xmlns:p14="http://schemas.microsoft.com/office/powerpoint/2010/main" val="26416674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70000" lnSpcReduction="20000"/>
          </a:bodyPr>
          <a:lstStyle/>
          <a:p>
            <a:pPr marL="0" indent="0">
              <a:lnSpc>
                <a:spcPct val="90000"/>
              </a:lnSpc>
              <a:buNone/>
            </a:pPr>
            <a:r>
              <a:rPr lang="en-US" dirty="0">
                <a:hlinkClick r:id="rId2"/>
              </a:rPr>
              <a:t>There are several case studies </a:t>
            </a:r>
            <a:r>
              <a:rPr lang="en-US" dirty="0"/>
              <a:t>which highlight key themes in the chapter, including:</a:t>
            </a:r>
          </a:p>
          <a:p>
            <a:pPr marL="0" indent="0">
              <a:lnSpc>
                <a:spcPct val="90000"/>
              </a:lnSpc>
              <a:buNone/>
            </a:pPr>
            <a:endParaRPr lang="en-US" dirty="0"/>
          </a:p>
          <a:p>
            <a:r>
              <a:rPr lang="en-GB" dirty="0"/>
              <a:t>The Zara case demonstrates the contribution of dynamic capabilities to create a competitive advantage through process and product innovation.</a:t>
            </a:r>
          </a:p>
          <a:p>
            <a:r>
              <a:rPr lang="en-GB" dirty="0"/>
              <a:t>• The Fujifilm case examines how the company responded to the major changes in the photographic industry as a consequence of the emergence of digital imaging</a:t>
            </a:r>
          </a:p>
          <a:p>
            <a:r>
              <a:rPr lang="en-GB" dirty="0"/>
              <a:t>The Hella story shows how strategic management of innovation involves building both competence and capabilities over time</a:t>
            </a:r>
          </a:p>
          <a:p>
            <a:pPr>
              <a:lnSpc>
                <a:spcPct val="90000"/>
              </a:lnSpc>
            </a:pPr>
            <a:endParaRPr lang="en-US" dirty="0"/>
          </a:p>
        </p:txBody>
      </p:sp>
    </p:spTree>
    <p:extLst>
      <p:ext uri="{BB962C8B-B14F-4D97-AF65-F5344CB8AC3E}">
        <p14:creationId xmlns:p14="http://schemas.microsoft.com/office/powerpoint/2010/main" val="10116817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AA4701-C775-E442-9F6D-0EBCB1B945CC}"/>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020AFD9-65EA-B24E-BC64-B475A989723C}"/>
              </a:ext>
            </a:extLst>
          </p:cNvPr>
          <p:cNvSpPr>
            <a:spLocks noGrp="1"/>
          </p:cNvSpPr>
          <p:nvPr>
            <p:ph idx="1"/>
          </p:nvPr>
        </p:nvSpPr>
        <p:spPr>
          <a:xfrm>
            <a:off x="3335481" y="591344"/>
            <a:ext cx="5179868" cy="5585619"/>
          </a:xfrm>
        </p:spPr>
        <p:txBody>
          <a:bodyPr anchor="ctr">
            <a:normAutofit fontScale="92500" lnSpcReduction="10000"/>
          </a:bodyPr>
          <a:lstStyle/>
          <a:p>
            <a:pPr marL="0" indent="0">
              <a:buNone/>
            </a:pPr>
            <a:r>
              <a:rPr lang="en-GB" dirty="0"/>
              <a:t>There are many useful tools to help with developing an innovation strategy – </a:t>
            </a:r>
            <a:r>
              <a:rPr lang="en-GB" dirty="0">
                <a:hlinkClick r:id="rId2"/>
              </a:rPr>
              <a:t>you can find them in the ‘Strategy toolkit’ section.  </a:t>
            </a:r>
            <a:r>
              <a:rPr lang="en-GB" dirty="0"/>
              <a:t>They include:</a:t>
            </a:r>
          </a:p>
          <a:p>
            <a:r>
              <a:rPr lang="en-GB" dirty="0"/>
              <a:t>4Ps mapping of innovation space</a:t>
            </a:r>
          </a:p>
          <a:p>
            <a:r>
              <a:rPr lang="en-GB" dirty="0"/>
              <a:t>• Benchmarking</a:t>
            </a:r>
          </a:p>
          <a:p>
            <a:r>
              <a:rPr lang="en-GB" dirty="0"/>
              <a:t>• Blue Ocean strategy</a:t>
            </a:r>
          </a:p>
          <a:p>
            <a:r>
              <a:rPr lang="en-GB" dirty="0"/>
              <a:t>• Identifying innovative capabilities</a:t>
            </a:r>
          </a:p>
          <a:p>
            <a:r>
              <a:rPr lang="en-GB" dirty="0"/>
              <a:t>• Portfolio management</a:t>
            </a:r>
          </a:p>
          <a:p>
            <a:endParaRPr lang="en-US" dirty="0"/>
          </a:p>
        </p:txBody>
      </p:sp>
    </p:spTree>
    <p:extLst>
      <p:ext uri="{BB962C8B-B14F-4D97-AF65-F5344CB8AC3E}">
        <p14:creationId xmlns:p14="http://schemas.microsoft.com/office/powerpoint/2010/main" val="1654658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3D7AAC-7F26-024D-BDC9-5EDC4FF366AD}"/>
              </a:ext>
            </a:extLst>
          </p:cNvPr>
          <p:cNvSpPr>
            <a:spLocks noGrp="1"/>
          </p:cNvSpPr>
          <p:nvPr>
            <p:ph type="title"/>
          </p:nvPr>
        </p:nvSpPr>
        <p:spPr>
          <a:xfrm>
            <a:off x="515125" y="1153572"/>
            <a:ext cx="2400300" cy="4461163"/>
          </a:xfrm>
        </p:spPr>
        <p:txBody>
          <a:bodyPr>
            <a:normAutofit/>
          </a:bodyPr>
          <a:lstStyle/>
          <a:p>
            <a:r>
              <a:rPr lang="en-US" sz="2400">
                <a:solidFill>
                  <a:srgbClr val="FFFFFF"/>
                </a:solidFill>
              </a:rPr>
              <a:t>Competitiveness profiling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C011E37-7B42-4C4E-B5D8-7D1A17C89F04}"/>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t>Another way of exploring innovation space is to compare offerings or the ways in which they are crated and delivered. Where is there space to do something better than the competition? Where is there scope to do something completely different? </a:t>
            </a:r>
          </a:p>
          <a:p>
            <a:pPr>
              <a:lnSpc>
                <a:spcPct val="90000"/>
              </a:lnSpc>
            </a:pPr>
            <a:endParaRPr lang="en-US" sz="2200" dirty="0"/>
          </a:p>
          <a:p>
            <a:pPr>
              <a:lnSpc>
                <a:spcPct val="90000"/>
              </a:lnSpc>
            </a:pPr>
            <a:r>
              <a:rPr lang="en-US" sz="2200" dirty="0">
                <a:hlinkClick r:id="rId2"/>
              </a:rPr>
              <a:t>Competitiveness profiling </a:t>
            </a:r>
            <a:r>
              <a:rPr lang="en-US" sz="2200" dirty="0"/>
              <a:t>is a simple tool and activity which can help explore this:</a:t>
            </a:r>
          </a:p>
          <a:p>
            <a:pPr>
              <a:lnSpc>
                <a:spcPct val="90000"/>
              </a:lnSpc>
            </a:pPr>
            <a:r>
              <a:rPr lang="en-US" sz="2200" dirty="0"/>
              <a:t>There is a short video explaining this tool </a:t>
            </a:r>
            <a:r>
              <a:rPr lang="en-US" sz="2200" dirty="0">
                <a:hlinkClick r:id="rId3"/>
              </a:rPr>
              <a:t>here</a:t>
            </a:r>
            <a:endParaRPr lang="en-US" sz="2200" dirty="0"/>
          </a:p>
          <a:p>
            <a:pPr>
              <a:lnSpc>
                <a:spcPct val="90000"/>
              </a:lnSpc>
            </a:pPr>
            <a:endParaRPr lang="en-US" sz="2200" dirty="0"/>
          </a:p>
        </p:txBody>
      </p:sp>
    </p:spTree>
    <p:extLst>
      <p:ext uri="{BB962C8B-B14F-4D97-AF65-F5344CB8AC3E}">
        <p14:creationId xmlns:p14="http://schemas.microsoft.com/office/powerpoint/2010/main" val="31026155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7BE595-6D9B-854A-ADDD-7718A1DB50E9}"/>
              </a:ext>
            </a:extLst>
          </p:cNvPr>
          <p:cNvSpPr>
            <a:spLocks noGrp="1"/>
          </p:cNvSpPr>
          <p:nvPr>
            <p:ph type="title"/>
          </p:nvPr>
        </p:nvSpPr>
        <p:spPr>
          <a:xfrm>
            <a:off x="515125" y="1153572"/>
            <a:ext cx="2400300" cy="4461163"/>
          </a:xfrm>
        </p:spPr>
        <p:txBody>
          <a:bodyPr>
            <a:normAutofit/>
          </a:bodyPr>
          <a:lstStyle/>
          <a:p>
            <a:r>
              <a:rPr lang="en-US">
                <a:solidFill>
                  <a:srgbClr val="FFFFFF"/>
                </a:solidFill>
              </a:rPr>
              <a:t>Blue Ocean strategy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7E6CBA4-ED0A-DF40-81A0-D958F3445B8E}"/>
              </a:ext>
            </a:extLst>
          </p:cNvPr>
          <p:cNvSpPr>
            <a:spLocks noGrp="1"/>
          </p:cNvSpPr>
          <p:nvPr>
            <p:ph idx="1"/>
          </p:nvPr>
        </p:nvSpPr>
        <p:spPr>
          <a:xfrm>
            <a:off x="3335481" y="591344"/>
            <a:ext cx="5179868" cy="5585619"/>
          </a:xfrm>
        </p:spPr>
        <p:txBody>
          <a:bodyPr anchor="ctr">
            <a:normAutofit/>
          </a:bodyPr>
          <a:lstStyle/>
          <a:p>
            <a:pPr>
              <a:lnSpc>
                <a:spcPct val="90000"/>
              </a:lnSpc>
            </a:pPr>
            <a:r>
              <a:rPr lang="en-US" dirty="0"/>
              <a:t>4Ps is a robust and simple approach but there are plenty of others – for example, Blue Ocean strategy has a good website and tools/examples which students could explore:</a:t>
            </a:r>
            <a:endParaRPr lang="en-GB" dirty="0"/>
          </a:p>
          <a:p>
            <a:pPr>
              <a:lnSpc>
                <a:spcPct val="90000"/>
              </a:lnSpc>
            </a:pPr>
            <a:r>
              <a:rPr lang="en-US" dirty="0"/>
              <a:t> </a:t>
            </a:r>
          </a:p>
        </p:txBody>
      </p:sp>
    </p:spTree>
    <p:extLst>
      <p:ext uri="{BB962C8B-B14F-4D97-AF65-F5344CB8AC3E}">
        <p14:creationId xmlns:p14="http://schemas.microsoft.com/office/powerpoint/2010/main" val="2003448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332656"/>
            <a:ext cx="6732006"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Tools 4: Strategic selection</a:t>
            </a:r>
            <a:endParaRPr lang="en-GB" sz="3600" b="1" dirty="0">
              <a:solidFill>
                <a:srgbClr val="008000"/>
              </a:solidFill>
              <a:latin typeface="+mj-lt"/>
              <a:ea typeface="+mj-ea"/>
              <a:cs typeface="+mj-cs"/>
            </a:endParaRPr>
          </a:p>
        </p:txBody>
      </p:sp>
      <p:sp>
        <p:nvSpPr>
          <p:cNvPr id="8" name="Rectangle 7"/>
          <p:cNvSpPr/>
          <p:nvPr/>
        </p:nvSpPr>
        <p:spPr>
          <a:xfrm>
            <a:off x="467544" y="2060848"/>
            <a:ext cx="8478016" cy="4216539"/>
          </a:xfrm>
          <a:prstGeom prst="rect">
            <a:avLst/>
          </a:prstGeom>
        </p:spPr>
        <p:txBody>
          <a:bodyPr wrap="square">
            <a:spAutoFit/>
          </a:bodyPr>
          <a:lstStyle/>
          <a:p>
            <a:r>
              <a:rPr lang="en-US" sz="2400" dirty="0"/>
              <a:t>The issue here is </a:t>
            </a:r>
            <a:r>
              <a:rPr lang="en-US" sz="2400" dirty="0">
                <a:solidFill>
                  <a:schemeClr val="bg1">
                    <a:lumMod val="50000"/>
                  </a:schemeClr>
                </a:solidFill>
              </a:rPr>
              <a:t>choosing</a:t>
            </a:r>
            <a:r>
              <a:rPr lang="en-US" sz="2400" dirty="0"/>
              <a:t> out of all the things we could do which ones we will do – and why?  We have scarce resources so we need to place our bets carefully, balancing the risks and rewards across a portfolio of projects.  There are plenty of tools to help us do this – from simple financial measures like payback time or return on investment through to complex frameworks which compare projects across many dimensions.  </a:t>
            </a:r>
          </a:p>
          <a:p>
            <a:endParaRPr lang="en-US" sz="2400" dirty="0"/>
          </a:p>
          <a:p>
            <a:r>
              <a:rPr lang="en-US" sz="2400" dirty="0"/>
              <a:t>There is a short video on this theme </a:t>
            </a:r>
            <a:r>
              <a:rPr lang="en-US" sz="2400" dirty="0">
                <a:hlinkClick r:id="rId2"/>
              </a:rPr>
              <a:t>here</a:t>
            </a:r>
            <a:endParaRPr lang="en-US" sz="2400" dirty="0"/>
          </a:p>
          <a:p>
            <a:endParaRPr lang="en-US" sz="2400" dirty="0"/>
          </a:p>
          <a:p>
            <a:r>
              <a:rPr lang="en-US" sz="2800" dirty="0"/>
              <a:t> </a:t>
            </a:r>
            <a:endParaRPr lang="en-GB" sz="2800" dirty="0"/>
          </a:p>
        </p:txBody>
      </p:sp>
      <p:pic>
        <p:nvPicPr>
          <p:cNvPr id="46082" name="Picture 2" descr="Image result for selection"/>
          <p:cNvPicPr>
            <a:picLocks noChangeAspect="1" noChangeArrowheads="1"/>
          </p:cNvPicPr>
          <p:nvPr/>
        </p:nvPicPr>
        <p:blipFill>
          <a:blip r:embed="rId3" cstate="print"/>
          <a:srcRect/>
          <a:stretch>
            <a:fillRect/>
          </a:stretch>
        </p:blipFill>
        <p:spPr bwMode="auto">
          <a:xfrm>
            <a:off x="6372200" y="5228140"/>
            <a:ext cx="3312368" cy="1600978"/>
          </a:xfrm>
          <a:prstGeom prst="rect">
            <a:avLst/>
          </a:prstGeom>
          <a:noFill/>
        </p:spPr>
      </p:pic>
    </p:spTree>
    <p:extLst>
      <p:ext uri="{BB962C8B-B14F-4D97-AF65-F5344CB8AC3E}">
        <p14:creationId xmlns:p14="http://schemas.microsoft.com/office/powerpoint/2010/main" val="14069780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332656"/>
            <a:ext cx="673200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 5: Exploring approaches to selection</a:t>
            </a:r>
            <a:endParaRPr lang="en-GB" sz="3600" b="1" dirty="0">
              <a:solidFill>
                <a:srgbClr val="008000"/>
              </a:solidFill>
              <a:latin typeface="+mj-lt"/>
              <a:ea typeface="+mj-ea"/>
              <a:cs typeface="+mj-cs"/>
            </a:endParaRPr>
          </a:p>
        </p:txBody>
      </p:sp>
      <p:sp>
        <p:nvSpPr>
          <p:cNvPr id="9" name="Rectangle 8"/>
          <p:cNvSpPr/>
          <p:nvPr/>
        </p:nvSpPr>
        <p:spPr>
          <a:xfrm>
            <a:off x="395536" y="2060848"/>
            <a:ext cx="8518336" cy="3046988"/>
          </a:xfrm>
          <a:prstGeom prst="rect">
            <a:avLst/>
          </a:prstGeom>
        </p:spPr>
        <p:txBody>
          <a:bodyPr wrap="square">
            <a:spAutoFit/>
          </a:bodyPr>
          <a:lstStyle/>
          <a:p>
            <a:r>
              <a:rPr lang="en-US" sz="2400" dirty="0"/>
              <a:t>The website has descriptions of a variety of tools to help with selection; a useful class activity is to take some of these – e.g. decision matrix – and apply it to a set of innovation opportunities:</a:t>
            </a:r>
          </a:p>
          <a:p>
            <a:endParaRPr lang="en-US" sz="2400" dirty="0"/>
          </a:p>
          <a:p>
            <a:r>
              <a:rPr lang="en-US" sz="2400" dirty="0">
                <a:hlinkClick r:id="rId2"/>
              </a:rPr>
              <a:t>You can find these in the Selection toolkit </a:t>
            </a:r>
            <a:r>
              <a:rPr lang="en-US" sz="2400" dirty="0"/>
              <a:t>– for example</a:t>
            </a:r>
          </a:p>
          <a:p>
            <a:endParaRPr lang="en-US" sz="2400" dirty="0"/>
          </a:p>
          <a:p>
            <a:r>
              <a:rPr lang="en-US" sz="2400" dirty="0"/>
              <a:t>Decision matrix</a:t>
            </a:r>
          </a:p>
          <a:p>
            <a:r>
              <a:rPr lang="en-US" sz="2400" dirty="0"/>
              <a:t>Checklists</a:t>
            </a:r>
            <a:endParaRPr lang="en-GB" sz="2800" dirty="0"/>
          </a:p>
        </p:txBody>
      </p:sp>
    </p:spTree>
    <p:extLst>
      <p:ext uri="{BB962C8B-B14F-4D97-AF65-F5344CB8AC3E}">
        <p14:creationId xmlns:p14="http://schemas.microsoft.com/office/powerpoint/2010/main" val="37838317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533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0"/>
            <a:ext cx="6732006"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Tools 6: Portfolio methods</a:t>
            </a:r>
            <a:endParaRPr lang="en-GB" sz="3600" b="1" dirty="0">
              <a:solidFill>
                <a:srgbClr val="008000"/>
              </a:solidFill>
              <a:latin typeface="+mj-lt"/>
              <a:ea typeface="+mj-ea"/>
              <a:cs typeface="+mj-cs"/>
            </a:endParaRPr>
          </a:p>
        </p:txBody>
      </p:sp>
      <p:sp>
        <p:nvSpPr>
          <p:cNvPr id="9" name="Rectangle 8"/>
          <p:cNvSpPr/>
          <p:nvPr/>
        </p:nvSpPr>
        <p:spPr>
          <a:xfrm>
            <a:off x="395536" y="1556792"/>
            <a:ext cx="8518336" cy="3416320"/>
          </a:xfrm>
          <a:prstGeom prst="rect">
            <a:avLst/>
          </a:prstGeom>
        </p:spPr>
        <p:txBody>
          <a:bodyPr wrap="square">
            <a:spAutoFit/>
          </a:bodyPr>
          <a:lstStyle/>
          <a:p>
            <a:r>
              <a:rPr lang="en-US" sz="2400" dirty="0"/>
              <a:t>Portfolio techniques help with comparisons and evaluations across many dimensions. Perhaps the most famous is the </a:t>
            </a:r>
            <a:r>
              <a:rPr lang="en-US" sz="2400" dirty="0">
                <a:hlinkClick r:id="rId2"/>
              </a:rPr>
              <a:t>Boston Box (market growth/share matrix) </a:t>
            </a:r>
            <a:r>
              <a:rPr lang="en-US" sz="2400" dirty="0"/>
              <a:t>but there are many other versions using different axes to construct the matrix and explore options.</a:t>
            </a:r>
            <a:endParaRPr lang="en-GB" sz="2400" dirty="0"/>
          </a:p>
          <a:p>
            <a:r>
              <a:rPr lang="en-US" sz="2400" dirty="0"/>
              <a:t> </a:t>
            </a:r>
            <a:endParaRPr lang="en-GB" sz="2400" dirty="0"/>
          </a:p>
          <a:p>
            <a:r>
              <a:rPr lang="en-US" sz="2400" dirty="0"/>
              <a:t>On the website there are descriptions of </a:t>
            </a:r>
            <a:r>
              <a:rPr lang="en-US" sz="2400" dirty="0">
                <a:hlinkClick r:id="rId3"/>
              </a:rPr>
              <a:t>other selection tools </a:t>
            </a:r>
            <a:r>
              <a:rPr lang="en-US" sz="2400" dirty="0"/>
              <a:t>and one set of activities is to get the class to try and apply these approaches to live examples of innovation opportunities.</a:t>
            </a:r>
            <a:endParaRPr lang="en-GB" sz="2400" dirty="0"/>
          </a:p>
          <a:p>
            <a:endParaRPr lang="en-GB" sz="2400" dirty="0"/>
          </a:p>
        </p:txBody>
      </p:sp>
    </p:spTree>
    <p:extLst>
      <p:ext uri="{BB962C8B-B14F-4D97-AF65-F5344CB8AC3E}">
        <p14:creationId xmlns:p14="http://schemas.microsoft.com/office/powerpoint/2010/main" val="542920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533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188640"/>
            <a:ext cx="673200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 7: Bubble charts</a:t>
            </a:r>
            <a:endParaRPr lang="en-GB" sz="3600" b="1" dirty="0">
              <a:solidFill>
                <a:srgbClr val="008000"/>
              </a:solidFill>
              <a:latin typeface="+mj-lt"/>
              <a:ea typeface="+mj-ea"/>
              <a:cs typeface="+mj-cs"/>
            </a:endParaRPr>
          </a:p>
        </p:txBody>
      </p:sp>
      <p:sp>
        <p:nvSpPr>
          <p:cNvPr id="9" name="Rectangle 8"/>
          <p:cNvSpPr/>
          <p:nvPr/>
        </p:nvSpPr>
        <p:spPr>
          <a:xfrm>
            <a:off x="395536" y="1484784"/>
            <a:ext cx="8518336" cy="3416320"/>
          </a:xfrm>
          <a:prstGeom prst="rect">
            <a:avLst/>
          </a:prstGeom>
        </p:spPr>
        <p:txBody>
          <a:bodyPr wrap="square">
            <a:spAutoFit/>
          </a:bodyPr>
          <a:lstStyle/>
          <a:p>
            <a:r>
              <a:rPr lang="en-US" sz="2400" dirty="0">
                <a:hlinkClick r:id="rId2"/>
              </a:rPr>
              <a:t>One useful version for such portfolio matrix approaches is the bubble chart </a:t>
            </a:r>
            <a:r>
              <a:rPr lang="en-US" sz="2400" dirty="0"/>
              <a:t>which looks not only at factors like risk and reward but also explores the extent of investment/commitment involved.  Placing small bets on higher risk projects is easier to justify when seen against the background of other project commitments.</a:t>
            </a:r>
            <a:endParaRPr lang="en-GB" sz="2400" dirty="0"/>
          </a:p>
          <a:p>
            <a:r>
              <a:rPr lang="en-US" sz="2400" dirty="0"/>
              <a:t> </a:t>
            </a:r>
            <a:endParaRPr lang="en-GB" sz="2400" dirty="0"/>
          </a:p>
          <a:p>
            <a:r>
              <a:rPr lang="en-US" sz="2400" dirty="0"/>
              <a:t>There is a description of the tool on the website and an activity can be built around trying to map the portfolio of a company’s projects on a bubble chart:</a:t>
            </a:r>
          </a:p>
        </p:txBody>
      </p:sp>
    </p:spTree>
    <p:extLst>
      <p:ext uri="{BB962C8B-B14F-4D97-AF65-F5344CB8AC3E}">
        <p14:creationId xmlns:p14="http://schemas.microsoft.com/office/powerpoint/2010/main" val="878260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533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15616" y="0"/>
            <a:ext cx="673200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 8: Business cases</a:t>
            </a:r>
            <a:endParaRPr lang="en-GB" sz="3600" b="1" dirty="0">
              <a:solidFill>
                <a:srgbClr val="008000"/>
              </a:solidFill>
              <a:latin typeface="+mj-lt"/>
              <a:ea typeface="+mj-ea"/>
              <a:cs typeface="+mj-cs"/>
            </a:endParaRPr>
          </a:p>
        </p:txBody>
      </p:sp>
      <p:sp>
        <p:nvSpPr>
          <p:cNvPr id="9" name="Rectangle 8"/>
          <p:cNvSpPr/>
          <p:nvPr/>
        </p:nvSpPr>
        <p:spPr>
          <a:xfrm>
            <a:off x="625664" y="1628800"/>
            <a:ext cx="8518336" cy="3293209"/>
          </a:xfrm>
          <a:prstGeom prst="rect">
            <a:avLst/>
          </a:prstGeom>
        </p:spPr>
        <p:txBody>
          <a:bodyPr wrap="square">
            <a:spAutoFit/>
          </a:bodyPr>
          <a:lstStyle/>
          <a:p>
            <a:r>
              <a:rPr lang="en-US" sz="2600" dirty="0"/>
              <a:t>A much more detailed evaluation can be carried out by reading and exploring a well-constructed business case.  </a:t>
            </a:r>
          </a:p>
          <a:p>
            <a:endParaRPr lang="en-US" sz="2600" dirty="0"/>
          </a:p>
          <a:p>
            <a:r>
              <a:rPr lang="en-US" sz="2600" dirty="0"/>
              <a:t>There is a description of </a:t>
            </a:r>
            <a:r>
              <a:rPr lang="en-US" sz="2600" dirty="0">
                <a:hlinkClick r:id="rId2"/>
              </a:rPr>
              <a:t>building a business case on the website</a:t>
            </a:r>
            <a:r>
              <a:rPr lang="en-US" sz="2600" dirty="0"/>
              <a:t> and also the </a:t>
            </a:r>
            <a:r>
              <a:rPr lang="en-US" sz="2600" dirty="0">
                <a:hlinkClick r:id="rId3"/>
              </a:rPr>
              <a:t>Business model canvas tool </a:t>
            </a:r>
            <a:r>
              <a:rPr lang="en-US" sz="2600" dirty="0"/>
              <a:t>which provides an alterative and dynamic framework for creating a case and engaging discussion round it:</a:t>
            </a:r>
          </a:p>
          <a:p>
            <a:endParaRPr lang="en-GB" sz="2600" dirty="0"/>
          </a:p>
        </p:txBody>
      </p:sp>
    </p:spTree>
    <p:extLst>
      <p:ext uri="{BB962C8B-B14F-4D97-AF65-F5344CB8AC3E}">
        <p14:creationId xmlns:p14="http://schemas.microsoft.com/office/powerpoint/2010/main" val="23450828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332094"/>
            <a:ext cx="6879962"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 1: To help strategic analysis</a:t>
            </a:r>
            <a:endParaRPr lang="en-GB" sz="3600" b="1" dirty="0">
              <a:solidFill>
                <a:srgbClr val="008000"/>
              </a:solidFill>
              <a:latin typeface="+mj-lt"/>
              <a:ea typeface="+mj-ea"/>
              <a:cs typeface="+mj-cs"/>
            </a:endParaRPr>
          </a:p>
        </p:txBody>
      </p:sp>
      <p:sp>
        <p:nvSpPr>
          <p:cNvPr id="8" name="Rectangle 7"/>
          <p:cNvSpPr/>
          <p:nvPr/>
        </p:nvSpPr>
        <p:spPr>
          <a:xfrm>
            <a:off x="458167" y="1681723"/>
            <a:ext cx="8478016" cy="2893100"/>
          </a:xfrm>
          <a:prstGeom prst="rect">
            <a:avLst/>
          </a:prstGeom>
        </p:spPr>
        <p:txBody>
          <a:bodyPr wrap="square">
            <a:spAutoFit/>
          </a:bodyPr>
          <a:lstStyle/>
          <a:p>
            <a:r>
              <a:rPr lang="en-US" sz="2600" dirty="0"/>
              <a:t>You can find these in the </a:t>
            </a:r>
            <a:r>
              <a:rPr lang="en-US" sz="2600" dirty="0">
                <a:hlinkClick r:id="rId2"/>
              </a:rPr>
              <a:t>Strategy toolkit on the website</a:t>
            </a:r>
            <a:endParaRPr lang="en-US" sz="2600" dirty="0"/>
          </a:p>
          <a:p>
            <a:endParaRPr lang="en-US" sz="2600" dirty="0"/>
          </a:p>
          <a:p>
            <a:pPr marL="457200" indent="-457200">
              <a:buFont typeface="Arial" panose="020B0604020202020204" pitchFamily="34" charset="0"/>
              <a:buChar char="•"/>
            </a:pPr>
            <a:r>
              <a:rPr lang="en-US" sz="2600" dirty="0"/>
              <a:t>PEST analysis   </a:t>
            </a:r>
            <a:endParaRPr lang="en-GB" sz="2600" dirty="0"/>
          </a:p>
          <a:p>
            <a:pPr marL="457200" indent="-457200">
              <a:buFont typeface="Arial" panose="020B0604020202020204" pitchFamily="34" charset="0"/>
              <a:buChar char="•"/>
            </a:pPr>
            <a:r>
              <a:rPr lang="en-US" sz="2600" dirty="0"/>
              <a:t>Rich Pictures   </a:t>
            </a:r>
            <a:endParaRPr lang="en-GB" sz="2600" dirty="0"/>
          </a:p>
          <a:p>
            <a:pPr marL="457200" indent="-457200">
              <a:buFont typeface="Arial" panose="020B0604020202020204" pitchFamily="34" charset="0"/>
              <a:buChar char="•"/>
            </a:pPr>
            <a:r>
              <a:rPr lang="en-US" sz="2600" dirty="0"/>
              <a:t>SWOT analysis  </a:t>
            </a:r>
            <a:endParaRPr lang="en-GB" sz="2600" dirty="0"/>
          </a:p>
          <a:p>
            <a:pPr marL="457200" indent="-457200">
              <a:buFont typeface="Arial" panose="020B0604020202020204" pitchFamily="34" charset="0"/>
              <a:buChar char="•"/>
            </a:pPr>
            <a:r>
              <a:rPr lang="en-US" sz="2600" dirty="0"/>
              <a:t>Porter’s 5 forces</a:t>
            </a:r>
            <a:endParaRPr lang="en-GB" sz="2600" dirty="0"/>
          </a:p>
          <a:p>
            <a:endParaRPr lang="en-GB" sz="2600" dirty="0"/>
          </a:p>
        </p:txBody>
      </p:sp>
    </p:spTree>
    <p:extLst>
      <p:ext uri="{BB962C8B-B14F-4D97-AF65-F5344CB8AC3E}">
        <p14:creationId xmlns:p14="http://schemas.microsoft.com/office/powerpoint/2010/main" val="33397829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26876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15616" y="188640"/>
            <a:ext cx="647357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Tools/Activity: Competencies and capabilities</a:t>
            </a:r>
            <a:r>
              <a:rPr lang="en-GB" sz="3600" b="1" dirty="0">
                <a:solidFill>
                  <a:srgbClr val="008000"/>
                </a:solidFill>
                <a:latin typeface="+mj-lt"/>
                <a:ea typeface="+mj-ea"/>
                <a:cs typeface="+mj-cs"/>
              </a:rPr>
              <a:t> </a:t>
            </a:r>
          </a:p>
        </p:txBody>
      </p:sp>
      <p:sp>
        <p:nvSpPr>
          <p:cNvPr id="9" name="Rectangle 8"/>
          <p:cNvSpPr/>
          <p:nvPr/>
        </p:nvSpPr>
        <p:spPr>
          <a:xfrm>
            <a:off x="395536" y="1844824"/>
            <a:ext cx="8518336" cy="3477875"/>
          </a:xfrm>
          <a:prstGeom prst="rect">
            <a:avLst/>
          </a:prstGeom>
        </p:spPr>
        <p:txBody>
          <a:bodyPr wrap="square">
            <a:spAutoFit/>
          </a:bodyPr>
          <a:lstStyle/>
          <a:p>
            <a:pPr>
              <a:spcAft>
                <a:spcPts val="1200"/>
              </a:spcAft>
            </a:pPr>
            <a:r>
              <a:rPr lang="en-US" sz="2400" dirty="0">
                <a:hlinkClick r:id="rId2"/>
              </a:rPr>
              <a:t>Follow the link for another approach to competency mapping suggested by Richard Hall. </a:t>
            </a:r>
            <a:r>
              <a:rPr lang="en-US" sz="2400" dirty="0"/>
              <a:t>He distinguishes between intangible assets and intangible competencies. Assets include intellectual property rights and reputation. Competencies include the skills and know-how of employees, suppliers and distributors, and the collective attributes which constitute organizational culture. </a:t>
            </a:r>
          </a:p>
          <a:p>
            <a:pPr>
              <a:spcAft>
                <a:spcPts val="1200"/>
              </a:spcAft>
            </a:pPr>
            <a:endParaRPr lang="en-US" sz="2800" dirty="0"/>
          </a:p>
          <a:p>
            <a:pPr>
              <a:spcAft>
                <a:spcPts val="1200"/>
              </a:spcAft>
            </a:pPr>
            <a:endParaRPr lang="en-GB" sz="2800" dirty="0"/>
          </a:p>
        </p:txBody>
      </p:sp>
    </p:spTree>
    <p:extLst>
      <p:ext uri="{BB962C8B-B14F-4D97-AF65-F5344CB8AC3E}">
        <p14:creationId xmlns:p14="http://schemas.microsoft.com/office/powerpoint/2010/main" val="3720722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533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0"/>
            <a:ext cx="673200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 9: To explore positioning</a:t>
            </a:r>
            <a:r>
              <a:rPr lang="en-GB" sz="3600" b="1" dirty="0">
                <a:solidFill>
                  <a:srgbClr val="008000"/>
                </a:solidFill>
                <a:latin typeface="+mj-lt"/>
                <a:ea typeface="+mj-ea"/>
                <a:cs typeface="+mj-cs"/>
              </a:rPr>
              <a:t> </a:t>
            </a:r>
          </a:p>
        </p:txBody>
      </p:sp>
      <p:sp>
        <p:nvSpPr>
          <p:cNvPr id="9" name="Rectangle 8"/>
          <p:cNvSpPr/>
          <p:nvPr/>
        </p:nvSpPr>
        <p:spPr>
          <a:xfrm>
            <a:off x="395536" y="1916832"/>
            <a:ext cx="8518336" cy="3785652"/>
          </a:xfrm>
          <a:prstGeom prst="rect">
            <a:avLst/>
          </a:prstGeom>
        </p:spPr>
        <p:txBody>
          <a:bodyPr wrap="square">
            <a:spAutoFit/>
          </a:bodyPr>
          <a:lstStyle/>
          <a:p>
            <a:r>
              <a:rPr lang="en-US" sz="2400" dirty="0"/>
              <a:t>Michael Porter’s five forces is a simple but robust tool to explain innovation positioning </a:t>
            </a:r>
            <a:endParaRPr lang="en-GB" sz="2400" dirty="0"/>
          </a:p>
          <a:p>
            <a:r>
              <a:rPr lang="en-US" sz="2400" dirty="0"/>
              <a:t> </a:t>
            </a:r>
            <a:endParaRPr lang="en-GB" sz="2400" dirty="0"/>
          </a:p>
          <a:p>
            <a:r>
              <a:rPr lang="en-US" sz="2400" dirty="0"/>
              <a:t>An activity based on using this tool:</a:t>
            </a:r>
          </a:p>
          <a:p>
            <a:endParaRPr lang="en-US" sz="2400" dirty="0"/>
          </a:p>
          <a:p>
            <a:r>
              <a:rPr lang="en-US" sz="2400" dirty="0"/>
              <a:t>Version 1: Select a company</a:t>
            </a:r>
            <a:r>
              <a:rPr lang="en-GB" sz="2400" dirty="0"/>
              <a:t> and ask students to analyse it using </a:t>
            </a:r>
            <a:r>
              <a:rPr lang="en-US" sz="2400" dirty="0"/>
              <a:t>Michael Porter’s five forces.</a:t>
            </a:r>
          </a:p>
          <a:p>
            <a:endParaRPr lang="en-US" sz="2400" dirty="0"/>
          </a:p>
          <a:p>
            <a:r>
              <a:rPr lang="en-US" sz="2400" dirty="0"/>
              <a:t>Version 2: </a:t>
            </a:r>
            <a:r>
              <a:rPr lang="en-GB" sz="2400" dirty="0"/>
              <a:t>Ask students to analyse a company of their choice using </a:t>
            </a:r>
            <a:r>
              <a:rPr lang="en-US" sz="2400" dirty="0"/>
              <a:t>Michael Porter’s five forces.</a:t>
            </a:r>
          </a:p>
        </p:txBody>
      </p:sp>
    </p:spTree>
    <p:extLst>
      <p:ext uri="{BB962C8B-B14F-4D97-AF65-F5344CB8AC3E}">
        <p14:creationId xmlns:p14="http://schemas.microsoft.com/office/powerpoint/2010/main" val="7578538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533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60433"/>
            <a:ext cx="760457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Tools 10: For implementation planning</a:t>
            </a:r>
            <a:r>
              <a:rPr lang="en-GB" sz="3600" b="1" dirty="0">
                <a:solidFill>
                  <a:srgbClr val="008000"/>
                </a:solidFill>
                <a:latin typeface="+mj-lt"/>
                <a:ea typeface="+mj-ea"/>
                <a:cs typeface="+mj-cs"/>
              </a:rPr>
              <a:t> </a:t>
            </a:r>
          </a:p>
        </p:txBody>
      </p:sp>
      <p:sp>
        <p:nvSpPr>
          <p:cNvPr id="9" name="Rectangle 8"/>
          <p:cNvSpPr/>
          <p:nvPr/>
        </p:nvSpPr>
        <p:spPr>
          <a:xfrm>
            <a:off x="458166" y="1164133"/>
            <a:ext cx="8518336" cy="2893100"/>
          </a:xfrm>
          <a:prstGeom prst="rect">
            <a:avLst/>
          </a:prstGeom>
        </p:spPr>
        <p:txBody>
          <a:bodyPr wrap="square">
            <a:spAutoFit/>
          </a:bodyPr>
          <a:lstStyle/>
          <a:p>
            <a:r>
              <a:rPr lang="en-US" sz="2600" dirty="0"/>
              <a:t>You can find these in </a:t>
            </a:r>
            <a:r>
              <a:rPr lang="en-US" sz="2600" dirty="0">
                <a:hlinkClick r:id="rId2"/>
              </a:rPr>
              <a:t>the Implementation toolkit on the website:</a:t>
            </a:r>
            <a:endParaRPr lang="en-US" sz="2600" dirty="0"/>
          </a:p>
          <a:p>
            <a:endParaRPr lang="en-US" sz="2600" dirty="0"/>
          </a:p>
          <a:p>
            <a:pPr marL="457200" indent="-457200">
              <a:buFont typeface="Arial" panose="020B0604020202020204" pitchFamily="34" charset="0"/>
              <a:buChar char="•"/>
            </a:pPr>
            <a:r>
              <a:rPr lang="en-US" sz="2600" dirty="0"/>
              <a:t>FMEA</a:t>
            </a:r>
            <a:endParaRPr lang="en-GB" sz="2600" dirty="0"/>
          </a:p>
          <a:p>
            <a:pPr marL="457200" indent="-457200">
              <a:buFont typeface="Arial" panose="020B0604020202020204" pitchFamily="34" charset="0"/>
              <a:buChar char="•"/>
            </a:pPr>
            <a:r>
              <a:rPr lang="en-US" sz="2600" dirty="0"/>
              <a:t>Potential problem analysis</a:t>
            </a:r>
            <a:endParaRPr lang="en-GB" sz="2600" dirty="0"/>
          </a:p>
          <a:p>
            <a:pPr marL="457200" indent="-457200">
              <a:buFont typeface="Arial" panose="020B0604020202020204" pitchFamily="34" charset="0"/>
              <a:buChar char="•"/>
            </a:pPr>
            <a:r>
              <a:rPr lang="en-US" sz="2600" dirty="0"/>
              <a:t>Scenarios</a:t>
            </a:r>
            <a:endParaRPr lang="en-GB" sz="2600" dirty="0"/>
          </a:p>
          <a:p>
            <a:pPr marL="457200" indent="-457200">
              <a:buFont typeface="Arial" panose="020B0604020202020204" pitchFamily="34" charset="0"/>
              <a:buChar char="•"/>
            </a:pPr>
            <a:r>
              <a:rPr lang="en-US" sz="2600" dirty="0"/>
              <a:t>Business cases/canvas</a:t>
            </a:r>
          </a:p>
        </p:txBody>
      </p:sp>
    </p:spTree>
    <p:extLst>
      <p:ext uri="{BB962C8B-B14F-4D97-AF65-F5344CB8AC3E}">
        <p14:creationId xmlns:p14="http://schemas.microsoft.com/office/powerpoint/2010/main" val="4657454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31875760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pPr marL="514350" indent="-514350">
              <a:buAutoNum type="arabicPeriod"/>
            </a:pPr>
            <a:r>
              <a:rPr lang="en-GB" altLang="ja-JP" dirty="0"/>
              <a:t>What is</a:t>
            </a:r>
            <a:r>
              <a:rPr lang="en-GB" dirty="0"/>
              <a:t> innovation strategy?  What makes companies change their innovation strategy? </a:t>
            </a:r>
          </a:p>
          <a:p>
            <a:pPr marL="514350" indent="-514350">
              <a:buAutoNum type="arabicPeriod"/>
            </a:pPr>
            <a:r>
              <a:rPr lang="en-US" dirty="0"/>
              <a:t>Present tools that can help with innovation strategy. Provide some illustrative examples.  </a:t>
            </a:r>
            <a:endParaRPr lang="en-GB" dirty="0"/>
          </a:p>
          <a:p>
            <a:endParaRPr lang="en-US" dirty="0"/>
          </a:p>
        </p:txBody>
      </p:sp>
    </p:spTree>
    <p:extLst>
      <p:ext uri="{BB962C8B-B14F-4D97-AF65-F5344CB8AC3E}">
        <p14:creationId xmlns:p14="http://schemas.microsoft.com/office/powerpoint/2010/main" val="16542825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pPr marL="514350" indent="-514350">
              <a:lnSpc>
                <a:spcPct val="90000"/>
              </a:lnSpc>
              <a:buAutoNum type="arabicPeriod" startAt="3"/>
            </a:pPr>
            <a:r>
              <a:rPr lang="en-GB" sz="2700" dirty="0"/>
              <a:t>What determines innovation space? Why it matters? How companies can explore their innovation space. Ask to provide comparative examples. </a:t>
            </a:r>
          </a:p>
          <a:p>
            <a:pPr marL="514350" indent="-514350">
              <a:lnSpc>
                <a:spcPct val="90000"/>
              </a:lnSpc>
              <a:buAutoNum type="arabicPeriod" startAt="3"/>
            </a:pPr>
            <a:r>
              <a:rPr lang="en-GB" sz="2700" dirty="0"/>
              <a:t>Imagine Nick Smith has an innovative product idea. He is thinking of applying to investors (like in Dragon’s Den). What issues he has to be ready with preparing to present his idea to imaginable Dragons? </a:t>
            </a:r>
          </a:p>
          <a:p>
            <a:pPr>
              <a:lnSpc>
                <a:spcPct val="90000"/>
              </a:lnSpc>
            </a:pPr>
            <a:endParaRPr lang="en-US" sz="2700" dirty="0"/>
          </a:p>
        </p:txBody>
      </p:sp>
    </p:spTree>
    <p:extLst>
      <p:ext uri="{BB962C8B-B14F-4D97-AF65-F5344CB8AC3E}">
        <p14:creationId xmlns:p14="http://schemas.microsoft.com/office/powerpoint/2010/main" val="1052667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7790</TotalTime>
  <Words>3242</Words>
  <Application>Microsoft Macintosh PowerPoint</Application>
  <PresentationFormat>On-screen Show (4:3)</PresentationFormat>
  <Paragraphs>277</Paragraphs>
  <Slides>62</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Links</vt:lpstr>
      </vt:variant>
      <vt:variant>
        <vt:i4>1</vt:i4>
      </vt:variant>
      <vt:variant>
        <vt:lpstr>Slide Titles</vt:lpstr>
      </vt:variant>
      <vt:variant>
        <vt:i4>62</vt:i4>
      </vt:variant>
    </vt:vector>
  </HeadingPairs>
  <TitlesOfParts>
    <vt:vector size="66" baseType="lpstr">
      <vt:lpstr>Arial</vt:lpstr>
      <vt:lpstr>Calibri</vt:lpstr>
      <vt:lpstr>Office Theme</vt:lpstr>
      <vt:lpstr>Macintosh%20HD:Users:annatrifilova:Documents:Teaching:wiley%20strategic%20innovation%20management:Wiley_Teaching_Guide:Lecturer_Guide:SIM%20Lecturer%20guide%20chapter%202.docx!OLE_LINK12</vt:lpstr>
      <vt:lpstr>Teaching Resources and Instructors’ Guidelines</vt:lpstr>
      <vt:lpstr>Chapter 4: Developing an innovation strategy</vt:lpstr>
      <vt:lpstr>Learning objectives</vt:lpstr>
      <vt:lpstr>Core themes and material from the book</vt:lpstr>
      <vt:lpstr>PowerPoint Presentation</vt:lpstr>
      <vt:lpstr>Why strategy?</vt:lpstr>
      <vt:lpstr>PowerPoint Presentation</vt:lpstr>
      <vt:lpstr>Key themes in making strategy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Videos</vt:lpstr>
      <vt:lpstr>Videos</vt:lpstr>
      <vt:lpstr>Working with the 4Ps</vt:lpstr>
      <vt:lpstr>Videos</vt:lpstr>
      <vt:lpstr>Blogs and podcasts</vt:lpstr>
      <vt:lpstr>Activities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Competencies </vt:lpstr>
      <vt:lpstr>Innovation strategy</vt:lpstr>
      <vt:lpstr>PowerPoint Presentation</vt:lpstr>
      <vt:lpstr>PowerPoint Presentation</vt:lpstr>
      <vt:lpstr>PowerPoint Presentation</vt:lpstr>
      <vt:lpstr>Cases </vt:lpstr>
      <vt:lpstr>Tools</vt:lpstr>
      <vt:lpstr>Competitiveness profiling</vt:lpstr>
      <vt:lpstr>Blue Ocean strategy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Assessments</vt:lpstr>
      <vt:lpstr>Assessments</vt:lpstr>
      <vt:lpstr>Assessments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5</cp:revision>
  <dcterms:created xsi:type="dcterms:W3CDTF">2020-11-15T17:15:20Z</dcterms:created>
  <dcterms:modified xsi:type="dcterms:W3CDTF">2024-11-02T07:45:29Z</dcterms:modified>
</cp:coreProperties>
</file>