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58" r:id="rId3"/>
    <p:sldId id="317" r:id="rId4"/>
    <p:sldId id="318" r:id="rId5"/>
    <p:sldId id="264" r:id="rId6"/>
    <p:sldId id="321" r:id="rId7"/>
    <p:sldId id="320" r:id="rId8"/>
    <p:sldId id="266" r:id="rId9"/>
    <p:sldId id="269" r:id="rId10"/>
    <p:sldId id="270" r:id="rId11"/>
    <p:sldId id="271" r:id="rId12"/>
    <p:sldId id="265" r:id="rId13"/>
    <p:sldId id="322" r:id="rId14"/>
    <p:sldId id="327" r:id="rId15"/>
    <p:sldId id="328" r:id="rId16"/>
    <p:sldId id="300" r:id="rId17"/>
    <p:sldId id="280" r:id="rId18"/>
    <p:sldId id="281" r:id="rId19"/>
    <p:sldId id="285" r:id="rId20"/>
    <p:sldId id="323" r:id="rId21"/>
    <p:sldId id="297" r:id="rId22"/>
    <p:sldId id="302" r:id="rId23"/>
    <p:sldId id="329" r:id="rId24"/>
    <p:sldId id="330" r:id="rId25"/>
    <p:sldId id="326" r:id="rId26"/>
    <p:sldId id="336" r:id="rId27"/>
    <p:sldId id="331" r:id="rId28"/>
    <p:sldId id="332" r:id="rId29"/>
    <p:sldId id="333" r:id="rId30"/>
    <p:sldId id="337" r:id="rId31"/>
    <p:sldId id="338" r:id="rId32"/>
    <p:sldId id="339" r:id="rId33"/>
    <p:sldId id="334" r:id="rId34"/>
    <p:sldId id="335" r:id="rId35"/>
    <p:sldId id="341" r:id="rId36"/>
    <p:sldId id="34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733"/>
  </p:normalViewPr>
  <p:slideViewPr>
    <p:cSldViewPr>
      <p:cViewPr varScale="1">
        <p:scale>
          <a:sx n="117" d="100"/>
          <a:sy n="117" d="100"/>
        </p:scale>
        <p:origin x="520" y="17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281FE6-C599-4497-B445-DD0544D4235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AEBD49B-D4A7-4911-B9EA-A72BE52DB9B4}">
      <dgm:prSet/>
      <dgm:spPr/>
      <dgm:t>
        <a:bodyPr/>
        <a:lstStyle/>
        <a:p>
          <a:r>
            <a:rPr lang="en-GB"/>
            <a:t>By the end of this chapter you will have:</a:t>
          </a:r>
          <a:endParaRPr lang="en-US"/>
        </a:p>
      </dgm:t>
    </dgm:pt>
    <dgm:pt modelId="{5A1B844D-2281-49FD-A3B6-9E9EDF04EB60}" type="parTrans" cxnId="{C382E6B6-887F-49B7-87E6-FE397876A8B9}">
      <dgm:prSet/>
      <dgm:spPr/>
      <dgm:t>
        <a:bodyPr/>
        <a:lstStyle/>
        <a:p>
          <a:endParaRPr lang="en-US"/>
        </a:p>
      </dgm:t>
    </dgm:pt>
    <dgm:pt modelId="{CE14D883-F7B3-4083-8AD6-8D1FE3A92614}" type="sibTrans" cxnId="{C382E6B6-887F-49B7-87E6-FE397876A8B9}">
      <dgm:prSet/>
      <dgm:spPr/>
      <dgm:t>
        <a:bodyPr/>
        <a:lstStyle/>
        <a:p>
          <a:endParaRPr lang="en-US"/>
        </a:p>
      </dgm:t>
    </dgm:pt>
    <dgm:pt modelId="{E733449C-23FE-4D2F-BD81-E4274163FD5B}">
      <dgm:prSet/>
      <dgm:spPr/>
      <dgm:t>
        <a:bodyPr/>
        <a:lstStyle/>
        <a:p>
          <a:r>
            <a:rPr lang="en-GB"/>
            <a:t>Reviewed and consolidated the key themes in the book.</a:t>
          </a:r>
          <a:endParaRPr lang="en-US"/>
        </a:p>
      </dgm:t>
    </dgm:pt>
    <dgm:pt modelId="{7FEA8F0F-AC61-4B84-932B-D43D9F90E06E}" type="parTrans" cxnId="{87D388F2-8309-4E5E-B7C9-4566561AB963}">
      <dgm:prSet/>
      <dgm:spPr/>
      <dgm:t>
        <a:bodyPr/>
        <a:lstStyle/>
        <a:p>
          <a:endParaRPr lang="en-US"/>
        </a:p>
      </dgm:t>
    </dgm:pt>
    <dgm:pt modelId="{A3134A86-D0AE-4A96-9C87-8347560CC2AE}" type="sibTrans" cxnId="{87D388F2-8309-4E5E-B7C9-4566561AB963}">
      <dgm:prSet/>
      <dgm:spPr/>
      <dgm:t>
        <a:bodyPr/>
        <a:lstStyle/>
        <a:p>
          <a:endParaRPr lang="en-US"/>
        </a:p>
      </dgm:t>
    </dgm:pt>
    <dgm:pt modelId="{8FB6DCAA-A0D8-4688-A92F-9D5F051AA376}">
      <dgm:prSet/>
      <dgm:spPr/>
      <dgm:t>
        <a:bodyPr/>
        <a:lstStyle/>
        <a:p>
          <a:r>
            <a:rPr lang="en-GB"/>
            <a:t>Explored key influences on how to manage the innovation process effectively.</a:t>
          </a:r>
          <a:endParaRPr lang="en-US"/>
        </a:p>
      </dgm:t>
    </dgm:pt>
    <dgm:pt modelId="{35DB1BE9-73B3-44AE-91AF-1F3A3F780AAA}" type="parTrans" cxnId="{C260FA60-31DF-4A4B-9889-9826754D6A6B}">
      <dgm:prSet/>
      <dgm:spPr/>
      <dgm:t>
        <a:bodyPr/>
        <a:lstStyle/>
        <a:p>
          <a:endParaRPr lang="en-US"/>
        </a:p>
      </dgm:t>
    </dgm:pt>
    <dgm:pt modelId="{1BD1E176-3BCC-474E-A121-844F431B17BD}" type="sibTrans" cxnId="{C260FA60-31DF-4A4B-9889-9826754D6A6B}">
      <dgm:prSet/>
      <dgm:spPr/>
      <dgm:t>
        <a:bodyPr/>
        <a:lstStyle/>
        <a:p>
          <a:endParaRPr lang="en-US"/>
        </a:p>
      </dgm:t>
    </dgm:pt>
    <dgm:pt modelId="{ABC78F04-76ED-4B35-B53B-0AADE404026D}">
      <dgm:prSet/>
      <dgm:spPr/>
      <dgm:t>
        <a:bodyPr/>
        <a:lstStyle/>
        <a:p>
          <a:r>
            <a:rPr lang="en-GB"/>
            <a:t>Identified key skills at individual, team and organizational levels associated with effective innovation.</a:t>
          </a:r>
          <a:endParaRPr lang="en-US"/>
        </a:p>
      </dgm:t>
    </dgm:pt>
    <dgm:pt modelId="{7D0E8C0A-34A4-4A9A-B6F1-FFCA8FE2F10E}" type="parTrans" cxnId="{F9ECF499-60A8-4970-A7BB-F927A36E0B71}">
      <dgm:prSet/>
      <dgm:spPr/>
      <dgm:t>
        <a:bodyPr/>
        <a:lstStyle/>
        <a:p>
          <a:endParaRPr lang="en-US"/>
        </a:p>
      </dgm:t>
    </dgm:pt>
    <dgm:pt modelId="{3C0C6451-43F2-46C6-B4C0-BD8C225B0A61}" type="sibTrans" cxnId="{F9ECF499-60A8-4970-A7BB-F927A36E0B71}">
      <dgm:prSet/>
      <dgm:spPr/>
      <dgm:t>
        <a:bodyPr/>
        <a:lstStyle/>
        <a:p>
          <a:endParaRPr lang="en-US"/>
        </a:p>
      </dgm:t>
    </dgm:pt>
    <dgm:pt modelId="{E7526DD7-40E4-4903-9656-937BC815212D}">
      <dgm:prSet/>
      <dgm:spPr/>
      <dgm:t>
        <a:bodyPr/>
        <a:lstStyle/>
        <a:p>
          <a:r>
            <a:rPr lang="en-GB"/>
            <a:t>Developed the ability to review how well individuals and organizations manage the process.</a:t>
          </a:r>
          <a:endParaRPr lang="en-US"/>
        </a:p>
      </dgm:t>
    </dgm:pt>
    <dgm:pt modelId="{3056F5C7-E18B-4254-B0A5-5CF1D9B4338F}" type="parTrans" cxnId="{972C29AB-0866-4397-8425-A05F3A7B6A2E}">
      <dgm:prSet/>
      <dgm:spPr/>
      <dgm:t>
        <a:bodyPr/>
        <a:lstStyle/>
        <a:p>
          <a:endParaRPr lang="en-US"/>
        </a:p>
      </dgm:t>
    </dgm:pt>
    <dgm:pt modelId="{9EBF97E5-550E-48EF-A0FC-BC42C60B778D}" type="sibTrans" cxnId="{972C29AB-0866-4397-8425-A05F3A7B6A2E}">
      <dgm:prSet/>
      <dgm:spPr/>
      <dgm:t>
        <a:bodyPr/>
        <a:lstStyle/>
        <a:p>
          <a:endParaRPr lang="en-US"/>
        </a:p>
      </dgm:t>
    </dgm:pt>
    <dgm:pt modelId="{749F5B37-21D2-4BC3-B81E-2E8465C486F4}">
      <dgm:prSet/>
      <dgm:spPr/>
      <dgm:t>
        <a:bodyPr/>
        <a:lstStyle/>
        <a:p>
          <a:r>
            <a:rPr lang="en-GB"/>
            <a:t>Practised taking an audit approach to improving innovation and entrepreneurship.</a:t>
          </a:r>
          <a:endParaRPr lang="en-US"/>
        </a:p>
      </dgm:t>
    </dgm:pt>
    <dgm:pt modelId="{3493894C-FD76-4D2A-9C2C-13C35C7065C6}" type="parTrans" cxnId="{47F28831-47F2-4791-922D-B37CCAC47AEA}">
      <dgm:prSet/>
      <dgm:spPr/>
      <dgm:t>
        <a:bodyPr/>
        <a:lstStyle/>
        <a:p>
          <a:endParaRPr lang="en-US"/>
        </a:p>
      </dgm:t>
    </dgm:pt>
    <dgm:pt modelId="{ACE0A1A5-1575-4DDF-B7C3-8DE5115634CD}" type="sibTrans" cxnId="{47F28831-47F2-4791-922D-B37CCAC47AEA}">
      <dgm:prSet/>
      <dgm:spPr/>
      <dgm:t>
        <a:bodyPr/>
        <a:lstStyle/>
        <a:p>
          <a:endParaRPr lang="en-US"/>
        </a:p>
      </dgm:t>
    </dgm:pt>
    <dgm:pt modelId="{E53136A7-D5AC-244A-B66D-954521C99E86}" type="pres">
      <dgm:prSet presAssocID="{BC281FE6-C599-4497-B445-DD0544D4235B}" presName="linear" presStyleCnt="0">
        <dgm:presLayoutVars>
          <dgm:animLvl val="lvl"/>
          <dgm:resizeHandles val="exact"/>
        </dgm:presLayoutVars>
      </dgm:prSet>
      <dgm:spPr/>
    </dgm:pt>
    <dgm:pt modelId="{FDF83E19-2F1D-1D42-B573-8423074B417F}" type="pres">
      <dgm:prSet presAssocID="{CAEBD49B-D4A7-4911-B9EA-A72BE52DB9B4}" presName="parentText" presStyleLbl="node1" presStyleIdx="0" presStyleCnt="6">
        <dgm:presLayoutVars>
          <dgm:chMax val="0"/>
          <dgm:bulletEnabled val="1"/>
        </dgm:presLayoutVars>
      </dgm:prSet>
      <dgm:spPr/>
    </dgm:pt>
    <dgm:pt modelId="{B000D077-E8AA-A74F-9A33-842ED391782F}" type="pres">
      <dgm:prSet presAssocID="{CE14D883-F7B3-4083-8AD6-8D1FE3A92614}" presName="spacer" presStyleCnt="0"/>
      <dgm:spPr/>
    </dgm:pt>
    <dgm:pt modelId="{B2819156-FE53-2342-83AB-203AB82B77D9}" type="pres">
      <dgm:prSet presAssocID="{E733449C-23FE-4D2F-BD81-E4274163FD5B}" presName="parentText" presStyleLbl="node1" presStyleIdx="1" presStyleCnt="6">
        <dgm:presLayoutVars>
          <dgm:chMax val="0"/>
          <dgm:bulletEnabled val="1"/>
        </dgm:presLayoutVars>
      </dgm:prSet>
      <dgm:spPr/>
    </dgm:pt>
    <dgm:pt modelId="{5B6BD52F-26BD-904B-8F64-188143277ACE}" type="pres">
      <dgm:prSet presAssocID="{A3134A86-D0AE-4A96-9C87-8347560CC2AE}" presName="spacer" presStyleCnt="0"/>
      <dgm:spPr/>
    </dgm:pt>
    <dgm:pt modelId="{591056DF-091F-4F49-BD41-DBEC9B739CCF}" type="pres">
      <dgm:prSet presAssocID="{8FB6DCAA-A0D8-4688-A92F-9D5F051AA376}" presName="parentText" presStyleLbl="node1" presStyleIdx="2" presStyleCnt="6">
        <dgm:presLayoutVars>
          <dgm:chMax val="0"/>
          <dgm:bulletEnabled val="1"/>
        </dgm:presLayoutVars>
      </dgm:prSet>
      <dgm:spPr/>
    </dgm:pt>
    <dgm:pt modelId="{E624BD60-1374-1E48-94FA-E4FA738419B9}" type="pres">
      <dgm:prSet presAssocID="{1BD1E176-3BCC-474E-A121-844F431B17BD}" presName="spacer" presStyleCnt="0"/>
      <dgm:spPr/>
    </dgm:pt>
    <dgm:pt modelId="{8D378E98-D0FC-1148-AEA3-377C11E69C88}" type="pres">
      <dgm:prSet presAssocID="{ABC78F04-76ED-4B35-B53B-0AADE404026D}" presName="parentText" presStyleLbl="node1" presStyleIdx="3" presStyleCnt="6">
        <dgm:presLayoutVars>
          <dgm:chMax val="0"/>
          <dgm:bulletEnabled val="1"/>
        </dgm:presLayoutVars>
      </dgm:prSet>
      <dgm:spPr/>
    </dgm:pt>
    <dgm:pt modelId="{0BB24BCA-5FF6-7842-A7D5-6EC449DD8A0C}" type="pres">
      <dgm:prSet presAssocID="{3C0C6451-43F2-46C6-B4C0-BD8C225B0A61}" presName="spacer" presStyleCnt="0"/>
      <dgm:spPr/>
    </dgm:pt>
    <dgm:pt modelId="{C0331A8A-99BC-644F-96E2-B2B9663CC0BD}" type="pres">
      <dgm:prSet presAssocID="{E7526DD7-40E4-4903-9656-937BC815212D}" presName="parentText" presStyleLbl="node1" presStyleIdx="4" presStyleCnt="6">
        <dgm:presLayoutVars>
          <dgm:chMax val="0"/>
          <dgm:bulletEnabled val="1"/>
        </dgm:presLayoutVars>
      </dgm:prSet>
      <dgm:spPr/>
    </dgm:pt>
    <dgm:pt modelId="{BDBF38B6-4119-9B4E-A4E8-2D63D0F0A0BE}" type="pres">
      <dgm:prSet presAssocID="{9EBF97E5-550E-48EF-A0FC-BC42C60B778D}" presName="spacer" presStyleCnt="0"/>
      <dgm:spPr/>
    </dgm:pt>
    <dgm:pt modelId="{36195088-1A8D-F44A-A8A4-357B508A280C}" type="pres">
      <dgm:prSet presAssocID="{749F5B37-21D2-4BC3-B81E-2E8465C486F4}" presName="parentText" presStyleLbl="node1" presStyleIdx="5" presStyleCnt="6">
        <dgm:presLayoutVars>
          <dgm:chMax val="0"/>
          <dgm:bulletEnabled val="1"/>
        </dgm:presLayoutVars>
      </dgm:prSet>
      <dgm:spPr/>
    </dgm:pt>
  </dgm:ptLst>
  <dgm:cxnLst>
    <dgm:cxn modelId="{47F28831-47F2-4791-922D-B37CCAC47AEA}" srcId="{BC281FE6-C599-4497-B445-DD0544D4235B}" destId="{749F5B37-21D2-4BC3-B81E-2E8465C486F4}" srcOrd="5" destOrd="0" parTransId="{3493894C-FD76-4D2A-9C2C-13C35C7065C6}" sibTransId="{ACE0A1A5-1575-4DDF-B7C3-8DE5115634CD}"/>
    <dgm:cxn modelId="{6943EF31-5D24-B64F-87CC-7776F3B55C92}" type="presOf" srcId="{E733449C-23FE-4D2F-BD81-E4274163FD5B}" destId="{B2819156-FE53-2342-83AB-203AB82B77D9}" srcOrd="0" destOrd="0" presId="urn:microsoft.com/office/officeart/2005/8/layout/vList2"/>
    <dgm:cxn modelId="{D2702A5A-25C2-6048-A97A-C0FD57C22D0A}" type="presOf" srcId="{BC281FE6-C599-4497-B445-DD0544D4235B}" destId="{E53136A7-D5AC-244A-B66D-954521C99E86}" srcOrd="0" destOrd="0" presId="urn:microsoft.com/office/officeart/2005/8/layout/vList2"/>
    <dgm:cxn modelId="{C260FA60-31DF-4A4B-9889-9826754D6A6B}" srcId="{BC281FE6-C599-4497-B445-DD0544D4235B}" destId="{8FB6DCAA-A0D8-4688-A92F-9D5F051AA376}" srcOrd="2" destOrd="0" parTransId="{35DB1BE9-73B3-44AE-91AF-1F3A3F780AAA}" sibTransId="{1BD1E176-3BCC-474E-A121-844F431B17BD}"/>
    <dgm:cxn modelId="{7B79A471-51C7-BD41-BC36-A7DFFA299CB4}" type="presOf" srcId="{749F5B37-21D2-4BC3-B81E-2E8465C486F4}" destId="{36195088-1A8D-F44A-A8A4-357B508A280C}" srcOrd="0" destOrd="0" presId="urn:microsoft.com/office/officeart/2005/8/layout/vList2"/>
    <dgm:cxn modelId="{11E2F076-BF77-6947-8060-702725C87206}" type="presOf" srcId="{CAEBD49B-D4A7-4911-B9EA-A72BE52DB9B4}" destId="{FDF83E19-2F1D-1D42-B573-8423074B417F}" srcOrd="0" destOrd="0" presId="urn:microsoft.com/office/officeart/2005/8/layout/vList2"/>
    <dgm:cxn modelId="{D6051181-E194-434E-9799-F1C17891BF17}" type="presOf" srcId="{8FB6DCAA-A0D8-4688-A92F-9D5F051AA376}" destId="{591056DF-091F-4F49-BD41-DBEC9B739CCF}" srcOrd="0" destOrd="0" presId="urn:microsoft.com/office/officeart/2005/8/layout/vList2"/>
    <dgm:cxn modelId="{F9ECF499-60A8-4970-A7BB-F927A36E0B71}" srcId="{BC281FE6-C599-4497-B445-DD0544D4235B}" destId="{ABC78F04-76ED-4B35-B53B-0AADE404026D}" srcOrd="3" destOrd="0" parTransId="{7D0E8C0A-34A4-4A9A-B6F1-FFCA8FE2F10E}" sibTransId="{3C0C6451-43F2-46C6-B4C0-BD8C225B0A61}"/>
    <dgm:cxn modelId="{9B920FAB-F17D-1B46-A92C-0016DB8B9F6C}" type="presOf" srcId="{E7526DD7-40E4-4903-9656-937BC815212D}" destId="{C0331A8A-99BC-644F-96E2-B2B9663CC0BD}" srcOrd="0" destOrd="0" presId="urn:microsoft.com/office/officeart/2005/8/layout/vList2"/>
    <dgm:cxn modelId="{972C29AB-0866-4397-8425-A05F3A7B6A2E}" srcId="{BC281FE6-C599-4497-B445-DD0544D4235B}" destId="{E7526DD7-40E4-4903-9656-937BC815212D}" srcOrd="4" destOrd="0" parTransId="{3056F5C7-E18B-4254-B0A5-5CF1D9B4338F}" sibTransId="{9EBF97E5-550E-48EF-A0FC-BC42C60B778D}"/>
    <dgm:cxn modelId="{C382E6B6-887F-49B7-87E6-FE397876A8B9}" srcId="{BC281FE6-C599-4497-B445-DD0544D4235B}" destId="{CAEBD49B-D4A7-4911-B9EA-A72BE52DB9B4}" srcOrd="0" destOrd="0" parTransId="{5A1B844D-2281-49FD-A3B6-9E9EDF04EB60}" sibTransId="{CE14D883-F7B3-4083-8AD6-8D1FE3A92614}"/>
    <dgm:cxn modelId="{02E0E0CB-703C-8E4D-9B30-15807DF9434A}" type="presOf" srcId="{ABC78F04-76ED-4B35-B53B-0AADE404026D}" destId="{8D378E98-D0FC-1148-AEA3-377C11E69C88}" srcOrd="0" destOrd="0" presId="urn:microsoft.com/office/officeart/2005/8/layout/vList2"/>
    <dgm:cxn modelId="{87D388F2-8309-4E5E-B7C9-4566561AB963}" srcId="{BC281FE6-C599-4497-B445-DD0544D4235B}" destId="{E733449C-23FE-4D2F-BD81-E4274163FD5B}" srcOrd="1" destOrd="0" parTransId="{7FEA8F0F-AC61-4B84-932B-D43D9F90E06E}" sibTransId="{A3134A86-D0AE-4A96-9C87-8347560CC2AE}"/>
    <dgm:cxn modelId="{00D97998-1A5D-9B47-AC73-8AEA952DAA96}" type="presParOf" srcId="{E53136A7-D5AC-244A-B66D-954521C99E86}" destId="{FDF83E19-2F1D-1D42-B573-8423074B417F}" srcOrd="0" destOrd="0" presId="urn:microsoft.com/office/officeart/2005/8/layout/vList2"/>
    <dgm:cxn modelId="{CDF3C79E-4905-A245-BE20-E507756B3C75}" type="presParOf" srcId="{E53136A7-D5AC-244A-B66D-954521C99E86}" destId="{B000D077-E8AA-A74F-9A33-842ED391782F}" srcOrd="1" destOrd="0" presId="urn:microsoft.com/office/officeart/2005/8/layout/vList2"/>
    <dgm:cxn modelId="{3F8192A8-4BF3-6947-B5CD-4CDB21BEE97F}" type="presParOf" srcId="{E53136A7-D5AC-244A-B66D-954521C99E86}" destId="{B2819156-FE53-2342-83AB-203AB82B77D9}" srcOrd="2" destOrd="0" presId="urn:microsoft.com/office/officeart/2005/8/layout/vList2"/>
    <dgm:cxn modelId="{70986B4E-EC6F-D44E-B102-A4406DC2E6ED}" type="presParOf" srcId="{E53136A7-D5AC-244A-B66D-954521C99E86}" destId="{5B6BD52F-26BD-904B-8F64-188143277ACE}" srcOrd="3" destOrd="0" presId="urn:microsoft.com/office/officeart/2005/8/layout/vList2"/>
    <dgm:cxn modelId="{8E62AE2B-37B7-6E40-AD32-ADA8854D05F8}" type="presParOf" srcId="{E53136A7-D5AC-244A-B66D-954521C99E86}" destId="{591056DF-091F-4F49-BD41-DBEC9B739CCF}" srcOrd="4" destOrd="0" presId="urn:microsoft.com/office/officeart/2005/8/layout/vList2"/>
    <dgm:cxn modelId="{21926615-9E84-594D-BD9C-478491BCB7FF}" type="presParOf" srcId="{E53136A7-D5AC-244A-B66D-954521C99E86}" destId="{E624BD60-1374-1E48-94FA-E4FA738419B9}" srcOrd="5" destOrd="0" presId="urn:microsoft.com/office/officeart/2005/8/layout/vList2"/>
    <dgm:cxn modelId="{326FFE70-2987-924E-BFBB-492CDD463202}" type="presParOf" srcId="{E53136A7-D5AC-244A-B66D-954521C99E86}" destId="{8D378E98-D0FC-1148-AEA3-377C11E69C88}" srcOrd="6" destOrd="0" presId="urn:microsoft.com/office/officeart/2005/8/layout/vList2"/>
    <dgm:cxn modelId="{7E5364E3-C7E3-9A4F-88DA-6B37934C1890}" type="presParOf" srcId="{E53136A7-D5AC-244A-B66D-954521C99E86}" destId="{0BB24BCA-5FF6-7842-A7D5-6EC449DD8A0C}" srcOrd="7" destOrd="0" presId="urn:microsoft.com/office/officeart/2005/8/layout/vList2"/>
    <dgm:cxn modelId="{C1966211-12D0-D04B-8F16-8E7B360989A5}" type="presParOf" srcId="{E53136A7-D5AC-244A-B66D-954521C99E86}" destId="{C0331A8A-99BC-644F-96E2-B2B9663CC0BD}" srcOrd="8" destOrd="0" presId="urn:microsoft.com/office/officeart/2005/8/layout/vList2"/>
    <dgm:cxn modelId="{2F694FD1-4ABE-344D-A53E-85FD90A8063B}" type="presParOf" srcId="{E53136A7-D5AC-244A-B66D-954521C99E86}" destId="{BDBF38B6-4119-9B4E-A4E8-2D63D0F0A0BE}" srcOrd="9" destOrd="0" presId="urn:microsoft.com/office/officeart/2005/8/layout/vList2"/>
    <dgm:cxn modelId="{3C4912C8-058E-934A-9C30-761AAED8CC27}" type="presParOf" srcId="{E53136A7-D5AC-244A-B66D-954521C99E86}" destId="{36195088-1A8D-F44A-A8A4-357B508A280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D83C60-4359-447D-B2BA-824A350423A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A76B88C-7D8E-4BEA-97B3-2B8DA1D29F78}">
      <dgm:prSet/>
      <dgm:spPr/>
      <dgm:t>
        <a:bodyPr/>
        <a:lstStyle/>
        <a:p>
          <a:r>
            <a:rPr lang="en-US"/>
            <a:t>Innovation as a process</a:t>
          </a:r>
        </a:p>
      </dgm:t>
    </dgm:pt>
    <dgm:pt modelId="{F85AD6CD-112A-4846-A150-320DDC99B0F8}" type="parTrans" cxnId="{728F374D-2828-43AD-85F2-700091AEE5FE}">
      <dgm:prSet/>
      <dgm:spPr/>
      <dgm:t>
        <a:bodyPr/>
        <a:lstStyle/>
        <a:p>
          <a:endParaRPr lang="en-US"/>
        </a:p>
      </dgm:t>
    </dgm:pt>
    <dgm:pt modelId="{F3F98C07-BE8C-4B51-9858-8200FD33A33B}" type="sibTrans" cxnId="{728F374D-2828-43AD-85F2-700091AEE5FE}">
      <dgm:prSet/>
      <dgm:spPr/>
      <dgm:t>
        <a:bodyPr/>
        <a:lstStyle/>
        <a:p>
          <a:endParaRPr lang="en-US"/>
        </a:p>
      </dgm:t>
    </dgm:pt>
    <dgm:pt modelId="{D24430DD-E641-40B7-99C5-4A8BDEFFED52}">
      <dgm:prSet/>
      <dgm:spPr/>
      <dgm:t>
        <a:bodyPr/>
        <a:lstStyle/>
        <a:p>
          <a:r>
            <a:rPr lang="en-US"/>
            <a:t>Patterns of behaviour which become embedded in routines – structures, procedures, policies – for making innovation happen</a:t>
          </a:r>
        </a:p>
      </dgm:t>
    </dgm:pt>
    <dgm:pt modelId="{8F525F85-2CDB-4EE0-B8FF-6227A43EABA1}" type="parTrans" cxnId="{701B403A-A4A2-4EAE-96FD-8AF36358083A}">
      <dgm:prSet/>
      <dgm:spPr/>
      <dgm:t>
        <a:bodyPr/>
        <a:lstStyle/>
        <a:p>
          <a:endParaRPr lang="en-US"/>
        </a:p>
      </dgm:t>
    </dgm:pt>
    <dgm:pt modelId="{FB7B5456-2384-4CD6-B58B-8E43AE861863}" type="sibTrans" cxnId="{701B403A-A4A2-4EAE-96FD-8AF36358083A}">
      <dgm:prSet/>
      <dgm:spPr/>
      <dgm:t>
        <a:bodyPr/>
        <a:lstStyle/>
        <a:p>
          <a:endParaRPr lang="en-US"/>
        </a:p>
      </dgm:t>
    </dgm:pt>
    <dgm:pt modelId="{D4E6F292-4E20-4DF3-A1EC-7181ACDE325E}">
      <dgm:prSet/>
      <dgm:spPr/>
      <dgm:t>
        <a:bodyPr/>
        <a:lstStyle/>
        <a:p>
          <a:r>
            <a:rPr lang="en-US"/>
            <a:t>Varies between organizations – particular culture – ‘the way we do things round here’</a:t>
          </a:r>
        </a:p>
      </dgm:t>
    </dgm:pt>
    <dgm:pt modelId="{FFA2E10E-9E79-4E35-A478-C68E76A1D195}" type="parTrans" cxnId="{2FA39069-B79D-490C-AE7C-7DC92B4CEAD1}">
      <dgm:prSet/>
      <dgm:spPr/>
      <dgm:t>
        <a:bodyPr/>
        <a:lstStyle/>
        <a:p>
          <a:endParaRPr lang="en-US"/>
        </a:p>
      </dgm:t>
    </dgm:pt>
    <dgm:pt modelId="{5A36B7FF-05EC-49D0-AEB8-6313D356D4D8}" type="sibTrans" cxnId="{2FA39069-B79D-490C-AE7C-7DC92B4CEAD1}">
      <dgm:prSet/>
      <dgm:spPr/>
      <dgm:t>
        <a:bodyPr/>
        <a:lstStyle/>
        <a:p>
          <a:endParaRPr lang="en-US"/>
        </a:p>
      </dgm:t>
    </dgm:pt>
    <dgm:pt modelId="{69CFD04C-8355-D046-A333-414F9B30978C}" type="pres">
      <dgm:prSet presAssocID="{1FD83C60-4359-447D-B2BA-824A350423A3}" presName="linear" presStyleCnt="0">
        <dgm:presLayoutVars>
          <dgm:animLvl val="lvl"/>
          <dgm:resizeHandles val="exact"/>
        </dgm:presLayoutVars>
      </dgm:prSet>
      <dgm:spPr/>
    </dgm:pt>
    <dgm:pt modelId="{F9DB7C09-423D-C04F-8965-0470B03A3BB6}" type="pres">
      <dgm:prSet presAssocID="{AA76B88C-7D8E-4BEA-97B3-2B8DA1D29F78}" presName="parentText" presStyleLbl="node1" presStyleIdx="0" presStyleCnt="3">
        <dgm:presLayoutVars>
          <dgm:chMax val="0"/>
          <dgm:bulletEnabled val="1"/>
        </dgm:presLayoutVars>
      </dgm:prSet>
      <dgm:spPr/>
    </dgm:pt>
    <dgm:pt modelId="{BE3318CC-1134-A049-B18B-9AC413B9BFF6}" type="pres">
      <dgm:prSet presAssocID="{F3F98C07-BE8C-4B51-9858-8200FD33A33B}" presName="spacer" presStyleCnt="0"/>
      <dgm:spPr/>
    </dgm:pt>
    <dgm:pt modelId="{A742F2E3-E2AD-F342-B8BF-C32C40470D20}" type="pres">
      <dgm:prSet presAssocID="{D24430DD-E641-40B7-99C5-4A8BDEFFED52}" presName="parentText" presStyleLbl="node1" presStyleIdx="1" presStyleCnt="3">
        <dgm:presLayoutVars>
          <dgm:chMax val="0"/>
          <dgm:bulletEnabled val="1"/>
        </dgm:presLayoutVars>
      </dgm:prSet>
      <dgm:spPr/>
    </dgm:pt>
    <dgm:pt modelId="{BC62AB43-1726-5641-A104-922152C61CFE}" type="pres">
      <dgm:prSet presAssocID="{FB7B5456-2384-4CD6-B58B-8E43AE861863}" presName="spacer" presStyleCnt="0"/>
      <dgm:spPr/>
    </dgm:pt>
    <dgm:pt modelId="{F40016D4-BA2F-FF49-B762-28EA601CB260}" type="pres">
      <dgm:prSet presAssocID="{D4E6F292-4E20-4DF3-A1EC-7181ACDE325E}" presName="parentText" presStyleLbl="node1" presStyleIdx="2" presStyleCnt="3">
        <dgm:presLayoutVars>
          <dgm:chMax val="0"/>
          <dgm:bulletEnabled val="1"/>
        </dgm:presLayoutVars>
      </dgm:prSet>
      <dgm:spPr/>
    </dgm:pt>
  </dgm:ptLst>
  <dgm:cxnLst>
    <dgm:cxn modelId="{701B403A-A4A2-4EAE-96FD-8AF36358083A}" srcId="{1FD83C60-4359-447D-B2BA-824A350423A3}" destId="{D24430DD-E641-40B7-99C5-4A8BDEFFED52}" srcOrd="1" destOrd="0" parTransId="{8F525F85-2CDB-4EE0-B8FF-6227A43EABA1}" sibTransId="{FB7B5456-2384-4CD6-B58B-8E43AE861863}"/>
    <dgm:cxn modelId="{CA75DF3B-37CA-6648-9988-7550134887AC}" type="presOf" srcId="{1FD83C60-4359-447D-B2BA-824A350423A3}" destId="{69CFD04C-8355-D046-A333-414F9B30978C}" srcOrd="0" destOrd="0" presId="urn:microsoft.com/office/officeart/2005/8/layout/vList2"/>
    <dgm:cxn modelId="{728F374D-2828-43AD-85F2-700091AEE5FE}" srcId="{1FD83C60-4359-447D-B2BA-824A350423A3}" destId="{AA76B88C-7D8E-4BEA-97B3-2B8DA1D29F78}" srcOrd="0" destOrd="0" parTransId="{F85AD6CD-112A-4846-A150-320DDC99B0F8}" sibTransId="{F3F98C07-BE8C-4B51-9858-8200FD33A33B}"/>
    <dgm:cxn modelId="{2FA39069-B79D-490C-AE7C-7DC92B4CEAD1}" srcId="{1FD83C60-4359-447D-B2BA-824A350423A3}" destId="{D4E6F292-4E20-4DF3-A1EC-7181ACDE325E}" srcOrd="2" destOrd="0" parTransId="{FFA2E10E-9E79-4E35-A478-C68E76A1D195}" sibTransId="{5A36B7FF-05EC-49D0-AEB8-6313D356D4D8}"/>
    <dgm:cxn modelId="{D9D0867E-FB1F-B84F-A60B-22E73946E37A}" type="presOf" srcId="{D4E6F292-4E20-4DF3-A1EC-7181ACDE325E}" destId="{F40016D4-BA2F-FF49-B762-28EA601CB260}" srcOrd="0" destOrd="0" presId="urn:microsoft.com/office/officeart/2005/8/layout/vList2"/>
    <dgm:cxn modelId="{9B19ABC3-A5BF-EA45-86F5-25F5022D38FB}" type="presOf" srcId="{D24430DD-E641-40B7-99C5-4A8BDEFFED52}" destId="{A742F2E3-E2AD-F342-B8BF-C32C40470D20}" srcOrd="0" destOrd="0" presId="urn:microsoft.com/office/officeart/2005/8/layout/vList2"/>
    <dgm:cxn modelId="{FE49E5C4-CFC0-4841-BA16-3FE8D1B3E922}" type="presOf" srcId="{AA76B88C-7D8E-4BEA-97B3-2B8DA1D29F78}" destId="{F9DB7C09-423D-C04F-8965-0470B03A3BB6}" srcOrd="0" destOrd="0" presId="urn:microsoft.com/office/officeart/2005/8/layout/vList2"/>
    <dgm:cxn modelId="{EF7BA876-45AF-264C-883D-CA2EBE1FFD6E}" type="presParOf" srcId="{69CFD04C-8355-D046-A333-414F9B30978C}" destId="{F9DB7C09-423D-C04F-8965-0470B03A3BB6}" srcOrd="0" destOrd="0" presId="urn:microsoft.com/office/officeart/2005/8/layout/vList2"/>
    <dgm:cxn modelId="{15BCED28-2A8A-AE46-BF39-2D1002273DD2}" type="presParOf" srcId="{69CFD04C-8355-D046-A333-414F9B30978C}" destId="{BE3318CC-1134-A049-B18B-9AC413B9BFF6}" srcOrd="1" destOrd="0" presId="urn:microsoft.com/office/officeart/2005/8/layout/vList2"/>
    <dgm:cxn modelId="{7E00F654-B168-DA4A-9D04-76F404F7A0BF}" type="presParOf" srcId="{69CFD04C-8355-D046-A333-414F9B30978C}" destId="{A742F2E3-E2AD-F342-B8BF-C32C40470D20}" srcOrd="2" destOrd="0" presId="urn:microsoft.com/office/officeart/2005/8/layout/vList2"/>
    <dgm:cxn modelId="{48CC778D-D6DA-FC4D-A06A-9B0BC29F2D10}" type="presParOf" srcId="{69CFD04C-8355-D046-A333-414F9B30978C}" destId="{BC62AB43-1726-5641-A104-922152C61CFE}" srcOrd="3" destOrd="0" presId="urn:microsoft.com/office/officeart/2005/8/layout/vList2"/>
    <dgm:cxn modelId="{4ED5258C-F113-3A46-A3C0-6FEA37A506F1}" type="presParOf" srcId="{69CFD04C-8355-D046-A333-414F9B30978C}" destId="{F40016D4-BA2F-FF49-B762-28EA601CB26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F4FEB1-1374-462C-B7D3-DC34B6F6543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B503105-2574-46C3-B03A-FB7C4C364B2A}">
      <dgm:prSet/>
      <dgm:spPr/>
      <dgm:t>
        <a:bodyPr/>
        <a:lstStyle/>
        <a:p>
          <a:r>
            <a:rPr lang="en-GB"/>
            <a:t>is strategy-based;</a:t>
          </a:r>
          <a:endParaRPr lang="en-US"/>
        </a:p>
      </dgm:t>
    </dgm:pt>
    <dgm:pt modelId="{60F9AEDD-2CF2-4CE4-9C40-000314488805}" type="parTrans" cxnId="{FF2FF2AF-A021-4D0B-9A6B-46B178B309C3}">
      <dgm:prSet/>
      <dgm:spPr/>
      <dgm:t>
        <a:bodyPr/>
        <a:lstStyle/>
        <a:p>
          <a:endParaRPr lang="en-US"/>
        </a:p>
      </dgm:t>
    </dgm:pt>
    <dgm:pt modelId="{DA471502-11DF-494E-9726-B6663F2F80F3}" type="sibTrans" cxnId="{FF2FF2AF-A021-4D0B-9A6B-46B178B309C3}">
      <dgm:prSet/>
      <dgm:spPr/>
      <dgm:t>
        <a:bodyPr/>
        <a:lstStyle/>
        <a:p>
          <a:endParaRPr lang="en-US"/>
        </a:p>
      </dgm:t>
    </dgm:pt>
    <dgm:pt modelId="{D40916C2-9625-4520-A8B3-F3C32110BE44}">
      <dgm:prSet/>
      <dgm:spPr/>
      <dgm:t>
        <a:bodyPr/>
        <a:lstStyle/>
        <a:p>
          <a:r>
            <a:rPr lang="en-GB"/>
            <a:t>depends on effective internal and external linkages;</a:t>
          </a:r>
          <a:endParaRPr lang="en-US"/>
        </a:p>
      </dgm:t>
    </dgm:pt>
    <dgm:pt modelId="{01A26D09-EFBC-4CCF-9348-CFE76B94A6F1}" type="parTrans" cxnId="{052AB508-4656-432C-8403-D8DB98323EFD}">
      <dgm:prSet/>
      <dgm:spPr/>
      <dgm:t>
        <a:bodyPr/>
        <a:lstStyle/>
        <a:p>
          <a:endParaRPr lang="en-US"/>
        </a:p>
      </dgm:t>
    </dgm:pt>
    <dgm:pt modelId="{8ACBCB14-94AA-46FA-940B-9E13DC92E90C}" type="sibTrans" cxnId="{052AB508-4656-432C-8403-D8DB98323EFD}">
      <dgm:prSet/>
      <dgm:spPr/>
      <dgm:t>
        <a:bodyPr/>
        <a:lstStyle/>
        <a:p>
          <a:endParaRPr lang="en-US"/>
        </a:p>
      </dgm:t>
    </dgm:pt>
    <dgm:pt modelId="{6BB2222E-A754-4AB9-984E-C7186036E6A1}">
      <dgm:prSet/>
      <dgm:spPr/>
      <dgm:t>
        <a:bodyPr/>
        <a:lstStyle/>
        <a:p>
          <a:r>
            <a:rPr lang="en-GB"/>
            <a:t>requires effective enabling mechanisms for making change happen;</a:t>
          </a:r>
          <a:endParaRPr lang="en-US"/>
        </a:p>
      </dgm:t>
    </dgm:pt>
    <dgm:pt modelId="{32170197-5C78-4ACB-9D60-7FD85D387F67}" type="parTrans" cxnId="{A592C1D3-4E8A-4F8F-B017-E008CF6CA918}">
      <dgm:prSet/>
      <dgm:spPr/>
      <dgm:t>
        <a:bodyPr/>
        <a:lstStyle/>
        <a:p>
          <a:endParaRPr lang="en-US"/>
        </a:p>
      </dgm:t>
    </dgm:pt>
    <dgm:pt modelId="{776B296B-C37E-4ED9-A26A-226CA5C06CE9}" type="sibTrans" cxnId="{A592C1D3-4E8A-4F8F-B017-E008CF6CA918}">
      <dgm:prSet/>
      <dgm:spPr/>
      <dgm:t>
        <a:bodyPr/>
        <a:lstStyle/>
        <a:p>
          <a:endParaRPr lang="en-US"/>
        </a:p>
      </dgm:t>
    </dgm:pt>
    <dgm:pt modelId="{48E63A53-FE5E-4103-ADFE-2E9ECA222F10}">
      <dgm:prSet/>
      <dgm:spPr/>
      <dgm:t>
        <a:bodyPr/>
        <a:lstStyle/>
        <a:p>
          <a:r>
            <a:rPr lang="en-GB"/>
            <a:t>only happens within a supporting organizational context.</a:t>
          </a:r>
          <a:endParaRPr lang="en-US"/>
        </a:p>
      </dgm:t>
    </dgm:pt>
    <dgm:pt modelId="{8935BA7D-5A10-4589-9ECC-6AAE6A91E984}" type="parTrans" cxnId="{9B476FB7-DD5E-4A30-945A-A7A1334BFAC7}">
      <dgm:prSet/>
      <dgm:spPr/>
      <dgm:t>
        <a:bodyPr/>
        <a:lstStyle/>
        <a:p>
          <a:endParaRPr lang="en-US"/>
        </a:p>
      </dgm:t>
    </dgm:pt>
    <dgm:pt modelId="{785624D5-57D8-4322-94E2-FF74FDC5B6E6}" type="sibTrans" cxnId="{9B476FB7-DD5E-4A30-945A-A7A1334BFAC7}">
      <dgm:prSet/>
      <dgm:spPr/>
      <dgm:t>
        <a:bodyPr/>
        <a:lstStyle/>
        <a:p>
          <a:endParaRPr lang="en-US"/>
        </a:p>
      </dgm:t>
    </dgm:pt>
    <dgm:pt modelId="{E88C9993-25CA-4D62-B07C-51931EFF03D5}" type="pres">
      <dgm:prSet presAssocID="{0AF4FEB1-1374-462C-B7D3-DC34B6F65433}" presName="root" presStyleCnt="0">
        <dgm:presLayoutVars>
          <dgm:dir/>
          <dgm:resizeHandles val="exact"/>
        </dgm:presLayoutVars>
      </dgm:prSet>
      <dgm:spPr/>
    </dgm:pt>
    <dgm:pt modelId="{97476DE8-4880-4AE4-9BD3-E94591166C17}" type="pres">
      <dgm:prSet presAssocID="{3B503105-2574-46C3-B03A-FB7C4C364B2A}" presName="compNode" presStyleCnt="0"/>
      <dgm:spPr/>
    </dgm:pt>
    <dgm:pt modelId="{7DAFEF07-3C91-402F-8774-CA86B51794FC}" type="pres">
      <dgm:prSet presAssocID="{3B503105-2574-46C3-B03A-FB7C4C364B2A}" presName="bgRect" presStyleLbl="bgShp" presStyleIdx="0" presStyleCnt="4"/>
      <dgm:spPr/>
    </dgm:pt>
    <dgm:pt modelId="{CE83811E-DF51-4EB6-B943-EC85EBF06A2A}" type="pres">
      <dgm:prSet presAssocID="{3B503105-2574-46C3-B03A-FB7C4C364B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aying Cards"/>
        </a:ext>
      </dgm:extLst>
    </dgm:pt>
    <dgm:pt modelId="{282F03F8-1D41-4DC1-BCBE-1A21A7C7BAAB}" type="pres">
      <dgm:prSet presAssocID="{3B503105-2574-46C3-B03A-FB7C4C364B2A}" presName="spaceRect" presStyleCnt="0"/>
      <dgm:spPr/>
    </dgm:pt>
    <dgm:pt modelId="{CA2D6ACD-19BD-4264-A590-15328D243838}" type="pres">
      <dgm:prSet presAssocID="{3B503105-2574-46C3-B03A-FB7C4C364B2A}" presName="parTx" presStyleLbl="revTx" presStyleIdx="0" presStyleCnt="4">
        <dgm:presLayoutVars>
          <dgm:chMax val="0"/>
          <dgm:chPref val="0"/>
        </dgm:presLayoutVars>
      </dgm:prSet>
      <dgm:spPr/>
    </dgm:pt>
    <dgm:pt modelId="{3F80F021-2B3C-41FC-A739-C273168AB6C1}" type="pres">
      <dgm:prSet presAssocID="{DA471502-11DF-494E-9726-B6663F2F80F3}" presName="sibTrans" presStyleCnt="0"/>
      <dgm:spPr/>
    </dgm:pt>
    <dgm:pt modelId="{292932BB-BF3A-443F-BF92-DB8C05808F93}" type="pres">
      <dgm:prSet presAssocID="{D40916C2-9625-4520-A8B3-F3C32110BE44}" presName="compNode" presStyleCnt="0"/>
      <dgm:spPr/>
    </dgm:pt>
    <dgm:pt modelId="{1E7BFD21-34A3-45FD-98A2-3D38E5B74032}" type="pres">
      <dgm:prSet presAssocID="{D40916C2-9625-4520-A8B3-F3C32110BE44}" presName="bgRect" presStyleLbl="bgShp" presStyleIdx="1" presStyleCnt="4"/>
      <dgm:spPr/>
    </dgm:pt>
    <dgm:pt modelId="{6688E56A-D4F7-4A6E-8C2D-318E66A72B5E}" type="pres">
      <dgm:prSet presAssocID="{D40916C2-9625-4520-A8B3-F3C32110BE4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nk"/>
        </a:ext>
      </dgm:extLst>
    </dgm:pt>
    <dgm:pt modelId="{1206BE10-DD90-4769-BCCB-5F01111B2E8E}" type="pres">
      <dgm:prSet presAssocID="{D40916C2-9625-4520-A8B3-F3C32110BE44}" presName="spaceRect" presStyleCnt="0"/>
      <dgm:spPr/>
    </dgm:pt>
    <dgm:pt modelId="{C10D17EC-89FB-4DE6-BEE2-7D35582F46D7}" type="pres">
      <dgm:prSet presAssocID="{D40916C2-9625-4520-A8B3-F3C32110BE44}" presName="parTx" presStyleLbl="revTx" presStyleIdx="1" presStyleCnt="4">
        <dgm:presLayoutVars>
          <dgm:chMax val="0"/>
          <dgm:chPref val="0"/>
        </dgm:presLayoutVars>
      </dgm:prSet>
      <dgm:spPr/>
    </dgm:pt>
    <dgm:pt modelId="{7B68714C-226E-4225-9BDC-E5EAA0B479E1}" type="pres">
      <dgm:prSet presAssocID="{8ACBCB14-94AA-46FA-940B-9E13DC92E90C}" presName="sibTrans" presStyleCnt="0"/>
      <dgm:spPr/>
    </dgm:pt>
    <dgm:pt modelId="{24A9B865-82C9-4218-9F3B-8DC2F84AD5AA}" type="pres">
      <dgm:prSet presAssocID="{6BB2222E-A754-4AB9-984E-C7186036E6A1}" presName="compNode" presStyleCnt="0"/>
      <dgm:spPr/>
    </dgm:pt>
    <dgm:pt modelId="{2A761B30-54B5-4C16-8F39-5180363F1643}" type="pres">
      <dgm:prSet presAssocID="{6BB2222E-A754-4AB9-984E-C7186036E6A1}" presName="bgRect" presStyleLbl="bgShp" presStyleIdx="2" presStyleCnt="4"/>
      <dgm:spPr/>
    </dgm:pt>
    <dgm:pt modelId="{B6209DCC-9763-43C8-8865-FCEAB4DA17C5}" type="pres">
      <dgm:prSet presAssocID="{6BB2222E-A754-4AB9-984E-C7186036E6A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rrow Circle"/>
        </a:ext>
      </dgm:extLst>
    </dgm:pt>
    <dgm:pt modelId="{18582E8D-2723-40B1-A292-CB97173C6035}" type="pres">
      <dgm:prSet presAssocID="{6BB2222E-A754-4AB9-984E-C7186036E6A1}" presName="spaceRect" presStyleCnt="0"/>
      <dgm:spPr/>
    </dgm:pt>
    <dgm:pt modelId="{05A845DE-FF21-4CF6-A225-2E272880B933}" type="pres">
      <dgm:prSet presAssocID="{6BB2222E-A754-4AB9-984E-C7186036E6A1}" presName="parTx" presStyleLbl="revTx" presStyleIdx="2" presStyleCnt="4">
        <dgm:presLayoutVars>
          <dgm:chMax val="0"/>
          <dgm:chPref val="0"/>
        </dgm:presLayoutVars>
      </dgm:prSet>
      <dgm:spPr/>
    </dgm:pt>
    <dgm:pt modelId="{EE878D77-2119-4B36-8BDF-3EA83DA1D9A1}" type="pres">
      <dgm:prSet presAssocID="{776B296B-C37E-4ED9-A26A-226CA5C06CE9}" presName="sibTrans" presStyleCnt="0"/>
      <dgm:spPr/>
    </dgm:pt>
    <dgm:pt modelId="{9700FE42-58B9-41FD-B2BC-F384320F1828}" type="pres">
      <dgm:prSet presAssocID="{48E63A53-FE5E-4103-ADFE-2E9ECA222F10}" presName="compNode" presStyleCnt="0"/>
      <dgm:spPr/>
    </dgm:pt>
    <dgm:pt modelId="{E216F69F-2BBF-4E0D-9486-CBC439CE5245}" type="pres">
      <dgm:prSet presAssocID="{48E63A53-FE5E-4103-ADFE-2E9ECA222F10}" presName="bgRect" presStyleLbl="bgShp" presStyleIdx="3" presStyleCnt="4"/>
      <dgm:spPr/>
    </dgm:pt>
    <dgm:pt modelId="{81C51E08-D992-45FF-800C-2BAA25C3ADE1}" type="pres">
      <dgm:prSet presAssocID="{48E63A53-FE5E-4103-ADFE-2E9ECA222F1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ycle with People"/>
        </a:ext>
      </dgm:extLst>
    </dgm:pt>
    <dgm:pt modelId="{EA34ADA2-FDE2-4AC9-B6AA-E27430DE05B0}" type="pres">
      <dgm:prSet presAssocID="{48E63A53-FE5E-4103-ADFE-2E9ECA222F10}" presName="spaceRect" presStyleCnt="0"/>
      <dgm:spPr/>
    </dgm:pt>
    <dgm:pt modelId="{6E31DFFD-EF10-49D7-91C0-2312B9B96695}" type="pres">
      <dgm:prSet presAssocID="{48E63A53-FE5E-4103-ADFE-2E9ECA222F10}" presName="parTx" presStyleLbl="revTx" presStyleIdx="3" presStyleCnt="4">
        <dgm:presLayoutVars>
          <dgm:chMax val="0"/>
          <dgm:chPref val="0"/>
        </dgm:presLayoutVars>
      </dgm:prSet>
      <dgm:spPr/>
    </dgm:pt>
  </dgm:ptLst>
  <dgm:cxnLst>
    <dgm:cxn modelId="{052AB508-4656-432C-8403-D8DB98323EFD}" srcId="{0AF4FEB1-1374-462C-B7D3-DC34B6F65433}" destId="{D40916C2-9625-4520-A8B3-F3C32110BE44}" srcOrd="1" destOrd="0" parTransId="{01A26D09-EFBC-4CCF-9348-CFE76B94A6F1}" sibTransId="{8ACBCB14-94AA-46FA-940B-9E13DC92E90C}"/>
    <dgm:cxn modelId="{60E3F96E-835B-4BD6-83C1-0301155CAD07}" type="presOf" srcId="{48E63A53-FE5E-4103-ADFE-2E9ECA222F10}" destId="{6E31DFFD-EF10-49D7-91C0-2312B9B96695}" srcOrd="0" destOrd="0" presId="urn:microsoft.com/office/officeart/2018/2/layout/IconVerticalSolidList"/>
    <dgm:cxn modelId="{56FC11A9-BA27-40DF-B0DA-1CDC905E6C37}" type="presOf" srcId="{D40916C2-9625-4520-A8B3-F3C32110BE44}" destId="{C10D17EC-89FB-4DE6-BEE2-7D35582F46D7}" srcOrd="0" destOrd="0" presId="urn:microsoft.com/office/officeart/2018/2/layout/IconVerticalSolidList"/>
    <dgm:cxn modelId="{9E5F50A9-628D-4CF5-9183-D7CADF2A9CB5}" type="presOf" srcId="{3B503105-2574-46C3-B03A-FB7C4C364B2A}" destId="{CA2D6ACD-19BD-4264-A590-15328D243838}" srcOrd="0" destOrd="0" presId="urn:microsoft.com/office/officeart/2018/2/layout/IconVerticalSolidList"/>
    <dgm:cxn modelId="{FF2FF2AF-A021-4D0B-9A6B-46B178B309C3}" srcId="{0AF4FEB1-1374-462C-B7D3-DC34B6F65433}" destId="{3B503105-2574-46C3-B03A-FB7C4C364B2A}" srcOrd="0" destOrd="0" parTransId="{60F9AEDD-2CF2-4CE4-9C40-000314488805}" sibTransId="{DA471502-11DF-494E-9726-B6663F2F80F3}"/>
    <dgm:cxn modelId="{9B476FB7-DD5E-4A30-945A-A7A1334BFAC7}" srcId="{0AF4FEB1-1374-462C-B7D3-DC34B6F65433}" destId="{48E63A53-FE5E-4103-ADFE-2E9ECA222F10}" srcOrd="3" destOrd="0" parTransId="{8935BA7D-5A10-4589-9ECC-6AAE6A91E984}" sibTransId="{785624D5-57D8-4322-94E2-FF74FDC5B6E6}"/>
    <dgm:cxn modelId="{4F3586BE-0F6C-4445-9775-1D9A28FCC9C0}" type="presOf" srcId="{6BB2222E-A754-4AB9-984E-C7186036E6A1}" destId="{05A845DE-FF21-4CF6-A225-2E272880B933}" srcOrd="0" destOrd="0" presId="urn:microsoft.com/office/officeart/2018/2/layout/IconVerticalSolidList"/>
    <dgm:cxn modelId="{6E9E75C5-3E21-4056-808C-D6AC8D627FDF}" type="presOf" srcId="{0AF4FEB1-1374-462C-B7D3-DC34B6F65433}" destId="{E88C9993-25CA-4D62-B07C-51931EFF03D5}" srcOrd="0" destOrd="0" presId="urn:microsoft.com/office/officeart/2018/2/layout/IconVerticalSolidList"/>
    <dgm:cxn modelId="{A592C1D3-4E8A-4F8F-B017-E008CF6CA918}" srcId="{0AF4FEB1-1374-462C-B7D3-DC34B6F65433}" destId="{6BB2222E-A754-4AB9-984E-C7186036E6A1}" srcOrd="2" destOrd="0" parTransId="{32170197-5C78-4ACB-9D60-7FD85D387F67}" sibTransId="{776B296B-C37E-4ED9-A26A-226CA5C06CE9}"/>
    <dgm:cxn modelId="{7F7E8C75-03EA-42D1-88C1-E7943F0F9776}" type="presParOf" srcId="{E88C9993-25CA-4D62-B07C-51931EFF03D5}" destId="{97476DE8-4880-4AE4-9BD3-E94591166C17}" srcOrd="0" destOrd="0" presId="urn:microsoft.com/office/officeart/2018/2/layout/IconVerticalSolidList"/>
    <dgm:cxn modelId="{64D54E91-2E9F-4B59-9364-600ACA216B23}" type="presParOf" srcId="{97476DE8-4880-4AE4-9BD3-E94591166C17}" destId="{7DAFEF07-3C91-402F-8774-CA86B51794FC}" srcOrd="0" destOrd="0" presId="urn:microsoft.com/office/officeart/2018/2/layout/IconVerticalSolidList"/>
    <dgm:cxn modelId="{06860771-C57C-4035-8DED-25ECB891E4C5}" type="presParOf" srcId="{97476DE8-4880-4AE4-9BD3-E94591166C17}" destId="{CE83811E-DF51-4EB6-B943-EC85EBF06A2A}" srcOrd="1" destOrd="0" presId="urn:microsoft.com/office/officeart/2018/2/layout/IconVerticalSolidList"/>
    <dgm:cxn modelId="{C5141995-C36D-42CD-BC40-F617E4057766}" type="presParOf" srcId="{97476DE8-4880-4AE4-9BD3-E94591166C17}" destId="{282F03F8-1D41-4DC1-BCBE-1A21A7C7BAAB}" srcOrd="2" destOrd="0" presId="urn:microsoft.com/office/officeart/2018/2/layout/IconVerticalSolidList"/>
    <dgm:cxn modelId="{641F05F8-D7F3-43B3-B799-58BFE4C7F77C}" type="presParOf" srcId="{97476DE8-4880-4AE4-9BD3-E94591166C17}" destId="{CA2D6ACD-19BD-4264-A590-15328D243838}" srcOrd="3" destOrd="0" presId="urn:microsoft.com/office/officeart/2018/2/layout/IconVerticalSolidList"/>
    <dgm:cxn modelId="{F779250A-BF2A-4FF5-95CB-245E2378FF92}" type="presParOf" srcId="{E88C9993-25CA-4D62-B07C-51931EFF03D5}" destId="{3F80F021-2B3C-41FC-A739-C273168AB6C1}" srcOrd="1" destOrd="0" presId="urn:microsoft.com/office/officeart/2018/2/layout/IconVerticalSolidList"/>
    <dgm:cxn modelId="{B6D7C079-EF01-407E-81E3-1905F6BD426E}" type="presParOf" srcId="{E88C9993-25CA-4D62-B07C-51931EFF03D5}" destId="{292932BB-BF3A-443F-BF92-DB8C05808F93}" srcOrd="2" destOrd="0" presId="urn:microsoft.com/office/officeart/2018/2/layout/IconVerticalSolidList"/>
    <dgm:cxn modelId="{53C723DA-160F-4C64-93E5-64C812FCAD1C}" type="presParOf" srcId="{292932BB-BF3A-443F-BF92-DB8C05808F93}" destId="{1E7BFD21-34A3-45FD-98A2-3D38E5B74032}" srcOrd="0" destOrd="0" presId="urn:microsoft.com/office/officeart/2018/2/layout/IconVerticalSolidList"/>
    <dgm:cxn modelId="{CA9C2BCE-FC58-42DA-BC5C-A997154569DA}" type="presParOf" srcId="{292932BB-BF3A-443F-BF92-DB8C05808F93}" destId="{6688E56A-D4F7-4A6E-8C2D-318E66A72B5E}" srcOrd="1" destOrd="0" presId="urn:microsoft.com/office/officeart/2018/2/layout/IconVerticalSolidList"/>
    <dgm:cxn modelId="{876EB040-63EE-47B1-AB7A-AF8371F1F2E9}" type="presParOf" srcId="{292932BB-BF3A-443F-BF92-DB8C05808F93}" destId="{1206BE10-DD90-4769-BCCB-5F01111B2E8E}" srcOrd="2" destOrd="0" presId="urn:microsoft.com/office/officeart/2018/2/layout/IconVerticalSolidList"/>
    <dgm:cxn modelId="{29FC83C9-2CDF-4002-887F-64B285E2CC6A}" type="presParOf" srcId="{292932BB-BF3A-443F-BF92-DB8C05808F93}" destId="{C10D17EC-89FB-4DE6-BEE2-7D35582F46D7}" srcOrd="3" destOrd="0" presId="urn:microsoft.com/office/officeart/2018/2/layout/IconVerticalSolidList"/>
    <dgm:cxn modelId="{D318F9FA-68E6-41F6-A3DD-B771E04D93ED}" type="presParOf" srcId="{E88C9993-25CA-4D62-B07C-51931EFF03D5}" destId="{7B68714C-226E-4225-9BDC-E5EAA0B479E1}" srcOrd="3" destOrd="0" presId="urn:microsoft.com/office/officeart/2018/2/layout/IconVerticalSolidList"/>
    <dgm:cxn modelId="{D0D8D780-B444-43F8-BAE9-9D3A4C19BDFD}" type="presParOf" srcId="{E88C9993-25CA-4D62-B07C-51931EFF03D5}" destId="{24A9B865-82C9-4218-9F3B-8DC2F84AD5AA}" srcOrd="4" destOrd="0" presId="urn:microsoft.com/office/officeart/2018/2/layout/IconVerticalSolidList"/>
    <dgm:cxn modelId="{CF7C7336-8D42-491F-9E52-D8D0ED86C350}" type="presParOf" srcId="{24A9B865-82C9-4218-9F3B-8DC2F84AD5AA}" destId="{2A761B30-54B5-4C16-8F39-5180363F1643}" srcOrd="0" destOrd="0" presId="urn:microsoft.com/office/officeart/2018/2/layout/IconVerticalSolidList"/>
    <dgm:cxn modelId="{C8602D1F-04DA-42C4-AC55-4EF3EAD71759}" type="presParOf" srcId="{24A9B865-82C9-4218-9F3B-8DC2F84AD5AA}" destId="{B6209DCC-9763-43C8-8865-FCEAB4DA17C5}" srcOrd="1" destOrd="0" presId="urn:microsoft.com/office/officeart/2018/2/layout/IconVerticalSolidList"/>
    <dgm:cxn modelId="{652A61E0-7B39-46E1-865C-956A253DA82C}" type="presParOf" srcId="{24A9B865-82C9-4218-9F3B-8DC2F84AD5AA}" destId="{18582E8D-2723-40B1-A292-CB97173C6035}" srcOrd="2" destOrd="0" presId="urn:microsoft.com/office/officeart/2018/2/layout/IconVerticalSolidList"/>
    <dgm:cxn modelId="{57DEBBD6-94D9-486D-96F6-11468E59D627}" type="presParOf" srcId="{24A9B865-82C9-4218-9F3B-8DC2F84AD5AA}" destId="{05A845DE-FF21-4CF6-A225-2E272880B933}" srcOrd="3" destOrd="0" presId="urn:microsoft.com/office/officeart/2018/2/layout/IconVerticalSolidList"/>
    <dgm:cxn modelId="{61FEEE41-047B-40B2-A84E-AEDD21A7ADAD}" type="presParOf" srcId="{E88C9993-25CA-4D62-B07C-51931EFF03D5}" destId="{EE878D77-2119-4B36-8BDF-3EA83DA1D9A1}" srcOrd="5" destOrd="0" presId="urn:microsoft.com/office/officeart/2018/2/layout/IconVerticalSolidList"/>
    <dgm:cxn modelId="{38DF9B1C-2E0A-47CF-9AC0-B75F4B750778}" type="presParOf" srcId="{E88C9993-25CA-4D62-B07C-51931EFF03D5}" destId="{9700FE42-58B9-41FD-B2BC-F384320F1828}" srcOrd="6" destOrd="0" presId="urn:microsoft.com/office/officeart/2018/2/layout/IconVerticalSolidList"/>
    <dgm:cxn modelId="{E80031DF-8132-45BC-8B41-189100979CB5}" type="presParOf" srcId="{9700FE42-58B9-41FD-B2BC-F384320F1828}" destId="{E216F69F-2BBF-4E0D-9486-CBC439CE5245}" srcOrd="0" destOrd="0" presId="urn:microsoft.com/office/officeart/2018/2/layout/IconVerticalSolidList"/>
    <dgm:cxn modelId="{6BBF59F8-9794-44DD-8B3A-14EE68973802}" type="presParOf" srcId="{9700FE42-58B9-41FD-B2BC-F384320F1828}" destId="{81C51E08-D992-45FF-800C-2BAA25C3ADE1}" srcOrd="1" destOrd="0" presId="urn:microsoft.com/office/officeart/2018/2/layout/IconVerticalSolidList"/>
    <dgm:cxn modelId="{5743774F-F816-44FE-9BFE-5F3AFE5301E6}" type="presParOf" srcId="{9700FE42-58B9-41FD-B2BC-F384320F1828}" destId="{EA34ADA2-FDE2-4AC9-B6AA-E27430DE05B0}" srcOrd="2" destOrd="0" presId="urn:microsoft.com/office/officeart/2018/2/layout/IconVerticalSolidList"/>
    <dgm:cxn modelId="{77655374-7D78-465E-BA22-9DA921A8AF59}" type="presParOf" srcId="{9700FE42-58B9-41FD-B2BC-F384320F1828}" destId="{6E31DFFD-EF10-49D7-91C0-2312B9B966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7D300C-9B7D-42B2-A82F-DA7CFDD1B9B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3E9D934-8643-4E61-9000-2404A56CF97A}">
      <dgm:prSet/>
      <dgm:spPr/>
      <dgm:t>
        <a:bodyPr/>
        <a:lstStyle/>
        <a:p>
          <a:r>
            <a:rPr lang="en-US"/>
            <a:t>Provides insights about what not to do</a:t>
          </a:r>
        </a:p>
      </dgm:t>
    </dgm:pt>
    <dgm:pt modelId="{51A74860-7F3A-44C3-B4DA-E5590A733C7C}" type="parTrans" cxnId="{BD6FB24B-96D1-4F77-8ACA-21E5C67672C3}">
      <dgm:prSet/>
      <dgm:spPr/>
      <dgm:t>
        <a:bodyPr/>
        <a:lstStyle/>
        <a:p>
          <a:endParaRPr lang="en-US"/>
        </a:p>
      </dgm:t>
    </dgm:pt>
    <dgm:pt modelId="{2754A4E5-FCA7-4D90-B6F2-3B01A3917BE5}" type="sibTrans" cxnId="{BD6FB24B-96D1-4F77-8ACA-21E5C67672C3}">
      <dgm:prSet/>
      <dgm:spPr/>
      <dgm:t>
        <a:bodyPr/>
        <a:lstStyle/>
        <a:p>
          <a:endParaRPr lang="en-US"/>
        </a:p>
      </dgm:t>
    </dgm:pt>
    <dgm:pt modelId="{565EE0BE-2FEF-48AE-8C0D-A58626CEADE3}">
      <dgm:prSet/>
      <dgm:spPr/>
      <dgm:t>
        <a:bodyPr/>
        <a:lstStyle/>
        <a:p>
          <a:r>
            <a:rPr lang="en-US"/>
            <a:t>Failure helps build capability</a:t>
          </a:r>
        </a:p>
      </dgm:t>
    </dgm:pt>
    <dgm:pt modelId="{E4BC66E0-C0EC-400D-8CCD-F19345FA2286}" type="parTrans" cxnId="{50D926A5-7D8D-468F-87AE-D7668A594FF9}">
      <dgm:prSet/>
      <dgm:spPr/>
      <dgm:t>
        <a:bodyPr/>
        <a:lstStyle/>
        <a:p>
          <a:endParaRPr lang="en-US"/>
        </a:p>
      </dgm:t>
    </dgm:pt>
    <dgm:pt modelId="{A7DF2A18-3A5C-4C7A-81DE-B2D7C98C81F2}" type="sibTrans" cxnId="{50D926A5-7D8D-468F-87AE-D7668A594FF9}">
      <dgm:prSet/>
      <dgm:spPr/>
      <dgm:t>
        <a:bodyPr/>
        <a:lstStyle/>
        <a:p>
          <a:endParaRPr lang="en-US"/>
        </a:p>
      </dgm:t>
    </dgm:pt>
    <dgm:pt modelId="{67E344D1-FE51-4466-8587-8D5E373928A1}">
      <dgm:prSet/>
      <dgm:spPr/>
      <dgm:t>
        <a:bodyPr/>
        <a:lstStyle/>
        <a:p>
          <a:r>
            <a:rPr lang="en-US"/>
            <a:t>Failure helps others learn and build capability</a:t>
          </a:r>
        </a:p>
      </dgm:t>
    </dgm:pt>
    <dgm:pt modelId="{CC089874-5FAD-4754-A4D0-C63876854853}" type="parTrans" cxnId="{9499B2AE-2D7B-4091-88E3-5BAC2D7011B2}">
      <dgm:prSet/>
      <dgm:spPr/>
      <dgm:t>
        <a:bodyPr/>
        <a:lstStyle/>
        <a:p>
          <a:endParaRPr lang="en-US"/>
        </a:p>
      </dgm:t>
    </dgm:pt>
    <dgm:pt modelId="{CCB38EDF-F939-4FAE-AA04-11BAB75EFBC0}" type="sibTrans" cxnId="{9499B2AE-2D7B-4091-88E3-5BAC2D7011B2}">
      <dgm:prSet/>
      <dgm:spPr/>
      <dgm:t>
        <a:bodyPr/>
        <a:lstStyle/>
        <a:p>
          <a:endParaRPr lang="en-US"/>
        </a:p>
      </dgm:t>
    </dgm:pt>
    <dgm:pt modelId="{649FB230-0F27-4B96-95C2-660FAB8E076F}">
      <dgm:prSet/>
      <dgm:spPr/>
      <dgm:t>
        <a:bodyPr/>
        <a:lstStyle/>
        <a:p>
          <a:r>
            <a:rPr lang="en-US"/>
            <a:t>So how to learn?</a:t>
          </a:r>
        </a:p>
      </dgm:t>
    </dgm:pt>
    <dgm:pt modelId="{62E4B6F3-6093-4B08-9AEA-2908B065647F}" type="parTrans" cxnId="{5AC8D38A-3D2A-48E4-8257-F73CE83F5429}">
      <dgm:prSet/>
      <dgm:spPr/>
      <dgm:t>
        <a:bodyPr/>
        <a:lstStyle/>
        <a:p>
          <a:endParaRPr lang="en-US"/>
        </a:p>
      </dgm:t>
    </dgm:pt>
    <dgm:pt modelId="{2680EF6C-FD32-4B18-B9BE-F4632B8CF550}" type="sibTrans" cxnId="{5AC8D38A-3D2A-48E4-8257-F73CE83F5429}">
      <dgm:prSet/>
      <dgm:spPr/>
      <dgm:t>
        <a:bodyPr/>
        <a:lstStyle/>
        <a:p>
          <a:endParaRPr lang="en-US"/>
        </a:p>
      </dgm:t>
    </dgm:pt>
    <dgm:pt modelId="{BEB881CF-723D-B043-8B0F-37BC97682440}" type="pres">
      <dgm:prSet presAssocID="{E27D300C-9B7D-42B2-A82F-DA7CFDD1B9BC}" presName="linear" presStyleCnt="0">
        <dgm:presLayoutVars>
          <dgm:animLvl val="lvl"/>
          <dgm:resizeHandles val="exact"/>
        </dgm:presLayoutVars>
      </dgm:prSet>
      <dgm:spPr/>
    </dgm:pt>
    <dgm:pt modelId="{BA5B1549-C2AB-6948-9276-3E9E1AF0A356}" type="pres">
      <dgm:prSet presAssocID="{A3E9D934-8643-4E61-9000-2404A56CF97A}" presName="parentText" presStyleLbl="node1" presStyleIdx="0" presStyleCnt="4">
        <dgm:presLayoutVars>
          <dgm:chMax val="0"/>
          <dgm:bulletEnabled val="1"/>
        </dgm:presLayoutVars>
      </dgm:prSet>
      <dgm:spPr/>
    </dgm:pt>
    <dgm:pt modelId="{339395E3-10D1-1145-BD35-42BAC934E296}" type="pres">
      <dgm:prSet presAssocID="{2754A4E5-FCA7-4D90-B6F2-3B01A3917BE5}" presName="spacer" presStyleCnt="0"/>
      <dgm:spPr/>
    </dgm:pt>
    <dgm:pt modelId="{341DB73E-D446-844B-AEF0-234031E59150}" type="pres">
      <dgm:prSet presAssocID="{565EE0BE-2FEF-48AE-8C0D-A58626CEADE3}" presName="parentText" presStyleLbl="node1" presStyleIdx="1" presStyleCnt="4">
        <dgm:presLayoutVars>
          <dgm:chMax val="0"/>
          <dgm:bulletEnabled val="1"/>
        </dgm:presLayoutVars>
      </dgm:prSet>
      <dgm:spPr/>
    </dgm:pt>
    <dgm:pt modelId="{E03FF89D-2A10-4349-BE11-BA47483DC140}" type="pres">
      <dgm:prSet presAssocID="{A7DF2A18-3A5C-4C7A-81DE-B2D7C98C81F2}" presName="spacer" presStyleCnt="0"/>
      <dgm:spPr/>
    </dgm:pt>
    <dgm:pt modelId="{39E326B0-4C58-FB41-B9A0-FC9B0BC0F17A}" type="pres">
      <dgm:prSet presAssocID="{67E344D1-FE51-4466-8587-8D5E373928A1}" presName="parentText" presStyleLbl="node1" presStyleIdx="2" presStyleCnt="4">
        <dgm:presLayoutVars>
          <dgm:chMax val="0"/>
          <dgm:bulletEnabled val="1"/>
        </dgm:presLayoutVars>
      </dgm:prSet>
      <dgm:spPr/>
    </dgm:pt>
    <dgm:pt modelId="{C85A4991-3DEC-CD4C-ABDD-B32A379664C4}" type="pres">
      <dgm:prSet presAssocID="{CCB38EDF-F939-4FAE-AA04-11BAB75EFBC0}" presName="spacer" presStyleCnt="0"/>
      <dgm:spPr/>
    </dgm:pt>
    <dgm:pt modelId="{75FD01B4-65CB-9140-AF42-9C6C7C77E9FF}" type="pres">
      <dgm:prSet presAssocID="{649FB230-0F27-4B96-95C2-660FAB8E076F}" presName="parentText" presStyleLbl="node1" presStyleIdx="3" presStyleCnt="4">
        <dgm:presLayoutVars>
          <dgm:chMax val="0"/>
          <dgm:bulletEnabled val="1"/>
        </dgm:presLayoutVars>
      </dgm:prSet>
      <dgm:spPr/>
    </dgm:pt>
  </dgm:ptLst>
  <dgm:cxnLst>
    <dgm:cxn modelId="{53F47626-BAC7-9D47-A171-F9D08C50434E}" type="presOf" srcId="{649FB230-0F27-4B96-95C2-660FAB8E076F}" destId="{75FD01B4-65CB-9140-AF42-9C6C7C77E9FF}" srcOrd="0" destOrd="0" presId="urn:microsoft.com/office/officeart/2005/8/layout/vList2"/>
    <dgm:cxn modelId="{BD6FB24B-96D1-4F77-8ACA-21E5C67672C3}" srcId="{E27D300C-9B7D-42B2-A82F-DA7CFDD1B9BC}" destId="{A3E9D934-8643-4E61-9000-2404A56CF97A}" srcOrd="0" destOrd="0" parTransId="{51A74860-7F3A-44C3-B4DA-E5590A733C7C}" sibTransId="{2754A4E5-FCA7-4D90-B6F2-3B01A3917BE5}"/>
    <dgm:cxn modelId="{C33D6B71-B1F9-874A-89C9-BE9EC92A5527}" type="presOf" srcId="{E27D300C-9B7D-42B2-A82F-DA7CFDD1B9BC}" destId="{BEB881CF-723D-B043-8B0F-37BC97682440}" srcOrd="0" destOrd="0" presId="urn:microsoft.com/office/officeart/2005/8/layout/vList2"/>
    <dgm:cxn modelId="{5AC8D38A-3D2A-48E4-8257-F73CE83F5429}" srcId="{E27D300C-9B7D-42B2-A82F-DA7CFDD1B9BC}" destId="{649FB230-0F27-4B96-95C2-660FAB8E076F}" srcOrd="3" destOrd="0" parTransId="{62E4B6F3-6093-4B08-9AEA-2908B065647F}" sibTransId="{2680EF6C-FD32-4B18-B9BE-F4632B8CF550}"/>
    <dgm:cxn modelId="{DF9DD393-5F69-4A42-87CE-5892580ACC77}" type="presOf" srcId="{67E344D1-FE51-4466-8587-8D5E373928A1}" destId="{39E326B0-4C58-FB41-B9A0-FC9B0BC0F17A}" srcOrd="0" destOrd="0" presId="urn:microsoft.com/office/officeart/2005/8/layout/vList2"/>
    <dgm:cxn modelId="{50D926A5-7D8D-468F-87AE-D7668A594FF9}" srcId="{E27D300C-9B7D-42B2-A82F-DA7CFDD1B9BC}" destId="{565EE0BE-2FEF-48AE-8C0D-A58626CEADE3}" srcOrd="1" destOrd="0" parTransId="{E4BC66E0-C0EC-400D-8CCD-F19345FA2286}" sibTransId="{A7DF2A18-3A5C-4C7A-81DE-B2D7C98C81F2}"/>
    <dgm:cxn modelId="{9499B2AE-2D7B-4091-88E3-5BAC2D7011B2}" srcId="{E27D300C-9B7D-42B2-A82F-DA7CFDD1B9BC}" destId="{67E344D1-FE51-4466-8587-8D5E373928A1}" srcOrd="2" destOrd="0" parTransId="{CC089874-5FAD-4754-A4D0-C63876854853}" sibTransId="{CCB38EDF-F939-4FAE-AA04-11BAB75EFBC0}"/>
    <dgm:cxn modelId="{5996B0CA-EDD2-7A4F-8ECA-ED937DA10A2B}" type="presOf" srcId="{A3E9D934-8643-4E61-9000-2404A56CF97A}" destId="{BA5B1549-C2AB-6948-9276-3E9E1AF0A356}" srcOrd="0" destOrd="0" presId="urn:microsoft.com/office/officeart/2005/8/layout/vList2"/>
    <dgm:cxn modelId="{229F09E4-8237-D14D-988B-80811936C071}" type="presOf" srcId="{565EE0BE-2FEF-48AE-8C0D-A58626CEADE3}" destId="{341DB73E-D446-844B-AEF0-234031E59150}" srcOrd="0" destOrd="0" presId="urn:microsoft.com/office/officeart/2005/8/layout/vList2"/>
    <dgm:cxn modelId="{AF23FF85-BECE-244A-8D36-A3A6937AE1DE}" type="presParOf" srcId="{BEB881CF-723D-B043-8B0F-37BC97682440}" destId="{BA5B1549-C2AB-6948-9276-3E9E1AF0A356}" srcOrd="0" destOrd="0" presId="urn:microsoft.com/office/officeart/2005/8/layout/vList2"/>
    <dgm:cxn modelId="{C1274721-714C-AD4D-A0B1-504AAB86197B}" type="presParOf" srcId="{BEB881CF-723D-B043-8B0F-37BC97682440}" destId="{339395E3-10D1-1145-BD35-42BAC934E296}" srcOrd="1" destOrd="0" presId="urn:microsoft.com/office/officeart/2005/8/layout/vList2"/>
    <dgm:cxn modelId="{CDEE7201-B70C-C04F-A402-4E2A4EBB30D5}" type="presParOf" srcId="{BEB881CF-723D-B043-8B0F-37BC97682440}" destId="{341DB73E-D446-844B-AEF0-234031E59150}" srcOrd="2" destOrd="0" presId="urn:microsoft.com/office/officeart/2005/8/layout/vList2"/>
    <dgm:cxn modelId="{9E1EE48D-22B0-1042-9B65-749D6C5CFDEA}" type="presParOf" srcId="{BEB881CF-723D-B043-8B0F-37BC97682440}" destId="{E03FF89D-2A10-4349-BE11-BA47483DC140}" srcOrd="3" destOrd="0" presId="urn:microsoft.com/office/officeart/2005/8/layout/vList2"/>
    <dgm:cxn modelId="{9B7B9FC2-A1CB-9A45-B6E2-2E092A82E891}" type="presParOf" srcId="{BEB881CF-723D-B043-8B0F-37BC97682440}" destId="{39E326B0-4C58-FB41-B9A0-FC9B0BC0F17A}" srcOrd="4" destOrd="0" presId="urn:microsoft.com/office/officeart/2005/8/layout/vList2"/>
    <dgm:cxn modelId="{BB2ABD83-CE87-7346-803E-5F46F6C3C2D3}" type="presParOf" srcId="{BEB881CF-723D-B043-8B0F-37BC97682440}" destId="{C85A4991-3DEC-CD4C-ABDD-B32A379664C4}" srcOrd="5" destOrd="0" presId="urn:microsoft.com/office/officeart/2005/8/layout/vList2"/>
    <dgm:cxn modelId="{678A7A88-1DC8-3E44-BABA-9FC7B7A2E643}" type="presParOf" srcId="{BEB881CF-723D-B043-8B0F-37BC97682440}" destId="{75FD01B4-65CB-9140-AF42-9C6C7C77E9F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83E19-2F1D-1D42-B573-8423074B417F}">
      <dsp:nvSpPr>
        <dsp:cNvPr id="0" name=""/>
        <dsp:cNvSpPr/>
      </dsp:nvSpPr>
      <dsp:spPr>
        <a:xfrm>
          <a:off x="0" y="57334"/>
          <a:ext cx="4025646" cy="837952"/>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By the end of this chapter you will have:</a:t>
          </a:r>
          <a:endParaRPr lang="en-US" sz="1500" kern="1200"/>
        </a:p>
      </dsp:txBody>
      <dsp:txXfrm>
        <a:off x="40905" y="98239"/>
        <a:ext cx="3943836" cy="756142"/>
      </dsp:txXfrm>
    </dsp:sp>
    <dsp:sp modelId="{B2819156-FE53-2342-83AB-203AB82B77D9}">
      <dsp:nvSpPr>
        <dsp:cNvPr id="0" name=""/>
        <dsp:cNvSpPr/>
      </dsp:nvSpPr>
      <dsp:spPr>
        <a:xfrm>
          <a:off x="0" y="938486"/>
          <a:ext cx="4025646" cy="837952"/>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Reviewed and consolidated the key themes in the book.</a:t>
          </a:r>
          <a:endParaRPr lang="en-US" sz="1500" kern="1200"/>
        </a:p>
      </dsp:txBody>
      <dsp:txXfrm>
        <a:off x="40905" y="979391"/>
        <a:ext cx="3943836" cy="756142"/>
      </dsp:txXfrm>
    </dsp:sp>
    <dsp:sp modelId="{591056DF-091F-4F49-BD41-DBEC9B739CCF}">
      <dsp:nvSpPr>
        <dsp:cNvPr id="0" name=""/>
        <dsp:cNvSpPr/>
      </dsp:nvSpPr>
      <dsp:spPr>
        <a:xfrm>
          <a:off x="0" y="1819639"/>
          <a:ext cx="4025646" cy="837952"/>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Explored key influences on how to manage the innovation process effectively.</a:t>
          </a:r>
          <a:endParaRPr lang="en-US" sz="1500" kern="1200"/>
        </a:p>
      </dsp:txBody>
      <dsp:txXfrm>
        <a:off x="40905" y="1860544"/>
        <a:ext cx="3943836" cy="756142"/>
      </dsp:txXfrm>
    </dsp:sp>
    <dsp:sp modelId="{8D378E98-D0FC-1148-AEA3-377C11E69C88}">
      <dsp:nvSpPr>
        <dsp:cNvPr id="0" name=""/>
        <dsp:cNvSpPr/>
      </dsp:nvSpPr>
      <dsp:spPr>
        <a:xfrm>
          <a:off x="0" y="2700791"/>
          <a:ext cx="4025646" cy="837952"/>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Identified key skills at individual, team and organizational levels associated with effective innovation.</a:t>
          </a:r>
          <a:endParaRPr lang="en-US" sz="1500" kern="1200"/>
        </a:p>
      </dsp:txBody>
      <dsp:txXfrm>
        <a:off x="40905" y="2741696"/>
        <a:ext cx="3943836" cy="756142"/>
      </dsp:txXfrm>
    </dsp:sp>
    <dsp:sp modelId="{C0331A8A-99BC-644F-96E2-B2B9663CC0BD}">
      <dsp:nvSpPr>
        <dsp:cNvPr id="0" name=""/>
        <dsp:cNvSpPr/>
      </dsp:nvSpPr>
      <dsp:spPr>
        <a:xfrm>
          <a:off x="0" y="3581944"/>
          <a:ext cx="4025646" cy="837952"/>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Developed the ability to review how well individuals and organizations manage the process.</a:t>
          </a:r>
          <a:endParaRPr lang="en-US" sz="1500" kern="1200"/>
        </a:p>
      </dsp:txBody>
      <dsp:txXfrm>
        <a:off x="40905" y="3622849"/>
        <a:ext cx="3943836" cy="756142"/>
      </dsp:txXfrm>
    </dsp:sp>
    <dsp:sp modelId="{36195088-1A8D-F44A-A8A4-357B508A280C}">
      <dsp:nvSpPr>
        <dsp:cNvPr id="0" name=""/>
        <dsp:cNvSpPr/>
      </dsp:nvSpPr>
      <dsp:spPr>
        <a:xfrm>
          <a:off x="0" y="4463097"/>
          <a:ext cx="4025646" cy="837952"/>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Practised taking an audit approach to improving innovation and entrepreneurship.</a:t>
          </a:r>
          <a:endParaRPr lang="en-US" sz="1500" kern="1200"/>
        </a:p>
      </dsp:txBody>
      <dsp:txXfrm>
        <a:off x="40905" y="4504002"/>
        <a:ext cx="3943836" cy="7561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B7C09-423D-C04F-8965-0470B03A3BB6}">
      <dsp:nvSpPr>
        <dsp:cNvPr id="0" name=""/>
        <dsp:cNvSpPr/>
      </dsp:nvSpPr>
      <dsp:spPr>
        <a:xfrm>
          <a:off x="0" y="17146"/>
          <a:ext cx="4941519" cy="190231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Innovation as a process</a:t>
          </a:r>
        </a:p>
      </dsp:txBody>
      <dsp:txXfrm>
        <a:off x="92863" y="110009"/>
        <a:ext cx="4755793" cy="1716584"/>
      </dsp:txXfrm>
    </dsp:sp>
    <dsp:sp modelId="{A742F2E3-E2AD-F342-B8BF-C32C40470D20}">
      <dsp:nvSpPr>
        <dsp:cNvPr id="0" name=""/>
        <dsp:cNvSpPr/>
      </dsp:nvSpPr>
      <dsp:spPr>
        <a:xfrm>
          <a:off x="0" y="1997216"/>
          <a:ext cx="4941519" cy="190231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Patterns of behaviour which become embedded in routines – structures, procedures, policies – for making innovation happen</a:t>
          </a:r>
        </a:p>
      </dsp:txBody>
      <dsp:txXfrm>
        <a:off x="92863" y="2090079"/>
        <a:ext cx="4755793" cy="1716584"/>
      </dsp:txXfrm>
    </dsp:sp>
    <dsp:sp modelId="{F40016D4-BA2F-FF49-B762-28EA601CB260}">
      <dsp:nvSpPr>
        <dsp:cNvPr id="0" name=""/>
        <dsp:cNvSpPr/>
      </dsp:nvSpPr>
      <dsp:spPr>
        <a:xfrm>
          <a:off x="0" y="3977286"/>
          <a:ext cx="4941519" cy="190231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Varies between organizations – particular culture – ‘the way we do things round here’</a:t>
          </a:r>
        </a:p>
      </dsp:txBody>
      <dsp:txXfrm>
        <a:off x="92863" y="4070149"/>
        <a:ext cx="4755793" cy="17165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AFEF07-3C91-402F-8774-CA86B51794FC}">
      <dsp:nvSpPr>
        <dsp:cNvPr id="0" name=""/>
        <dsp:cNvSpPr/>
      </dsp:nvSpPr>
      <dsp:spPr>
        <a:xfrm>
          <a:off x="0" y="2447"/>
          <a:ext cx="4941519" cy="1240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3811E-DF51-4EB6-B943-EC85EBF06A2A}">
      <dsp:nvSpPr>
        <dsp:cNvPr id="0" name=""/>
        <dsp:cNvSpPr/>
      </dsp:nvSpPr>
      <dsp:spPr>
        <a:xfrm>
          <a:off x="375217" y="281534"/>
          <a:ext cx="682214" cy="6822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2D6ACD-19BD-4264-A590-15328D243838}">
      <dsp:nvSpPr>
        <dsp:cNvPr id="0" name=""/>
        <dsp:cNvSpPr/>
      </dsp:nvSpPr>
      <dsp:spPr>
        <a:xfrm>
          <a:off x="1432649" y="2447"/>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977900">
            <a:lnSpc>
              <a:spcPct val="90000"/>
            </a:lnSpc>
            <a:spcBef>
              <a:spcPct val="0"/>
            </a:spcBef>
            <a:spcAft>
              <a:spcPct val="35000"/>
            </a:spcAft>
            <a:buNone/>
          </a:pPr>
          <a:r>
            <a:rPr lang="en-GB" sz="2200" kern="1200"/>
            <a:t>is strategy-based;</a:t>
          </a:r>
          <a:endParaRPr lang="en-US" sz="2200" kern="1200"/>
        </a:p>
      </dsp:txBody>
      <dsp:txXfrm>
        <a:off x="1432649" y="2447"/>
        <a:ext cx="3508869" cy="1240389"/>
      </dsp:txXfrm>
    </dsp:sp>
    <dsp:sp modelId="{1E7BFD21-34A3-45FD-98A2-3D38E5B74032}">
      <dsp:nvSpPr>
        <dsp:cNvPr id="0" name=""/>
        <dsp:cNvSpPr/>
      </dsp:nvSpPr>
      <dsp:spPr>
        <a:xfrm>
          <a:off x="0" y="1552933"/>
          <a:ext cx="4941519" cy="1240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88E56A-D4F7-4A6E-8C2D-318E66A72B5E}">
      <dsp:nvSpPr>
        <dsp:cNvPr id="0" name=""/>
        <dsp:cNvSpPr/>
      </dsp:nvSpPr>
      <dsp:spPr>
        <a:xfrm>
          <a:off x="375217" y="1832021"/>
          <a:ext cx="682214" cy="6822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0D17EC-89FB-4DE6-BEE2-7D35582F46D7}">
      <dsp:nvSpPr>
        <dsp:cNvPr id="0" name=""/>
        <dsp:cNvSpPr/>
      </dsp:nvSpPr>
      <dsp:spPr>
        <a:xfrm>
          <a:off x="1432649" y="1552933"/>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977900">
            <a:lnSpc>
              <a:spcPct val="90000"/>
            </a:lnSpc>
            <a:spcBef>
              <a:spcPct val="0"/>
            </a:spcBef>
            <a:spcAft>
              <a:spcPct val="35000"/>
            </a:spcAft>
            <a:buNone/>
          </a:pPr>
          <a:r>
            <a:rPr lang="en-GB" sz="2200" kern="1200"/>
            <a:t>depends on effective internal and external linkages;</a:t>
          </a:r>
          <a:endParaRPr lang="en-US" sz="2200" kern="1200"/>
        </a:p>
      </dsp:txBody>
      <dsp:txXfrm>
        <a:off x="1432649" y="1552933"/>
        <a:ext cx="3508869" cy="1240389"/>
      </dsp:txXfrm>
    </dsp:sp>
    <dsp:sp modelId="{2A761B30-54B5-4C16-8F39-5180363F1643}">
      <dsp:nvSpPr>
        <dsp:cNvPr id="0" name=""/>
        <dsp:cNvSpPr/>
      </dsp:nvSpPr>
      <dsp:spPr>
        <a:xfrm>
          <a:off x="0" y="3103420"/>
          <a:ext cx="4941519" cy="1240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209DCC-9763-43C8-8865-FCEAB4DA17C5}">
      <dsp:nvSpPr>
        <dsp:cNvPr id="0" name=""/>
        <dsp:cNvSpPr/>
      </dsp:nvSpPr>
      <dsp:spPr>
        <a:xfrm>
          <a:off x="375217" y="3382507"/>
          <a:ext cx="682214" cy="6822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A845DE-FF21-4CF6-A225-2E272880B933}">
      <dsp:nvSpPr>
        <dsp:cNvPr id="0" name=""/>
        <dsp:cNvSpPr/>
      </dsp:nvSpPr>
      <dsp:spPr>
        <a:xfrm>
          <a:off x="1432649" y="3103420"/>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977900">
            <a:lnSpc>
              <a:spcPct val="90000"/>
            </a:lnSpc>
            <a:spcBef>
              <a:spcPct val="0"/>
            </a:spcBef>
            <a:spcAft>
              <a:spcPct val="35000"/>
            </a:spcAft>
            <a:buNone/>
          </a:pPr>
          <a:r>
            <a:rPr lang="en-GB" sz="2200" kern="1200"/>
            <a:t>requires effective enabling mechanisms for making change happen;</a:t>
          </a:r>
          <a:endParaRPr lang="en-US" sz="2200" kern="1200"/>
        </a:p>
      </dsp:txBody>
      <dsp:txXfrm>
        <a:off x="1432649" y="3103420"/>
        <a:ext cx="3508869" cy="1240389"/>
      </dsp:txXfrm>
    </dsp:sp>
    <dsp:sp modelId="{E216F69F-2BBF-4E0D-9486-CBC439CE5245}">
      <dsp:nvSpPr>
        <dsp:cNvPr id="0" name=""/>
        <dsp:cNvSpPr/>
      </dsp:nvSpPr>
      <dsp:spPr>
        <a:xfrm>
          <a:off x="0" y="4653906"/>
          <a:ext cx="4941519" cy="1240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C51E08-D992-45FF-800C-2BAA25C3ADE1}">
      <dsp:nvSpPr>
        <dsp:cNvPr id="0" name=""/>
        <dsp:cNvSpPr/>
      </dsp:nvSpPr>
      <dsp:spPr>
        <a:xfrm>
          <a:off x="375217" y="4932994"/>
          <a:ext cx="682214" cy="6822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31DFFD-EF10-49D7-91C0-2312B9B96695}">
      <dsp:nvSpPr>
        <dsp:cNvPr id="0" name=""/>
        <dsp:cNvSpPr/>
      </dsp:nvSpPr>
      <dsp:spPr>
        <a:xfrm>
          <a:off x="1432649" y="4653906"/>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977900">
            <a:lnSpc>
              <a:spcPct val="90000"/>
            </a:lnSpc>
            <a:spcBef>
              <a:spcPct val="0"/>
            </a:spcBef>
            <a:spcAft>
              <a:spcPct val="35000"/>
            </a:spcAft>
            <a:buNone/>
          </a:pPr>
          <a:r>
            <a:rPr lang="en-GB" sz="2200" kern="1200"/>
            <a:t>only happens within a supporting organizational context.</a:t>
          </a:r>
          <a:endParaRPr lang="en-US" sz="2200" kern="1200"/>
        </a:p>
      </dsp:txBody>
      <dsp:txXfrm>
        <a:off x="1432649" y="4653906"/>
        <a:ext cx="3508869" cy="12403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B1549-C2AB-6948-9276-3E9E1AF0A356}">
      <dsp:nvSpPr>
        <dsp:cNvPr id="0" name=""/>
        <dsp:cNvSpPr/>
      </dsp:nvSpPr>
      <dsp:spPr>
        <a:xfrm>
          <a:off x="0" y="537411"/>
          <a:ext cx="8229600" cy="7915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Provides insights about what not to do</a:t>
          </a:r>
        </a:p>
      </dsp:txBody>
      <dsp:txXfrm>
        <a:off x="38638" y="576049"/>
        <a:ext cx="8152324" cy="714229"/>
      </dsp:txXfrm>
    </dsp:sp>
    <dsp:sp modelId="{341DB73E-D446-844B-AEF0-234031E59150}">
      <dsp:nvSpPr>
        <dsp:cNvPr id="0" name=""/>
        <dsp:cNvSpPr/>
      </dsp:nvSpPr>
      <dsp:spPr>
        <a:xfrm>
          <a:off x="0" y="1423956"/>
          <a:ext cx="8229600" cy="7915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Failure helps build capability</a:t>
          </a:r>
        </a:p>
      </dsp:txBody>
      <dsp:txXfrm>
        <a:off x="38638" y="1462594"/>
        <a:ext cx="8152324" cy="714229"/>
      </dsp:txXfrm>
    </dsp:sp>
    <dsp:sp modelId="{39E326B0-4C58-FB41-B9A0-FC9B0BC0F17A}">
      <dsp:nvSpPr>
        <dsp:cNvPr id="0" name=""/>
        <dsp:cNvSpPr/>
      </dsp:nvSpPr>
      <dsp:spPr>
        <a:xfrm>
          <a:off x="0" y="2310501"/>
          <a:ext cx="8229600" cy="7915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Failure helps others learn and build capability</a:t>
          </a:r>
        </a:p>
      </dsp:txBody>
      <dsp:txXfrm>
        <a:off x="38638" y="2349139"/>
        <a:ext cx="8152324" cy="714229"/>
      </dsp:txXfrm>
    </dsp:sp>
    <dsp:sp modelId="{75FD01B4-65CB-9140-AF42-9C6C7C77E9FF}">
      <dsp:nvSpPr>
        <dsp:cNvPr id="0" name=""/>
        <dsp:cNvSpPr/>
      </dsp:nvSpPr>
      <dsp:spPr>
        <a:xfrm>
          <a:off x="0" y="3197046"/>
          <a:ext cx="8229600" cy="7915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So how to learn?</a:t>
          </a:r>
        </a:p>
      </dsp:txBody>
      <dsp:txXfrm>
        <a:off x="38638" y="3235684"/>
        <a:ext cx="8152324" cy="71422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0F21A-1DF2-8245-BBE8-33BF4C3B16E2}" type="datetimeFigureOut">
              <a:rPr lang="en-US" smtClean="0"/>
              <a:t>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4D08E7-0187-0C4F-804E-07CF787E7656}" type="slidenum">
              <a:rPr lang="en-US" smtClean="0"/>
              <a:t>‹#›</a:t>
            </a:fld>
            <a:endParaRPr lang="en-US"/>
          </a:p>
        </p:txBody>
      </p:sp>
    </p:spTree>
    <p:extLst>
      <p:ext uri="{BB962C8B-B14F-4D97-AF65-F5344CB8AC3E}">
        <p14:creationId xmlns:p14="http://schemas.microsoft.com/office/powerpoint/2010/main" val="312030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25</a:t>
            </a:fld>
            <a:endParaRPr lang="en-GB"/>
          </a:p>
        </p:txBody>
      </p:sp>
    </p:spTree>
    <p:extLst>
      <p:ext uri="{BB962C8B-B14F-4D97-AF65-F5344CB8AC3E}">
        <p14:creationId xmlns:p14="http://schemas.microsoft.com/office/powerpoint/2010/main" val="1624176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626934F-3F8A-4C7A-8631-3AC270FDD452}" type="datetimeFigureOut">
              <a:rPr lang="en-GB" smtClean="0"/>
              <a:t>02/11/2024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626934F-3F8A-4C7A-8631-3AC270FDD452}" type="datetimeFigureOut">
              <a:rPr lang="en-GB" smtClean="0"/>
              <a:t>02/11/2024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6934F-3F8A-4C7A-8631-3AC270FDD452}" type="datetimeFigureOut">
              <a:rPr lang="en-GB" smtClean="0"/>
              <a:t>02/11/2024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34F-3F8A-4C7A-8631-3AC270FDD452}" type="datetimeFigureOut">
              <a:rPr lang="en-GB" smtClean="0"/>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26934F-3F8A-4C7A-8631-3AC270FDD452}" type="datetimeFigureOut">
              <a:rPr lang="en-GB" smtClean="0"/>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67315D-7D47-4B4E-BCAB-81F33AE2418E}"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6934F-3F8A-4C7A-8631-3AC270FDD452}" type="datetimeFigureOut">
              <a:rPr lang="en-GB" smtClean="0"/>
              <a:t>02/11/2024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7315D-7D47-4B4E-BCAB-81F33AE2418E}"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youtube.com/watch?v=B_FW1Z10Xws&amp;feature=youtu.be" TargetMode="External"/><Relationship Id="rId5" Type="http://schemas.openxmlformats.org/officeDocument/2006/relationships/hyperlink" Target="https://www.johnbessant.org/_files/ugd/6ba33a_e3b3e554a8ca41be8852cf5603784a66.pdf" TargetMode="External"/><Relationship Id="rId4" Type="http://schemas.openxmlformats.org/officeDocument/2006/relationships/hyperlink" Target="https://www.youtube.com/watch?v=yIsbNZIYmBY&amp;feature=youtu.be"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F6t5t9dnUF8" TargetMode="External"/><Relationship Id="rId2" Type="http://schemas.openxmlformats.org/officeDocument/2006/relationships/hyperlink" Target="https://www.ted.com/talks/astro_teller_the_unexpected_benefit_of_celebrating_failure" TargetMode="External"/><Relationship Id="rId1" Type="http://schemas.openxmlformats.org/officeDocument/2006/relationships/slideLayout" Target="../slideLayouts/slideLayout2.xml"/><Relationship Id="rId4" Type="http://schemas.openxmlformats.org/officeDocument/2006/relationships/hyperlink" Target="https://www.youtube.com/watch?v=WXKAEC9zsaM"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alnap.org/help-library/more-than-just-luck-innovation-in-humanitarian-action" TargetMode="External"/><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johnbessant.org/activitie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johnbessant.org/_files/ugd/f6594a_cc27a3af539f47169f81a628f89f0406.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15: Capturing learning from innovation</a:t>
            </a:r>
          </a:p>
        </p:txBody>
      </p:sp>
      <p:pic>
        <p:nvPicPr>
          <p:cNvPr id="3" name="Picture 2">
            <a:extLst>
              <a:ext uri="{FF2B5EF4-FFF2-40B4-BE49-F238E27FC236}">
                <a16:creationId xmlns:a16="http://schemas.microsoft.com/office/drawing/2014/main" id="{5BC237C7-AEA3-CE28-C937-03D142B4D8FD}"/>
              </a:ext>
            </a:extLst>
          </p:cNvPr>
          <p:cNvPicPr>
            <a:picLocks noChangeAspect="1"/>
          </p:cNvPicPr>
          <p:nvPr/>
        </p:nvPicPr>
        <p:blipFill>
          <a:blip r:embed="rId2">
            <a:extLst>
              <a:ext uri="{28A0092B-C50C-407E-A947-70E740481C1C}">
                <a14:useLocalDpi xmlns:a14="http://schemas.microsoft.com/office/drawing/2010/main" val="0"/>
              </a:ext>
            </a:extLst>
          </a:blip>
          <a:srcRect l="92" r="24633"/>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6" name="Group 1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508838"/>
            <a:ext cx="3913467" cy="6239661"/>
            <a:chOff x="-19221" y="251144"/>
            <a:chExt cx="5217958" cy="6239661"/>
          </a:xfrm>
        </p:grpSpPr>
        <p:sp>
          <p:nvSpPr>
            <p:cNvPr id="17" name="Freeform: Shape 1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480060" y="1243013"/>
            <a:ext cx="2891790" cy="4371974"/>
          </a:xfrm>
        </p:spPr>
        <p:txBody>
          <a:bodyPr vert="horz" lIns="91440" tIns="45720" rIns="91440" bIns="45720" rtlCol="0" anchor="ctr">
            <a:normAutofit/>
          </a:bodyPr>
          <a:lstStyle/>
          <a:p>
            <a:pPr algn="l">
              <a:lnSpc>
                <a:spcPct val="90000"/>
              </a:lnSpc>
            </a:pPr>
            <a:r>
              <a:rPr lang="en-US" sz="3100" b="1" kern="1200">
                <a:solidFill>
                  <a:schemeClr val="tx2"/>
                </a:solidFill>
                <a:latin typeface="+mj-lt"/>
                <a:ea typeface="+mj-ea"/>
                <a:cs typeface="+mj-cs"/>
              </a:rPr>
              <a:t>Chapter 15: Capturing learning from innovation</a:t>
            </a:r>
            <a:endParaRPr lang="en-US" sz="3100" kern="1200">
              <a:solidFill>
                <a:schemeClr val="tx2"/>
              </a:solidFill>
              <a:latin typeface="+mj-lt"/>
              <a:ea typeface="+mj-ea"/>
              <a:cs typeface="+mj-cs"/>
            </a:endParaRPr>
          </a:p>
        </p:txBody>
      </p:sp>
      <p:sp>
        <p:nvSpPr>
          <p:cNvPr id="5" name="Title 1"/>
          <p:cNvSpPr txBox="1">
            <a:spLocks/>
          </p:cNvSpPr>
          <p:nvPr/>
        </p:nvSpPr>
        <p:spPr>
          <a:xfrm>
            <a:off x="4629150" y="804672"/>
            <a:ext cx="3915918" cy="5230368"/>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sz="1600" b="1" u="none" strike="noStrike" cap="none" spc="0" normalizeH="0" baseline="0" noProof="0">
              <a:ln>
                <a:noFill/>
              </a:ln>
              <a:solidFill>
                <a:schemeClr val="tx2"/>
              </a:solidFill>
              <a:effectLst/>
              <a:uLnTx/>
              <a:uFillTx/>
            </a:endParaRPr>
          </a:p>
          <a:p>
            <a:pPr indent="-228600">
              <a:lnSpc>
                <a:spcPct val="90000"/>
              </a:lnSpc>
              <a:spcAft>
                <a:spcPts val="600"/>
              </a:spcAft>
              <a:buFont typeface="Arial" panose="020B0604020202020204" pitchFamily="34" charset="0"/>
              <a:buChar char="•"/>
            </a:pPr>
            <a:r>
              <a:rPr lang="en-US" sz="1600" i="1">
                <a:solidFill>
                  <a:schemeClr val="tx2"/>
                </a:solidFill>
              </a:rPr>
              <a:t> In the following PowerPoint slides you will find the key headings from </a:t>
            </a:r>
            <a:r>
              <a:rPr lang="en-US" sz="1600" b="1">
                <a:solidFill>
                  <a:schemeClr val="tx2"/>
                </a:solidFill>
              </a:rPr>
              <a:t>CHAPTER 15</a:t>
            </a:r>
            <a:r>
              <a:rPr lang="en-US" sz="1600" i="1">
                <a:solidFill>
                  <a:schemeClr val="tx2"/>
                </a:solidFill>
              </a:rPr>
              <a:t> together with the main illustrations, tables, etc.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sz="1600" i="1">
              <a:solidFill>
                <a:schemeClr val="tx2"/>
              </a:solidFill>
            </a:endParaRPr>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761768-3858-4B55-A983-E0B7B1409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3E51905-F374-4E1A-97CF-B741584B7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26280"/>
            <a:ext cx="3337098" cy="2331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10685A-6235-45A7-850D-A6F555466E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2530" y="702944"/>
            <a:ext cx="4026994" cy="5586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22C244-A23C-BC48-9B2B-9BAA57B5BA48}"/>
              </a:ext>
            </a:extLst>
          </p:cNvPr>
          <p:cNvSpPr>
            <a:spLocks noGrp="1"/>
          </p:cNvSpPr>
          <p:nvPr>
            <p:ph type="title"/>
          </p:nvPr>
        </p:nvSpPr>
        <p:spPr>
          <a:xfrm>
            <a:off x="762603" y="1345958"/>
            <a:ext cx="3144897" cy="4166085"/>
          </a:xfrm>
        </p:spPr>
        <p:txBody>
          <a:bodyPr>
            <a:normAutofit/>
          </a:bodyPr>
          <a:lstStyle/>
          <a:p>
            <a:r>
              <a:rPr lang="en-US" dirty="0"/>
              <a:t>Learning objectives</a:t>
            </a:r>
          </a:p>
        </p:txBody>
      </p:sp>
      <p:grpSp>
        <p:nvGrpSpPr>
          <p:cNvPr id="15" name="Group 14">
            <a:extLst>
              <a:ext uri="{FF2B5EF4-FFF2-40B4-BE49-F238E27FC236}">
                <a16:creationId xmlns:a16="http://schemas.microsoft.com/office/drawing/2014/main" id="{AB70F8CE-E82E-416C-9783-C495D90B9E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147" y="3048506"/>
            <a:ext cx="472714" cy="765242"/>
            <a:chOff x="45711" y="3048506"/>
            <a:chExt cx="630289" cy="765242"/>
          </a:xfrm>
        </p:grpSpPr>
        <p:sp>
          <p:nvSpPr>
            <p:cNvPr id="16" name="Rectangle 2">
              <a:extLst>
                <a:ext uri="{FF2B5EF4-FFF2-40B4-BE49-F238E27FC236}">
                  <a16:creationId xmlns:a16="http://schemas.microsoft.com/office/drawing/2014/main" id="{29A4BC2C-696B-4395-9400-045CDEEA3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59">
              <a:extLst>
                <a:ext uri="{FF2B5EF4-FFF2-40B4-BE49-F238E27FC236}">
                  <a16:creationId xmlns:a16="http://schemas.microsoft.com/office/drawing/2014/main" id="{260F70B9-87BD-4263-9F05-E90EA5889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62">
              <a:extLst>
                <a:ext uri="{FF2B5EF4-FFF2-40B4-BE49-F238E27FC236}">
                  <a16:creationId xmlns:a16="http://schemas.microsoft.com/office/drawing/2014/main" id="{032DDFCA-6EDF-4605-9349-8ED81B247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4">
              <a:extLst>
                <a:ext uri="{FF2B5EF4-FFF2-40B4-BE49-F238E27FC236}">
                  <a16:creationId xmlns:a16="http://schemas.microsoft.com/office/drawing/2014/main" id="{9361BA33-8989-4034-B3B2-3353D81F1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6">
              <a:extLst>
                <a:ext uri="{FF2B5EF4-FFF2-40B4-BE49-F238E27FC236}">
                  <a16:creationId xmlns:a16="http://schemas.microsoft.com/office/drawing/2014/main" id="{0418FE74-A99A-4EFE-A5EF-293657165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
              <a:extLst>
                <a:ext uri="{FF2B5EF4-FFF2-40B4-BE49-F238E27FC236}">
                  <a16:creationId xmlns:a16="http://schemas.microsoft.com/office/drawing/2014/main" id="{3860D389-B4A1-4C8D-B729-1FBAAF932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59">
              <a:extLst>
                <a:ext uri="{FF2B5EF4-FFF2-40B4-BE49-F238E27FC236}">
                  <a16:creationId xmlns:a16="http://schemas.microsoft.com/office/drawing/2014/main" id="{94EE628D-5F81-4593-A546-FE5341A4F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2">
              <a:extLst>
                <a:ext uri="{FF2B5EF4-FFF2-40B4-BE49-F238E27FC236}">
                  <a16:creationId xmlns:a16="http://schemas.microsoft.com/office/drawing/2014/main" id="{3F59FFE1-E919-4382-8B19-0F59E0CFD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C72A68C0-67B2-4059-B9FB-DAF2DE6C9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76E81708-DB09-4AC2-B02A-07394F8D2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
              <a:extLst>
                <a:ext uri="{FF2B5EF4-FFF2-40B4-BE49-F238E27FC236}">
                  <a16:creationId xmlns:a16="http://schemas.microsoft.com/office/drawing/2014/main" id="{9EE3BA06-C343-456D-B024-9F730A332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59">
              <a:extLst>
                <a:ext uri="{FF2B5EF4-FFF2-40B4-BE49-F238E27FC236}">
                  <a16:creationId xmlns:a16="http://schemas.microsoft.com/office/drawing/2014/main" id="{6CD71060-F14E-4990-8698-52DFE9C73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2">
              <a:extLst>
                <a:ext uri="{FF2B5EF4-FFF2-40B4-BE49-F238E27FC236}">
                  <a16:creationId xmlns:a16="http://schemas.microsoft.com/office/drawing/2014/main" id="{88D6FF31-8CBC-4EA6-886D-2798CFA58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4">
              <a:extLst>
                <a:ext uri="{FF2B5EF4-FFF2-40B4-BE49-F238E27FC236}">
                  <a16:creationId xmlns:a16="http://schemas.microsoft.com/office/drawing/2014/main" id="{8331D18D-CADD-4888-99CB-C76BDBF9F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6">
              <a:extLst>
                <a:ext uri="{FF2B5EF4-FFF2-40B4-BE49-F238E27FC236}">
                  <a16:creationId xmlns:a16="http://schemas.microsoft.com/office/drawing/2014/main" id="{CA52436E-27FC-4F19-97F2-1E1ABAA8C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
              <a:extLst>
                <a:ext uri="{FF2B5EF4-FFF2-40B4-BE49-F238E27FC236}">
                  <a16:creationId xmlns:a16="http://schemas.microsoft.com/office/drawing/2014/main" id="{7910BDE3-A3BE-43A9-9337-0B43549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59">
              <a:extLst>
                <a:ext uri="{FF2B5EF4-FFF2-40B4-BE49-F238E27FC236}">
                  <a16:creationId xmlns:a16="http://schemas.microsoft.com/office/drawing/2014/main" id="{B6EAAB17-E229-40D5-9D27-4FC5B49F6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2">
              <a:extLst>
                <a:ext uri="{FF2B5EF4-FFF2-40B4-BE49-F238E27FC236}">
                  <a16:creationId xmlns:a16="http://schemas.microsoft.com/office/drawing/2014/main" id="{EE364DC9-B9E3-4C68-B68C-ED16C8E58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53718762-3A1D-4B08-AA92-C57069D44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A0C820CF-BE9A-4275-84DC-80740E34E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
              <a:extLst>
                <a:ext uri="{FF2B5EF4-FFF2-40B4-BE49-F238E27FC236}">
                  <a16:creationId xmlns:a16="http://schemas.microsoft.com/office/drawing/2014/main" id="{11490484-3AE4-41A8-976F-26E4D4892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59">
              <a:extLst>
                <a:ext uri="{FF2B5EF4-FFF2-40B4-BE49-F238E27FC236}">
                  <a16:creationId xmlns:a16="http://schemas.microsoft.com/office/drawing/2014/main" id="{D5969311-8D34-4F15-BE5D-95F0B6EDC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2">
              <a:extLst>
                <a:ext uri="{FF2B5EF4-FFF2-40B4-BE49-F238E27FC236}">
                  <a16:creationId xmlns:a16="http://schemas.microsoft.com/office/drawing/2014/main" id="{B64A2B04-A2CC-4FE5-B1FD-B16A84A38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64">
              <a:extLst>
                <a:ext uri="{FF2B5EF4-FFF2-40B4-BE49-F238E27FC236}">
                  <a16:creationId xmlns:a16="http://schemas.microsoft.com/office/drawing/2014/main" id="{095AA4F0-534F-4A74-AA86-6A9EC993D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66">
              <a:extLst>
                <a:ext uri="{FF2B5EF4-FFF2-40B4-BE49-F238E27FC236}">
                  <a16:creationId xmlns:a16="http://schemas.microsoft.com/office/drawing/2014/main" id="{51B81732-52BB-4062-8A4A-3C477855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AD05EBBC-7ACA-49C8-871D-4D0EA11B8DB3}"/>
              </a:ext>
            </a:extLst>
          </p:cNvPr>
          <p:cNvGraphicFramePr>
            <a:graphicFrameLocks noGrp="1"/>
          </p:cNvGraphicFramePr>
          <p:nvPr>
            <p:ph idx="1"/>
            <p:extLst>
              <p:ext uri="{D42A27DB-BD31-4B8C-83A1-F6EECF244321}">
                <p14:modId xmlns:p14="http://schemas.microsoft.com/office/powerpoint/2010/main" val="1143534400"/>
              </p:ext>
            </p:extLst>
          </p:nvPr>
        </p:nvGraphicFramePr>
        <p:xfrm>
          <a:off x="4670298" y="749808"/>
          <a:ext cx="4025646" cy="5358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5938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1722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188640"/>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Core model of the process</a:t>
            </a:r>
            <a:endParaRPr lang="en-GB" sz="3600" b="1" dirty="0">
              <a:solidFill>
                <a:srgbClr val="008000"/>
              </a:solidFill>
            </a:endParaRPr>
          </a:p>
        </p:txBody>
      </p:sp>
      <p:cxnSp>
        <p:nvCxnSpPr>
          <p:cNvPr id="9" name="Straight Connector 8"/>
          <p:cNvCxnSpPr/>
          <p:nvPr/>
        </p:nvCxnSpPr>
        <p:spPr>
          <a:xfrm>
            <a:off x="395536" y="10527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8" name="Picture 7" descr="A picture containing diagram&#10;&#10;Description automatically generated">
            <a:extLst>
              <a:ext uri="{FF2B5EF4-FFF2-40B4-BE49-F238E27FC236}">
                <a16:creationId xmlns:a16="http://schemas.microsoft.com/office/drawing/2014/main" id="{C9665B19-E6F4-BA4F-8B00-C5196B95A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2042245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3746" y="303591"/>
            <a:ext cx="3251495"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F9651A-0F89-AC43-ADA0-AEC48593710E}"/>
              </a:ext>
            </a:extLst>
          </p:cNvPr>
          <p:cNvSpPr>
            <a:spLocks noGrp="1"/>
          </p:cNvSpPr>
          <p:nvPr>
            <p:ph type="title"/>
          </p:nvPr>
        </p:nvSpPr>
        <p:spPr>
          <a:xfrm>
            <a:off x="445770" y="637125"/>
            <a:ext cx="2851707" cy="5256371"/>
          </a:xfrm>
        </p:spPr>
        <p:txBody>
          <a:bodyPr>
            <a:normAutofit/>
          </a:bodyPr>
          <a:lstStyle/>
          <a:p>
            <a:r>
              <a:rPr lang="en-US" sz="4200"/>
              <a:t>Key themes</a:t>
            </a:r>
          </a:p>
        </p:txBody>
      </p:sp>
      <p:graphicFrame>
        <p:nvGraphicFramePr>
          <p:cNvPr id="5" name="Content Placeholder 2">
            <a:extLst>
              <a:ext uri="{FF2B5EF4-FFF2-40B4-BE49-F238E27FC236}">
                <a16:creationId xmlns:a16="http://schemas.microsoft.com/office/drawing/2014/main" id="{AA3E3C6B-17DA-4D04-8C4F-BB5623F7AF6D}"/>
              </a:ext>
            </a:extLst>
          </p:cNvPr>
          <p:cNvGraphicFramePr>
            <a:graphicFrameLocks noGrp="1"/>
          </p:cNvGraphicFramePr>
          <p:nvPr>
            <p:ph idx="1"/>
            <p:extLst>
              <p:ext uri="{D42A27DB-BD31-4B8C-83A1-F6EECF244321}">
                <p14:modId xmlns:p14="http://schemas.microsoft.com/office/powerpoint/2010/main" val="4045895240"/>
              </p:ext>
            </p:extLst>
          </p:nvPr>
        </p:nvGraphicFramePr>
        <p:xfrm>
          <a:off x="3875238" y="303591"/>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6432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3746" y="303591"/>
            <a:ext cx="3251495"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F2CB11-F48B-194C-B1E9-6CD21A1E7475}"/>
              </a:ext>
            </a:extLst>
          </p:cNvPr>
          <p:cNvSpPr>
            <a:spLocks noGrp="1"/>
          </p:cNvSpPr>
          <p:nvPr>
            <p:ph type="title"/>
          </p:nvPr>
        </p:nvSpPr>
        <p:spPr>
          <a:xfrm>
            <a:off x="445770" y="637125"/>
            <a:ext cx="2851707" cy="5256371"/>
          </a:xfrm>
        </p:spPr>
        <p:txBody>
          <a:bodyPr>
            <a:normAutofit/>
          </a:bodyPr>
          <a:lstStyle/>
          <a:p>
            <a:r>
              <a:rPr lang="en-US" sz="3900"/>
              <a:t>Successful innovation…</a:t>
            </a:r>
          </a:p>
        </p:txBody>
      </p:sp>
      <p:graphicFrame>
        <p:nvGraphicFramePr>
          <p:cNvPr id="5" name="Content Placeholder 2">
            <a:extLst>
              <a:ext uri="{FF2B5EF4-FFF2-40B4-BE49-F238E27FC236}">
                <a16:creationId xmlns:a16="http://schemas.microsoft.com/office/drawing/2014/main" id="{CA4EBB53-8C8D-48CA-B173-2D72DE51E514}"/>
              </a:ext>
            </a:extLst>
          </p:cNvPr>
          <p:cNvGraphicFramePr>
            <a:graphicFrameLocks noGrp="1"/>
          </p:cNvGraphicFramePr>
          <p:nvPr>
            <p:ph idx="1"/>
            <p:extLst>
              <p:ext uri="{D42A27DB-BD31-4B8C-83A1-F6EECF244321}">
                <p14:modId xmlns:p14="http://schemas.microsoft.com/office/powerpoint/2010/main" val="3560976765"/>
              </p:ext>
            </p:extLst>
          </p:nvPr>
        </p:nvGraphicFramePr>
        <p:xfrm>
          <a:off x="3875238" y="303591"/>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5380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207817" y="1198418"/>
            <a:ext cx="2899724"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Dynamic capability</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r>
              <a:rPr lang="en-US" sz="2400" dirty="0"/>
              <a:t>The ability to review and change the way innovation is managed. </a:t>
            </a:r>
          </a:p>
          <a:p>
            <a:pPr indent="-228600">
              <a:lnSpc>
                <a:spcPct val="90000"/>
              </a:lnSpc>
              <a:spcAft>
                <a:spcPts val="600"/>
              </a:spcAft>
              <a:buFont typeface="Arial" panose="020B0604020202020204" pitchFamily="34" charset="0"/>
              <a:buChar char="•"/>
            </a:pPr>
            <a:endParaRPr lang="en-US" dirty="0"/>
          </a:p>
        </p:txBody>
      </p:sp>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2565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207817" y="1153572"/>
            <a:ext cx="270760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Learning to manage innovation</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600"/>
              </a:spcAft>
              <a:buFont typeface="Arial" panose="020B0604020202020204" pitchFamily="34" charset="0"/>
              <a:buChar char="•"/>
            </a:pPr>
            <a:r>
              <a:rPr lang="en-US" dirty="0"/>
              <a:t>We need to:</a:t>
            </a:r>
          </a:p>
          <a:p>
            <a:pPr lvl="0" indent="-228600">
              <a:lnSpc>
                <a:spcPct val="90000"/>
              </a:lnSpc>
              <a:spcAft>
                <a:spcPts val="600"/>
              </a:spcAft>
              <a:buFont typeface="Arial" panose="020B0604020202020204" pitchFamily="34" charset="0"/>
              <a:buChar char="•"/>
            </a:pPr>
            <a:endParaRPr lang="en-US" dirty="0"/>
          </a:p>
          <a:p>
            <a:pPr marL="457200" lvl="0" indent="-228600">
              <a:lnSpc>
                <a:spcPct val="90000"/>
              </a:lnSpc>
              <a:spcAft>
                <a:spcPts val="600"/>
              </a:spcAft>
              <a:buFont typeface="Arial" panose="020B0604020202020204" pitchFamily="34" charset="0"/>
              <a:buChar char="•"/>
            </a:pPr>
            <a:r>
              <a:rPr lang="en-US" dirty="0"/>
              <a:t>capture and reflect on our experiences, trying to distil patterns from them about what does and does not work </a:t>
            </a:r>
          </a:p>
          <a:p>
            <a:pPr marL="457200" lvl="0" indent="-228600">
              <a:lnSpc>
                <a:spcPct val="90000"/>
              </a:lnSpc>
              <a:spcAft>
                <a:spcPts val="600"/>
              </a:spcAft>
              <a:buFont typeface="Arial" panose="020B0604020202020204" pitchFamily="34" charset="0"/>
              <a:buChar char="•"/>
            </a:pPr>
            <a:r>
              <a:rPr lang="en-US" dirty="0"/>
              <a:t>create models of how the world works (concepts) and link these to those we already have </a:t>
            </a:r>
          </a:p>
          <a:p>
            <a:pPr marL="457200" lvl="0" indent="-228600">
              <a:lnSpc>
                <a:spcPct val="90000"/>
              </a:lnSpc>
              <a:spcAft>
                <a:spcPts val="600"/>
              </a:spcAft>
              <a:buFont typeface="Arial" panose="020B0604020202020204" pitchFamily="34" charset="0"/>
              <a:buChar char="•"/>
            </a:pPr>
            <a:r>
              <a:rPr lang="en-US" dirty="0"/>
              <a:t>use our revised models to engage again in innovation – trying new things out. </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 </a:t>
            </a:r>
          </a:p>
        </p:txBody>
      </p:sp>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2617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37350" y="28089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Kolb’s learning cycle</a:t>
            </a:r>
            <a:endParaRPr lang="en-GB" sz="3600" b="1" dirty="0">
              <a:solidFill>
                <a:srgbClr val="008000"/>
              </a:solidFill>
            </a:endParaRPr>
          </a:p>
        </p:txBody>
      </p:sp>
      <p:pic>
        <p:nvPicPr>
          <p:cNvPr id="2" name="Picture 1" descr="Screen Shot 2015-07-10 at 08.41.05.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5656" y="1988840"/>
            <a:ext cx="6094463" cy="3960440"/>
          </a:xfrm>
          <a:prstGeom prst="rect">
            <a:avLst/>
          </a:prstGeom>
        </p:spPr>
      </p:pic>
    </p:spTree>
    <p:extLst>
      <p:ext uri="{BB962C8B-B14F-4D97-AF65-F5344CB8AC3E}">
        <p14:creationId xmlns:p14="http://schemas.microsoft.com/office/powerpoint/2010/main" val="95747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Aids to learning</a:t>
            </a:r>
            <a:endParaRPr lang="en-GB" sz="3600" b="1" dirty="0">
              <a:solidFill>
                <a:srgbClr val="008000"/>
              </a:solidFill>
            </a:endParaRPr>
          </a:p>
        </p:txBody>
      </p:sp>
      <p:sp>
        <p:nvSpPr>
          <p:cNvPr id="9" name="Rectangle 8"/>
          <p:cNvSpPr/>
          <p:nvPr/>
        </p:nvSpPr>
        <p:spPr>
          <a:xfrm>
            <a:off x="417847" y="1369651"/>
            <a:ext cx="8518336" cy="5386089"/>
          </a:xfrm>
          <a:prstGeom prst="rect">
            <a:avLst/>
          </a:prstGeom>
        </p:spPr>
        <p:txBody>
          <a:bodyPr wrap="square">
            <a:spAutoFit/>
          </a:bodyPr>
          <a:lstStyle/>
          <a:p>
            <a:pPr marL="457200" indent="-457200">
              <a:buFont typeface="Arial"/>
              <a:buChar char="•"/>
            </a:pPr>
            <a:r>
              <a:rPr lang="en-US" sz="2800" dirty="0"/>
              <a:t> </a:t>
            </a:r>
            <a:r>
              <a:rPr lang="en-US" sz="2400" dirty="0"/>
              <a:t>Rather than simply stepping back for a reflective pause we could employ some structured question frameworks. And we could ask others to help us in the process, acting as critical and challenging partners to help us learn. </a:t>
            </a:r>
          </a:p>
          <a:p>
            <a:pPr marL="457200" indent="-457200">
              <a:buFont typeface="Arial"/>
              <a:buChar char="•"/>
            </a:pPr>
            <a:endParaRPr lang="en-GB" sz="2400" dirty="0"/>
          </a:p>
          <a:p>
            <a:pPr marL="457200" lvl="0" indent="-457200">
              <a:buFont typeface="Arial"/>
              <a:buChar char="•"/>
            </a:pPr>
            <a:r>
              <a:rPr lang="en-US" sz="2400" dirty="0"/>
              <a:t>We can develop our own concepts, but we can also use, adapt and try out new ideas developed elsewhere. The ‘theory’ of innovation has emerged from many experiences codified into a rich body of knowledge and this is available to draw upon. We don’t have to reinvent the wheel. </a:t>
            </a:r>
          </a:p>
          <a:p>
            <a:pPr marL="457200" lvl="0" indent="-457200">
              <a:buFont typeface="Arial"/>
              <a:buChar char="•"/>
            </a:pPr>
            <a:endParaRPr lang="en-GB" sz="2400" dirty="0"/>
          </a:p>
          <a:p>
            <a:pPr marL="457200" lvl="0" indent="-457200">
              <a:buFont typeface="Arial"/>
              <a:buChar char="•"/>
            </a:pPr>
            <a:r>
              <a:rPr lang="en-US" sz="2400" dirty="0"/>
              <a:t>Similarly, we don’t have to make all the mistakes ourselves. We can learn from other’s experiences </a:t>
            </a:r>
            <a:endParaRPr lang="en-GB" sz="2400" dirty="0"/>
          </a:p>
          <a:p>
            <a:endParaRPr lang="en-GB" sz="2800" dirty="0"/>
          </a:p>
        </p:txBody>
      </p:sp>
    </p:spTree>
    <p:extLst>
      <p:ext uri="{BB962C8B-B14F-4D97-AF65-F5344CB8AC3E}">
        <p14:creationId xmlns:p14="http://schemas.microsoft.com/office/powerpoint/2010/main" val="2502003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6" name="Content Placeholder 2">
            <a:extLst>
              <a:ext uri="{FF2B5EF4-FFF2-40B4-BE49-F238E27FC236}">
                <a16:creationId xmlns:a16="http://schemas.microsoft.com/office/drawing/2014/main" id="{ECB6412A-FB27-4A5A-AD20-984A35CB5ECC}"/>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Straight Connector 3"/>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332656"/>
            <a:ext cx="6814948"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rPr>
              <a:t>The value of failure</a:t>
            </a:r>
          </a:p>
        </p:txBody>
      </p:sp>
      <p:pic>
        <p:nvPicPr>
          <p:cNvPr id="59394" name="Picture 2" descr="Image result for failure"/>
          <p:cNvPicPr>
            <a:picLocks noChangeAspect="1" noChangeArrowheads="1"/>
          </p:cNvPicPr>
          <p:nvPr/>
        </p:nvPicPr>
        <p:blipFill>
          <a:blip r:embed="rId7" cstate="print"/>
          <a:srcRect/>
          <a:stretch>
            <a:fillRect/>
          </a:stretch>
        </p:blipFill>
        <p:spPr bwMode="auto">
          <a:xfrm>
            <a:off x="6660232" y="5659608"/>
            <a:ext cx="1872208" cy="1170130"/>
          </a:xfrm>
          <a:prstGeom prst="rect">
            <a:avLst/>
          </a:prstGeom>
          <a:noFill/>
        </p:spPr>
      </p:pic>
    </p:spTree>
    <p:extLst>
      <p:ext uri="{BB962C8B-B14F-4D97-AF65-F5344CB8AC3E}">
        <p14:creationId xmlns:p14="http://schemas.microsoft.com/office/powerpoint/2010/main" val="6548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75066E-2A49-3B49-8BFA-7C1289E997DD}"/>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Approaches to enable learning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B685557-C6E5-ED44-988A-110E64B9CFF4}"/>
              </a:ext>
            </a:extLst>
          </p:cNvPr>
          <p:cNvSpPr>
            <a:spLocks noGrp="1"/>
          </p:cNvSpPr>
          <p:nvPr>
            <p:ph idx="1"/>
          </p:nvPr>
        </p:nvSpPr>
        <p:spPr>
          <a:xfrm>
            <a:off x="3335481" y="591344"/>
            <a:ext cx="5179868" cy="5585619"/>
          </a:xfrm>
        </p:spPr>
        <p:txBody>
          <a:bodyPr anchor="ctr">
            <a:normAutofit/>
          </a:bodyPr>
          <a:lstStyle/>
          <a:p>
            <a:r>
              <a:rPr lang="en-US" dirty="0"/>
              <a:t>Post-project reviews</a:t>
            </a:r>
          </a:p>
          <a:p>
            <a:r>
              <a:rPr lang="en-US" dirty="0"/>
              <a:t>Procedural learning</a:t>
            </a:r>
          </a:p>
          <a:p>
            <a:r>
              <a:rPr lang="en-US" dirty="0"/>
              <a:t>Agile innovation</a:t>
            </a:r>
          </a:p>
          <a:p>
            <a:r>
              <a:rPr lang="en-US" dirty="0"/>
              <a:t>Benchmarking</a:t>
            </a:r>
          </a:p>
          <a:p>
            <a:r>
              <a:rPr lang="en-US" dirty="0"/>
              <a:t>Capability/maturity models</a:t>
            </a:r>
          </a:p>
          <a:p>
            <a:r>
              <a:rPr lang="en-US" dirty="0"/>
              <a:t>Innovation auditing</a:t>
            </a:r>
          </a:p>
        </p:txBody>
      </p:sp>
    </p:spTree>
    <p:extLst>
      <p:ext uri="{BB962C8B-B14F-4D97-AF65-F5344CB8AC3E}">
        <p14:creationId xmlns:p14="http://schemas.microsoft.com/office/powerpoint/2010/main" val="3155481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E2F7A-FAAC-9C4C-9FCC-150B272CCAF8}"/>
              </a:ext>
            </a:extLst>
          </p:cNvPr>
          <p:cNvSpPr>
            <a:spLocks noGrp="1"/>
          </p:cNvSpPr>
          <p:nvPr>
            <p:ph type="title"/>
          </p:nvPr>
        </p:nvSpPr>
        <p:spPr/>
        <p:txBody>
          <a:bodyPr/>
          <a:lstStyle/>
          <a:p>
            <a:r>
              <a:rPr lang="en-US" dirty="0"/>
              <a:t>Core framework for reflection</a:t>
            </a:r>
          </a:p>
        </p:txBody>
      </p:sp>
      <p:pic>
        <p:nvPicPr>
          <p:cNvPr id="4" name="Picture 3" descr="Screen Shot 2015-07-10 at 08.39.41.png">
            <a:extLst>
              <a:ext uri="{FF2B5EF4-FFF2-40B4-BE49-F238E27FC236}">
                <a16:creationId xmlns:a16="http://schemas.microsoft.com/office/drawing/2014/main" id="{7655CCE1-A886-1846-B934-F2E2D35FBD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200" y="1405503"/>
            <a:ext cx="8737600" cy="4826000"/>
          </a:xfrm>
          <a:prstGeom prst="rect">
            <a:avLst/>
          </a:prstGeom>
        </p:spPr>
      </p:pic>
      <p:pic>
        <p:nvPicPr>
          <p:cNvPr id="5" name="Picture 4" descr="A picture containing diagram&#10;&#10;Description automatically generated">
            <a:extLst>
              <a:ext uri="{FF2B5EF4-FFF2-40B4-BE49-F238E27FC236}">
                <a16:creationId xmlns:a16="http://schemas.microsoft.com/office/drawing/2014/main" id="{DBC3D4F1-32BA-FF4D-A424-E920D30532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2122160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47F80-22B1-4F45-886D-3A5666BCAE79}"/>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The Innovation Fitness Test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605DB6-5CE7-4E48-AE93-C7B6A143647B}"/>
              </a:ext>
            </a:extLst>
          </p:cNvPr>
          <p:cNvSpPr>
            <a:spLocks noGrp="1"/>
          </p:cNvSpPr>
          <p:nvPr>
            <p:ph idx="1"/>
          </p:nvPr>
        </p:nvSpPr>
        <p:spPr>
          <a:xfrm>
            <a:off x="3335481" y="591344"/>
            <a:ext cx="5179868" cy="5585619"/>
          </a:xfrm>
        </p:spPr>
        <p:txBody>
          <a:bodyPr anchor="ctr">
            <a:normAutofit/>
          </a:bodyPr>
          <a:lstStyle/>
          <a:p>
            <a:r>
              <a:rPr lang="en-US" dirty="0"/>
              <a:t>Offers a framework of questions to explore these issues</a:t>
            </a:r>
          </a:p>
          <a:p>
            <a:r>
              <a:rPr lang="en-US" dirty="0"/>
              <a:t>What do low scores mean?</a:t>
            </a:r>
          </a:p>
          <a:p>
            <a:r>
              <a:rPr lang="en-US" dirty="0"/>
              <a:t>What can be done  improve performance in these areas?</a:t>
            </a:r>
          </a:p>
          <a:p>
            <a:r>
              <a:rPr lang="en-US" dirty="0"/>
              <a:t>Offers opportunities for learning from others and ‘splicing’ in useful routines</a:t>
            </a:r>
          </a:p>
        </p:txBody>
      </p:sp>
    </p:spTree>
    <p:extLst>
      <p:ext uri="{BB962C8B-B14F-4D97-AF65-F5344CB8AC3E}">
        <p14:creationId xmlns:p14="http://schemas.microsoft.com/office/powerpoint/2010/main" val="3815770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08.55.12.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400" y="1466687"/>
            <a:ext cx="8572500" cy="5029200"/>
          </a:xfrm>
          <a:prstGeom prst="rect">
            <a:avLst/>
          </a:prstGeom>
        </p:spPr>
      </p:pic>
      <p:sp>
        <p:nvSpPr>
          <p:cNvPr id="6" name="Title 1"/>
          <p:cNvSpPr txBox="1">
            <a:spLocks/>
          </p:cNvSpPr>
          <p:nvPr/>
        </p:nvSpPr>
        <p:spPr>
          <a:xfrm>
            <a:off x="755576" y="18864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Audit frameworks to help reflect and learn</a:t>
            </a:r>
            <a:endParaRPr lang="en-GB" sz="3600" b="1" dirty="0">
              <a:solidFill>
                <a:srgbClr val="008000"/>
              </a:solidFill>
            </a:endParaRPr>
          </a:p>
        </p:txBody>
      </p:sp>
      <p:cxnSp>
        <p:nvCxnSpPr>
          <p:cNvPr id="8" name="Straight Connector 7"/>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72F9FC7-DD29-FB4E-BAAC-2664149C8DA5}"/>
              </a:ext>
            </a:extLst>
          </p:cNvPr>
          <p:cNvSpPr txBox="1"/>
          <p:nvPr/>
        </p:nvSpPr>
        <p:spPr>
          <a:xfrm>
            <a:off x="611560" y="1628800"/>
            <a:ext cx="1152128" cy="369332"/>
          </a:xfrm>
          <a:prstGeom prst="rect">
            <a:avLst/>
          </a:prstGeom>
          <a:solidFill>
            <a:schemeClr val="accent5">
              <a:lumMod val="60000"/>
              <a:lumOff val="40000"/>
            </a:schemeClr>
          </a:solidFill>
        </p:spPr>
        <p:txBody>
          <a:bodyPr wrap="square" rtlCol="0">
            <a:spAutoFit/>
          </a:bodyPr>
          <a:lstStyle/>
          <a:p>
            <a:endParaRPr lang="en-US" dirty="0"/>
          </a:p>
        </p:txBody>
      </p:sp>
    </p:spTree>
    <p:extLst>
      <p:ext uri="{BB962C8B-B14F-4D97-AF65-F5344CB8AC3E}">
        <p14:creationId xmlns:p14="http://schemas.microsoft.com/office/powerpoint/2010/main" val="3706956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Success routines</a:t>
            </a:r>
            <a:endParaRPr lang="en-GB" sz="3600" b="1" dirty="0">
              <a:solidFill>
                <a:srgbClr val="008000"/>
              </a:solidFill>
            </a:endParaRPr>
          </a:p>
        </p:txBody>
      </p:sp>
      <p:pic>
        <p:nvPicPr>
          <p:cNvPr id="2" name="Picture 1" descr="Screen Shot 2015-04-12 at 11.01.18.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150" y="1581150"/>
            <a:ext cx="7159321" cy="5276850"/>
          </a:xfrm>
          <a:prstGeom prst="rect">
            <a:avLst/>
          </a:prstGeom>
        </p:spPr>
      </p:pic>
    </p:spTree>
    <p:extLst>
      <p:ext uri="{BB962C8B-B14F-4D97-AF65-F5344CB8AC3E}">
        <p14:creationId xmlns:p14="http://schemas.microsoft.com/office/powerpoint/2010/main" val="3357723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A clear </a:t>
            </a:r>
            <a:r>
              <a:rPr lang="en-US" dirty="0">
                <a:solidFill>
                  <a:schemeClr val="tx1">
                    <a:lumMod val="50000"/>
                    <a:lumOff val="50000"/>
                  </a:schemeClr>
                </a:solidFill>
              </a:rPr>
              <a:t>roadmap for change</a:t>
            </a:r>
          </a:p>
          <a:p>
            <a:r>
              <a:rPr lang="en-US" dirty="0"/>
              <a:t>Does the innovation we are considering help us reach the strategic goals (for growth, market share, profit margin – or changing the world in some way through creating social value, etc.) which we have set ourselves? </a:t>
            </a:r>
          </a:p>
          <a:p>
            <a:r>
              <a:rPr lang="en-US" dirty="0"/>
              <a:t>Do we know enough about this to pull it off (or if not do we have a clear idea of how we would get hold of and integrate such knowledge)? </a:t>
            </a:r>
          </a:p>
          <a:p>
            <a:endParaRPr lang="en-US" dirty="0"/>
          </a:p>
        </p:txBody>
      </p:sp>
      <p:cxnSp>
        <p:nvCxnSpPr>
          <p:cNvPr id="4" name="Straight Connector 3"/>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260648"/>
            <a:ext cx="6814948"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rPr>
              <a:t>Innovation strategy</a:t>
            </a:r>
          </a:p>
        </p:txBody>
      </p:sp>
    </p:spTree>
    <p:extLst>
      <p:ext uri="{BB962C8B-B14F-4D97-AF65-F5344CB8AC3E}">
        <p14:creationId xmlns:p14="http://schemas.microsoft.com/office/powerpoint/2010/main" val="1603199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260648"/>
            <a:ext cx="75524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Components of an innovative organization</a:t>
            </a:r>
            <a:endParaRPr lang="en-GB" sz="3600" b="1" dirty="0">
              <a:solidFill>
                <a:srgbClr val="008000"/>
              </a:solidFill>
              <a:latin typeface="+mj-lt"/>
              <a:ea typeface="+mj-ea"/>
              <a:cs typeface="+mj-cs"/>
            </a:endParaRPr>
          </a:p>
        </p:txBody>
      </p:sp>
      <p:sp>
        <p:nvSpPr>
          <p:cNvPr id="4" name="Content Placeholder 3"/>
          <p:cNvSpPr>
            <a:spLocks noGrp="1"/>
          </p:cNvSpPr>
          <p:nvPr>
            <p:ph idx="1"/>
          </p:nvPr>
        </p:nvSpPr>
        <p:spPr/>
        <p:txBody>
          <a:bodyPr/>
          <a:lstStyle/>
          <a:p>
            <a:pPr marL="0" indent="0">
              <a:buNone/>
            </a:pPr>
            <a:r>
              <a:rPr lang="en-US" b="1" dirty="0"/>
              <a:t>• </a:t>
            </a:r>
            <a:r>
              <a:rPr lang="en-US" dirty="0"/>
              <a:t>shared vision, leadership and the will to innovate </a:t>
            </a:r>
          </a:p>
          <a:p>
            <a:pPr marL="0" indent="0">
              <a:buNone/>
            </a:pPr>
            <a:r>
              <a:rPr lang="en-US" b="1" dirty="0"/>
              <a:t>• </a:t>
            </a:r>
            <a:r>
              <a:rPr lang="en-US" dirty="0"/>
              <a:t>appropriate structure</a:t>
            </a:r>
            <a:br>
              <a:rPr lang="en-US" dirty="0"/>
            </a:br>
            <a:r>
              <a:rPr lang="en-US" b="1" dirty="0"/>
              <a:t>• </a:t>
            </a:r>
            <a:r>
              <a:rPr lang="en-US" dirty="0"/>
              <a:t>identifying and supporting key individuals</a:t>
            </a:r>
            <a:br>
              <a:rPr lang="en-US" dirty="0"/>
            </a:br>
            <a:r>
              <a:rPr lang="en-US" b="1" dirty="0"/>
              <a:t>• </a:t>
            </a:r>
            <a:r>
              <a:rPr lang="en-US" dirty="0"/>
              <a:t>effective team working </a:t>
            </a:r>
          </a:p>
          <a:p>
            <a:pPr marL="0" indent="0">
              <a:buNone/>
            </a:pPr>
            <a:r>
              <a:rPr lang="en-US" b="1" dirty="0"/>
              <a:t>• </a:t>
            </a:r>
            <a:r>
              <a:rPr lang="en-US" dirty="0"/>
              <a:t>high involvement innovation </a:t>
            </a:r>
          </a:p>
          <a:p>
            <a:pPr marL="0" indent="0">
              <a:buNone/>
            </a:pPr>
            <a:r>
              <a:rPr lang="en-US" b="1" dirty="0"/>
              <a:t>• </a:t>
            </a:r>
            <a:r>
              <a:rPr lang="en-US" dirty="0"/>
              <a:t>creative climate</a:t>
            </a:r>
            <a:br>
              <a:rPr lang="en-US" dirty="0"/>
            </a:br>
            <a:r>
              <a:rPr lang="en-US" b="1" dirty="0"/>
              <a:t>• </a:t>
            </a:r>
            <a:r>
              <a:rPr lang="en-US" dirty="0"/>
              <a:t>external focus. </a:t>
            </a:r>
          </a:p>
          <a:p>
            <a:endParaRPr lang="en-US" dirty="0"/>
          </a:p>
        </p:txBody>
      </p:sp>
    </p:spTree>
    <p:extLst>
      <p:ext uri="{BB962C8B-B14F-4D97-AF65-F5344CB8AC3E}">
        <p14:creationId xmlns:p14="http://schemas.microsoft.com/office/powerpoint/2010/main" val="2816747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4B2AC-1F86-CF4F-AC3F-9A2F08944040}"/>
              </a:ext>
            </a:extLst>
          </p:cNvPr>
          <p:cNvSpPr>
            <a:spLocks noGrp="1"/>
          </p:cNvSpPr>
          <p:nvPr>
            <p:ph type="title"/>
          </p:nvPr>
        </p:nvSpPr>
        <p:spPr/>
        <p:txBody>
          <a:bodyPr/>
          <a:lstStyle/>
          <a:p>
            <a:r>
              <a:rPr lang="en-US" dirty="0"/>
              <a:t>Measuring innovation</a:t>
            </a:r>
          </a:p>
        </p:txBody>
      </p:sp>
      <p:pic>
        <p:nvPicPr>
          <p:cNvPr id="5" name="Picture 4" descr="Diagram&#10;&#10;Description automatically generated">
            <a:extLst>
              <a:ext uri="{FF2B5EF4-FFF2-40B4-BE49-F238E27FC236}">
                <a16:creationId xmlns:a16="http://schemas.microsoft.com/office/drawing/2014/main" id="{473935F1-0310-EF4C-AECA-D726CB611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1628800"/>
            <a:ext cx="6997700" cy="4432300"/>
          </a:xfrm>
          <a:prstGeom prst="rect">
            <a:avLst/>
          </a:prstGeom>
        </p:spPr>
      </p:pic>
    </p:spTree>
    <p:extLst>
      <p:ext uri="{BB962C8B-B14F-4D97-AF65-F5344CB8AC3E}">
        <p14:creationId xmlns:p14="http://schemas.microsoft.com/office/powerpoint/2010/main" val="2664222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99592" y="332656"/>
            <a:ext cx="716409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Developing innovation management capability</a:t>
            </a:r>
            <a:endParaRPr lang="en-GB" sz="3600" b="1" dirty="0">
              <a:solidFill>
                <a:srgbClr val="008000"/>
              </a:solidFill>
              <a:latin typeface="+mj-lt"/>
              <a:ea typeface="+mj-ea"/>
              <a:cs typeface="+mj-cs"/>
            </a:endParaRPr>
          </a:p>
        </p:txBody>
      </p:sp>
      <p:cxnSp>
        <p:nvCxnSpPr>
          <p:cNvPr id="8" name="Straight Connector 7"/>
          <p:cNvCxnSpPr/>
          <p:nvPr/>
        </p:nvCxnSpPr>
        <p:spPr>
          <a:xfrm>
            <a:off x="395536" y="141277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3" name="Picture 2" descr="Timeline&#10;&#10;Description automatically generated">
            <a:extLst>
              <a:ext uri="{FF2B5EF4-FFF2-40B4-BE49-F238E27FC236}">
                <a16:creationId xmlns:a16="http://schemas.microsoft.com/office/drawing/2014/main" id="{2EA55DCA-6146-4F48-B204-E5538ADF11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1572307"/>
            <a:ext cx="7866784" cy="5086108"/>
          </a:xfrm>
          <a:prstGeom prst="rect">
            <a:avLst/>
          </a:prstGeom>
        </p:spPr>
      </p:pic>
    </p:spTree>
    <p:extLst>
      <p:ext uri="{BB962C8B-B14F-4D97-AF65-F5344CB8AC3E}">
        <p14:creationId xmlns:p14="http://schemas.microsoft.com/office/powerpoint/2010/main" val="3140050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207817" y="1153572"/>
            <a:ext cx="270760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Challenges and need to develop capability</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dirty="0"/>
              <a:t>open innovation and the changing landscape for searching</a:t>
            </a:r>
          </a:p>
          <a:p>
            <a:pPr indent="-228600">
              <a:lnSpc>
                <a:spcPct val="90000"/>
              </a:lnSpc>
            </a:pPr>
            <a:r>
              <a:rPr lang="en-US" sz="1800" dirty="0"/>
              <a:t>user innovation and the growing importance of active stakeholder involvement in innovation </a:t>
            </a:r>
          </a:p>
          <a:p>
            <a:pPr indent="-228600">
              <a:lnSpc>
                <a:spcPct val="90000"/>
              </a:lnSpc>
            </a:pPr>
            <a:r>
              <a:rPr lang="en-US" sz="1800" dirty="0"/>
              <a:t>discontinuous innovation – learning to cope when the underlying rules of the game are changing </a:t>
            </a:r>
          </a:p>
          <a:p>
            <a:pPr indent="-228600">
              <a:lnSpc>
                <a:spcPct val="90000"/>
              </a:lnSpc>
            </a:pPr>
            <a:r>
              <a:rPr lang="en-US" sz="1800" dirty="0"/>
              <a:t>developing and emerging economies and the way the innovation game is changing as these places become the central focus for economic and social growth </a:t>
            </a:r>
          </a:p>
          <a:p>
            <a:pPr indent="-228600">
              <a:lnSpc>
                <a:spcPct val="90000"/>
              </a:lnSpc>
            </a:pPr>
            <a:r>
              <a:rPr lang="en-US" sz="1800" dirty="0"/>
              <a:t>social innovation – where the core motivation for change becomes improving well-being </a:t>
            </a:r>
          </a:p>
          <a:p>
            <a:pPr indent="-228600">
              <a:lnSpc>
                <a:spcPct val="90000"/>
              </a:lnSpc>
            </a:pPr>
            <a:r>
              <a:rPr lang="en-US" sz="1800" dirty="0"/>
              <a:t>sustainability-led innovation – where the question of how we deal with the resource, energy and environmental challenges of living on the planet take centre stage.</a:t>
            </a:r>
          </a:p>
          <a:p>
            <a:pPr indent="-228600">
              <a:lnSpc>
                <a:spcPct val="90000"/>
              </a:lnSpc>
            </a:pPr>
            <a:endParaRPr lang="en-US" sz="1800" dirty="0"/>
          </a:p>
          <a:p>
            <a:pPr indent="-228600">
              <a:lnSpc>
                <a:spcPct val="90000"/>
              </a:lnSpc>
            </a:pPr>
            <a:endParaRPr lang="en-US" sz="1800" dirty="0"/>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2646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AD99E-2A62-9B4D-9680-7437790BC0D4}"/>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0E6329B-05D8-124B-985B-9A314F967595}"/>
              </a:ext>
            </a:extLst>
          </p:cNvPr>
          <p:cNvSpPr>
            <a:spLocks noGrp="1"/>
          </p:cNvSpPr>
          <p:nvPr>
            <p:ph idx="1"/>
          </p:nvPr>
        </p:nvSpPr>
        <p:spPr>
          <a:xfrm>
            <a:off x="3335481" y="591344"/>
            <a:ext cx="5179868" cy="5585619"/>
          </a:xfrm>
        </p:spPr>
        <p:txBody>
          <a:bodyPr anchor="ctr">
            <a:normAutofit/>
          </a:bodyPr>
          <a:lstStyle/>
          <a:p>
            <a:r>
              <a:rPr lang="en-US" sz="3000" dirty="0"/>
              <a:t>Wherever innovation happens – big firm, small firm, start-up business, social enterprise – one thing is clear: successful innovation won’t happen simply by wishing for it. This complex and risky process of transforming ideas into things which make a mark needs organizing and managing in strategic fashion. </a:t>
            </a:r>
            <a:endParaRPr lang="en-GB" sz="3000" dirty="0"/>
          </a:p>
          <a:p>
            <a:endParaRPr lang="en-US" sz="3000" dirty="0"/>
          </a:p>
        </p:txBody>
      </p:sp>
    </p:spTree>
    <p:extLst>
      <p:ext uri="{BB962C8B-B14F-4D97-AF65-F5344CB8AC3E}">
        <p14:creationId xmlns:p14="http://schemas.microsoft.com/office/powerpoint/2010/main" val="700684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4B1F7-0DC7-4E48-A22B-44263961233D}"/>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C7E9922-169B-624A-8D16-6A6A4C5AEB21}"/>
              </a:ext>
            </a:extLst>
          </p:cNvPr>
          <p:cNvSpPr>
            <a:spLocks noGrp="1"/>
          </p:cNvSpPr>
          <p:nvPr>
            <p:ph idx="1"/>
          </p:nvPr>
        </p:nvSpPr>
        <p:spPr>
          <a:xfrm>
            <a:off x="3335481" y="591344"/>
            <a:ext cx="5179868" cy="5585619"/>
          </a:xfrm>
        </p:spPr>
        <p:txBody>
          <a:bodyPr anchor="ctr">
            <a:normAutofit fontScale="85000" lnSpcReduction="20000"/>
          </a:bodyPr>
          <a:lstStyle/>
          <a:p>
            <a:pPr>
              <a:lnSpc>
                <a:spcPct val="90000"/>
              </a:lnSpc>
            </a:pPr>
            <a:r>
              <a:rPr lang="en-GB" sz="2000" dirty="0"/>
              <a:t>A wide range of structures, tools and techniques exist for helping think about and manage the core elements of the innovation process. The challenge is to adapt and use them in a particular context – essentially a learning process.</a:t>
            </a:r>
          </a:p>
          <a:p>
            <a:pPr>
              <a:lnSpc>
                <a:spcPct val="90000"/>
              </a:lnSpc>
            </a:pPr>
            <a:endParaRPr lang="en-GB" sz="2000" dirty="0"/>
          </a:p>
          <a:p>
            <a:pPr>
              <a:lnSpc>
                <a:spcPct val="90000"/>
              </a:lnSpc>
            </a:pPr>
            <a:r>
              <a:rPr lang="en-GB" sz="2000" dirty="0"/>
              <a:t>The major requirement is for a commitment to undertake such learning, but it can also be enabled by the use of tools and reflection aids. In particular, the chapter looks at various approaches to innovation auditing and offers some templates for reviewing and developing capability across the process as a whole and in particular key areas.</a:t>
            </a:r>
          </a:p>
          <a:p>
            <a:pPr>
              <a:lnSpc>
                <a:spcPct val="90000"/>
              </a:lnSpc>
            </a:pPr>
            <a:endParaRPr lang="en-GB" sz="2000" dirty="0"/>
          </a:p>
          <a:p>
            <a:pPr>
              <a:lnSpc>
                <a:spcPct val="90000"/>
              </a:lnSpc>
            </a:pPr>
            <a:r>
              <a:rPr lang="en-GB" sz="2000" dirty="0"/>
              <a:t>At the heart of such audit approaches are some key questions:</a:t>
            </a:r>
          </a:p>
          <a:p>
            <a:pPr lvl="1">
              <a:lnSpc>
                <a:spcPct val="90000"/>
              </a:lnSpc>
            </a:pPr>
            <a:r>
              <a:rPr lang="en-GB" sz="2000" dirty="0"/>
              <a:t>Do we have a clear process for making innovation happen and effective enabling mechanisms to support it?</a:t>
            </a:r>
          </a:p>
          <a:p>
            <a:pPr lvl="1">
              <a:lnSpc>
                <a:spcPct val="90000"/>
              </a:lnSpc>
            </a:pPr>
            <a:r>
              <a:rPr lang="en-GB" sz="2000" dirty="0"/>
              <a:t>Do we have a clear sense of shared strategic purpose and do we use this to guide our innovative activities?</a:t>
            </a:r>
          </a:p>
          <a:p>
            <a:pPr lvl="1">
              <a:lnSpc>
                <a:spcPct val="90000"/>
              </a:lnSpc>
            </a:pPr>
            <a:r>
              <a:rPr lang="en-GB" sz="2000" dirty="0"/>
              <a:t>Do we have a supportive organization whose structures and systems enable people to be creative and share and build on each other’s creative ideas?</a:t>
            </a:r>
          </a:p>
          <a:p>
            <a:pPr lvl="1">
              <a:lnSpc>
                <a:spcPct val="90000"/>
              </a:lnSpc>
            </a:pPr>
            <a:r>
              <a:rPr lang="en-GB" sz="2000" dirty="0"/>
              <a:t>Do we build and extend our networks for innovation into a rich open innovation system?</a:t>
            </a:r>
          </a:p>
          <a:p>
            <a:pPr>
              <a:lnSpc>
                <a:spcPct val="90000"/>
              </a:lnSpc>
            </a:pPr>
            <a:endParaRPr lang="en-US" sz="900" dirty="0"/>
          </a:p>
        </p:txBody>
      </p:sp>
    </p:spTree>
    <p:extLst>
      <p:ext uri="{BB962C8B-B14F-4D97-AF65-F5344CB8AC3E}">
        <p14:creationId xmlns:p14="http://schemas.microsoft.com/office/powerpoint/2010/main" val="4092530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a:lnSpc>
                <a:spcPct val="90000"/>
              </a:lnSpc>
            </a:pPr>
            <a:r>
              <a:rPr lang="en-US" sz="2400" dirty="0"/>
              <a:t>There are several videos which can help explore and present the key themes of the chapter:</a:t>
            </a:r>
          </a:p>
          <a:p>
            <a:pPr>
              <a:lnSpc>
                <a:spcPct val="90000"/>
              </a:lnSpc>
            </a:pPr>
            <a:r>
              <a:rPr lang="en-US" sz="2400" dirty="0">
                <a:hlinkClick r:id="rId4"/>
              </a:rPr>
              <a:t>Learning and building capability</a:t>
            </a:r>
            <a:endParaRPr lang="en-US" sz="2400" dirty="0"/>
          </a:p>
          <a:p>
            <a:pPr>
              <a:lnSpc>
                <a:spcPct val="90000"/>
              </a:lnSpc>
            </a:pPr>
            <a:r>
              <a:rPr lang="en-GB" sz="2400" dirty="0">
                <a:hlinkClick r:id="rId5"/>
              </a:rPr>
              <a:t>Interviews with practising innovation managers</a:t>
            </a:r>
            <a:endParaRPr lang="en-GB" sz="2400" dirty="0"/>
          </a:p>
          <a:p>
            <a:pPr>
              <a:lnSpc>
                <a:spcPct val="90000"/>
              </a:lnSpc>
            </a:pPr>
            <a:r>
              <a:rPr lang="en-US" sz="2400" dirty="0">
                <a:hlinkClick r:id="rId6"/>
              </a:rPr>
              <a:t>Frontiers in innovation management </a:t>
            </a:r>
            <a:r>
              <a:rPr lang="en-US" sz="2400" dirty="0"/>
              <a:t>– interview with John Bessant on future challenges</a:t>
            </a:r>
          </a:p>
        </p:txBody>
      </p:sp>
    </p:spTree>
    <p:extLst>
      <p:ext uri="{BB962C8B-B14F-4D97-AF65-F5344CB8AC3E}">
        <p14:creationId xmlns:p14="http://schemas.microsoft.com/office/powerpoint/2010/main" val="3775114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D62DED-65BE-F743-82C4-293CB2EC2A86}"/>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40F9218-6946-F042-994A-A6F099EC69E1}"/>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a:t>Astro Teller’s TED Talk, ‘The unexpected benefit of celebrating failure’</a:t>
            </a:r>
            <a:endParaRPr lang="en-US" sz="3000">
              <a:hlinkClick r:id="rId2"/>
            </a:endParaRPr>
          </a:p>
          <a:p>
            <a:pPr>
              <a:lnSpc>
                <a:spcPct val="90000"/>
              </a:lnSpc>
              <a:buNone/>
            </a:pPr>
            <a:r>
              <a:rPr lang="en-US" sz="3000">
                <a:hlinkClick r:id="rId2"/>
              </a:rPr>
              <a:t>https://www.ted.com/talks/astro_teller_the_unexpected_benefit_of_celebrating_failure</a:t>
            </a:r>
            <a:endParaRPr lang="en-US" sz="3000"/>
          </a:p>
          <a:p>
            <a:pPr>
              <a:lnSpc>
                <a:spcPct val="90000"/>
              </a:lnSpc>
            </a:pPr>
            <a:r>
              <a:rPr lang="en-GB" sz="3000">
                <a:hlinkClick r:id="rId3"/>
              </a:rPr>
              <a:t>David Teece discussing Dynamic Capabilities </a:t>
            </a:r>
            <a:r>
              <a:rPr lang="en-GB" sz="3000"/>
              <a:t>and Strategic Management</a:t>
            </a:r>
          </a:p>
          <a:p>
            <a:pPr>
              <a:lnSpc>
                <a:spcPct val="90000"/>
              </a:lnSpc>
            </a:pPr>
            <a:r>
              <a:rPr lang="en-US" sz="3000"/>
              <a:t>And </a:t>
            </a:r>
            <a:r>
              <a:rPr lang="en-US" sz="3000">
                <a:hlinkClick r:id="rId4"/>
              </a:rPr>
              <a:t>a sideways look at dynamic capability </a:t>
            </a:r>
            <a:r>
              <a:rPr lang="en-US" sz="3000"/>
              <a:t>from John Bessant</a:t>
            </a:r>
          </a:p>
        </p:txBody>
      </p:sp>
    </p:spTree>
    <p:extLst>
      <p:ext uri="{BB962C8B-B14F-4D97-AF65-F5344CB8AC3E}">
        <p14:creationId xmlns:p14="http://schemas.microsoft.com/office/powerpoint/2010/main" val="1525359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FD6348-349F-0D44-B4A6-70D38F1E6E30}"/>
              </a:ext>
            </a:extLst>
          </p:cNvPr>
          <p:cNvSpPr>
            <a:spLocks noGrp="1"/>
          </p:cNvSpPr>
          <p:nvPr>
            <p:ph type="title"/>
          </p:nvPr>
        </p:nvSpPr>
        <p:spPr>
          <a:xfrm>
            <a:off x="515125" y="1153572"/>
            <a:ext cx="2400300" cy="4461163"/>
          </a:xfrm>
        </p:spPr>
        <p:txBody>
          <a:bodyPr>
            <a:normAutofit/>
          </a:bodyPr>
          <a:lstStyle/>
          <a:p>
            <a:r>
              <a:rPr lang="en-US">
                <a:solidFill>
                  <a:srgbClr val="FFFFFF"/>
                </a:solidFill>
              </a:rPr>
              <a:t>Podcasts and blogs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C6DC6F3-4F7A-3748-9963-4C4FB3516692}"/>
              </a:ext>
            </a:extLst>
          </p:cNvPr>
          <p:cNvSpPr>
            <a:spLocks noGrp="1"/>
          </p:cNvSpPr>
          <p:nvPr>
            <p:ph idx="1"/>
          </p:nvPr>
        </p:nvSpPr>
        <p:spPr>
          <a:xfrm>
            <a:off x="3335481" y="591344"/>
            <a:ext cx="5179868" cy="5585619"/>
          </a:xfrm>
        </p:spPr>
        <p:txBody>
          <a:bodyPr anchor="ctr">
            <a:normAutofit/>
          </a:bodyPr>
          <a:lstStyle/>
          <a:p>
            <a:pPr marL="0" indent="0">
              <a:buNone/>
            </a:pPr>
            <a:r>
              <a:rPr lang="en-US" sz="2000" dirty="0"/>
              <a:t>There are several </a:t>
            </a:r>
            <a:r>
              <a:rPr lang="en-US" sz="2000" dirty="0">
                <a:hlinkClick r:id="rId2"/>
              </a:rPr>
              <a:t>podcasts here </a:t>
            </a:r>
            <a:r>
              <a:rPr lang="en-US" sz="2000" dirty="0"/>
              <a:t>and </a:t>
            </a:r>
            <a:r>
              <a:rPr lang="en-US" sz="2000" dirty="0">
                <a:hlinkClick r:id="rId3"/>
              </a:rPr>
              <a:t>blogs here </a:t>
            </a:r>
            <a:r>
              <a:rPr lang="en-US" sz="2000" dirty="0"/>
              <a:t>which pick up themes in the chapter.  These include:</a:t>
            </a:r>
          </a:p>
          <a:p>
            <a:pPr marL="0" indent="0">
              <a:buNone/>
            </a:pPr>
            <a:endParaRPr lang="en-US" sz="2000" dirty="0"/>
          </a:p>
          <a:p>
            <a:r>
              <a:rPr lang="en-US" sz="2000" dirty="0"/>
              <a:t>Cultures of innovation</a:t>
            </a:r>
          </a:p>
          <a:p>
            <a:r>
              <a:rPr lang="en-US" sz="2000" dirty="0"/>
              <a:t>Crisis-driven innovation</a:t>
            </a:r>
          </a:p>
          <a:p>
            <a:r>
              <a:rPr lang="en-US" sz="2000" dirty="0"/>
              <a:t>If at first you don’t succeed…</a:t>
            </a:r>
          </a:p>
          <a:p>
            <a:r>
              <a:rPr lang="en-US" sz="2000" dirty="0"/>
              <a:t>Getting fit for innovation</a:t>
            </a:r>
          </a:p>
          <a:p>
            <a:r>
              <a:rPr lang="en-US" sz="2000" dirty="0"/>
              <a:t>Some lessons from the ‘Hundred Club’</a:t>
            </a:r>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24026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85ADE7-D71A-A34D-B927-E45D20B4BFB2}"/>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2AF4452-1658-9B47-B551-0FC82F712B22}"/>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1500" dirty="0"/>
              <a:t>There are several case studies which pick up themes raised in the chapter – </a:t>
            </a:r>
            <a:r>
              <a:rPr lang="en-GB" sz="1500" dirty="0">
                <a:hlinkClick r:id="rId2"/>
              </a:rPr>
              <a:t>you can find them here.</a:t>
            </a:r>
            <a:endParaRPr lang="en-GB" sz="1500" dirty="0"/>
          </a:p>
          <a:p>
            <a:pPr>
              <a:lnSpc>
                <a:spcPct val="90000"/>
              </a:lnSpc>
            </a:pPr>
            <a:endParaRPr lang="en-GB" sz="1500" dirty="0"/>
          </a:p>
          <a:p>
            <a:pPr marL="0" indent="0">
              <a:lnSpc>
                <a:spcPct val="90000"/>
              </a:lnSpc>
              <a:buNone/>
            </a:pPr>
            <a:r>
              <a:rPr lang="en-GB" sz="1500" dirty="0"/>
              <a:t>In particular:</a:t>
            </a:r>
          </a:p>
          <a:p>
            <a:pPr>
              <a:lnSpc>
                <a:spcPct val="90000"/>
              </a:lnSpc>
            </a:pPr>
            <a:r>
              <a:rPr lang="en-GB" sz="1500" dirty="0"/>
              <a:t>Benchmarking in the automobile industry – shows how systematic comparison enabled learning and capability development around the emergent model of ‘lean manufacturing’</a:t>
            </a:r>
          </a:p>
          <a:p>
            <a:pPr>
              <a:lnSpc>
                <a:spcPct val="90000"/>
              </a:lnSpc>
            </a:pPr>
            <a:r>
              <a:rPr lang="en-GB" sz="1500" dirty="0"/>
              <a:t>Coloplast – detailed case showing how a company used an audit approach to review and build innovation capability</a:t>
            </a:r>
          </a:p>
          <a:p>
            <a:pPr>
              <a:lnSpc>
                <a:spcPct val="90000"/>
              </a:lnSpc>
            </a:pPr>
            <a:r>
              <a:rPr lang="en-GB" sz="1500" dirty="0"/>
              <a:t>Hella – another in depth example applying the framework used in this chapter</a:t>
            </a:r>
          </a:p>
          <a:p>
            <a:pPr>
              <a:lnSpc>
                <a:spcPct val="90000"/>
              </a:lnSpc>
            </a:pPr>
            <a:r>
              <a:rPr lang="en-GB" sz="1500" dirty="0"/>
              <a:t>3M, Kao, Corning and </a:t>
            </a:r>
            <a:r>
              <a:rPr lang="en-GB" sz="1500" dirty="0" err="1"/>
              <a:t>Electroco</a:t>
            </a:r>
            <a:r>
              <a:rPr lang="en-GB" sz="1500" dirty="0"/>
              <a:t> mapped against the chapter framework for reviewing innovation management</a:t>
            </a:r>
          </a:p>
          <a:p>
            <a:pPr>
              <a:lnSpc>
                <a:spcPct val="90000"/>
              </a:lnSpc>
            </a:pPr>
            <a:r>
              <a:rPr lang="en-GB" sz="1500" dirty="0"/>
              <a:t>Cerulean and its use of an audit approach to assess creativity within the organization</a:t>
            </a:r>
          </a:p>
          <a:p>
            <a:pPr>
              <a:lnSpc>
                <a:spcPct val="90000"/>
              </a:lnSpc>
            </a:pPr>
            <a:r>
              <a:rPr lang="en-GB" sz="1500" dirty="0">
                <a:hlinkClick r:id="rId3"/>
              </a:rPr>
              <a:t>More than just lu</a:t>
            </a:r>
            <a:r>
              <a:rPr lang="en-GB" sz="1500" dirty="0"/>
              <a:t>ck – a review of how well agencies in the humanitarian field mange the process</a:t>
            </a:r>
          </a:p>
          <a:p>
            <a:pPr>
              <a:lnSpc>
                <a:spcPct val="90000"/>
              </a:lnSpc>
            </a:pPr>
            <a:endParaRPr lang="en-US" sz="1500" dirty="0"/>
          </a:p>
        </p:txBody>
      </p:sp>
    </p:spTree>
    <p:extLst>
      <p:ext uri="{BB962C8B-B14F-4D97-AF65-F5344CB8AC3E}">
        <p14:creationId xmlns:p14="http://schemas.microsoft.com/office/powerpoint/2010/main" val="1832774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45C065-883B-4148-A93E-308E5EC0F501}"/>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97F9F12-EC09-4442-B68F-2F2FA490BC30}"/>
              </a:ext>
            </a:extLst>
          </p:cNvPr>
          <p:cNvSpPr>
            <a:spLocks noGrp="1"/>
          </p:cNvSpPr>
          <p:nvPr>
            <p:ph idx="1"/>
          </p:nvPr>
        </p:nvSpPr>
        <p:spPr>
          <a:xfrm>
            <a:off x="3335481" y="591344"/>
            <a:ext cx="5179868" cy="5585619"/>
          </a:xfrm>
        </p:spPr>
        <p:txBody>
          <a:bodyPr anchor="ctr">
            <a:normAutofit/>
          </a:bodyPr>
          <a:lstStyle/>
          <a:p>
            <a:pPr marL="0" indent="0">
              <a:buNone/>
            </a:pPr>
            <a:r>
              <a:rPr lang="en-US" sz="2000" dirty="0"/>
              <a:t>There are several activities designed to help explore themes raised in the chapter.  You can </a:t>
            </a:r>
            <a:r>
              <a:rPr lang="en-US" sz="2000" dirty="0">
                <a:hlinkClick r:id="rId2"/>
              </a:rPr>
              <a:t>find a full list here.</a:t>
            </a:r>
            <a:endParaRPr lang="en-US" sz="2000" dirty="0"/>
          </a:p>
          <a:p>
            <a:pPr marL="0" indent="0">
              <a:buNone/>
            </a:pPr>
            <a:r>
              <a:rPr lang="en-US" sz="2000" dirty="0"/>
              <a:t>In particular:</a:t>
            </a:r>
          </a:p>
          <a:p>
            <a:r>
              <a:rPr lang="en-GB" sz="2000" dirty="0"/>
              <a:t>Sector innovation patterns</a:t>
            </a:r>
          </a:p>
          <a:p>
            <a:r>
              <a:rPr lang="en-GB" sz="2000" dirty="0"/>
              <a:t>The way we do things round here</a:t>
            </a:r>
          </a:p>
          <a:p>
            <a:r>
              <a:rPr lang="en-GB" sz="2000" dirty="0"/>
              <a:t>Success and failure in innovation</a:t>
            </a:r>
          </a:p>
          <a:p>
            <a:r>
              <a:rPr lang="en-GB" sz="2000" dirty="0"/>
              <a:t>Identifying innovation capabilities</a:t>
            </a:r>
          </a:p>
          <a:p>
            <a:r>
              <a:rPr lang="en-GB" sz="2000" dirty="0"/>
              <a:t>Innovation fitness test</a:t>
            </a:r>
          </a:p>
          <a:p>
            <a:r>
              <a:rPr lang="en-GB" sz="2000" dirty="0"/>
              <a:t>Innovation management project</a:t>
            </a:r>
          </a:p>
          <a:p>
            <a:endParaRPr lang="en-GB" sz="2000" dirty="0"/>
          </a:p>
          <a:p>
            <a:endParaRPr lang="en-US" sz="2000" dirty="0"/>
          </a:p>
          <a:p>
            <a:endParaRPr lang="en-US" sz="2000" dirty="0"/>
          </a:p>
        </p:txBody>
      </p:sp>
    </p:spTree>
    <p:extLst>
      <p:ext uri="{BB962C8B-B14F-4D97-AF65-F5344CB8AC3E}">
        <p14:creationId xmlns:p14="http://schemas.microsoft.com/office/powerpoint/2010/main" val="987328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71876B-29A1-7E4C-B177-30A83BD9D024}"/>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Innovation fitness review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EE3F0C5-467A-3842-91C0-D36BA0C43B71}"/>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Ask students to research an organization and try and assess how well it manages innovation using the </a:t>
            </a:r>
            <a:r>
              <a:rPr lang="en-US" sz="2700" dirty="0">
                <a:hlinkClick r:id="rId2"/>
              </a:rPr>
              <a:t>framework offered in the Innovation Fitness Test</a:t>
            </a:r>
            <a:r>
              <a:rPr lang="en-US" sz="2700" dirty="0"/>
              <a:t>.  They should prepare a presentation summarizing their analysis and recommendations.</a:t>
            </a:r>
            <a:endParaRPr lang="en-GB" sz="2700" dirty="0"/>
          </a:p>
          <a:p>
            <a:pPr>
              <a:lnSpc>
                <a:spcPct val="90000"/>
              </a:lnSpc>
            </a:pPr>
            <a:r>
              <a:rPr lang="en-US" sz="2700" dirty="0"/>
              <a:t> </a:t>
            </a:r>
            <a:endParaRPr lang="en-GB" sz="2700" dirty="0"/>
          </a:p>
          <a:p>
            <a:pPr>
              <a:lnSpc>
                <a:spcPct val="90000"/>
              </a:lnSpc>
            </a:pPr>
            <a:endParaRPr lang="en-US" sz="2700" dirty="0"/>
          </a:p>
        </p:txBody>
      </p:sp>
    </p:spTree>
    <p:extLst>
      <p:ext uri="{BB962C8B-B14F-4D97-AF65-F5344CB8AC3E}">
        <p14:creationId xmlns:p14="http://schemas.microsoft.com/office/powerpoint/2010/main" val="52470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BCB80F-CC91-F446-81B5-67948846B887}"/>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92F376D-E47D-6647-844F-576CC58BAAE3}"/>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500" dirty="0"/>
              <a:t>Using one of the innovation audits on the website review a case of an organisation and develop a perspective on how well you think they manage innovation?  Why? And where do they need to concentrate their development efforts to enhance their capability for the future?</a:t>
            </a:r>
          </a:p>
          <a:p>
            <a:pPr marL="0" indent="0">
              <a:lnSpc>
                <a:spcPct val="90000"/>
              </a:lnSpc>
              <a:buNone/>
            </a:pPr>
            <a:r>
              <a:rPr lang="en-GB" sz="2500" dirty="0"/>
              <a:t> </a:t>
            </a:r>
          </a:p>
          <a:p>
            <a:pPr marL="0" indent="0">
              <a:lnSpc>
                <a:spcPct val="90000"/>
              </a:lnSpc>
              <a:buNone/>
            </a:pPr>
            <a:r>
              <a:rPr lang="en-GB" sz="2500" dirty="0"/>
              <a:t>(</a:t>
            </a:r>
            <a:r>
              <a:rPr lang="en-GB" sz="2500" dirty="0">
                <a:hlinkClick r:id="rId2"/>
              </a:rPr>
              <a:t>If you need a case to focus on there are several on the website </a:t>
            </a:r>
            <a:r>
              <a:rPr lang="en-GB" sz="2500" dirty="0"/>
              <a:t>– for example, Corning, Hella, Marshalls, Coloplast). </a:t>
            </a:r>
            <a:endParaRPr lang="en-US" sz="2500" dirty="0"/>
          </a:p>
        </p:txBody>
      </p:sp>
    </p:spTree>
    <p:extLst>
      <p:ext uri="{BB962C8B-B14F-4D97-AF65-F5344CB8AC3E}">
        <p14:creationId xmlns:p14="http://schemas.microsoft.com/office/powerpoint/2010/main" val="3417936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41BC27-98EF-0B4C-8B56-15DF47CCDA0B}"/>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Activity: The ‘hundred club’</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9672044-7A78-8249-A12A-9D78ADA834B9}"/>
              </a:ext>
            </a:extLst>
          </p:cNvPr>
          <p:cNvSpPr>
            <a:spLocks noGrp="1"/>
          </p:cNvSpPr>
          <p:nvPr>
            <p:ph idx="1"/>
          </p:nvPr>
        </p:nvSpPr>
        <p:spPr>
          <a:xfrm>
            <a:off x="3335481" y="591344"/>
            <a:ext cx="5179868" cy="5585619"/>
          </a:xfrm>
        </p:spPr>
        <p:txBody>
          <a:bodyPr anchor="ctr">
            <a:normAutofit fontScale="92500" lnSpcReduction="20000"/>
          </a:bodyPr>
          <a:lstStyle/>
          <a:p>
            <a:pPr marL="0" indent="0">
              <a:lnSpc>
                <a:spcPct val="90000"/>
              </a:lnSpc>
              <a:buNone/>
            </a:pPr>
            <a:r>
              <a:rPr lang="en-GB" sz="2700" dirty="0"/>
              <a:t>Carry out a critical review of the ways in which the 3M organization manages innovation.  Some frameworks for this have been developed throughout the book, and the ‘innovation audit’ frameworks on the website provide a structured aid.  Use this review to argue whether or not you think 3M will still be around for another hundred years?</a:t>
            </a:r>
          </a:p>
          <a:p>
            <a:pPr marL="0" indent="0">
              <a:lnSpc>
                <a:spcPct val="90000"/>
              </a:lnSpc>
              <a:buNone/>
            </a:pPr>
            <a:r>
              <a:rPr lang="en-GB" sz="2700" dirty="0"/>
              <a:t> </a:t>
            </a:r>
          </a:p>
          <a:p>
            <a:pPr marL="0" indent="0">
              <a:lnSpc>
                <a:spcPct val="90000"/>
              </a:lnSpc>
              <a:buNone/>
            </a:pPr>
            <a:r>
              <a:rPr lang="en-GB" sz="2700" dirty="0"/>
              <a:t>You can pick any other examples of organizations which have been around for over 100 years – since they clearly have developed some effective innovation routines</a:t>
            </a:r>
          </a:p>
          <a:p>
            <a:pPr marL="0" indent="0">
              <a:lnSpc>
                <a:spcPct val="90000"/>
              </a:lnSpc>
              <a:buNone/>
            </a:pPr>
            <a:endParaRPr lang="en-GB" sz="2700" dirty="0"/>
          </a:p>
          <a:p>
            <a:pPr marL="0" indent="0">
              <a:lnSpc>
                <a:spcPct val="90000"/>
              </a:lnSpc>
              <a:buNone/>
            </a:pPr>
            <a:r>
              <a:rPr lang="en-GB" sz="2700" dirty="0"/>
              <a:t>This can be an individual reflection or a group review and presentation </a:t>
            </a:r>
          </a:p>
          <a:p>
            <a:pPr>
              <a:lnSpc>
                <a:spcPct val="90000"/>
              </a:lnSpc>
            </a:pPr>
            <a:endParaRPr lang="en-US" sz="2700" dirty="0"/>
          </a:p>
        </p:txBody>
      </p:sp>
    </p:spTree>
    <p:extLst>
      <p:ext uri="{BB962C8B-B14F-4D97-AF65-F5344CB8AC3E}">
        <p14:creationId xmlns:p14="http://schemas.microsoft.com/office/powerpoint/2010/main" val="323014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5D46DD0A-91E5-4042-8D22-85B0A98DA6AA}"/>
              </a:ext>
            </a:extLst>
          </p:cNvPr>
          <p:cNvSpPr>
            <a:spLocks noGrp="1"/>
          </p:cNvSpPr>
          <p:nvPr>
            <p:ph type="title"/>
          </p:nvPr>
        </p:nvSpPr>
        <p:spPr>
          <a:xfrm>
            <a:off x="515125" y="1153572"/>
            <a:ext cx="2400300" cy="4461163"/>
          </a:xfrm>
        </p:spPr>
        <p:txBody>
          <a:bodyPr>
            <a:normAutofit/>
          </a:bodyPr>
          <a:lstStyle/>
          <a:p>
            <a:r>
              <a:rPr lang="en-US" sz="4000" dirty="0">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p>
        </p:txBody>
      </p:sp>
      <p:sp>
        <p:nvSpPr>
          <p:cNvPr id="3" name="Content Placeholder 2">
            <a:extLst>
              <a:ext uri="{FF2B5EF4-FFF2-40B4-BE49-F238E27FC236}">
                <a16:creationId xmlns:a16="http://schemas.microsoft.com/office/drawing/2014/main" id="{CE3CCF37-036F-E946-964C-436849BBB744}"/>
              </a:ext>
            </a:extLst>
          </p:cNvPr>
          <p:cNvSpPr>
            <a:spLocks noGrp="1"/>
          </p:cNvSpPr>
          <p:nvPr>
            <p:ph idx="1"/>
          </p:nvPr>
        </p:nvSpPr>
        <p:spPr>
          <a:xfrm>
            <a:off x="3125454" y="591343"/>
            <a:ext cx="6016260" cy="5585619"/>
          </a:xfrm>
        </p:spPr>
        <p:txBody>
          <a:bodyPr anchor="ctr">
            <a:noAutofit/>
          </a:bodyPr>
          <a:lstStyle/>
          <a:p>
            <a:pPr marL="0" indent="0">
              <a:lnSpc>
                <a:spcPct val="90000"/>
              </a:lnSpc>
              <a:buNone/>
            </a:pPr>
            <a:r>
              <a:rPr lang="en-GB" sz="1600" dirty="0">
                <a:hlinkClick r:id="rId2"/>
              </a:rPr>
              <a:t>These are all available here</a:t>
            </a:r>
            <a:endParaRPr lang="en-GB" sz="1600" dirty="0"/>
          </a:p>
          <a:p>
            <a:pPr>
              <a:lnSpc>
                <a:spcPct val="90000"/>
              </a:lnSpc>
            </a:pPr>
            <a:endParaRPr lang="en-GB" sz="1600" dirty="0"/>
          </a:p>
          <a:p>
            <a:pPr>
              <a:lnSpc>
                <a:spcPct val="90000"/>
              </a:lnSpc>
            </a:pPr>
            <a:r>
              <a:rPr lang="en-GB" sz="1600" dirty="0"/>
              <a:t>Post-project reviews</a:t>
            </a:r>
          </a:p>
          <a:p>
            <a:pPr>
              <a:lnSpc>
                <a:spcPct val="90000"/>
              </a:lnSpc>
            </a:pPr>
            <a:r>
              <a:rPr lang="en-GB" sz="1600" dirty="0"/>
              <a:t>Benchmarking</a:t>
            </a:r>
          </a:p>
          <a:p>
            <a:pPr>
              <a:lnSpc>
                <a:spcPct val="90000"/>
              </a:lnSpc>
            </a:pPr>
            <a:r>
              <a:rPr lang="en-GB" sz="1600" dirty="0"/>
              <a:t>Agile innovation/lean start-up</a:t>
            </a:r>
          </a:p>
          <a:p>
            <a:pPr>
              <a:lnSpc>
                <a:spcPct val="90000"/>
              </a:lnSpc>
            </a:pPr>
            <a:r>
              <a:rPr lang="en-GB" sz="1600" dirty="0"/>
              <a:t>Audit frameworks</a:t>
            </a:r>
          </a:p>
          <a:p>
            <a:pPr lvl="1">
              <a:lnSpc>
                <a:spcPct val="90000"/>
              </a:lnSpc>
            </a:pPr>
            <a:r>
              <a:rPr lang="en-GB" sz="1600" dirty="0"/>
              <a:t>Innovation fitness test – framework for assessing how well an organization manages innovation?</a:t>
            </a:r>
          </a:p>
          <a:p>
            <a:pPr lvl="1">
              <a:lnSpc>
                <a:spcPct val="90000"/>
              </a:lnSpc>
            </a:pPr>
            <a:r>
              <a:rPr lang="en-GB" sz="1600" dirty="0"/>
              <a:t>Service innovation (STARS) framework – how well do we manage service innovation?</a:t>
            </a:r>
          </a:p>
          <a:p>
            <a:pPr lvl="1">
              <a:lnSpc>
                <a:spcPct val="90000"/>
              </a:lnSpc>
            </a:pPr>
            <a:r>
              <a:rPr lang="en-GB" sz="1600" dirty="0"/>
              <a:t>Entrepreneurs checklist - simple reflection framework to help assess capability at start-up phase for new ventures</a:t>
            </a:r>
          </a:p>
          <a:p>
            <a:pPr lvl="1">
              <a:lnSpc>
                <a:spcPct val="90000"/>
              </a:lnSpc>
            </a:pPr>
            <a:r>
              <a:rPr lang="en-GB" sz="1600" dirty="0"/>
              <a:t>High-involvement innovation maturity audit – tool for assessing how well employees are engaged in innovation?</a:t>
            </a:r>
          </a:p>
          <a:p>
            <a:pPr lvl="1">
              <a:lnSpc>
                <a:spcPct val="90000"/>
              </a:lnSpc>
            </a:pPr>
            <a:r>
              <a:rPr lang="en-GB" sz="1600" dirty="0"/>
              <a:t>Discontinuous innovation audit – framework similar to Innovation Fitness Test exploring how well do an organization manages discontinuous innovation</a:t>
            </a:r>
          </a:p>
          <a:p>
            <a:pPr lvl="1">
              <a:lnSpc>
                <a:spcPct val="90000"/>
              </a:lnSpc>
            </a:pPr>
            <a:r>
              <a:rPr lang="en-GB" sz="1600" dirty="0"/>
              <a:t>Search strategies audit – framework to assess how widely an organization searches in an open-innovation world</a:t>
            </a:r>
          </a:p>
          <a:p>
            <a:pPr lvl="1">
              <a:lnSpc>
                <a:spcPct val="90000"/>
              </a:lnSpc>
            </a:pPr>
            <a:r>
              <a:rPr lang="en-GB" sz="1600" dirty="0"/>
              <a:t>Absorptive capacity review – framework to explore how well placed an organization is to exploit external knowledge</a:t>
            </a:r>
          </a:p>
          <a:p>
            <a:pPr lvl="1">
              <a:lnSpc>
                <a:spcPct val="90000"/>
              </a:lnSpc>
            </a:pPr>
            <a:r>
              <a:rPr lang="en-GB" sz="1600" dirty="0"/>
              <a:t>Creative climate – how to assess the organization</a:t>
            </a:r>
          </a:p>
          <a:p>
            <a:pPr>
              <a:lnSpc>
                <a:spcPct val="90000"/>
              </a:lnSpc>
            </a:pPr>
            <a:r>
              <a:rPr lang="en-GB" sz="1600" dirty="0"/>
              <a:t>The KEYS approach</a:t>
            </a:r>
          </a:p>
          <a:p>
            <a:pPr>
              <a:lnSpc>
                <a:spcPct val="90000"/>
              </a:lnSpc>
            </a:pPr>
            <a:r>
              <a:rPr lang="en-GB" sz="1600" dirty="0" err="1"/>
              <a:t>Ekvall’s</a:t>
            </a:r>
            <a:r>
              <a:rPr lang="en-GB" sz="1600" dirty="0"/>
              <a:t> climate survey</a:t>
            </a:r>
          </a:p>
          <a:p>
            <a:pPr>
              <a:lnSpc>
                <a:spcPct val="90000"/>
              </a:lnSpc>
            </a:pPr>
            <a:endParaRPr lang="en-US" sz="1600" dirty="0"/>
          </a:p>
        </p:txBody>
      </p:sp>
    </p:spTree>
    <p:extLst>
      <p:ext uri="{BB962C8B-B14F-4D97-AF65-F5344CB8AC3E}">
        <p14:creationId xmlns:p14="http://schemas.microsoft.com/office/powerpoint/2010/main" val="2806197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47B82E-F314-2648-8C49-68AADB0BCAAA}"/>
              </a:ext>
            </a:extLst>
          </p:cNvPr>
          <p:cNvSpPr>
            <a:spLocks noGrp="1"/>
          </p:cNvSpPr>
          <p:nvPr>
            <p:ph type="title"/>
          </p:nvPr>
        </p:nvSpPr>
        <p:spPr>
          <a:xfrm>
            <a:off x="515125" y="1153572"/>
            <a:ext cx="2400300" cy="4461163"/>
          </a:xfrm>
        </p:spPr>
        <p:txBody>
          <a:bodyPr>
            <a:normAutofit/>
          </a:bodyPr>
          <a:lstStyle/>
          <a:p>
            <a:r>
              <a:rPr lang="en-US" sz="3400" dirty="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E367A3E-C2F4-F646-937E-96529F43CC3E}"/>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500"/>
              <a:t>1.	Is innovation manageable – or just a random, gambling process?  If it is manageable, what factors are important?</a:t>
            </a:r>
          </a:p>
          <a:p>
            <a:pPr marL="0" indent="0">
              <a:lnSpc>
                <a:spcPct val="90000"/>
              </a:lnSpc>
              <a:buNone/>
            </a:pPr>
            <a:endParaRPr lang="en-GB" sz="2500"/>
          </a:p>
          <a:p>
            <a:pPr marL="0" indent="0">
              <a:lnSpc>
                <a:spcPct val="90000"/>
              </a:lnSpc>
              <a:buNone/>
            </a:pPr>
            <a:r>
              <a:rPr lang="en-GB" sz="2500"/>
              <a:t>2.	What lessons can we derive from studies of innovation success and failure about key principles on which to focus management attention?</a:t>
            </a:r>
          </a:p>
          <a:p>
            <a:pPr marL="0" indent="0">
              <a:lnSpc>
                <a:spcPct val="90000"/>
              </a:lnSpc>
              <a:buNone/>
            </a:pPr>
            <a:endParaRPr lang="en-GB" sz="2500"/>
          </a:p>
          <a:p>
            <a:pPr marL="0" indent="0">
              <a:lnSpc>
                <a:spcPct val="90000"/>
              </a:lnSpc>
              <a:buNone/>
            </a:pPr>
            <a:r>
              <a:rPr lang="en-GB" sz="2500"/>
              <a:t>3.	If you were trying to ensure an innovation project had no hope of succeeding, what would you recommend?</a:t>
            </a:r>
          </a:p>
          <a:p>
            <a:pPr>
              <a:lnSpc>
                <a:spcPct val="90000"/>
              </a:lnSpc>
            </a:pPr>
            <a:endParaRPr lang="en-US" sz="2500"/>
          </a:p>
        </p:txBody>
      </p:sp>
    </p:spTree>
    <p:extLst>
      <p:ext uri="{BB962C8B-B14F-4D97-AF65-F5344CB8AC3E}">
        <p14:creationId xmlns:p14="http://schemas.microsoft.com/office/powerpoint/2010/main" val="3850683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47B82E-F314-2648-8C49-68AADB0BCAAA}"/>
              </a:ext>
            </a:extLst>
          </p:cNvPr>
          <p:cNvSpPr>
            <a:spLocks noGrp="1"/>
          </p:cNvSpPr>
          <p:nvPr>
            <p:ph type="title"/>
          </p:nvPr>
        </p:nvSpPr>
        <p:spPr>
          <a:xfrm>
            <a:off x="515125" y="1153572"/>
            <a:ext cx="2400300" cy="4461163"/>
          </a:xfrm>
        </p:spPr>
        <p:txBody>
          <a:bodyPr>
            <a:normAutofit/>
          </a:bodyPr>
          <a:lstStyle/>
          <a:p>
            <a:r>
              <a:rPr lang="en-US" sz="3400" dirty="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E367A3E-C2F4-F646-937E-96529F43CC3E}"/>
              </a:ext>
            </a:extLst>
          </p:cNvPr>
          <p:cNvSpPr>
            <a:spLocks noGrp="1"/>
          </p:cNvSpPr>
          <p:nvPr>
            <p:ph idx="1"/>
          </p:nvPr>
        </p:nvSpPr>
        <p:spPr>
          <a:xfrm>
            <a:off x="3335481" y="591344"/>
            <a:ext cx="5179868" cy="5585619"/>
          </a:xfrm>
        </p:spPr>
        <p:txBody>
          <a:bodyPr anchor="ctr">
            <a:normAutofit/>
          </a:bodyPr>
          <a:lstStyle/>
          <a:p>
            <a:pPr marL="0" indent="0">
              <a:buNone/>
            </a:pPr>
            <a:r>
              <a:rPr lang="en-GB" sz="3000" dirty="0"/>
              <a:t>4.	How can innovation be measured?</a:t>
            </a:r>
          </a:p>
          <a:p>
            <a:pPr marL="0" indent="0">
              <a:buNone/>
            </a:pPr>
            <a:endParaRPr lang="en-GB" sz="3000" dirty="0"/>
          </a:p>
          <a:p>
            <a:pPr marL="0" indent="0">
              <a:buNone/>
            </a:pPr>
            <a:r>
              <a:rPr lang="en-GB" sz="3000" dirty="0"/>
              <a:t>5.	The Managing Director of your company has asked you to give her some clear guidance on what they should measure to ensure their investment in innovation is worthwhile.  What would you suggest as possible measurement targets, and why?</a:t>
            </a:r>
          </a:p>
          <a:p>
            <a:endParaRPr lang="en-US" sz="3000" dirty="0"/>
          </a:p>
        </p:txBody>
      </p:sp>
    </p:spTree>
    <p:extLst>
      <p:ext uri="{BB962C8B-B14F-4D97-AF65-F5344CB8AC3E}">
        <p14:creationId xmlns:p14="http://schemas.microsoft.com/office/powerpoint/2010/main" val="65734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47B82E-F314-2648-8C49-68AADB0BCAAA}"/>
              </a:ext>
            </a:extLst>
          </p:cNvPr>
          <p:cNvSpPr>
            <a:spLocks noGrp="1"/>
          </p:cNvSpPr>
          <p:nvPr>
            <p:ph type="title"/>
          </p:nvPr>
        </p:nvSpPr>
        <p:spPr>
          <a:xfrm>
            <a:off x="515125" y="1153572"/>
            <a:ext cx="2400300" cy="4461163"/>
          </a:xfrm>
        </p:spPr>
        <p:txBody>
          <a:bodyPr>
            <a:normAutofit/>
          </a:bodyPr>
          <a:lstStyle/>
          <a:p>
            <a:r>
              <a:rPr lang="en-US" sz="3400" dirty="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E367A3E-C2F4-F646-937E-96529F43CC3E}"/>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Use the reflection questions in this chapter (and additional ones from the online audit frameworks) to carry out a review of innovation management capability in an organization you are familiar with. </a:t>
            </a:r>
          </a:p>
          <a:p>
            <a:pPr>
              <a:lnSpc>
                <a:spcPct val="90000"/>
              </a:lnSpc>
            </a:pPr>
            <a:r>
              <a:rPr lang="en-US" sz="2500"/>
              <a:t>‘If we don’t learn from history, we are condemned to repeat it.’ This famous quotation underlines the challenge of learning. What stops organizations learning from their past efforts at innovation – and what can they do to improve their learning capability in the future? </a:t>
            </a:r>
          </a:p>
          <a:p>
            <a:pPr>
              <a:lnSpc>
                <a:spcPct val="90000"/>
              </a:lnSpc>
            </a:pPr>
            <a:endParaRPr lang="en-US" sz="2500"/>
          </a:p>
        </p:txBody>
      </p:sp>
    </p:spTree>
    <p:extLst>
      <p:ext uri="{BB962C8B-B14F-4D97-AF65-F5344CB8AC3E}">
        <p14:creationId xmlns:p14="http://schemas.microsoft.com/office/powerpoint/2010/main" val="3611628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1942</Words>
  <Application>Microsoft Macintosh PowerPoint</Application>
  <PresentationFormat>On-screen Show (4:3)</PresentationFormat>
  <Paragraphs>182</Paragraphs>
  <Slides>36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Teaching Resources and Instructors’ Guidelines</vt:lpstr>
      <vt:lpstr>Chapter 15: Capturing learning from innovation</vt:lpstr>
      <vt:lpstr>Learning objectives</vt:lpstr>
      <vt:lpstr>Core themes and material from the book</vt:lpstr>
      <vt:lpstr>PowerPoint Presentation</vt:lpstr>
      <vt:lpstr>Key themes</vt:lpstr>
      <vt:lpstr>Successful innovation…</vt:lpstr>
      <vt:lpstr>PowerPoint Presentation</vt:lpstr>
      <vt:lpstr>PowerPoint Presentation</vt:lpstr>
      <vt:lpstr>PowerPoint Presentation</vt:lpstr>
      <vt:lpstr>PowerPoint Presentation</vt:lpstr>
      <vt:lpstr>PowerPoint Presentation</vt:lpstr>
      <vt:lpstr>Approaches to enable learning</vt:lpstr>
      <vt:lpstr>Core framework for reflection</vt:lpstr>
      <vt:lpstr>The Innovation Fitness Test</vt:lpstr>
      <vt:lpstr>PowerPoint Presentation</vt:lpstr>
      <vt:lpstr>PowerPoint Presentation</vt:lpstr>
      <vt:lpstr>PowerPoint Presentation</vt:lpstr>
      <vt:lpstr>PowerPoint Presentation</vt:lpstr>
      <vt:lpstr>Measuring innovation</vt:lpstr>
      <vt:lpstr>PowerPoint Presentation</vt:lpstr>
      <vt:lpstr>PowerPoint Presentation</vt:lpstr>
      <vt:lpstr>Summary</vt:lpstr>
      <vt:lpstr>Summary</vt:lpstr>
      <vt:lpstr>Videos</vt:lpstr>
      <vt:lpstr>Videos</vt:lpstr>
      <vt:lpstr>Podcasts and blogs</vt:lpstr>
      <vt:lpstr>Cases</vt:lpstr>
      <vt:lpstr>Activities</vt:lpstr>
      <vt:lpstr>Activity: Innovation fitness review</vt:lpstr>
      <vt:lpstr>Activity</vt:lpstr>
      <vt:lpstr>Activity: The ‘hundred club’</vt:lpstr>
      <vt:lpstr>Tools</vt:lpstr>
      <vt:lpstr>Assessment and discussion questions</vt:lpstr>
      <vt:lpstr>Assessment and discussion questions</vt:lpstr>
      <vt:lpstr>Assessment and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6</cp:revision>
  <dcterms:created xsi:type="dcterms:W3CDTF">2020-11-14T16:14:17Z</dcterms:created>
  <dcterms:modified xsi:type="dcterms:W3CDTF">2024-11-02T08:14:09Z</dcterms:modified>
</cp:coreProperties>
</file>