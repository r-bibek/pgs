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3"/>
  </p:notesMasterIdLst>
  <p:sldIdLst>
    <p:sldId id="257" r:id="rId2"/>
    <p:sldId id="258" r:id="rId3"/>
    <p:sldId id="259" r:id="rId4"/>
    <p:sldId id="318" r:id="rId5"/>
    <p:sldId id="261" r:id="rId6"/>
    <p:sldId id="262" r:id="rId7"/>
    <p:sldId id="319" r:id="rId8"/>
    <p:sldId id="320" r:id="rId9"/>
    <p:sldId id="321" r:id="rId10"/>
    <p:sldId id="322" r:id="rId11"/>
    <p:sldId id="323" r:id="rId12"/>
    <p:sldId id="324" r:id="rId13"/>
    <p:sldId id="269" r:id="rId14"/>
    <p:sldId id="325" r:id="rId15"/>
    <p:sldId id="326" r:id="rId16"/>
    <p:sldId id="327" r:id="rId17"/>
    <p:sldId id="279" r:id="rId18"/>
    <p:sldId id="280" r:id="rId19"/>
    <p:sldId id="281" r:id="rId20"/>
    <p:sldId id="282" r:id="rId21"/>
    <p:sldId id="283" r:id="rId22"/>
    <p:sldId id="289" r:id="rId23"/>
    <p:sldId id="290" r:id="rId24"/>
    <p:sldId id="291" r:id="rId25"/>
    <p:sldId id="292" r:id="rId26"/>
    <p:sldId id="328" r:id="rId27"/>
    <p:sldId id="294" r:id="rId28"/>
    <p:sldId id="295" r:id="rId29"/>
    <p:sldId id="331" r:id="rId30"/>
    <p:sldId id="332" r:id="rId31"/>
    <p:sldId id="333" r:id="rId32"/>
    <p:sldId id="334" r:id="rId33"/>
    <p:sldId id="335" r:id="rId34"/>
    <p:sldId id="329" r:id="rId35"/>
    <p:sldId id="367" r:id="rId36"/>
    <p:sldId id="266" r:id="rId37"/>
    <p:sldId id="306" r:id="rId38"/>
    <p:sldId id="308" r:id="rId39"/>
    <p:sldId id="336" r:id="rId40"/>
    <p:sldId id="274" r:id="rId41"/>
    <p:sldId id="288" r:id="rId42"/>
    <p:sldId id="344" r:id="rId43"/>
    <p:sldId id="276" r:id="rId44"/>
    <p:sldId id="277" r:id="rId45"/>
    <p:sldId id="304" r:id="rId46"/>
    <p:sldId id="353" r:id="rId47"/>
    <p:sldId id="273" r:id="rId48"/>
    <p:sldId id="365" r:id="rId49"/>
    <p:sldId id="368" r:id="rId50"/>
    <p:sldId id="369" r:id="rId51"/>
    <p:sldId id="370" r:id="rId52"/>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4EED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7"/>
    <p:restoredTop sz="94752"/>
  </p:normalViewPr>
  <p:slideViewPr>
    <p:cSldViewPr>
      <p:cViewPr varScale="1">
        <p:scale>
          <a:sx n="116" d="100"/>
          <a:sy n="116" d="100"/>
        </p:scale>
        <p:origin x="1760" y="184"/>
      </p:cViewPr>
      <p:guideLst>
        <p:guide orient="horz" pos="2160"/>
        <p:guide pos="2880"/>
      </p:guideLst>
    </p:cSldViewPr>
  </p:slideViewPr>
  <p:notesTextViewPr>
    <p:cViewPr>
      <p:scale>
        <a:sx n="100" d="100"/>
        <a:sy n="100" d="100"/>
      </p:scale>
      <p:origin x="0" y="0"/>
    </p:cViewPr>
  </p:notesTextViewPr>
  <p:sorterViewPr>
    <p:cViewPr>
      <p:scale>
        <a:sx n="80" d="100"/>
        <a:sy n="8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notesMaster" Target="notesMasters/notesMaster1.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ableStyles" Target="tableStyle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GB"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4B9F666-69B1-4A40-B511-A15573CC5BF7}" type="datetimeFigureOut">
              <a:rPr lang="en-GB" smtClean="0"/>
              <a:pPr/>
              <a:t>03/11/2024</a:t>
            </a:fld>
            <a:endParaRPr lang="en-GB"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GB"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GB"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0269B28D-28FB-4BB1-AEFB-528C15F40CF1}" type="slidenum">
              <a:rPr lang="en-GB" smtClean="0"/>
              <a:pPr/>
              <a:t>‹#›</a:t>
            </a:fld>
            <a:endParaRPr lang="en-GB" dirty="0"/>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7"/>
          <p:cNvSpPr txBox="1">
            <a:spLocks noGrp="1" noChangeArrowheads="1"/>
          </p:cNvSpPr>
          <p:nvPr/>
        </p:nvSpPr>
        <p:spPr bwMode="auto">
          <a:xfrm>
            <a:off x="3886200" y="8686800"/>
            <a:ext cx="2971800" cy="457200"/>
          </a:xfrm>
          <a:prstGeom prst="rect">
            <a:avLst/>
          </a:prstGeom>
          <a:noFill/>
          <a:ln w="9525">
            <a:noFill/>
            <a:miter lim="800000"/>
            <a:headEnd/>
            <a:tailEnd/>
          </a:ln>
        </p:spPr>
        <p:txBody>
          <a:bodyPr lIns="91433" tIns="45717" rIns="91433" bIns="45717" anchor="b">
            <a:prstTxWarp prst="textNoShape">
              <a:avLst/>
            </a:prstTxWarp>
          </a:bodyPr>
          <a:lstStyle/>
          <a:p>
            <a:fld id="{65C1B84A-C37E-6B41-B62F-7DA9E1A95194}" type="slidenum">
              <a:rPr lang="en-GB" sz="1200"/>
              <a:pPr/>
              <a:t>5</a:t>
            </a:fld>
            <a:endParaRPr lang="en-GB" sz="1200" dirty="0"/>
          </a:p>
        </p:txBody>
      </p:sp>
      <p:sp>
        <p:nvSpPr>
          <p:cNvPr id="54275" name="Rectangle 2"/>
          <p:cNvSpPr>
            <a:spLocks noGrp="1" noRot="1" noChangeAspect="1" noChangeArrowheads="1" noTextEdit="1"/>
          </p:cNvSpPr>
          <p:nvPr>
            <p:ph type="sldImg"/>
          </p:nvPr>
        </p:nvSpPr>
        <p:spPr>
          <a:ln/>
        </p:spPr>
      </p:sp>
      <p:sp>
        <p:nvSpPr>
          <p:cNvPr id="54276" name="Rectangle 3"/>
          <p:cNvSpPr>
            <a:spLocks noGrp="1" noChangeArrowheads="1"/>
          </p:cNvSpPr>
          <p:nvPr>
            <p:ph type="body" idx="1"/>
          </p:nvPr>
        </p:nvSpPr>
        <p:spPr>
          <a:xfrm>
            <a:off x="685800" y="4344988"/>
            <a:ext cx="5486400" cy="4113212"/>
          </a:xfrm>
          <a:noFill/>
          <a:ln/>
        </p:spPr>
        <p:txBody>
          <a:bodyPr/>
          <a:lstStyle/>
          <a:p>
            <a:endParaRPr lang="en-US" dirty="0">
              <a:latin typeface="Times"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5"/>
          <p:cNvSpPr txBox="1">
            <a:spLocks noGrp="1" noChangeArrowheads="1"/>
          </p:cNvSpPr>
          <p:nvPr/>
        </p:nvSpPr>
        <p:spPr bwMode="auto">
          <a:xfrm>
            <a:off x="3886200" y="8686800"/>
            <a:ext cx="2971800" cy="457200"/>
          </a:xfrm>
          <a:prstGeom prst="rect">
            <a:avLst/>
          </a:prstGeom>
          <a:noFill/>
          <a:ln w="9525">
            <a:noFill/>
            <a:miter lim="800000"/>
            <a:headEnd/>
            <a:tailEnd/>
          </a:ln>
        </p:spPr>
        <p:txBody>
          <a:bodyPr lIns="91427" tIns="45714" rIns="91427" bIns="45714" anchor="b">
            <a:prstTxWarp prst="textNoShape">
              <a:avLst/>
            </a:prstTxWarp>
          </a:bodyPr>
          <a:lstStyle/>
          <a:p>
            <a:fld id="{F5A82360-F7DC-9145-B514-16698F390A6E}" type="slidenum">
              <a:rPr lang="en-GB" sz="1200"/>
              <a:pPr/>
              <a:t>6</a:t>
            </a:fld>
            <a:endParaRPr lang="en-GB" sz="1200" dirty="0"/>
          </a:p>
        </p:txBody>
      </p:sp>
      <p:sp>
        <p:nvSpPr>
          <p:cNvPr id="56323" name="Rectangle 2"/>
          <p:cNvSpPr>
            <a:spLocks noGrp="1" noRot="1" noChangeAspect="1" noChangeArrowheads="1" noTextEdit="1"/>
          </p:cNvSpPr>
          <p:nvPr>
            <p:ph type="sldImg"/>
          </p:nvPr>
        </p:nvSpPr>
        <p:spPr>
          <a:ln/>
        </p:spPr>
      </p:sp>
      <p:sp>
        <p:nvSpPr>
          <p:cNvPr id="56324" name="Rectangle 3"/>
          <p:cNvSpPr>
            <a:spLocks noGrp="1" noChangeArrowheads="1"/>
          </p:cNvSpPr>
          <p:nvPr>
            <p:ph type="body" idx="1"/>
          </p:nvPr>
        </p:nvSpPr>
        <p:spPr>
          <a:noFill/>
          <a:ln/>
        </p:spPr>
        <p:txBody>
          <a:bodyPr lIns="91427" tIns="45714" rIns="91427" bIns="45714"/>
          <a:lstStyle/>
          <a:p>
            <a:pPr eaLnBrk="1" hangingPunct="1"/>
            <a:endParaRPr lang="en-US" dirty="0">
              <a:latin typeface="Times"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Short videos </a:t>
            </a:r>
          </a:p>
        </p:txBody>
      </p:sp>
      <p:sp>
        <p:nvSpPr>
          <p:cNvPr id="4" name="Slide Number Placeholder 3"/>
          <p:cNvSpPr>
            <a:spLocks noGrp="1"/>
          </p:cNvSpPr>
          <p:nvPr>
            <p:ph type="sldNum" sz="quarter" idx="5"/>
          </p:nvPr>
        </p:nvSpPr>
        <p:spPr/>
        <p:txBody>
          <a:bodyPr/>
          <a:lstStyle/>
          <a:p>
            <a:fld id="{C43EEF7A-835F-4F95-B48D-CD2F7A44E3BA}" type="slidenum">
              <a:rPr lang="en-GB" smtClean="0"/>
              <a:pPr/>
              <a:t>34</a:t>
            </a:fld>
            <a:endParaRPr lang="en-GB"/>
          </a:p>
        </p:txBody>
      </p:sp>
    </p:spTree>
    <p:extLst>
      <p:ext uri="{BB962C8B-B14F-4D97-AF65-F5344CB8AC3E}">
        <p14:creationId xmlns:p14="http://schemas.microsoft.com/office/powerpoint/2010/main" val="19122916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GB"/>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GB"/>
          </a:p>
        </p:txBody>
      </p:sp>
      <p:sp>
        <p:nvSpPr>
          <p:cNvPr id="4" name="Date Placeholder 3"/>
          <p:cNvSpPr>
            <a:spLocks noGrp="1"/>
          </p:cNvSpPr>
          <p:nvPr>
            <p:ph type="dt" sz="half" idx="10"/>
          </p:nvPr>
        </p:nvSpPr>
        <p:spPr/>
        <p:txBody>
          <a:bodyPr/>
          <a:lstStyle/>
          <a:p>
            <a:fld id="{A627A499-B5AB-4071-86BF-29F77426908A}" type="datetimeFigureOut">
              <a:rPr lang="en-GB" smtClean="0"/>
              <a:pPr/>
              <a:t>03/11/2024</a:t>
            </a:fld>
            <a:endParaRPr lang="en-GB" dirty="0"/>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fld id="{C1781B35-7615-4831-8643-578FAB2B3411}" type="slidenum">
              <a:rPr lang="en-GB" smtClean="0"/>
              <a:pPr/>
              <a:t>‹#›</a:t>
            </a:fld>
            <a:endParaRPr lang="en-GB"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A627A499-B5AB-4071-86BF-29F77426908A}" type="datetimeFigureOut">
              <a:rPr lang="en-GB" smtClean="0"/>
              <a:pPr/>
              <a:t>03/11/2024</a:t>
            </a:fld>
            <a:endParaRPr lang="en-GB" dirty="0"/>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fld id="{C1781B35-7615-4831-8643-578FAB2B3411}" type="slidenum">
              <a:rPr lang="en-GB" smtClean="0"/>
              <a:pPr/>
              <a:t>‹#›</a:t>
            </a:fld>
            <a:endParaRPr lang="en-GB"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GB"/>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627A499-B5AB-4071-86BF-29F77426908A}" type="datetimeFigureOut">
              <a:rPr lang="en-GB" smtClean="0"/>
              <a:pPr/>
              <a:t>03/11/2024</a:t>
            </a:fld>
            <a:endParaRPr lang="en-GB" dirty="0"/>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fld id="{C1781B35-7615-4831-8643-578FAB2B3411}" type="slidenum">
              <a:rPr lang="en-GB" smtClean="0"/>
              <a:pPr/>
              <a:t>‹#›</a:t>
            </a:fld>
            <a:endParaRPr lang="en-GB"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p:cNvSpPr>
            <a:spLocks noGrp="1"/>
          </p:cNvSpPr>
          <p:nvPr>
            <p:ph type="dt" sz="half" idx="10"/>
          </p:nvPr>
        </p:nvSpPr>
        <p:spPr/>
        <p:txBody>
          <a:bodyPr/>
          <a:lstStyle/>
          <a:p>
            <a:fld id="{A627A499-B5AB-4071-86BF-29F77426908A}" type="datetimeFigureOut">
              <a:rPr lang="en-GB" smtClean="0"/>
              <a:pPr/>
              <a:t>03/11/2024</a:t>
            </a:fld>
            <a:endParaRPr lang="en-GB" dirty="0"/>
          </a:p>
        </p:txBody>
      </p:sp>
      <p:sp>
        <p:nvSpPr>
          <p:cNvPr id="6" name="Footer Placeholder 5"/>
          <p:cNvSpPr>
            <a:spLocks noGrp="1"/>
          </p:cNvSpPr>
          <p:nvPr>
            <p:ph type="ftr" sz="quarter" idx="11"/>
          </p:nvPr>
        </p:nvSpPr>
        <p:spPr/>
        <p:txBody>
          <a:bodyPr/>
          <a:lstStyle/>
          <a:p>
            <a:endParaRPr lang="en-GB" dirty="0"/>
          </a:p>
        </p:txBody>
      </p:sp>
      <p:sp>
        <p:nvSpPr>
          <p:cNvPr id="7" name="Slide Number Placeholder 6"/>
          <p:cNvSpPr>
            <a:spLocks noGrp="1"/>
          </p:cNvSpPr>
          <p:nvPr>
            <p:ph type="sldNum" sz="quarter" idx="12"/>
          </p:nvPr>
        </p:nvSpPr>
        <p:spPr/>
        <p:txBody>
          <a:bodyPr/>
          <a:lstStyle/>
          <a:p>
            <a:fld id="{C1781B35-7615-4831-8643-578FAB2B3411}" type="slidenum">
              <a:rPr lang="en-GB" smtClean="0"/>
              <a:pPr/>
              <a:t>‹#›</a:t>
            </a:fld>
            <a:endParaRPr lang="en-GB"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GB"/>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p:cNvSpPr>
            <a:spLocks noGrp="1"/>
          </p:cNvSpPr>
          <p:nvPr>
            <p:ph type="dt" sz="half" idx="10"/>
          </p:nvPr>
        </p:nvSpPr>
        <p:spPr/>
        <p:txBody>
          <a:bodyPr/>
          <a:lstStyle/>
          <a:p>
            <a:fld id="{A627A499-B5AB-4071-86BF-29F77426908A}" type="datetimeFigureOut">
              <a:rPr lang="en-GB" smtClean="0"/>
              <a:pPr/>
              <a:t>03/11/2024</a:t>
            </a:fld>
            <a:endParaRPr lang="en-GB" dirty="0"/>
          </a:p>
        </p:txBody>
      </p:sp>
      <p:sp>
        <p:nvSpPr>
          <p:cNvPr id="8" name="Footer Placeholder 7"/>
          <p:cNvSpPr>
            <a:spLocks noGrp="1"/>
          </p:cNvSpPr>
          <p:nvPr>
            <p:ph type="ftr" sz="quarter" idx="11"/>
          </p:nvPr>
        </p:nvSpPr>
        <p:spPr/>
        <p:txBody>
          <a:bodyPr/>
          <a:lstStyle/>
          <a:p>
            <a:endParaRPr lang="en-GB" dirty="0"/>
          </a:p>
        </p:txBody>
      </p:sp>
      <p:sp>
        <p:nvSpPr>
          <p:cNvPr id="9" name="Slide Number Placeholder 8"/>
          <p:cNvSpPr>
            <a:spLocks noGrp="1"/>
          </p:cNvSpPr>
          <p:nvPr>
            <p:ph type="sldNum" sz="quarter" idx="12"/>
          </p:nvPr>
        </p:nvSpPr>
        <p:spPr/>
        <p:txBody>
          <a:bodyPr/>
          <a:lstStyle/>
          <a:p>
            <a:fld id="{C1781B35-7615-4831-8643-578FAB2B3411}" type="slidenum">
              <a:rPr lang="en-GB" smtClean="0"/>
              <a:pPr/>
              <a:t>‹#›</a:t>
            </a:fld>
            <a:endParaRPr lang="en-GB"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Date Placeholder 2"/>
          <p:cNvSpPr>
            <a:spLocks noGrp="1"/>
          </p:cNvSpPr>
          <p:nvPr>
            <p:ph type="dt" sz="half" idx="10"/>
          </p:nvPr>
        </p:nvSpPr>
        <p:spPr/>
        <p:txBody>
          <a:bodyPr/>
          <a:lstStyle/>
          <a:p>
            <a:fld id="{A627A499-B5AB-4071-86BF-29F77426908A}" type="datetimeFigureOut">
              <a:rPr lang="en-GB" smtClean="0"/>
              <a:pPr/>
              <a:t>03/11/2024</a:t>
            </a:fld>
            <a:endParaRPr lang="en-GB" dirty="0"/>
          </a:p>
        </p:txBody>
      </p:sp>
      <p:sp>
        <p:nvSpPr>
          <p:cNvPr id="4" name="Footer Placeholder 3"/>
          <p:cNvSpPr>
            <a:spLocks noGrp="1"/>
          </p:cNvSpPr>
          <p:nvPr>
            <p:ph type="ftr" sz="quarter" idx="11"/>
          </p:nvPr>
        </p:nvSpPr>
        <p:spPr/>
        <p:txBody>
          <a:bodyPr/>
          <a:lstStyle/>
          <a:p>
            <a:endParaRPr lang="en-GB" dirty="0"/>
          </a:p>
        </p:txBody>
      </p:sp>
      <p:sp>
        <p:nvSpPr>
          <p:cNvPr id="5" name="Slide Number Placeholder 4"/>
          <p:cNvSpPr>
            <a:spLocks noGrp="1"/>
          </p:cNvSpPr>
          <p:nvPr>
            <p:ph type="sldNum" sz="quarter" idx="12"/>
          </p:nvPr>
        </p:nvSpPr>
        <p:spPr/>
        <p:txBody>
          <a:bodyPr/>
          <a:lstStyle/>
          <a:p>
            <a:fld id="{C1781B35-7615-4831-8643-578FAB2B3411}" type="slidenum">
              <a:rPr lang="en-GB" smtClean="0"/>
              <a:pPr/>
              <a:t>‹#›</a:t>
            </a:fld>
            <a:endParaRPr lang="en-GB"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627A499-B5AB-4071-86BF-29F77426908A}" type="datetimeFigureOut">
              <a:rPr lang="en-GB" smtClean="0"/>
              <a:pPr/>
              <a:t>03/11/2024</a:t>
            </a:fld>
            <a:endParaRPr lang="en-GB" dirty="0"/>
          </a:p>
        </p:txBody>
      </p:sp>
      <p:sp>
        <p:nvSpPr>
          <p:cNvPr id="3" name="Footer Placeholder 2"/>
          <p:cNvSpPr>
            <a:spLocks noGrp="1"/>
          </p:cNvSpPr>
          <p:nvPr>
            <p:ph type="ftr" sz="quarter" idx="11"/>
          </p:nvPr>
        </p:nvSpPr>
        <p:spPr/>
        <p:txBody>
          <a:bodyPr/>
          <a:lstStyle/>
          <a:p>
            <a:endParaRPr lang="en-GB" dirty="0"/>
          </a:p>
        </p:txBody>
      </p:sp>
      <p:sp>
        <p:nvSpPr>
          <p:cNvPr id="4" name="Slide Number Placeholder 3"/>
          <p:cNvSpPr>
            <a:spLocks noGrp="1"/>
          </p:cNvSpPr>
          <p:nvPr>
            <p:ph type="sldNum" sz="quarter" idx="12"/>
          </p:nvPr>
        </p:nvSpPr>
        <p:spPr/>
        <p:txBody>
          <a:bodyPr/>
          <a:lstStyle/>
          <a:p>
            <a:fld id="{C1781B35-7615-4831-8643-578FAB2B3411}" type="slidenum">
              <a:rPr lang="en-GB" smtClean="0"/>
              <a:pPr/>
              <a:t>‹#›</a:t>
            </a:fld>
            <a:endParaRPr lang="en-GB"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GB"/>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627A499-B5AB-4071-86BF-29F77426908A}" type="datetimeFigureOut">
              <a:rPr lang="en-GB" smtClean="0"/>
              <a:pPr/>
              <a:t>03/11/2024</a:t>
            </a:fld>
            <a:endParaRPr lang="en-GB" dirty="0"/>
          </a:p>
        </p:txBody>
      </p:sp>
      <p:sp>
        <p:nvSpPr>
          <p:cNvPr id="6" name="Footer Placeholder 5"/>
          <p:cNvSpPr>
            <a:spLocks noGrp="1"/>
          </p:cNvSpPr>
          <p:nvPr>
            <p:ph type="ftr" sz="quarter" idx="11"/>
          </p:nvPr>
        </p:nvSpPr>
        <p:spPr/>
        <p:txBody>
          <a:bodyPr/>
          <a:lstStyle/>
          <a:p>
            <a:endParaRPr lang="en-GB" dirty="0"/>
          </a:p>
        </p:txBody>
      </p:sp>
      <p:sp>
        <p:nvSpPr>
          <p:cNvPr id="7" name="Slide Number Placeholder 6"/>
          <p:cNvSpPr>
            <a:spLocks noGrp="1"/>
          </p:cNvSpPr>
          <p:nvPr>
            <p:ph type="sldNum" sz="quarter" idx="12"/>
          </p:nvPr>
        </p:nvSpPr>
        <p:spPr/>
        <p:txBody>
          <a:bodyPr/>
          <a:lstStyle/>
          <a:p>
            <a:fld id="{C1781B35-7615-4831-8643-578FAB2B3411}" type="slidenum">
              <a:rPr lang="en-GB" smtClean="0"/>
              <a:pPr/>
              <a:t>‹#›</a:t>
            </a:fld>
            <a:endParaRPr lang="en-GB"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GB"/>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627A499-B5AB-4071-86BF-29F77426908A}" type="datetimeFigureOut">
              <a:rPr lang="en-GB" smtClean="0"/>
              <a:pPr/>
              <a:t>03/11/2024</a:t>
            </a:fld>
            <a:endParaRPr lang="en-GB" dirty="0"/>
          </a:p>
        </p:txBody>
      </p:sp>
      <p:sp>
        <p:nvSpPr>
          <p:cNvPr id="6" name="Footer Placeholder 5"/>
          <p:cNvSpPr>
            <a:spLocks noGrp="1"/>
          </p:cNvSpPr>
          <p:nvPr>
            <p:ph type="ftr" sz="quarter" idx="11"/>
          </p:nvPr>
        </p:nvSpPr>
        <p:spPr/>
        <p:txBody>
          <a:bodyPr/>
          <a:lstStyle/>
          <a:p>
            <a:endParaRPr lang="en-GB" dirty="0"/>
          </a:p>
        </p:txBody>
      </p:sp>
      <p:sp>
        <p:nvSpPr>
          <p:cNvPr id="7" name="Slide Number Placeholder 6"/>
          <p:cNvSpPr>
            <a:spLocks noGrp="1"/>
          </p:cNvSpPr>
          <p:nvPr>
            <p:ph type="sldNum" sz="quarter" idx="12"/>
          </p:nvPr>
        </p:nvSpPr>
        <p:spPr/>
        <p:txBody>
          <a:bodyPr/>
          <a:lstStyle/>
          <a:p>
            <a:fld id="{C1781B35-7615-4831-8643-578FAB2B3411}" type="slidenum">
              <a:rPr lang="en-GB" smtClean="0"/>
              <a:pPr/>
              <a:t>‹#›</a:t>
            </a:fld>
            <a:endParaRPr lang="en-GB"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A627A499-B5AB-4071-86BF-29F77426908A}" type="datetimeFigureOut">
              <a:rPr lang="en-GB" smtClean="0"/>
              <a:pPr/>
              <a:t>03/11/2024</a:t>
            </a:fld>
            <a:endParaRPr lang="en-GB" dirty="0"/>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fld id="{C1781B35-7615-4831-8643-578FAB2B3411}" type="slidenum">
              <a:rPr lang="en-GB" smtClean="0"/>
              <a:pPr/>
              <a:t>‹#›</a:t>
            </a:fld>
            <a:endParaRPr lang="en-GB"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A627A499-B5AB-4071-86BF-29F77426908A}" type="datetimeFigureOut">
              <a:rPr lang="en-GB" smtClean="0"/>
              <a:pPr/>
              <a:t>03/11/2024</a:t>
            </a:fld>
            <a:endParaRPr lang="en-GB" dirty="0"/>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fld id="{C1781B35-7615-4831-8643-578FAB2B3411}" type="slidenum">
              <a:rPr lang="en-GB" smtClean="0"/>
              <a:pPr/>
              <a:t>‹#›</a:t>
            </a:fld>
            <a:endParaRPr lang="en-GB"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627A499-B5AB-4071-86BF-29F77426908A}" type="datetimeFigureOut">
              <a:rPr lang="en-GB" smtClean="0"/>
              <a:pPr/>
              <a:t>03/11/2024</a:t>
            </a:fld>
            <a:endParaRPr lang="en-GB" dirty="0"/>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781B35-7615-4831-8643-578FAB2B3411}" type="slidenum">
              <a:rPr lang="en-GB" smtClean="0"/>
              <a:pPr/>
              <a:t>‹#›</a:t>
            </a:fld>
            <a:endParaRPr lang="en-GB"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19.jpeg"/><Relationship Id="rId7" Type="http://schemas.openxmlformats.org/officeDocument/2006/relationships/hyperlink" Target="https://youtu.be/X6ITSy6mweE" TargetMode="Externa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hyperlink" Target="https://youtu.be/Ksf33_KSnps" TargetMode="External"/><Relationship Id="rId5" Type="http://schemas.openxmlformats.org/officeDocument/2006/relationships/hyperlink" Target="https://youtu.be/yLzkoF5ww78" TargetMode="External"/><Relationship Id="rId4" Type="http://schemas.openxmlformats.org/officeDocument/2006/relationships/hyperlink" Target="https://youtu.be/d4rkitpEyPw" TargetMode="External"/></Relationships>
</file>

<file path=ppt/slides/_rels/slide35.xml.rels><?xml version="1.0" encoding="UTF-8" standalone="yes"?>
<Relationships xmlns="http://schemas.openxmlformats.org/package/2006/relationships"><Relationship Id="rId3" Type="http://schemas.openxmlformats.org/officeDocument/2006/relationships/hyperlink" Target="https://www.youtube.com/watch?v=foL9Zxel-Js&amp;feature=youtu.be" TargetMode="External"/><Relationship Id="rId2" Type="http://schemas.openxmlformats.org/officeDocument/2006/relationships/hyperlink" Target="https://www.youtube.com/watch?v=-Njo1dQglfU" TargetMode="Externa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hyperlink" Target="https://www.youtube.com/watch?v=i03GLcn_ceE" TargetMode="External"/><Relationship Id="rId2" Type="http://schemas.openxmlformats.org/officeDocument/2006/relationships/hyperlink" Target="https://www.ted.com/talks/anil_gupta_india_s_hidden_hotbeds_of_invention" TargetMode="Externa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hyperlink" Target="http://www.growthbusiness.co.uk/female-entrepreneurs-one-girl-band-2551795/" TargetMode="Externa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hyperlink" Target="https://www.stitcher.com/podcast/national-public-radio/how-i-built-this/e/50961272" TargetMode="Externa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hyperlink" Target="https://podcasters.spotify.com/pod/show/john-bessant" TargetMode="Externa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hyperlink" Target="https://static.wixstatic.com/mp3/f6594a_f3d0bee1cec44ef192be395f4e8093aa.mp3" TargetMode="Externa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hyperlink" Target="https://www.bing.com/videos/riverview/relatedvideo?&amp;q=jimmy+wales+birth+of+wikipedia+ted&amp;&amp;mid=0464DE63687F42C69A500464DE63687F42C69A50&amp;&amp;FORM=VRDGAR" TargetMode="Externa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hyperlink" Target="https://www.johnbessant.org/cases" TargetMode="Externa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hyperlink" Target="http://www.innocentive.com/" TargetMode="Externa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9">
            <a:extLst>
              <a:ext uri="{FF2B5EF4-FFF2-40B4-BE49-F238E27FC236}">
                <a16:creationId xmlns:a16="http://schemas.microsoft.com/office/drawing/2014/main" id="{B5A8AFA4-5C32-4100-9C6D-839A47E15F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1">
            <a:extLst>
              <a:ext uri="{FF2B5EF4-FFF2-40B4-BE49-F238E27FC236}">
                <a16:creationId xmlns:a16="http://schemas.microsoft.com/office/drawing/2014/main" id="{96B5F253-7949-47C2-9DBD-1570ECDA22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4349" y="685800"/>
            <a:ext cx="4066277" cy="5486400"/>
          </a:xfrm>
          <a:prstGeom prst="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1251319" y="1254763"/>
            <a:ext cx="2583711" cy="2481729"/>
          </a:xfrm>
        </p:spPr>
        <p:txBody>
          <a:bodyPr vert="horz" lIns="91440" tIns="45720" rIns="91440" bIns="45720" rtlCol="0" anchor="b">
            <a:normAutofit/>
          </a:bodyPr>
          <a:lstStyle/>
          <a:p>
            <a:pPr>
              <a:lnSpc>
                <a:spcPct val="90000"/>
              </a:lnSpc>
            </a:pPr>
            <a:r>
              <a:rPr lang="en-US" sz="2800" b="1">
                <a:solidFill>
                  <a:srgbClr val="595959"/>
                </a:solidFill>
              </a:rPr>
              <a:t>Teaching Resources and Instructors’ Guidelines</a:t>
            </a:r>
            <a:endParaRPr lang="en-US" sz="2800" u="sng">
              <a:solidFill>
                <a:srgbClr val="595959"/>
              </a:solidFill>
            </a:endParaRPr>
          </a:p>
        </p:txBody>
      </p:sp>
      <p:sp>
        <p:nvSpPr>
          <p:cNvPr id="5" name="Rectangle 4"/>
          <p:cNvSpPr/>
          <p:nvPr/>
        </p:nvSpPr>
        <p:spPr>
          <a:xfrm>
            <a:off x="1386884" y="4046453"/>
            <a:ext cx="2312581" cy="1785506"/>
          </a:xfrm>
          <a:prstGeom prst="rect">
            <a:avLst/>
          </a:prstGeom>
        </p:spPr>
        <p:txBody>
          <a:bodyPr vert="horz" lIns="91440" tIns="45720" rIns="91440" bIns="45720" rtlCol="0" anchor="t">
            <a:normAutofit/>
          </a:bodyPr>
          <a:lstStyle/>
          <a:p>
            <a:pPr algn="ctr">
              <a:lnSpc>
                <a:spcPct val="90000"/>
              </a:lnSpc>
              <a:spcBef>
                <a:spcPts val="1000"/>
              </a:spcBef>
            </a:pPr>
            <a:r>
              <a:rPr lang="en-US" sz="1200">
                <a:solidFill>
                  <a:srgbClr val="595959"/>
                </a:solidFill>
              </a:rPr>
              <a:t>Chapter 8: Innovation networks</a:t>
            </a:r>
          </a:p>
        </p:txBody>
      </p:sp>
      <p:pic>
        <p:nvPicPr>
          <p:cNvPr id="3" name="Picture 2">
            <a:extLst>
              <a:ext uri="{FF2B5EF4-FFF2-40B4-BE49-F238E27FC236}">
                <a16:creationId xmlns:a16="http://schemas.microsoft.com/office/drawing/2014/main" id="{B6B4B910-1704-16F7-C132-A556C7079047}"/>
              </a:ext>
            </a:extLst>
          </p:cNvPr>
          <p:cNvPicPr>
            <a:picLocks noChangeAspect="1"/>
          </p:cNvPicPr>
          <p:nvPr/>
        </p:nvPicPr>
        <p:blipFill>
          <a:blip r:embed="rId2">
            <a:extLst>
              <a:ext uri="{28A0092B-C50C-407E-A947-70E740481C1C}">
                <a14:useLocalDpi xmlns:a14="http://schemas.microsoft.com/office/drawing/2010/main" val="0"/>
              </a:ext>
            </a:extLst>
          </a:blip>
          <a:srcRect l="2202" r="22522"/>
          <a:stretch/>
        </p:blipFill>
        <p:spPr>
          <a:xfrm>
            <a:off x="4580627" y="685799"/>
            <a:ext cx="4057650" cy="54864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125454"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515125" y="1153572"/>
            <a:ext cx="2400300" cy="4461163"/>
          </a:xfrm>
        </p:spPr>
        <p:txBody>
          <a:bodyPr vert="horz" lIns="91440" tIns="45720" rIns="91440" bIns="45720" rtlCol="0" anchor="ctr">
            <a:normAutofit/>
          </a:bodyPr>
          <a:lstStyle/>
          <a:p>
            <a:pPr algn="l">
              <a:lnSpc>
                <a:spcPct val="90000"/>
              </a:lnSpc>
            </a:pPr>
            <a:r>
              <a:rPr lang="en-US" sz="3700" b="1" kern="1200">
                <a:solidFill>
                  <a:srgbClr val="FFFFFF"/>
                </a:solidFill>
                <a:latin typeface="+mj-lt"/>
                <a:ea typeface="+mj-ea"/>
                <a:cs typeface="+mj-cs"/>
              </a:rPr>
              <a:t>Chapter 8: Innovation networks</a:t>
            </a:r>
            <a:endParaRPr lang="en-US" sz="3700" kern="1200">
              <a:solidFill>
                <a:srgbClr val="FFFFFF"/>
              </a:solidFill>
              <a:latin typeface="+mj-lt"/>
              <a:ea typeface="+mj-ea"/>
              <a:cs typeface="+mj-cs"/>
            </a:endParaRPr>
          </a:p>
        </p:txBody>
      </p:sp>
      <p:sp>
        <p:nvSpPr>
          <p:cNvPr id="16" name="Arc 15">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2455479"/>
            <a:ext cx="3062575"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5" name="Title 1"/>
          <p:cNvSpPr txBox="1">
            <a:spLocks/>
          </p:cNvSpPr>
          <p:nvPr/>
        </p:nvSpPr>
        <p:spPr>
          <a:xfrm>
            <a:off x="3335481" y="591344"/>
            <a:ext cx="5179868" cy="5585619"/>
          </a:xfrm>
          <a:prstGeom prst="rect">
            <a:avLst/>
          </a:prstGeom>
        </p:spPr>
        <p:txBody>
          <a:bodyPr vert="horz" lIns="91440" tIns="45720" rIns="91440" bIns="45720" rtlCol="0" anchor="ctr">
            <a:normAutofit/>
          </a:bodyPr>
          <a:lstStyle/>
          <a:p>
            <a:pPr marL="0" marR="0" lvl="0" indent="-228600" fontAlgn="auto">
              <a:lnSpc>
                <a:spcPct val="90000"/>
              </a:lnSpc>
              <a:spcAft>
                <a:spcPts val="600"/>
              </a:spcAft>
              <a:buClrTx/>
              <a:buSzTx/>
              <a:buFont typeface="Arial" panose="020B0604020202020204" pitchFamily="34" charset="0"/>
              <a:buChar char="•"/>
              <a:tabLst/>
              <a:defRPr/>
            </a:pPr>
            <a:endParaRPr kumimoji="0" lang="en-US" b="1" u="none" strike="noStrike" cap="none" spc="0" normalizeH="0" baseline="0" noProof="0">
              <a:ln>
                <a:noFill/>
              </a:ln>
              <a:effectLst/>
              <a:uLnTx/>
              <a:uFillTx/>
            </a:endParaRPr>
          </a:p>
          <a:p>
            <a:pPr indent="-228600">
              <a:lnSpc>
                <a:spcPct val="90000"/>
              </a:lnSpc>
              <a:spcAft>
                <a:spcPts val="600"/>
              </a:spcAft>
              <a:buFont typeface="Arial" panose="020B0604020202020204" pitchFamily="34" charset="0"/>
              <a:buChar char="•"/>
            </a:pPr>
            <a:r>
              <a:rPr lang="en-US" i="1"/>
              <a:t> In the following PowerPoint slides you will find the key headings from </a:t>
            </a:r>
            <a:r>
              <a:rPr lang="en-US" b="1"/>
              <a:t>CHAPTER 8</a:t>
            </a:r>
            <a:r>
              <a:rPr lang="en-US" i="1"/>
              <a:t> together with the main illustrations, tables, etc.  </a:t>
            </a:r>
          </a:p>
          <a:p>
            <a:pPr indent="-228600">
              <a:lnSpc>
                <a:spcPct val="90000"/>
              </a:lnSpc>
              <a:spcAft>
                <a:spcPts val="600"/>
              </a:spcAft>
              <a:buFont typeface="Arial" panose="020B0604020202020204" pitchFamily="34" charset="0"/>
              <a:buChar char="•"/>
            </a:pPr>
            <a:endParaRPr lang="en-US" i="1"/>
          </a:p>
          <a:p>
            <a:pPr indent="-228600">
              <a:lnSpc>
                <a:spcPct val="90000"/>
              </a:lnSpc>
              <a:spcAft>
                <a:spcPts val="600"/>
              </a:spcAft>
              <a:buFont typeface="Arial" panose="020B0604020202020204" pitchFamily="34" charset="0"/>
              <a:buChar char="•"/>
            </a:pPr>
            <a:r>
              <a:rPr lang="en-US" i="1"/>
              <a:t>There are also slides summarizing the key messages in bullet-point fashion, and a wide range of activities which you can use to help students explore around these themes.  </a:t>
            </a:r>
          </a:p>
          <a:p>
            <a:pPr indent="-228600">
              <a:lnSpc>
                <a:spcPct val="90000"/>
              </a:lnSpc>
              <a:spcAft>
                <a:spcPts val="600"/>
              </a:spcAft>
              <a:buFont typeface="Arial" panose="020B0604020202020204" pitchFamily="34" charset="0"/>
              <a:buChar char="•"/>
            </a:pPr>
            <a:endParaRPr lang="en-US" i="1"/>
          </a:p>
          <a:p>
            <a:pPr indent="-228600">
              <a:lnSpc>
                <a:spcPct val="90000"/>
              </a:lnSpc>
              <a:spcAft>
                <a:spcPts val="600"/>
              </a:spcAft>
              <a:buFont typeface="Arial" panose="020B0604020202020204" pitchFamily="34" charset="0"/>
              <a:buChar char="•"/>
            </a:pPr>
            <a:r>
              <a:rPr lang="en-US" i="1"/>
              <a:t>Finally there are some reflection questions which can be used as the basis for discussion or assignments.</a:t>
            </a:r>
          </a:p>
          <a:p>
            <a:pPr indent="-228600">
              <a:lnSpc>
                <a:spcPct val="90000"/>
              </a:lnSpc>
              <a:spcAft>
                <a:spcPts val="600"/>
              </a:spcAft>
              <a:buFont typeface="Arial" panose="020B0604020202020204" pitchFamily="34" charset="0"/>
              <a:buChar char="•"/>
            </a:pPr>
            <a:endParaRPr lang="en-US" i="1"/>
          </a:p>
        </p:txBody>
      </p:sp>
      <p:cxnSp>
        <p:nvCxnSpPr>
          <p:cNvPr id="7" name="Straight Connector 6"/>
          <p:cNvCxnSpPr/>
          <p:nvPr/>
        </p:nvCxnSpPr>
        <p:spPr>
          <a:xfrm>
            <a:off x="458167" y="1507529"/>
            <a:ext cx="8478016" cy="1588"/>
          </a:xfrm>
          <a:prstGeom prst="line">
            <a:avLst/>
          </a:prstGeom>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Shape 1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125454"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515125" y="1153572"/>
            <a:ext cx="2400300" cy="4461163"/>
          </a:xfrm>
        </p:spPr>
        <p:txBody>
          <a:bodyPr>
            <a:normAutofit/>
          </a:bodyPr>
          <a:lstStyle/>
          <a:p>
            <a:pPr lvl="0">
              <a:defRPr/>
            </a:pPr>
            <a:r>
              <a:rPr lang="en-GB" sz="3700" b="1">
                <a:solidFill>
                  <a:srgbClr val="FFFFFF"/>
                </a:solidFill>
              </a:rPr>
              <a:t>Learning Objectives</a:t>
            </a:r>
          </a:p>
        </p:txBody>
      </p:sp>
      <p:sp>
        <p:nvSpPr>
          <p:cNvPr id="22" name="Arc 2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2455479"/>
            <a:ext cx="3062575"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13" name="Content Placeholder 12"/>
          <p:cNvSpPr>
            <a:spLocks noGrp="1"/>
          </p:cNvSpPr>
          <p:nvPr>
            <p:ph idx="1"/>
          </p:nvPr>
        </p:nvSpPr>
        <p:spPr>
          <a:xfrm>
            <a:off x="3335481" y="591344"/>
            <a:ext cx="5179868" cy="5585619"/>
          </a:xfrm>
        </p:spPr>
        <p:txBody>
          <a:bodyPr anchor="ctr">
            <a:normAutofit/>
          </a:bodyPr>
          <a:lstStyle/>
          <a:p>
            <a:pPr marL="0" indent="0">
              <a:lnSpc>
                <a:spcPct val="90000"/>
              </a:lnSpc>
              <a:buNone/>
            </a:pPr>
            <a:r>
              <a:rPr lang="en-US" sz="2500" b="1"/>
              <a:t>By the end of this chapter you will develop an understanding of: </a:t>
            </a:r>
            <a:endParaRPr lang="en-US" sz="2500"/>
          </a:p>
          <a:p>
            <a:pPr>
              <a:lnSpc>
                <a:spcPct val="90000"/>
              </a:lnSpc>
            </a:pPr>
            <a:r>
              <a:rPr lang="en-US" sz="2500" b="1"/>
              <a:t>how networking helps the process of innovation through improving the range and scale of knowledge interaction </a:t>
            </a:r>
          </a:p>
          <a:p>
            <a:pPr>
              <a:lnSpc>
                <a:spcPct val="90000"/>
              </a:lnSpc>
            </a:pPr>
            <a:r>
              <a:rPr lang="en-US" sz="2500" b="1"/>
              <a:t>how different types of network can contribute to the process </a:t>
            </a:r>
          </a:p>
          <a:p>
            <a:pPr>
              <a:lnSpc>
                <a:spcPct val="90000"/>
              </a:lnSpc>
            </a:pPr>
            <a:r>
              <a:rPr lang="en-US" sz="2500" b="1"/>
              <a:t>how effective networks can be designed and operated </a:t>
            </a:r>
          </a:p>
          <a:p>
            <a:pPr>
              <a:lnSpc>
                <a:spcPct val="90000"/>
              </a:lnSpc>
            </a:pPr>
            <a:r>
              <a:rPr lang="en-US" sz="2500" b="1"/>
              <a:t>how drivers such as globalization and the emergence of Internet infrastructures are shaping an increasingly networked model of innovation. </a:t>
            </a:r>
          </a:p>
          <a:p>
            <a:pPr>
              <a:lnSpc>
                <a:spcPct val="90000"/>
              </a:lnSpc>
            </a:pPr>
            <a:endParaRPr lang="en-US" sz="2500"/>
          </a:p>
        </p:txBody>
      </p:sp>
      <p:cxnSp>
        <p:nvCxnSpPr>
          <p:cNvPr id="8" name="Straight Connector 7"/>
          <p:cNvCxnSpPr/>
          <p:nvPr/>
        </p:nvCxnSpPr>
        <p:spPr>
          <a:xfrm>
            <a:off x="458167" y="1495318"/>
            <a:ext cx="8478016" cy="1588"/>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69931454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3301E07F-4F79-4B58-8698-EF24DC1ECDB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4" name="Arc 13">
            <a:extLst>
              <a:ext uri="{FF2B5EF4-FFF2-40B4-BE49-F238E27FC236}">
                <a16:creationId xmlns:a16="http://schemas.microsoft.com/office/drawing/2014/main" id="{E58B2195-5055-402F-A3E7-53FF0E4980C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394377" y="775849"/>
            <a:ext cx="2240924" cy="2987899"/>
          </a:xfrm>
          <a:prstGeom prst="arc">
            <a:avLst>
              <a:gd name="adj1" fmla="val 14441841"/>
              <a:gd name="adj2" fmla="val 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02FF829E-164C-C647-862D-C0E45AB0C1E5}"/>
              </a:ext>
            </a:extLst>
          </p:cNvPr>
          <p:cNvSpPr>
            <a:spLocks noGrp="1"/>
          </p:cNvSpPr>
          <p:nvPr>
            <p:ph type="title"/>
          </p:nvPr>
        </p:nvSpPr>
        <p:spPr>
          <a:xfrm>
            <a:off x="5310553" y="647593"/>
            <a:ext cx="3350844" cy="3060541"/>
          </a:xfrm>
        </p:spPr>
        <p:txBody>
          <a:bodyPr vert="horz" lIns="91440" tIns="45720" rIns="91440" bIns="45720" rtlCol="0" anchor="b">
            <a:normAutofit/>
          </a:bodyPr>
          <a:lstStyle/>
          <a:p>
            <a:pPr>
              <a:lnSpc>
                <a:spcPct val="90000"/>
              </a:lnSpc>
            </a:pPr>
            <a:r>
              <a:rPr lang="en-US" sz="4700" kern="1200">
                <a:solidFill>
                  <a:srgbClr val="FFFFFF"/>
                </a:solidFill>
                <a:latin typeface="+mj-lt"/>
                <a:ea typeface="+mj-ea"/>
                <a:cs typeface="+mj-cs"/>
              </a:rPr>
              <a:t>Core themes and material from the book</a:t>
            </a:r>
          </a:p>
        </p:txBody>
      </p:sp>
      <p:sp>
        <p:nvSpPr>
          <p:cNvPr id="16" name="Oval 15">
            <a:extLst>
              <a:ext uri="{FF2B5EF4-FFF2-40B4-BE49-F238E27FC236}">
                <a16:creationId xmlns:a16="http://schemas.microsoft.com/office/drawing/2014/main" id="{9EE6F773-742A-491A-9A00-A2A150DF500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88276" y="366810"/>
            <a:ext cx="4593285" cy="6124381"/>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Graphic 6" descr="Books">
            <a:extLst>
              <a:ext uri="{FF2B5EF4-FFF2-40B4-BE49-F238E27FC236}">
                <a16:creationId xmlns:a16="http://schemas.microsoft.com/office/drawing/2014/main" id="{047FB8FE-B6DD-411D-B9FE-1BD2B5EA19BB}"/>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80060" y="1834479"/>
            <a:ext cx="3189041" cy="3189041"/>
          </a:xfrm>
          <a:custGeom>
            <a:avLst/>
            <a:gdLst/>
            <a:ahLst/>
            <a:cxnLst/>
            <a:rect l="l" t="t" r="r" b="b"/>
            <a:pathLst>
              <a:path w="4273177" h="4470400">
                <a:moveTo>
                  <a:pt x="75080" y="0"/>
                </a:moveTo>
                <a:lnTo>
                  <a:pt x="4198097" y="0"/>
                </a:lnTo>
                <a:cubicBezTo>
                  <a:pt x="4239563" y="0"/>
                  <a:pt x="4273177" y="33614"/>
                  <a:pt x="4273177" y="75080"/>
                </a:cubicBezTo>
                <a:lnTo>
                  <a:pt x="4273177" y="4395320"/>
                </a:lnTo>
                <a:cubicBezTo>
                  <a:pt x="4273177" y="4436786"/>
                  <a:pt x="4239563" y="4470400"/>
                  <a:pt x="4198097" y="4470400"/>
                </a:cubicBezTo>
                <a:lnTo>
                  <a:pt x="75080" y="4470400"/>
                </a:lnTo>
                <a:cubicBezTo>
                  <a:pt x="33614" y="4470400"/>
                  <a:pt x="0" y="4436786"/>
                  <a:pt x="0" y="4395320"/>
                </a:cubicBezTo>
                <a:lnTo>
                  <a:pt x="0" y="75080"/>
                </a:lnTo>
                <a:cubicBezTo>
                  <a:pt x="0" y="33614"/>
                  <a:pt x="33614" y="0"/>
                  <a:pt x="75080" y="0"/>
                </a:cubicBezTo>
                <a:close/>
              </a:path>
            </a:pathLst>
          </a:custGeom>
        </p:spPr>
      </p:pic>
    </p:spTree>
    <p:extLst>
      <p:ext uri="{BB962C8B-B14F-4D97-AF65-F5344CB8AC3E}">
        <p14:creationId xmlns:p14="http://schemas.microsoft.com/office/powerpoint/2010/main" val="349448928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62531" name="Picture 3" descr="IdeaGeneratorSheet"/>
          <p:cNvPicPr>
            <a:picLocks noChangeAspect="1" noChangeArrowheads="1"/>
          </p:cNvPicPr>
          <p:nvPr/>
        </p:nvPicPr>
        <p:blipFill>
          <a:blip r:embed="rId3" cstate="print"/>
          <a:srcRect/>
          <a:stretch>
            <a:fillRect/>
          </a:stretch>
        </p:blipFill>
        <p:spPr bwMode="auto">
          <a:xfrm>
            <a:off x="323850" y="1557338"/>
            <a:ext cx="2667000" cy="2128837"/>
          </a:xfrm>
          <a:prstGeom prst="rect">
            <a:avLst/>
          </a:prstGeom>
          <a:noFill/>
          <a:ln w="9525">
            <a:noFill/>
            <a:miter lim="800000"/>
            <a:headEnd/>
            <a:tailEnd/>
          </a:ln>
        </p:spPr>
      </p:pic>
      <p:sp>
        <p:nvSpPr>
          <p:cNvPr id="662532" name="AutoShape 4"/>
          <p:cNvSpPr>
            <a:spLocks noChangeArrowheads="1"/>
          </p:cNvSpPr>
          <p:nvPr/>
        </p:nvSpPr>
        <p:spPr bwMode="auto">
          <a:xfrm>
            <a:off x="2987675" y="2133600"/>
            <a:ext cx="1368425" cy="1727200"/>
          </a:xfrm>
          <a:prstGeom prst="chevron">
            <a:avLst>
              <a:gd name="adj" fmla="val 25000"/>
            </a:avLst>
          </a:prstGeom>
          <a:solidFill>
            <a:schemeClr val="accent1"/>
          </a:solidFill>
          <a:ln w="9525">
            <a:solidFill>
              <a:schemeClr val="tx1"/>
            </a:solidFill>
            <a:miter lim="800000"/>
            <a:headEnd/>
            <a:tailEnd/>
          </a:ln>
        </p:spPr>
        <p:txBody>
          <a:bodyPr wrap="none" anchor="ctr">
            <a:prstTxWarp prst="textNoShape">
              <a:avLst/>
            </a:prstTxWarp>
          </a:bodyPr>
          <a:lstStyle/>
          <a:p>
            <a:endParaRPr lang="en-GB" dirty="0"/>
          </a:p>
        </p:txBody>
      </p:sp>
      <p:sp>
        <p:nvSpPr>
          <p:cNvPr id="662533" name="AutoShape 5"/>
          <p:cNvSpPr>
            <a:spLocks noChangeArrowheads="1"/>
          </p:cNvSpPr>
          <p:nvPr/>
        </p:nvSpPr>
        <p:spPr bwMode="auto">
          <a:xfrm>
            <a:off x="4284663" y="2205038"/>
            <a:ext cx="1152525" cy="1584325"/>
          </a:xfrm>
          <a:prstGeom prst="chevron">
            <a:avLst>
              <a:gd name="adj" fmla="val 25000"/>
            </a:avLst>
          </a:prstGeom>
          <a:solidFill>
            <a:schemeClr val="accent1"/>
          </a:solidFill>
          <a:ln w="9525">
            <a:solidFill>
              <a:schemeClr val="tx1"/>
            </a:solidFill>
            <a:miter lim="800000"/>
            <a:headEnd/>
            <a:tailEnd/>
          </a:ln>
        </p:spPr>
        <p:txBody>
          <a:bodyPr wrap="none" anchor="ctr">
            <a:prstTxWarp prst="textNoShape">
              <a:avLst/>
            </a:prstTxWarp>
          </a:bodyPr>
          <a:lstStyle/>
          <a:p>
            <a:endParaRPr lang="en-GB" dirty="0"/>
          </a:p>
        </p:txBody>
      </p:sp>
      <p:sp>
        <p:nvSpPr>
          <p:cNvPr id="662534" name="AutoShape 6"/>
          <p:cNvSpPr>
            <a:spLocks noChangeArrowheads="1"/>
          </p:cNvSpPr>
          <p:nvPr/>
        </p:nvSpPr>
        <p:spPr bwMode="auto">
          <a:xfrm>
            <a:off x="5435600" y="2349500"/>
            <a:ext cx="936625" cy="1368425"/>
          </a:xfrm>
          <a:prstGeom prst="chevron">
            <a:avLst>
              <a:gd name="adj" fmla="val 25000"/>
            </a:avLst>
          </a:prstGeom>
          <a:solidFill>
            <a:schemeClr val="accent1"/>
          </a:solidFill>
          <a:ln w="9525">
            <a:solidFill>
              <a:schemeClr val="tx1"/>
            </a:solidFill>
            <a:miter lim="800000"/>
            <a:headEnd/>
            <a:tailEnd/>
          </a:ln>
        </p:spPr>
        <p:txBody>
          <a:bodyPr wrap="none" anchor="ctr">
            <a:prstTxWarp prst="textNoShape">
              <a:avLst/>
            </a:prstTxWarp>
          </a:bodyPr>
          <a:lstStyle/>
          <a:p>
            <a:endParaRPr lang="en-GB" dirty="0"/>
          </a:p>
        </p:txBody>
      </p:sp>
      <p:sp>
        <p:nvSpPr>
          <p:cNvPr id="662535" name="AutoShape 7"/>
          <p:cNvSpPr>
            <a:spLocks noChangeArrowheads="1"/>
          </p:cNvSpPr>
          <p:nvPr/>
        </p:nvSpPr>
        <p:spPr bwMode="auto">
          <a:xfrm>
            <a:off x="6516688" y="2565400"/>
            <a:ext cx="504825" cy="1008063"/>
          </a:xfrm>
          <a:prstGeom prst="chevron">
            <a:avLst>
              <a:gd name="adj" fmla="val 25000"/>
            </a:avLst>
          </a:prstGeom>
          <a:solidFill>
            <a:schemeClr val="accent1"/>
          </a:solidFill>
          <a:ln w="9525">
            <a:solidFill>
              <a:schemeClr val="tx1"/>
            </a:solidFill>
            <a:miter lim="800000"/>
            <a:headEnd/>
            <a:tailEnd/>
          </a:ln>
        </p:spPr>
        <p:txBody>
          <a:bodyPr wrap="none" anchor="ctr">
            <a:prstTxWarp prst="textNoShape">
              <a:avLst/>
            </a:prstTxWarp>
          </a:bodyPr>
          <a:lstStyle/>
          <a:p>
            <a:endParaRPr lang="en-GB" dirty="0"/>
          </a:p>
        </p:txBody>
      </p:sp>
      <p:sp>
        <p:nvSpPr>
          <p:cNvPr id="662536" name="AutoShape 8"/>
          <p:cNvSpPr>
            <a:spLocks noChangeArrowheads="1"/>
          </p:cNvSpPr>
          <p:nvPr/>
        </p:nvSpPr>
        <p:spPr bwMode="auto">
          <a:xfrm>
            <a:off x="8101013" y="1700213"/>
            <a:ext cx="288925" cy="287337"/>
          </a:xfrm>
          <a:prstGeom prst="star5">
            <a:avLst/>
          </a:prstGeom>
          <a:solidFill>
            <a:srgbClr val="ECF115"/>
          </a:solidFill>
          <a:ln w="9525">
            <a:solidFill>
              <a:schemeClr val="tx1"/>
            </a:solidFill>
            <a:miter lim="800000"/>
            <a:headEnd/>
            <a:tailEnd/>
          </a:ln>
          <a:effectLst/>
        </p:spPr>
        <p:txBody>
          <a:bodyPr wrap="none" anchor="ctr"/>
          <a:lstStyle/>
          <a:p>
            <a:pPr>
              <a:defRPr/>
            </a:pPr>
            <a:endParaRPr lang="en-GB" dirty="0">
              <a:latin typeface="Times" pitchFamily="18" charset="0"/>
            </a:endParaRPr>
          </a:p>
        </p:txBody>
      </p:sp>
      <p:sp>
        <p:nvSpPr>
          <p:cNvPr id="662537" name="AutoShape 9"/>
          <p:cNvSpPr>
            <a:spLocks noChangeArrowheads="1"/>
          </p:cNvSpPr>
          <p:nvPr/>
        </p:nvSpPr>
        <p:spPr bwMode="auto">
          <a:xfrm>
            <a:off x="7524750" y="2349500"/>
            <a:ext cx="288925" cy="287338"/>
          </a:xfrm>
          <a:prstGeom prst="star5">
            <a:avLst/>
          </a:prstGeom>
          <a:solidFill>
            <a:srgbClr val="ECF115"/>
          </a:solidFill>
          <a:ln w="9525">
            <a:solidFill>
              <a:schemeClr val="tx1"/>
            </a:solidFill>
            <a:miter lim="800000"/>
            <a:headEnd/>
            <a:tailEnd/>
          </a:ln>
          <a:effectLst/>
        </p:spPr>
        <p:txBody>
          <a:bodyPr wrap="none" anchor="ctr"/>
          <a:lstStyle/>
          <a:p>
            <a:pPr>
              <a:defRPr/>
            </a:pPr>
            <a:endParaRPr lang="en-GB" dirty="0">
              <a:latin typeface="Times" pitchFamily="18" charset="0"/>
            </a:endParaRPr>
          </a:p>
        </p:txBody>
      </p:sp>
      <p:sp>
        <p:nvSpPr>
          <p:cNvPr id="662538" name="AutoShape 10"/>
          <p:cNvSpPr>
            <a:spLocks noChangeArrowheads="1"/>
          </p:cNvSpPr>
          <p:nvPr/>
        </p:nvSpPr>
        <p:spPr bwMode="auto">
          <a:xfrm>
            <a:off x="8459788" y="2276475"/>
            <a:ext cx="288925" cy="287338"/>
          </a:xfrm>
          <a:prstGeom prst="star5">
            <a:avLst/>
          </a:prstGeom>
          <a:solidFill>
            <a:srgbClr val="ECF115"/>
          </a:solidFill>
          <a:ln w="9525">
            <a:solidFill>
              <a:schemeClr val="tx1"/>
            </a:solidFill>
            <a:miter lim="800000"/>
            <a:headEnd/>
            <a:tailEnd/>
          </a:ln>
          <a:effectLst/>
        </p:spPr>
        <p:txBody>
          <a:bodyPr wrap="none" anchor="ctr"/>
          <a:lstStyle/>
          <a:p>
            <a:pPr>
              <a:defRPr/>
            </a:pPr>
            <a:endParaRPr lang="en-GB" dirty="0">
              <a:latin typeface="Times" pitchFamily="18" charset="0"/>
            </a:endParaRPr>
          </a:p>
        </p:txBody>
      </p:sp>
      <p:sp>
        <p:nvSpPr>
          <p:cNvPr id="662539" name="AutoShape 11"/>
          <p:cNvSpPr>
            <a:spLocks noChangeArrowheads="1"/>
          </p:cNvSpPr>
          <p:nvPr/>
        </p:nvSpPr>
        <p:spPr bwMode="auto">
          <a:xfrm>
            <a:off x="8172450" y="2708275"/>
            <a:ext cx="288925" cy="287338"/>
          </a:xfrm>
          <a:prstGeom prst="star5">
            <a:avLst/>
          </a:prstGeom>
          <a:solidFill>
            <a:srgbClr val="ECF115"/>
          </a:solidFill>
          <a:ln w="9525">
            <a:solidFill>
              <a:schemeClr val="tx1"/>
            </a:solidFill>
            <a:miter lim="800000"/>
            <a:headEnd/>
            <a:tailEnd/>
          </a:ln>
          <a:effectLst/>
        </p:spPr>
        <p:txBody>
          <a:bodyPr wrap="none" anchor="ctr"/>
          <a:lstStyle/>
          <a:p>
            <a:pPr>
              <a:defRPr/>
            </a:pPr>
            <a:endParaRPr lang="en-GB" dirty="0">
              <a:latin typeface="Times" pitchFamily="18" charset="0"/>
            </a:endParaRPr>
          </a:p>
        </p:txBody>
      </p:sp>
      <p:sp>
        <p:nvSpPr>
          <p:cNvPr id="662540" name="AutoShape 12"/>
          <p:cNvSpPr>
            <a:spLocks noChangeArrowheads="1"/>
          </p:cNvSpPr>
          <p:nvPr/>
        </p:nvSpPr>
        <p:spPr bwMode="auto">
          <a:xfrm>
            <a:off x="7740650" y="3068638"/>
            <a:ext cx="288925" cy="287337"/>
          </a:xfrm>
          <a:prstGeom prst="star5">
            <a:avLst/>
          </a:prstGeom>
          <a:solidFill>
            <a:srgbClr val="ECF115"/>
          </a:solidFill>
          <a:ln w="9525">
            <a:solidFill>
              <a:schemeClr val="tx1"/>
            </a:solidFill>
            <a:miter lim="800000"/>
            <a:headEnd/>
            <a:tailEnd/>
          </a:ln>
          <a:effectLst/>
        </p:spPr>
        <p:txBody>
          <a:bodyPr wrap="none" anchor="ctr"/>
          <a:lstStyle/>
          <a:p>
            <a:pPr>
              <a:defRPr/>
            </a:pPr>
            <a:endParaRPr lang="en-GB" dirty="0">
              <a:latin typeface="Times" pitchFamily="18" charset="0"/>
            </a:endParaRPr>
          </a:p>
        </p:txBody>
      </p:sp>
      <p:sp>
        <p:nvSpPr>
          <p:cNvPr id="662541" name="AutoShape 13"/>
          <p:cNvSpPr>
            <a:spLocks noChangeArrowheads="1"/>
          </p:cNvSpPr>
          <p:nvPr/>
        </p:nvSpPr>
        <p:spPr bwMode="auto">
          <a:xfrm>
            <a:off x="8604250" y="3140075"/>
            <a:ext cx="288925" cy="287338"/>
          </a:xfrm>
          <a:prstGeom prst="star5">
            <a:avLst/>
          </a:prstGeom>
          <a:solidFill>
            <a:srgbClr val="ECF115"/>
          </a:solidFill>
          <a:ln w="9525">
            <a:solidFill>
              <a:schemeClr val="tx1"/>
            </a:solidFill>
            <a:miter lim="800000"/>
            <a:headEnd/>
            <a:tailEnd/>
          </a:ln>
          <a:effectLst/>
        </p:spPr>
        <p:txBody>
          <a:bodyPr wrap="none" anchor="ctr"/>
          <a:lstStyle/>
          <a:p>
            <a:pPr>
              <a:defRPr/>
            </a:pPr>
            <a:endParaRPr lang="en-GB" dirty="0">
              <a:latin typeface="Times" pitchFamily="18" charset="0"/>
            </a:endParaRPr>
          </a:p>
        </p:txBody>
      </p:sp>
      <p:sp>
        <p:nvSpPr>
          <p:cNvPr id="662542" name="Text Box 14"/>
          <p:cNvSpPr txBox="1">
            <a:spLocks noChangeArrowheads="1"/>
          </p:cNvSpPr>
          <p:nvPr/>
        </p:nvSpPr>
        <p:spPr bwMode="auto">
          <a:xfrm>
            <a:off x="7575550" y="3952875"/>
            <a:ext cx="1563688" cy="457200"/>
          </a:xfrm>
          <a:prstGeom prst="rect">
            <a:avLst/>
          </a:prstGeom>
          <a:noFill/>
          <a:ln w="9525">
            <a:noFill/>
            <a:miter lim="800000"/>
            <a:headEnd/>
            <a:tailEnd/>
          </a:ln>
        </p:spPr>
        <p:txBody>
          <a:bodyPr wrap="none">
            <a:prstTxWarp prst="textNoShape">
              <a:avLst/>
            </a:prstTxWarp>
            <a:spAutoFit/>
          </a:bodyPr>
          <a:lstStyle/>
          <a:p>
            <a:r>
              <a:rPr lang="en-GB" dirty="0">
                <a:latin typeface="Times New Roman" charset="0"/>
              </a:rPr>
              <a:t>Success (?)</a:t>
            </a:r>
          </a:p>
        </p:txBody>
      </p:sp>
      <p:sp>
        <p:nvSpPr>
          <p:cNvPr id="662543" name="Text Box 15"/>
          <p:cNvSpPr txBox="1">
            <a:spLocks noChangeArrowheads="1"/>
          </p:cNvSpPr>
          <p:nvPr/>
        </p:nvSpPr>
        <p:spPr bwMode="auto">
          <a:xfrm>
            <a:off x="3687763" y="4025900"/>
            <a:ext cx="1116012" cy="457200"/>
          </a:xfrm>
          <a:prstGeom prst="rect">
            <a:avLst/>
          </a:prstGeom>
          <a:noFill/>
          <a:ln w="9525">
            <a:noFill/>
            <a:miter lim="800000"/>
            <a:headEnd/>
            <a:tailEnd/>
          </a:ln>
        </p:spPr>
        <p:txBody>
          <a:bodyPr wrap="none">
            <a:prstTxWarp prst="textNoShape">
              <a:avLst/>
            </a:prstTxWarp>
            <a:spAutoFit/>
          </a:bodyPr>
          <a:lstStyle/>
          <a:p>
            <a:r>
              <a:rPr lang="en-GB" dirty="0">
                <a:latin typeface="Times New Roman" charset="0"/>
              </a:rPr>
              <a:t>Process</a:t>
            </a:r>
          </a:p>
        </p:txBody>
      </p:sp>
      <p:cxnSp>
        <p:nvCxnSpPr>
          <p:cNvPr id="16" name="Straight Connector 15"/>
          <p:cNvCxnSpPr/>
          <p:nvPr/>
        </p:nvCxnSpPr>
        <p:spPr>
          <a:xfrm>
            <a:off x="458167" y="1495318"/>
            <a:ext cx="8478016" cy="1588"/>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17" name="Title 1"/>
          <p:cNvSpPr txBox="1">
            <a:spLocks/>
          </p:cNvSpPr>
          <p:nvPr/>
        </p:nvSpPr>
        <p:spPr>
          <a:xfrm>
            <a:off x="467544" y="341784"/>
            <a:ext cx="8229600" cy="1143000"/>
          </a:xfrm>
          <a:prstGeom prst="rect">
            <a:avLst/>
          </a:prstGeom>
        </p:spPr>
        <p:txBody>
          <a:bodyPr>
            <a:noAutofit/>
          </a:bodyPr>
          <a:lstStyle/>
          <a:p>
            <a:pPr marL="0" marR="0" lvl="0" indent="0" algn="ctr" defTabSz="457200" rtl="0" eaLnBrk="1" fontAlgn="auto" latinLnBrk="0" hangingPunct="1">
              <a:lnSpc>
                <a:spcPct val="100000"/>
              </a:lnSpc>
              <a:spcBef>
                <a:spcPct val="0"/>
              </a:spcBef>
              <a:spcAft>
                <a:spcPts val="0"/>
              </a:spcAft>
              <a:buClrTx/>
              <a:buSzTx/>
              <a:buFontTx/>
              <a:buNone/>
              <a:tabLst/>
              <a:defRPr/>
            </a:pPr>
            <a:r>
              <a:rPr kumimoji="0" lang="en-GB" sz="3600" b="1" i="0" u="none" strike="noStrike" kern="1200" cap="none" spc="0" normalizeH="0" baseline="0" noProof="0" dirty="0">
                <a:ln>
                  <a:noFill/>
                </a:ln>
                <a:solidFill>
                  <a:srgbClr val="008000"/>
                </a:solidFill>
                <a:effectLst/>
                <a:uLnTx/>
                <a:uFillTx/>
                <a:latin typeface="+mj-lt"/>
                <a:ea typeface="+mj-ea"/>
                <a:cs typeface="+mj-cs"/>
              </a:rPr>
              <a:t>How innovation happens?</a:t>
            </a:r>
          </a:p>
        </p:txBody>
      </p:sp>
    </p:spTree>
    <p:extLst>
      <p:ext uri="{BB962C8B-B14F-4D97-AF65-F5344CB8AC3E}">
        <p14:creationId xmlns:p14="http://schemas.microsoft.com/office/powerpoint/2010/main" val="11379611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62531"/>
                                        </p:tgtEl>
                                        <p:attrNameLst>
                                          <p:attrName>style.visibility</p:attrName>
                                        </p:attrNameLst>
                                      </p:cBhvr>
                                      <p:to>
                                        <p:strVal val="visible"/>
                                      </p:to>
                                    </p:set>
                                    <p:anim calcmode="lin" valueType="num">
                                      <p:cBhvr additive="base">
                                        <p:cTn id="7" dur="500" fill="hold"/>
                                        <p:tgtEl>
                                          <p:spTgt spid="662531"/>
                                        </p:tgtEl>
                                        <p:attrNameLst>
                                          <p:attrName>ppt_x</p:attrName>
                                        </p:attrNameLst>
                                      </p:cBhvr>
                                      <p:tavLst>
                                        <p:tav tm="0">
                                          <p:val>
                                            <p:strVal val="#ppt_x"/>
                                          </p:val>
                                        </p:tav>
                                        <p:tav tm="100000">
                                          <p:val>
                                            <p:strVal val="#ppt_x"/>
                                          </p:val>
                                        </p:tav>
                                      </p:tavLst>
                                    </p:anim>
                                    <p:anim calcmode="lin" valueType="num">
                                      <p:cBhvr additive="base">
                                        <p:cTn id="8" dur="500" fill="hold"/>
                                        <p:tgtEl>
                                          <p:spTgt spid="662531"/>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662532"/>
                                        </p:tgtEl>
                                        <p:attrNameLst>
                                          <p:attrName>style.visibility</p:attrName>
                                        </p:attrNameLst>
                                      </p:cBhvr>
                                      <p:to>
                                        <p:strVal val="visible"/>
                                      </p:to>
                                    </p:set>
                                    <p:anim calcmode="lin" valueType="num">
                                      <p:cBhvr additive="base">
                                        <p:cTn id="13" dur="500" fill="hold"/>
                                        <p:tgtEl>
                                          <p:spTgt spid="662532"/>
                                        </p:tgtEl>
                                        <p:attrNameLst>
                                          <p:attrName>ppt_x</p:attrName>
                                        </p:attrNameLst>
                                      </p:cBhvr>
                                      <p:tavLst>
                                        <p:tav tm="0">
                                          <p:val>
                                            <p:strVal val="#ppt_x"/>
                                          </p:val>
                                        </p:tav>
                                        <p:tav tm="100000">
                                          <p:val>
                                            <p:strVal val="#ppt_x"/>
                                          </p:val>
                                        </p:tav>
                                      </p:tavLst>
                                    </p:anim>
                                    <p:anim calcmode="lin" valueType="num">
                                      <p:cBhvr additive="base">
                                        <p:cTn id="14" dur="500" fill="hold"/>
                                        <p:tgtEl>
                                          <p:spTgt spid="662532"/>
                                        </p:tgtEl>
                                        <p:attrNameLst>
                                          <p:attrName>ppt_y</p:attrName>
                                        </p:attrNameLst>
                                      </p:cBhvr>
                                      <p:tavLst>
                                        <p:tav tm="0">
                                          <p:val>
                                            <p:strVal val="1+#ppt_h/2"/>
                                          </p:val>
                                        </p:tav>
                                        <p:tav tm="100000">
                                          <p:val>
                                            <p:strVal val="#ppt_y"/>
                                          </p:val>
                                        </p:tav>
                                      </p:tavLst>
                                    </p:anim>
                                  </p:childTnLst>
                                </p:cTn>
                              </p:par>
                              <p:par>
                                <p:cTn id="15" presetID="2" presetClass="entr" presetSubtype="4" fill="hold" grpId="0" nodeType="withEffect">
                                  <p:stCondLst>
                                    <p:cond delay="0"/>
                                  </p:stCondLst>
                                  <p:childTnLst>
                                    <p:set>
                                      <p:cBhvr>
                                        <p:cTn id="16" dur="1" fill="hold">
                                          <p:stCondLst>
                                            <p:cond delay="0"/>
                                          </p:stCondLst>
                                        </p:cTn>
                                        <p:tgtEl>
                                          <p:spTgt spid="662533"/>
                                        </p:tgtEl>
                                        <p:attrNameLst>
                                          <p:attrName>style.visibility</p:attrName>
                                        </p:attrNameLst>
                                      </p:cBhvr>
                                      <p:to>
                                        <p:strVal val="visible"/>
                                      </p:to>
                                    </p:set>
                                    <p:anim calcmode="lin" valueType="num">
                                      <p:cBhvr additive="base">
                                        <p:cTn id="17" dur="500" fill="hold"/>
                                        <p:tgtEl>
                                          <p:spTgt spid="662533"/>
                                        </p:tgtEl>
                                        <p:attrNameLst>
                                          <p:attrName>ppt_x</p:attrName>
                                        </p:attrNameLst>
                                      </p:cBhvr>
                                      <p:tavLst>
                                        <p:tav tm="0">
                                          <p:val>
                                            <p:strVal val="#ppt_x"/>
                                          </p:val>
                                        </p:tav>
                                        <p:tav tm="100000">
                                          <p:val>
                                            <p:strVal val="#ppt_x"/>
                                          </p:val>
                                        </p:tav>
                                      </p:tavLst>
                                    </p:anim>
                                    <p:anim calcmode="lin" valueType="num">
                                      <p:cBhvr additive="base">
                                        <p:cTn id="18" dur="500" fill="hold"/>
                                        <p:tgtEl>
                                          <p:spTgt spid="662533"/>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662534"/>
                                        </p:tgtEl>
                                        <p:attrNameLst>
                                          <p:attrName>style.visibility</p:attrName>
                                        </p:attrNameLst>
                                      </p:cBhvr>
                                      <p:to>
                                        <p:strVal val="visible"/>
                                      </p:to>
                                    </p:set>
                                    <p:anim calcmode="lin" valueType="num">
                                      <p:cBhvr additive="base">
                                        <p:cTn id="21" dur="500" fill="hold"/>
                                        <p:tgtEl>
                                          <p:spTgt spid="662534"/>
                                        </p:tgtEl>
                                        <p:attrNameLst>
                                          <p:attrName>ppt_x</p:attrName>
                                        </p:attrNameLst>
                                      </p:cBhvr>
                                      <p:tavLst>
                                        <p:tav tm="0">
                                          <p:val>
                                            <p:strVal val="#ppt_x"/>
                                          </p:val>
                                        </p:tav>
                                        <p:tav tm="100000">
                                          <p:val>
                                            <p:strVal val="#ppt_x"/>
                                          </p:val>
                                        </p:tav>
                                      </p:tavLst>
                                    </p:anim>
                                    <p:anim calcmode="lin" valueType="num">
                                      <p:cBhvr additive="base">
                                        <p:cTn id="22" dur="500" fill="hold"/>
                                        <p:tgtEl>
                                          <p:spTgt spid="662534"/>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0"/>
                                  </p:stCondLst>
                                  <p:childTnLst>
                                    <p:set>
                                      <p:cBhvr>
                                        <p:cTn id="24" dur="1" fill="hold">
                                          <p:stCondLst>
                                            <p:cond delay="0"/>
                                          </p:stCondLst>
                                        </p:cTn>
                                        <p:tgtEl>
                                          <p:spTgt spid="662535"/>
                                        </p:tgtEl>
                                        <p:attrNameLst>
                                          <p:attrName>style.visibility</p:attrName>
                                        </p:attrNameLst>
                                      </p:cBhvr>
                                      <p:to>
                                        <p:strVal val="visible"/>
                                      </p:to>
                                    </p:set>
                                    <p:anim calcmode="lin" valueType="num">
                                      <p:cBhvr additive="base">
                                        <p:cTn id="25" dur="500" fill="hold"/>
                                        <p:tgtEl>
                                          <p:spTgt spid="662535"/>
                                        </p:tgtEl>
                                        <p:attrNameLst>
                                          <p:attrName>ppt_x</p:attrName>
                                        </p:attrNameLst>
                                      </p:cBhvr>
                                      <p:tavLst>
                                        <p:tav tm="0">
                                          <p:val>
                                            <p:strVal val="#ppt_x"/>
                                          </p:val>
                                        </p:tav>
                                        <p:tav tm="100000">
                                          <p:val>
                                            <p:strVal val="#ppt_x"/>
                                          </p:val>
                                        </p:tav>
                                      </p:tavLst>
                                    </p:anim>
                                    <p:anim calcmode="lin" valueType="num">
                                      <p:cBhvr additive="base">
                                        <p:cTn id="26" dur="500" fill="hold"/>
                                        <p:tgtEl>
                                          <p:spTgt spid="662535"/>
                                        </p:tgtEl>
                                        <p:attrNameLst>
                                          <p:attrName>ppt_y</p:attrName>
                                        </p:attrNameLst>
                                      </p:cBhvr>
                                      <p:tavLst>
                                        <p:tav tm="0">
                                          <p:val>
                                            <p:strVal val="1+#ppt_h/2"/>
                                          </p:val>
                                        </p:tav>
                                        <p:tav tm="100000">
                                          <p:val>
                                            <p:strVal val="#ppt_y"/>
                                          </p:val>
                                        </p:tav>
                                      </p:tavLst>
                                    </p:anim>
                                  </p:childTnLst>
                                </p:cTn>
                              </p:par>
                              <p:par>
                                <p:cTn id="27" presetID="2" presetClass="entr" presetSubtype="4" fill="hold" grpId="0" nodeType="withEffect">
                                  <p:stCondLst>
                                    <p:cond delay="0"/>
                                  </p:stCondLst>
                                  <p:childTnLst>
                                    <p:set>
                                      <p:cBhvr>
                                        <p:cTn id="28" dur="1" fill="hold">
                                          <p:stCondLst>
                                            <p:cond delay="0"/>
                                          </p:stCondLst>
                                        </p:cTn>
                                        <p:tgtEl>
                                          <p:spTgt spid="662543"/>
                                        </p:tgtEl>
                                        <p:attrNameLst>
                                          <p:attrName>style.visibility</p:attrName>
                                        </p:attrNameLst>
                                      </p:cBhvr>
                                      <p:to>
                                        <p:strVal val="visible"/>
                                      </p:to>
                                    </p:set>
                                    <p:anim calcmode="lin" valueType="num">
                                      <p:cBhvr additive="base">
                                        <p:cTn id="29" dur="500" fill="hold"/>
                                        <p:tgtEl>
                                          <p:spTgt spid="662543"/>
                                        </p:tgtEl>
                                        <p:attrNameLst>
                                          <p:attrName>ppt_x</p:attrName>
                                        </p:attrNameLst>
                                      </p:cBhvr>
                                      <p:tavLst>
                                        <p:tav tm="0">
                                          <p:val>
                                            <p:strVal val="#ppt_x"/>
                                          </p:val>
                                        </p:tav>
                                        <p:tav tm="100000">
                                          <p:val>
                                            <p:strVal val="#ppt_x"/>
                                          </p:val>
                                        </p:tav>
                                      </p:tavLst>
                                    </p:anim>
                                    <p:anim calcmode="lin" valueType="num">
                                      <p:cBhvr additive="base">
                                        <p:cTn id="30" dur="500" fill="hold"/>
                                        <p:tgtEl>
                                          <p:spTgt spid="662543"/>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grpId="0" nodeType="clickEffect">
                                  <p:stCondLst>
                                    <p:cond delay="0"/>
                                  </p:stCondLst>
                                  <p:childTnLst>
                                    <p:set>
                                      <p:cBhvr>
                                        <p:cTn id="34" dur="1" fill="hold">
                                          <p:stCondLst>
                                            <p:cond delay="0"/>
                                          </p:stCondLst>
                                        </p:cTn>
                                        <p:tgtEl>
                                          <p:spTgt spid="662537"/>
                                        </p:tgtEl>
                                        <p:attrNameLst>
                                          <p:attrName>style.visibility</p:attrName>
                                        </p:attrNameLst>
                                      </p:cBhvr>
                                      <p:to>
                                        <p:strVal val="visible"/>
                                      </p:to>
                                    </p:set>
                                    <p:anim calcmode="lin" valueType="num">
                                      <p:cBhvr additive="base">
                                        <p:cTn id="35" dur="500" fill="hold"/>
                                        <p:tgtEl>
                                          <p:spTgt spid="662537"/>
                                        </p:tgtEl>
                                        <p:attrNameLst>
                                          <p:attrName>ppt_x</p:attrName>
                                        </p:attrNameLst>
                                      </p:cBhvr>
                                      <p:tavLst>
                                        <p:tav tm="0">
                                          <p:val>
                                            <p:strVal val="#ppt_x"/>
                                          </p:val>
                                        </p:tav>
                                        <p:tav tm="100000">
                                          <p:val>
                                            <p:strVal val="#ppt_x"/>
                                          </p:val>
                                        </p:tav>
                                      </p:tavLst>
                                    </p:anim>
                                    <p:anim calcmode="lin" valueType="num">
                                      <p:cBhvr additive="base">
                                        <p:cTn id="36" dur="500" fill="hold"/>
                                        <p:tgtEl>
                                          <p:spTgt spid="662537"/>
                                        </p:tgtEl>
                                        <p:attrNameLst>
                                          <p:attrName>ppt_y</p:attrName>
                                        </p:attrNameLst>
                                      </p:cBhvr>
                                      <p:tavLst>
                                        <p:tav tm="0">
                                          <p:val>
                                            <p:strVal val="1+#ppt_h/2"/>
                                          </p:val>
                                        </p:tav>
                                        <p:tav tm="100000">
                                          <p:val>
                                            <p:strVal val="#ppt_y"/>
                                          </p:val>
                                        </p:tav>
                                      </p:tavLst>
                                    </p:anim>
                                  </p:childTnLst>
                                </p:cTn>
                              </p:par>
                              <p:par>
                                <p:cTn id="37" presetID="2" presetClass="entr" presetSubtype="4" fill="hold" grpId="0" nodeType="withEffect">
                                  <p:stCondLst>
                                    <p:cond delay="0"/>
                                  </p:stCondLst>
                                  <p:childTnLst>
                                    <p:set>
                                      <p:cBhvr>
                                        <p:cTn id="38" dur="1" fill="hold">
                                          <p:stCondLst>
                                            <p:cond delay="0"/>
                                          </p:stCondLst>
                                        </p:cTn>
                                        <p:tgtEl>
                                          <p:spTgt spid="662536"/>
                                        </p:tgtEl>
                                        <p:attrNameLst>
                                          <p:attrName>style.visibility</p:attrName>
                                        </p:attrNameLst>
                                      </p:cBhvr>
                                      <p:to>
                                        <p:strVal val="visible"/>
                                      </p:to>
                                    </p:set>
                                    <p:anim calcmode="lin" valueType="num">
                                      <p:cBhvr additive="base">
                                        <p:cTn id="39" dur="500" fill="hold"/>
                                        <p:tgtEl>
                                          <p:spTgt spid="662536"/>
                                        </p:tgtEl>
                                        <p:attrNameLst>
                                          <p:attrName>ppt_x</p:attrName>
                                        </p:attrNameLst>
                                      </p:cBhvr>
                                      <p:tavLst>
                                        <p:tav tm="0">
                                          <p:val>
                                            <p:strVal val="#ppt_x"/>
                                          </p:val>
                                        </p:tav>
                                        <p:tav tm="100000">
                                          <p:val>
                                            <p:strVal val="#ppt_x"/>
                                          </p:val>
                                        </p:tav>
                                      </p:tavLst>
                                    </p:anim>
                                    <p:anim calcmode="lin" valueType="num">
                                      <p:cBhvr additive="base">
                                        <p:cTn id="40" dur="500" fill="hold"/>
                                        <p:tgtEl>
                                          <p:spTgt spid="662536"/>
                                        </p:tgtEl>
                                        <p:attrNameLst>
                                          <p:attrName>ppt_y</p:attrName>
                                        </p:attrNameLst>
                                      </p:cBhvr>
                                      <p:tavLst>
                                        <p:tav tm="0">
                                          <p:val>
                                            <p:strVal val="1+#ppt_h/2"/>
                                          </p:val>
                                        </p:tav>
                                        <p:tav tm="100000">
                                          <p:val>
                                            <p:strVal val="#ppt_y"/>
                                          </p:val>
                                        </p:tav>
                                      </p:tavLst>
                                    </p:anim>
                                  </p:childTnLst>
                                </p:cTn>
                              </p:par>
                              <p:par>
                                <p:cTn id="41" presetID="2" presetClass="entr" presetSubtype="4" fill="hold" grpId="0" nodeType="withEffect">
                                  <p:stCondLst>
                                    <p:cond delay="0"/>
                                  </p:stCondLst>
                                  <p:childTnLst>
                                    <p:set>
                                      <p:cBhvr>
                                        <p:cTn id="42" dur="1" fill="hold">
                                          <p:stCondLst>
                                            <p:cond delay="0"/>
                                          </p:stCondLst>
                                        </p:cTn>
                                        <p:tgtEl>
                                          <p:spTgt spid="662538"/>
                                        </p:tgtEl>
                                        <p:attrNameLst>
                                          <p:attrName>style.visibility</p:attrName>
                                        </p:attrNameLst>
                                      </p:cBhvr>
                                      <p:to>
                                        <p:strVal val="visible"/>
                                      </p:to>
                                    </p:set>
                                    <p:anim calcmode="lin" valueType="num">
                                      <p:cBhvr additive="base">
                                        <p:cTn id="43" dur="500" fill="hold"/>
                                        <p:tgtEl>
                                          <p:spTgt spid="662538"/>
                                        </p:tgtEl>
                                        <p:attrNameLst>
                                          <p:attrName>ppt_x</p:attrName>
                                        </p:attrNameLst>
                                      </p:cBhvr>
                                      <p:tavLst>
                                        <p:tav tm="0">
                                          <p:val>
                                            <p:strVal val="#ppt_x"/>
                                          </p:val>
                                        </p:tav>
                                        <p:tav tm="100000">
                                          <p:val>
                                            <p:strVal val="#ppt_x"/>
                                          </p:val>
                                        </p:tav>
                                      </p:tavLst>
                                    </p:anim>
                                    <p:anim calcmode="lin" valueType="num">
                                      <p:cBhvr additive="base">
                                        <p:cTn id="44" dur="500" fill="hold"/>
                                        <p:tgtEl>
                                          <p:spTgt spid="662538"/>
                                        </p:tgtEl>
                                        <p:attrNameLst>
                                          <p:attrName>ppt_y</p:attrName>
                                        </p:attrNameLst>
                                      </p:cBhvr>
                                      <p:tavLst>
                                        <p:tav tm="0">
                                          <p:val>
                                            <p:strVal val="1+#ppt_h/2"/>
                                          </p:val>
                                        </p:tav>
                                        <p:tav tm="100000">
                                          <p:val>
                                            <p:strVal val="#ppt_y"/>
                                          </p:val>
                                        </p:tav>
                                      </p:tavLst>
                                    </p:anim>
                                  </p:childTnLst>
                                </p:cTn>
                              </p:par>
                              <p:par>
                                <p:cTn id="45" presetID="2" presetClass="entr" presetSubtype="4" fill="hold" grpId="0" nodeType="withEffect">
                                  <p:stCondLst>
                                    <p:cond delay="0"/>
                                  </p:stCondLst>
                                  <p:childTnLst>
                                    <p:set>
                                      <p:cBhvr>
                                        <p:cTn id="46" dur="1" fill="hold">
                                          <p:stCondLst>
                                            <p:cond delay="0"/>
                                          </p:stCondLst>
                                        </p:cTn>
                                        <p:tgtEl>
                                          <p:spTgt spid="662539"/>
                                        </p:tgtEl>
                                        <p:attrNameLst>
                                          <p:attrName>style.visibility</p:attrName>
                                        </p:attrNameLst>
                                      </p:cBhvr>
                                      <p:to>
                                        <p:strVal val="visible"/>
                                      </p:to>
                                    </p:set>
                                    <p:anim calcmode="lin" valueType="num">
                                      <p:cBhvr additive="base">
                                        <p:cTn id="47" dur="500" fill="hold"/>
                                        <p:tgtEl>
                                          <p:spTgt spid="662539"/>
                                        </p:tgtEl>
                                        <p:attrNameLst>
                                          <p:attrName>ppt_x</p:attrName>
                                        </p:attrNameLst>
                                      </p:cBhvr>
                                      <p:tavLst>
                                        <p:tav tm="0">
                                          <p:val>
                                            <p:strVal val="#ppt_x"/>
                                          </p:val>
                                        </p:tav>
                                        <p:tav tm="100000">
                                          <p:val>
                                            <p:strVal val="#ppt_x"/>
                                          </p:val>
                                        </p:tav>
                                      </p:tavLst>
                                    </p:anim>
                                    <p:anim calcmode="lin" valueType="num">
                                      <p:cBhvr additive="base">
                                        <p:cTn id="48" dur="500" fill="hold"/>
                                        <p:tgtEl>
                                          <p:spTgt spid="662539"/>
                                        </p:tgtEl>
                                        <p:attrNameLst>
                                          <p:attrName>ppt_y</p:attrName>
                                        </p:attrNameLst>
                                      </p:cBhvr>
                                      <p:tavLst>
                                        <p:tav tm="0">
                                          <p:val>
                                            <p:strVal val="1+#ppt_h/2"/>
                                          </p:val>
                                        </p:tav>
                                        <p:tav tm="100000">
                                          <p:val>
                                            <p:strVal val="#ppt_y"/>
                                          </p:val>
                                        </p:tav>
                                      </p:tavLst>
                                    </p:anim>
                                  </p:childTnLst>
                                </p:cTn>
                              </p:par>
                              <p:par>
                                <p:cTn id="49" presetID="2" presetClass="entr" presetSubtype="4" fill="hold" grpId="0" nodeType="withEffect">
                                  <p:stCondLst>
                                    <p:cond delay="0"/>
                                  </p:stCondLst>
                                  <p:childTnLst>
                                    <p:set>
                                      <p:cBhvr>
                                        <p:cTn id="50" dur="1" fill="hold">
                                          <p:stCondLst>
                                            <p:cond delay="0"/>
                                          </p:stCondLst>
                                        </p:cTn>
                                        <p:tgtEl>
                                          <p:spTgt spid="662540"/>
                                        </p:tgtEl>
                                        <p:attrNameLst>
                                          <p:attrName>style.visibility</p:attrName>
                                        </p:attrNameLst>
                                      </p:cBhvr>
                                      <p:to>
                                        <p:strVal val="visible"/>
                                      </p:to>
                                    </p:set>
                                    <p:anim calcmode="lin" valueType="num">
                                      <p:cBhvr additive="base">
                                        <p:cTn id="51" dur="500" fill="hold"/>
                                        <p:tgtEl>
                                          <p:spTgt spid="662540"/>
                                        </p:tgtEl>
                                        <p:attrNameLst>
                                          <p:attrName>ppt_x</p:attrName>
                                        </p:attrNameLst>
                                      </p:cBhvr>
                                      <p:tavLst>
                                        <p:tav tm="0">
                                          <p:val>
                                            <p:strVal val="#ppt_x"/>
                                          </p:val>
                                        </p:tav>
                                        <p:tav tm="100000">
                                          <p:val>
                                            <p:strVal val="#ppt_x"/>
                                          </p:val>
                                        </p:tav>
                                      </p:tavLst>
                                    </p:anim>
                                    <p:anim calcmode="lin" valueType="num">
                                      <p:cBhvr additive="base">
                                        <p:cTn id="52" dur="500" fill="hold"/>
                                        <p:tgtEl>
                                          <p:spTgt spid="662540"/>
                                        </p:tgtEl>
                                        <p:attrNameLst>
                                          <p:attrName>ppt_y</p:attrName>
                                        </p:attrNameLst>
                                      </p:cBhvr>
                                      <p:tavLst>
                                        <p:tav tm="0">
                                          <p:val>
                                            <p:strVal val="1+#ppt_h/2"/>
                                          </p:val>
                                        </p:tav>
                                        <p:tav tm="100000">
                                          <p:val>
                                            <p:strVal val="#ppt_y"/>
                                          </p:val>
                                        </p:tav>
                                      </p:tavLst>
                                    </p:anim>
                                  </p:childTnLst>
                                </p:cTn>
                              </p:par>
                              <p:par>
                                <p:cTn id="53" presetID="2" presetClass="entr" presetSubtype="4" fill="hold" grpId="0" nodeType="withEffect">
                                  <p:stCondLst>
                                    <p:cond delay="0"/>
                                  </p:stCondLst>
                                  <p:childTnLst>
                                    <p:set>
                                      <p:cBhvr>
                                        <p:cTn id="54" dur="1" fill="hold">
                                          <p:stCondLst>
                                            <p:cond delay="0"/>
                                          </p:stCondLst>
                                        </p:cTn>
                                        <p:tgtEl>
                                          <p:spTgt spid="662541"/>
                                        </p:tgtEl>
                                        <p:attrNameLst>
                                          <p:attrName>style.visibility</p:attrName>
                                        </p:attrNameLst>
                                      </p:cBhvr>
                                      <p:to>
                                        <p:strVal val="visible"/>
                                      </p:to>
                                    </p:set>
                                    <p:anim calcmode="lin" valueType="num">
                                      <p:cBhvr additive="base">
                                        <p:cTn id="55" dur="500" fill="hold"/>
                                        <p:tgtEl>
                                          <p:spTgt spid="662541"/>
                                        </p:tgtEl>
                                        <p:attrNameLst>
                                          <p:attrName>ppt_x</p:attrName>
                                        </p:attrNameLst>
                                      </p:cBhvr>
                                      <p:tavLst>
                                        <p:tav tm="0">
                                          <p:val>
                                            <p:strVal val="#ppt_x"/>
                                          </p:val>
                                        </p:tav>
                                        <p:tav tm="100000">
                                          <p:val>
                                            <p:strVal val="#ppt_x"/>
                                          </p:val>
                                        </p:tav>
                                      </p:tavLst>
                                    </p:anim>
                                    <p:anim calcmode="lin" valueType="num">
                                      <p:cBhvr additive="base">
                                        <p:cTn id="56" dur="500" fill="hold"/>
                                        <p:tgtEl>
                                          <p:spTgt spid="662541"/>
                                        </p:tgtEl>
                                        <p:attrNameLst>
                                          <p:attrName>ppt_y</p:attrName>
                                        </p:attrNameLst>
                                      </p:cBhvr>
                                      <p:tavLst>
                                        <p:tav tm="0">
                                          <p:val>
                                            <p:strVal val="1+#ppt_h/2"/>
                                          </p:val>
                                        </p:tav>
                                        <p:tav tm="100000">
                                          <p:val>
                                            <p:strVal val="#ppt_y"/>
                                          </p:val>
                                        </p:tav>
                                      </p:tavLst>
                                    </p:anim>
                                  </p:childTnLst>
                                </p:cTn>
                              </p:par>
                              <p:par>
                                <p:cTn id="57" presetID="2" presetClass="entr" presetSubtype="4" fill="hold" grpId="0" nodeType="withEffect">
                                  <p:stCondLst>
                                    <p:cond delay="0"/>
                                  </p:stCondLst>
                                  <p:childTnLst>
                                    <p:set>
                                      <p:cBhvr>
                                        <p:cTn id="58" dur="1" fill="hold">
                                          <p:stCondLst>
                                            <p:cond delay="0"/>
                                          </p:stCondLst>
                                        </p:cTn>
                                        <p:tgtEl>
                                          <p:spTgt spid="662542"/>
                                        </p:tgtEl>
                                        <p:attrNameLst>
                                          <p:attrName>style.visibility</p:attrName>
                                        </p:attrNameLst>
                                      </p:cBhvr>
                                      <p:to>
                                        <p:strVal val="visible"/>
                                      </p:to>
                                    </p:set>
                                    <p:anim calcmode="lin" valueType="num">
                                      <p:cBhvr additive="base">
                                        <p:cTn id="59" dur="500" fill="hold"/>
                                        <p:tgtEl>
                                          <p:spTgt spid="662542"/>
                                        </p:tgtEl>
                                        <p:attrNameLst>
                                          <p:attrName>ppt_x</p:attrName>
                                        </p:attrNameLst>
                                      </p:cBhvr>
                                      <p:tavLst>
                                        <p:tav tm="0">
                                          <p:val>
                                            <p:strVal val="#ppt_x"/>
                                          </p:val>
                                        </p:tav>
                                        <p:tav tm="100000">
                                          <p:val>
                                            <p:strVal val="#ppt_x"/>
                                          </p:val>
                                        </p:tav>
                                      </p:tavLst>
                                    </p:anim>
                                    <p:anim calcmode="lin" valueType="num">
                                      <p:cBhvr additive="base">
                                        <p:cTn id="60" dur="500" fill="hold"/>
                                        <p:tgtEl>
                                          <p:spTgt spid="66254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62532" grpId="0" animBg="1"/>
      <p:bldP spid="662533" grpId="0" animBg="1"/>
      <p:bldP spid="662534" grpId="0" animBg="1"/>
      <p:bldP spid="662535" grpId="0" animBg="1"/>
      <p:bldP spid="662536" grpId="0" animBg="1"/>
      <p:bldP spid="662537" grpId="0" animBg="1"/>
      <p:bldP spid="662538" grpId="0" animBg="1"/>
      <p:bldP spid="662539" grpId="0" animBg="1"/>
      <p:bldP spid="662540" grpId="0" animBg="1"/>
      <p:bldP spid="662541" grpId="0" animBg="1"/>
      <p:bldP spid="662542" grpId="0"/>
      <p:bldP spid="662543"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creen Shot 2015-04-16 at 14.36.11.pn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72510" y="1638357"/>
            <a:ext cx="7662041" cy="5219643"/>
          </a:xfrm>
          <a:prstGeom prst="rect">
            <a:avLst/>
          </a:prstGeom>
        </p:spPr>
      </p:pic>
      <p:cxnSp>
        <p:nvCxnSpPr>
          <p:cNvPr id="4" name="Straight Connector 3"/>
          <p:cNvCxnSpPr/>
          <p:nvPr/>
        </p:nvCxnSpPr>
        <p:spPr>
          <a:xfrm>
            <a:off x="458167" y="1495318"/>
            <a:ext cx="8478016" cy="1588"/>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6" name="Title 1"/>
          <p:cNvSpPr>
            <a:spLocks noGrp="1"/>
          </p:cNvSpPr>
          <p:nvPr>
            <p:ph type="title"/>
          </p:nvPr>
        </p:nvSpPr>
        <p:spPr>
          <a:xfrm>
            <a:off x="457200" y="274638"/>
            <a:ext cx="8229600" cy="1143000"/>
          </a:xfrm>
        </p:spPr>
        <p:txBody>
          <a:bodyPr>
            <a:noAutofit/>
          </a:bodyPr>
          <a:lstStyle/>
          <a:p>
            <a:pPr lvl="0">
              <a:defRPr/>
            </a:pPr>
            <a:r>
              <a:rPr lang="en-GB" sz="3600" b="1" dirty="0">
                <a:solidFill>
                  <a:srgbClr val="008000"/>
                </a:solidFill>
              </a:rPr>
              <a:t>How it really happens</a:t>
            </a:r>
          </a:p>
        </p:txBody>
      </p:sp>
    </p:spTree>
    <p:extLst>
      <p:ext uri="{BB962C8B-B14F-4D97-AF65-F5344CB8AC3E}">
        <p14:creationId xmlns:p14="http://schemas.microsoft.com/office/powerpoint/2010/main" val="338690908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Shape 10">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125454"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itle 2">
            <a:extLst>
              <a:ext uri="{FF2B5EF4-FFF2-40B4-BE49-F238E27FC236}">
                <a16:creationId xmlns:a16="http://schemas.microsoft.com/office/drawing/2014/main" id="{B290630D-98C9-F341-A8C3-3336CB862601}"/>
              </a:ext>
            </a:extLst>
          </p:cNvPr>
          <p:cNvSpPr>
            <a:spLocks noGrp="1"/>
          </p:cNvSpPr>
          <p:nvPr>
            <p:ph type="title"/>
          </p:nvPr>
        </p:nvSpPr>
        <p:spPr>
          <a:xfrm>
            <a:off x="515125" y="1153572"/>
            <a:ext cx="2400300" cy="4461163"/>
          </a:xfrm>
        </p:spPr>
        <p:txBody>
          <a:bodyPr>
            <a:normAutofit/>
          </a:bodyPr>
          <a:lstStyle/>
          <a:p>
            <a:r>
              <a:rPr lang="en-US" sz="4100">
                <a:solidFill>
                  <a:srgbClr val="FFFFFF"/>
                </a:solidFill>
              </a:rPr>
              <a:t>Why networks?</a:t>
            </a:r>
          </a:p>
        </p:txBody>
      </p:sp>
      <p:sp>
        <p:nvSpPr>
          <p:cNvPr id="13" name="Arc 12">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2455479"/>
            <a:ext cx="3062575"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4" name="Content Placeholder 3">
            <a:extLst>
              <a:ext uri="{FF2B5EF4-FFF2-40B4-BE49-F238E27FC236}">
                <a16:creationId xmlns:a16="http://schemas.microsoft.com/office/drawing/2014/main" id="{E0DB595D-C75E-0940-B646-873FCA89FD73}"/>
              </a:ext>
            </a:extLst>
          </p:cNvPr>
          <p:cNvSpPr>
            <a:spLocks noGrp="1"/>
          </p:cNvSpPr>
          <p:nvPr>
            <p:ph idx="1"/>
          </p:nvPr>
        </p:nvSpPr>
        <p:spPr>
          <a:xfrm>
            <a:off x="3335481" y="591344"/>
            <a:ext cx="5179868" cy="5585619"/>
          </a:xfrm>
        </p:spPr>
        <p:txBody>
          <a:bodyPr anchor="ctr">
            <a:normAutofit/>
          </a:bodyPr>
          <a:lstStyle/>
          <a:p>
            <a:r>
              <a:rPr lang="en-US" dirty="0"/>
              <a:t>Collective efficiency</a:t>
            </a:r>
          </a:p>
          <a:p>
            <a:r>
              <a:rPr lang="en-US" dirty="0"/>
              <a:t>Collective learning</a:t>
            </a:r>
          </a:p>
          <a:p>
            <a:r>
              <a:rPr lang="en-US" dirty="0"/>
              <a:t>Collective risk-taking</a:t>
            </a:r>
          </a:p>
          <a:p>
            <a:r>
              <a:rPr lang="en-US" dirty="0"/>
              <a:t>Knowledge intersection</a:t>
            </a:r>
          </a:p>
        </p:txBody>
      </p:sp>
    </p:spTree>
    <p:extLst>
      <p:ext uri="{BB962C8B-B14F-4D97-AF65-F5344CB8AC3E}">
        <p14:creationId xmlns:p14="http://schemas.microsoft.com/office/powerpoint/2010/main" val="231222381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7D4609-E915-3446-8EC9-23DC64C8E549}"/>
              </a:ext>
            </a:extLst>
          </p:cNvPr>
          <p:cNvSpPr>
            <a:spLocks noGrp="1"/>
          </p:cNvSpPr>
          <p:nvPr>
            <p:ph type="title"/>
          </p:nvPr>
        </p:nvSpPr>
        <p:spPr/>
        <p:txBody>
          <a:bodyPr>
            <a:normAutofit fontScale="90000"/>
          </a:bodyPr>
          <a:lstStyle/>
          <a:p>
            <a:r>
              <a:rPr lang="en-US"/>
              <a:t>Different network perspectives on innovation</a:t>
            </a:r>
            <a:endParaRPr lang="en-US" dirty="0"/>
          </a:p>
        </p:txBody>
      </p:sp>
      <p:pic>
        <p:nvPicPr>
          <p:cNvPr id="5" name="Picture 4" descr="A picture containing table&#10;&#10;Description automatically generated">
            <a:extLst>
              <a:ext uri="{FF2B5EF4-FFF2-40B4-BE49-F238E27FC236}">
                <a16:creationId xmlns:a16="http://schemas.microsoft.com/office/drawing/2014/main" id="{849AE290-BD6C-BE4D-87A0-747794558D9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78000" y="1700808"/>
            <a:ext cx="5588000" cy="4622800"/>
          </a:xfrm>
          <a:prstGeom prst="rect">
            <a:avLst/>
          </a:prstGeom>
        </p:spPr>
      </p:pic>
    </p:spTree>
    <p:extLst>
      <p:ext uri="{BB962C8B-B14F-4D97-AF65-F5344CB8AC3E}">
        <p14:creationId xmlns:p14="http://schemas.microsoft.com/office/powerpoint/2010/main" val="369095682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125454"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571DBEF-C2EF-594D-B794-79EA185AC702}"/>
              </a:ext>
            </a:extLst>
          </p:cNvPr>
          <p:cNvSpPr>
            <a:spLocks noGrp="1"/>
          </p:cNvSpPr>
          <p:nvPr>
            <p:ph type="title"/>
          </p:nvPr>
        </p:nvSpPr>
        <p:spPr>
          <a:xfrm>
            <a:off x="515125" y="1153572"/>
            <a:ext cx="2400300" cy="4461163"/>
          </a:xfrm>
        </p:spPr>
        <p:txBody>
          <a:bodyPr>
            <a:normAutofit/>
          </a:bodyPr>
          <a:lstStyle/>
          <a:p>
            <a:r>
              <a:rPr lang="en-US" sz="3700">
                <a:solidFill>
                  <a:srgbClr val="FFFFFF"/>
                </a:solidFill>
              </a:rPr>
              <a:t>Types of innovation network</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2455479"/>
            <a:ext cx="3062575"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3275F4AF-AC93-8B4D-98B8-F1A6AD4101CC}"/>
              </a:ext>
            </a:extLst>
          </p:cNvPr>
          <p:cNvSpPr>
            <a:spLocks noGrp="1"/>
          </p:cNvSpPr>
          <p:nvPr>
            <p:ph idx="1"/>
          </p:nvPr>
        </p:nvSpPr>
        <p:spPr>
          <a:xfrm>
            <a:off x="3335481" y="591344"/>
            <a:ext cx="5179868" cy="5585619"/>
          </a:xfrm>
        </p:spPr>
        <p:txBody>
          <a:bodyPr anchor="ctr">
            <a:normAutofit/>
          </a:bodyPr>
          <a:lstStyle/>
          <a:p>
            <a:r>
              <a:rPr lang="en-US" dirty="0"/>
              <a:t>Entrepreneur-based</a:t>
            </a:r>
          </a:p>
          <a:p>
            <a:r>
              <a:rPr lang="en-US" dirty="0"/>
              <a:t>Internal project teams</a:t>
            </a:r>
          </a:p>
          <a:p>
            <a:r>
              <a:rPr lang="en-US" dirty="0"/>
              <a:t>Internal entrepreneur networks</a:t>
            </a:r>
          </a:p>
          <a:p>
            <a:r>
              <a:rPr lang="en-US" dirty="0"/>
              <a:t>Communities of practice</a:t>
            </a:r>
          </a:p>
          <a:p>
            <a:r>
              <a:rPr lang="en-US" dirty="0"/>
              <a:t>Spatial clusters</a:t>
            </a:r>
          </a:p>
          <a:p>
            <a:r>
              <a:rPr lang="en-US" dirty="0"/>
              <a:t>Sectoral networks</a:t>
            </a:r>
          </a:p>
          <a:p>
            <a:r>
              <a:rPr lang="en-US" dirty="0"/>
              <a:t>Development consortia</a:t>
            </a:r>
          </a:p>
          <a:p>
            <a:endParaRPr lang="en-US" dirty="0"/>
          </a:p>
        </p:txBody>
      </p:sp>
    </p:spTree>
    <p:extLst>
      <p:ext uri="{BB962C8B-B14F-4D97-AF65-F5344CB8AC3E}">
        <p14:creationId xmlns:p14="http://schemas.microsoft.com/office/powerpoint/2010/main" val="260295386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125454"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BDB7482-4AD5-0647-BE35-C16C1C666D1C}"/>
              </a:ext>
            </a:extLst>
          </p:cNvPr>
          <p:cNvSpPr>
            <a:spLocks noGrp="1"/>
          </p:cNvSpPr>
          <p:nvPr>
            <p:ph type="title"/>
          </p:nvPr>
        </p:nvSpPr>
        <p:spPr>
          <a:xfrm>
            <a:off x="515125" y="1153572"/>
            <a:ext cx="2400300" cy="4461163"/>
          </a:xfrm>
        </p:spPr>
        <p:txBody>
          <a:bodyPr>
            <a:normAutofit/>
          </a:bodyPr>
          <a:lstStyle/>
          <a:p>
            <a:r>
              <a:rPr lang="en-US" sz="3700">
                <a:solidFill>
                  <a:srgbClr val="FFFFFF"/>
                </a:solidFill>
              </a:rPr>
              <a:t>Types of innovation network (continued)</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2455479"/>
            <a:ext cx="3062575"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5FE6FE0E-1F5D-BD41-980B-62F054BAE268}"/>
              </a:ext>
            </a:extLst>
          </p:cNvPr>
          <p:cNvSpPr>
            <a:spLocks noGrp="1"/>
          </p:cNvSpPr>
          <p:nvPr>
            <p:ph idx="1"/>
          </p:nvPr>
        </p:nvSpPr>
        <p:spPr>
          <a:xfrm>
            <a:off x="3335481" y="591344"/>
            <a:ext cx="5179868" cy="5585619"/>
          </a:xfrm>
        </p:spPr>
        <p:txBody>
          <a:bodyPr anchor="ctr">
            <a:normAutofit/>
          </a:bodyPr>
          <a:lstStyle/>
          <a:p>
            <a:pPr>
              <a:lnSpc>
                <a:spcPct val="90000"/>
              </a:lnSpc>
            </a:pPr>
            <a:r>
              <a:rPr lang="en-US" sz="3000"/>
              <a:t>Standards groups</a:t>
            </a:r>
          </a:p>
          <a:p>
            <a:pPr>
              <a:lnSpc>
                <a:spcPct val="90000"/>
              </a:lnSpc>
            </a:pPr>
            <a:r>
              <a:rPr lang="en-US" sz="3000"/>
              <a:t>Supply chain learning</a:t>
            </a:r>
          </a:p>
          <a:p>
            <a:pPr>
              <a:lnSpc>
                <a:spcPct val="90000"/>
              </a:lnSpc>
            </a:pPr>
            <a:r>
              <a:rPr lang="en-US" sz="3000"/>
              <a:t>Learning networks</a:t>
            </a:r>
          </a:p>
          <a:p>
            <a:pPr>
              <a:lnSpc>
                <a:spcPct val="90000"/>
              </a:lnSpc>
            </a:pPr>
            <a:r>
              <a:rPr lang="en-US" sz="3000"/>
              <a:t>Recombinant innovation networks</a:t>
            </a:r>
          </a:p>
          <a:p>
            <a:pPr>
              <a:lnSpc>
                <a:spcPct val="90000"/>
              </a:lnSpc>
            </a:pPr>
            <a:r>
              <a:rPr lang="en-US" sz="3000"/>
              <a:t>Managed open innovation networks</a:t>
            </a:r>
          </a:p>
          <a:p>
            <a:pPr>
              <a:lnSpc>
                <a:spcPct val="90000"/>
              </a:lnSpc>
            </a:pPr>
            <a:r>
              <a:rPr lang="en-US" sz="3000"/>
              <a:t>User networks</a:t>
            </a:r>
          </a:p>
          <a:p>
            <a:pPr>
              <a:lnSpc>
                <a:spcPct val="90000"/>
              </a:lnSpc>
            </a:pPr>
            <a:r>
              <a:rPr lang="en-US" sz="3000"/>
              <a:t>Innovation markets</a:t>
            </a:r>
          </a:p>
          <a:p>
            <a:pPr>
              <a:lnSpc>
                <a:spcPct val="90000"/>
              </a:lnSpc>
            </a:pPr>
            <a:r>
              <a:rPr lang="en-US" sz="3000"/>
              <a:t>Crowdsourcing and funding networks</a:t>
            </a:r>
          </a:p>
          <a:p>
            <a:pPr>
              <a:lnSpc>
                <a:spcPct val="90000"/>
              </a:lnSpc>
            </a:pPr>
            <a:endParaRPr lang="en-US" sz="3000"/>
          </a:p>
        </p:txBody>
      </p:sp>
    </p:spTree>
    <p:extLst>
      <p:ext uri="{BB962C8B-B14F-4D97-AF65-F5344CB8AC3E}">
        <p14:creationId xmlns:p14="http://schemas.microsoft.com/office/powerpoint/2010/main" val="132963827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125454"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2F6F730-F2AB-3B4D-BC20-7FCD6D5CE3B8}"/>
              </a:ext>
            </a:extLst>
          </p:cNvPr>
          <p:cNvSpPr>
            <a:spLocks noGrp="1"/>
          </p:cNvSpPr>
          <p:nvPr>
            <p:ph type="title"/>
          </p:nvPr>
        </p:nvSpPr>
        <p:spPr>
          <a:xfrm>
            <a:off x="515125" y="1153572"/>
            <a:ext cx="2400300" cy="4461163"/>
          </a:xfrm>
        </p:spPr>
        <p:txBody>
          <a:bodyPr>
            <a:normAutofit/>
          </a:bodyPr>
          <a:lstStyle/>
          <a:p>
            <a:r>
              <a:rPr lang="en-US" dirty="0">
                <a:solidFill>
                  <a:srgbClr val="FFFFFF"/>
                </a:solidFill>
              </a:rPr>
              <a:t>Benefits of learning networks</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2455479"/>
            <a:ext cx="3062575"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D4AE33DE-7AC4-CB44-97DB-6645CFFEA9C1}"/>
              </a:ext>
            </a:extLst>
          </p:cNvPr>
          <p:cNvSpPr>
            <a:spLocks noGrp="1"/>
          </p:cNvSpPr>
          <p:nvPr>
            <p:ph idx="1"/>
          </p:nvPr>
        </p:nvSpPr>
        <p:spPr>
          <a:xfrm>
            <a:off x="3335481" y="591344"/>
            <a:ext cx="5179868" cy="5585619"/>
          </a:xfrm>
        </p:spPr>
        <p:txBody>
          <a:bodyPr anchor="ctr">
            <a:normAutofit/>
          </a:bodyPr>
          <a:lstStyle/>
          <a:p>
            <a:pPr>
              <a:lnSpc>
                <a:spcPct val="90000"/>
              </a:lnSpc>
            </a:pPr>
            <a:r>
              <a:rPr lang="en-US" sz="1500"/>
              <a:t>In shared learning there is the potential for challenge and structured critical reflection from different perspectives .</a:t>
            </a:r>
          </a:p>
          <a:p>
            <a:pPr>
              <a:lnSpc>
                <a:spcPct val="90000"/>
              </a:lnSpc>
            </a:pPr>
            <a:endParaRPr lang="en-US" sz="1500"/>
          </a:p>
          <a:p>
            <a:pPr>
              <a:lnSpc>
                <a:spcPct val="90000"/>
              </a:lnSpc>
            </a:pPr>
            <a:r>
              <a:rPr lang="en-US" sz="1500"/>
              <a:t>Different perspectives can bring in new concepts (or old concepts which are new to the learner). </a:t>
            </a:r>
          </a:p>
          <a:p>
            <a:pPr>
              <a:lnSpc>
                <a:spcPct val="90000"/>
              </a:lnSpc>
            </a:pPr>
            <a:endParaRPr lang="en-US" sz="1500"/>
          </a:p>
          <a:p>
            <a:pPr>
              <a:lnSpc>
                <a:spcPct val="90000"/>
              </a:lnSpc>
            </a:pPr>
            <a:r>
              <a:rPr lang="en-US" sz="1500"/>
              <a:t>Shared experimentation can reduce perceived and actual costs or risks in trying new things.</a:t>
            </a:r>
          </a:p>
          <a:p>
            <a:pPr>
              <a:lnSpc>
                <a:spcPct val="90000"/>
              </a:lnSpc>
            </a:pPr>
            <a:endParaRPr lang="en-US" sz="1500"/>
          </a:p>
          <a:p>
            <a:pPr>
              <a:lnSpc>
                <a:spcPct val="90000"/>
              </a:lnSpc>
            </a:pPr>
            <a:r>
              <a:rPr lang="en-US" sz="1500"/>
              <a:t>Shared experiences can provide support and open new lines of inquiry or exploration. </a:t>
            </a:r>
          </a:p>
          <a:p>
            <a:pPr>
              <a:lnSpc>
                <a:spcPct val="90000"/>
              </a:lnSpc>
            </a:pPr>
            <a:endParaRPr lang="en-US" sz="1500"/>
          </a:p>
          <a:p>
            <a:pPr>
              <a:lnSpc>
                <a:spcPct val="90000"/>
              </a:lnSpc>
            </a:pPr>
            <a:r>
              <a:rPr lang="en-US" sz="1500"/>
              <a:t>Shared learning helps explicate the systems principles, seeing the patterns (separating the wood from the trees). </a:t>
            </a:r>
          </a:p>
          <a:p>
            <a:pPr>
              <a:lnSpc>
                <a:spcPct val="90000"/>
              </a:lnSpc>
            </a:pPr>
            <a:endParaRPr lang="en-US" sz="1500"/>
          </a:p>
          <a:p>
            <a:pPr>
              <a:lnSpc>
                <a:spcPct val="90000"/>
              </a:lnSpc>
            </a:pPr>
            <a:r>
              <a:rPr lang="en-US" sz="1500"/>
              <a:t>Shared learning provides an environment for surfacing assumptions and exploring mental models outside of the normal experience of individual organizations (helps prevent ‘not invented here’ and other effects). </a:t>
            </a:r>
          </a:p>
          <a:p>
            <a:pPr>
              <a:lnSpc>
                <a:spcPct val="90000"/>
              </a:lnSpc>
            </a:pPr>
            <a:endParaRPr lang="en-US" sz="1500"/>
          </a:p>
          <a:p>
            <a:pPr>
              <a:lnSpc>
                <a:spcPct val="90000"/>
              </a:lnSpc>
            </a:pPr>
            <a:r>
              <a:rPr lang="en-US" sz="1500"/>
              <a:t>Shared learning can reduce costs (e.g. in drawing on consultancy services and learning about external markets) which can be particularly useful for small/medium-sized enterprises (SMEs) and for developing country firms. </a:t>
            </a:r>
          </a:p>
          <a:p>
            <a:pPr>
              <a:lnSpc>
                <a:spcPct val="90000"/>
              </a:lnSpc>
            </a:pPr>
            <a:endParaRPr lang="en-US" sz="1500"/>
          </a:p>
        </p:txBody>
      </p:sp>
    </p:spTree>
    <p:extLst>
      <p:ext uri="{BB962C8B-B14F-4D97-AF65-F5344CB8AC3E}">
        <p14:creationId xmlns:p14="http://schemas.microsoft.com/office/powerpoint/2010/main" val="320660150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F9D0E9-9C64-1E4F-8545-1E212BD4D484}"/>
              </a:ext>
            </a:extLst>
          </p:cNvPr>
          <p:cNvSpPr>
            <a:spLocks noGrp="1"/>
          </p:cNvSpPr>
          <p:nvPr>
            <p:ph type="title"/>
          </p:nvPr>
        </p:nvSpPr>
        <p:spPr/>
        <p:txBody>
          <a:bodyPr/>
          <a:lstStyle/>
          <a:p>
            <a:r>
              <a:rPr lang="en-US" dirty="0"/>
              <a:t>Examples of learning networks</a:t>
            </a:r>
          </a:p>
        </p:txBody>
      </p:sp>
      <p:pic>
        <p:nvPicPr>
          <p:cNvPr id="5" name="Picture 4" descr="Graphical user interface, text, application&#10;&#10;Description automatically generated">
            <a:extLst>
              <a:ext uri="{FF2B5EF4-FFF2-40B4-BE49-F238E27FC236}">
                <a16:creationId xmlns:a16="http://schemas.microsoft.com/office/drawing/2014/main" id="{8F6D652A-A883-EF44-8778-3A904EC34FC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449621"/>
            <a:ext cx="9144000" cy="3958757"/>
          </a:xfrm>
          <a:prstGeom prst="rect">
            <a:avLst/>
          </a:prstGeom>
        </p:spPr>
      </p:pic>
    </p:spTree>
    <p:extLst>
      <p:ext uri="{BB962C8B-B14F-4D97-AF65-F5344CB8AC3E}">
        <p14:creationId xmlns:p14="http://schemas.microsoft.com/office/powerpoint/2010/main" val="351985725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Straight Connector 6"/>
          <p:cNvCxnSpPr/>
          <p:nvPr/>
        </p:nvCxnSpPr>
        <p:spPr>
          <a:xfrm>
            <a:off x="458167" y="1507529"/>
            <a:ext cx="8478016" cy="1588"/>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6" name="Title 1"/>
          <p:cNvSpPr txBox="1">
            <a:spLocks/>
          </p:cNvSpPr>
          <p:nvPr/>
        </p:nvSpPr>
        <p:spPr>
          <a:xfrm>
            <a:off x="1361564" y="332094"/>
            <a:ext cx="6973715" cy="917864"/>
          </a:xfrm>
          <a:prstGeom prst="rect">
            <a:avLst/>
          </a:prstGeom>
        </p:spPr>
        <p:txBody>
          <a:bodyPr vert="horz" lIns="91440" tIns="45720" rIns="91440" bIns="45720" rtlCol="0" anchor="ctr">
            <a:noAutofit/>
          </a:bodyPr>
          <a:lstStyle/>
          <a:p>
            <a:pPr lvl="0" algn="ctr">
              <a:spcBef>
                <a:spcPct val="0"/>
              </a:spcBef>
              <a:defRPr/>
            </a:pPr>
            <a:r>
              <a:rPr lang="en-US" sz="3600" b="1" dirty="0">
                <a:solidFill>
                  <a:srgbClr val="008000"/>
                </a:solidFill>
                <a:latin typeface="+mj-lt"/>
                <a:ea typeface="+mj-ea"/>
                <a:cs typeface="+mj-cs"/>
              </a:rPr>
              <a:t>Open innovation</a:t>
            </a:r>
            <a:endParaRPr lang="en-GB" sz="3600" b="1" dirty="0">
              <a:solidFill>
                <a:srgbClr val="008000"/>
              </a:solidFill>
              <a:latin typeface="+mj-lt"/>
              <a:ea typeface="+mj-ea"/>
              <a:cs typeface="+mj-cs"/>
            </a:endParaRPr>
          </a:p>
        </p:txBody>
      </p:sp>
      <p:pic>
        <p:nvPicPr>
          <p:cNvPr id="11" name="Picture 10"/>
          <p:cNvPicPr/>
          <p:nvPr/>
        </p:nvPicPr>
        <p:blipFill>
          <a:blip r:embed="rId2" cstate="print">
            <a:extLst>
              <a:ext uri="{28A0092B-C50C-407E-A947-70E740481C1C}">
                <a14:useLocalDpi xmlns:a14="http://schemas.microsoft.com/office/drawing/2010/main" val="0"/>
              </a:ext>
            </a:extLst>
          </a:blip>
          <a:stretch>
            <a:fillRect/>
          </a:stretch>
        </p:blipFill>
        <p:spPr>
          <a:xfrm>
            <a:off x="816094" y="1808797"/>
            <a:ext cx="7519185" cy="4828486"/>
          </a:xfrm>
          <a:prstGeom prst="rect">
            <a:avLst/>
          </a:prstGeom>
        </p:spPr>
      </p:pic>
    </p:spTree>
    <p:extLst>
      <p:ext uri="{BB962C8B-B14F-4D97-AF65-F5344CB8AC3E}">
        <p14:creationId xmlns:p14="http://schemas.microsoft.com/office/powerpoint/2010/main" val="23344676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201264-E754-D047-A4B4-1EBA1C27FBA5}"/>
              </a:ext>
            </a:extLst>
          </p:cNvPr>
          <p:cNvSpPr>
            <a:spLocks noGrp="1"/>
          </p:cNvSpPr>
          <p:nvPr>
            <p:ph type="title"/>
          </p:nvPr>
        </p:nvSpPr>
        <p:spPr/>
        <p:txBody>
          <a:bodyPr/>
          <a:lstStyle/>
          <a:p>
            <a:r>
              <a:rPr lang="en-US" dirty="0"/>
              <a:t>Core principles of open innovation</a:t>
            </a:r>
          </a:p>
        </p:txBody>
      </p:sp>
      <p:pic>
        <p:nvPicPr>
          <p:cNvPr id="5" name="Picture 4" descr="Graphical user interface, text, application, email&#10;&#10;Description automatically generated">
            <a:extLst>
              <a:ext uri="{FF2B5EF4-FFF2-40B4-BE49-F238E27FC236}">
                <a16:creationId xmlns:a16="http://schemas.microsoft.com/office/drawing/2014/main" id="{764600CC-8AAD-4446-A801-3FD2E8ECF8B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801348"/>
            <a:ext cx="9144000" cy="3255303"/>
          </a:xfrm>
          <a:prstGeom prst="rect">
            <a:avLst/>
          </a:prstGeom>
        </p:spPr>
      </p:pic>
    </p:spTree>
    <p:extLst>
      <p:ext uri="{BB962C8B-B14F-4D97-AF65-F5344CB8AC3E}">
        <p14:creationId xmlns:p14="http://schemas.microsoft.com/office/powerpoint/2010/main" val="397580247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125454"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3BB1BD6-1CF3-604B-A68D-9172EFCB58EF}"/>
              </a:ext>
            </a:extLst>
          </p:cNvPr>
          <p:cNvSpPr>
            <a:spLocks noGrp="1"/>
          </p:cNvSpPr>
          <p:nvPr>
            <p:ph type="title"/>
          </p:nvPr>
        </p:nvSpPr>
        <p:spPr>
          <a:xfrm>
            <a:off x="515125" y="1153572"/>
            <a:ext cx="2400300" cy="4461163"/>
          </a:xfrm>
        </p:spPr>
        <p:txBody>
          <a:bodyPr>
            <a:normAutofit/>
          </a:bodyPr>
          <a:lstStyle/>
          <a:p>
            <a:r>
              <a:rPr lang="en-US" sz="3700">
                <a:solidFill>
                  <a:srgbClr val="FFFFFF"/>
                </a:solidFill>
              </a:rPr>
              <a:t>Models for open innovation</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2455479"/>
            <a:ext cx="3062575"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1BD0891C-72FE-0540-B40F-657594302F2D}"/>
              </a:ext>
            </a:extLst>
          </p:cNvPr>
          <p:cNvSpPr>
            <a:spLocks noGrp="1"/>
          </p:cNvSpPr>
          <p:nvPr>
            <p:ph idx="1"/>
          </p:nvPr>
        </p:nvSpPr>
        <p:spPr>
          <a:xfrm>
            <a:off x="3335481" y="591344"/>
            <a:ext cx="5179868" cy="5585619"/>
          </a:xfrm>
        </p:spPr>
        <p:txBody>
          <a:bodyPr anchor="ctr">
            <a:normAutofit/>
          </a:bodyPr>
          <a:lstStyle/>
          <a:p>
            <a:pPr marL="457200" indent="-457200">
              <a:buFont typeface="Arial"/>
              <a:buChar char="•"/>
            </a:pPr>
            <a:r>
              <a:rPr lang="en-US" dirty="0"/>
              <a:t>Orchestra</a:t>
            </a:r>
            <a:endParaRPr lang="en-GB" dirty="0"/>
          </a:p>
          <a:p>
            <a:pPr marL="457200" indent="-457200">
              <a:buFont typeface="Arial"/>
              <a:buChar char="•"/>
            </a:pPr>
            <a:r>
              <a:rPr lang="en-US" dirty="0"/>
              <a:t>Creative bazaar</a:t>
            </a:r>
            <a:endParaRPr lang="en-GB" dirty="0"/>
          </a:p>
          <a:p>
            <a:pPr marL="457200" indent="-457200">
              <a:buFont typeface="Arial"/>
              <a:buChar char="•"/>
            </a:pPr>
            <a:r>
              <a:rPr lang="en-US" dirty="0"/>
              <a:t>Jam Central</a:t>
            </a:r>
            <a:endParaRPr lang="en-GB" dirty="0"/>
          </a:p>
          <a:p>
            <a:pPr marL="457200" indent="-457200">
              <a:buFont typeface="Arial"/>
              <a:buChar char="•"/>
            </a:pPr>
            <a:r>
              <a:rPr lang="en-US" dirty="0"/>
              <a:t>Mod station</a:t>
            </a:r>
            <a:endParaRPr lang="en-GB" dirty="0"/>
          </a:p>
          <a:p>
            <a:pPr marL="457200" indent="-457200">
              <a:buFont typeface="Arial"/>
              <a:buChar char="•"/>
            </a:pPr>
            <a:r>
              <a:rPr lang="en-US" dirty="0"/>
              <a:t>Infusion</a:t>
            </a:r>
            <a:endParaRPr lang="en-GB" dirty="0"/>
          </a:p>
          <a:p>
            <a:endParaRPr lang="en-US" dirty="0"/>
          </a:p>
        </p:txBody>
      </p:sp>
    </p:spTree>
    <p:extLst>
      <p:ext uri="{BB962C8B-B14F-4D97-AF65-F5344CB8AC3E}">
        <p14:creationId xmlns:p14="http://schemas.microsoft.com/office/powerpoint/2010/main" val="4958907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125454"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7A42049-0929-4347-A0E9-4403A626C895}"/>
              </a:ext>
            </a:extLst>
          </p:cNvPr>
          <p:cNvSpPr>
            <a:spLocks noGrp="1"/>
          </p:cNvSpPr>
          <p:nvPr>
            <p:ph type="title"/>
          </p:nvPr>
        </p:nvSpPr>
        <p:spPr>
          <a:xfrm>
            <a:off x="515125" y="1153572"/>
            <a:ext cx="2400300" cy="4461163"/>
          </a:xfrm>
        </p:spPr>
        <p:txBody>
          <a:bodyPr>
            <a:normAutofit/>
          </a:bodyPr>
          <a:lstStyle/>
          <a:p>
            <a:r>
              <a:rPr lang="en-US" sz="3700">
                <a:solidFill>
                  <a:srgbClr val="FFFFFF"/>
                </a:solidFill>
              </a:rPr>
              <a:t>Challenges in open innovation</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2455479"/>
            <a:ext cx="3062575"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81483FB6-9018-F74E-8712-7CB91D079B2B}"/>
              </a:ext>
            </a:extLst>
          </p:cNvPr>
          <p:cNvSpPr>
            <a:spLocks noGrp="1"/>
          </p:cNvSpPr>
          <p:nvPr>
            <p:ph idx="1"/>
          </p:nvPr>
        </p:nvSpPr>
        <p:spPr>
          <a:xfrm>
            <a:off x="3335481" y="591344"/>
            <a:ext cx="5179868" cy="5585619"/>
          </a:xfrm>
        </p:spPr>
        <p:txBody>
          <a:bodyPr anchor="ctr">
            <a:normAutofit/>
          </a:bodyPr>
          <a:lstStyle/>
          <a:p>
            <a:pPr>
              <a:lnSpc>
                <a:spcPct val="90000"/>
              </a:lnSpc>
            </a:pPr>
            <a:r>
              <a:rPr lang="en-US" sz="3000" dirty="0"/>
              <a:t>conditions and context, e.g. environmental uncertainty and project complexity</a:t>
            </a:r>
          </a:p>
          <a:p>
            <a:pPr>
              <a:lnSpc>
                <a:spcPct val="90000"/>
              </a:lnSpc>
            </a:pPr>
            <a:endParaRPr lang="en-US" sz="3000" b="1" dirty="0"/>
          </a:p>
          <a:p>
            <a:pPr>
              <a:lnSpc>
                <a:spcPct val="90000"/>
              </a:lnSpc>
            </a:pPr>
            <a:r>
              <a:rPr lang="en-US" sz="3000" dirty="0"/>
              <a:t>control and ownership of resources</a:t>
            </a:r>
          </a:p>
          <a:p>
            <a:pPr marL="0" indent="0">
              <a:lnSpc>
                <a:spcPct val="90000"/>
              </a:lnSpc>
              <a:buNone/>
            </a:pPr>
            <a:endParaRPr lang="en-GB" sz="3000" dirty="0"/>
          </a:p>
          <a:p>
            <a:pPr>
              <a:lnSpc>
                <a:spcPct val="90000"/>
              </a:lnSpc>
            </a:pPr>
            <a:r>
              <a:rPr lang="en-US" sz="3000" dirty="0"/>
              <a:t>coordination of knowledge flows </a:t>
            </a:r>
          </a:p>
          <a:p>
            <a:pPr>
              <a:lnSpc>
                <a:spcPct val="90000"/>
              </a:lnSpc>
            </a:pPr>
            <a:endParaRPr lang="en-GB" sz="3000" dirty="0"/>
          </a:p>
          <a:p>
            <a:pPr>
              <a:lnSpc>
                <a:spcPct val="90000"/>
              </a:lnSpc>
            </a:pPr>
            <a:r>
              <a:rPr lang="en-US" sz="3000" dirty="0"/>
              <a:t>creation and capture of value.</a:t>
            </a:r>
            <a:endParaRPr lang="en-GB" sz="3000" dirty="0"/>
          </a:p>
          <a:p>
            <a:pPr>
              <a:lnSpc>
                <a:spcPct val="90000"/>
              </a:lnSpc>
            </a:pPr>
            <a:endParaRPr lang="en-US" sz="3000" dirty="0"/>
          </a:p>
        </p:txBody>
      </p:sp>
    </p:spTree>
    <p:extLst>
      <p:ext uri="{BB962C8B-B14F-4D97-AF65-F5344CB8AC3E}">
        <p14:creationId xmlns:p14="http://schemas.microsoft.com/office/powerpoint/2010/main" val="15774746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Straight Connector 6"/>
          <p:cNvCxnSpPr/>
          <p:nvPr/>
        </p:nvCxnSpPr>
        <p:spPr>
          <a:xfrm>
            <a:off x="458167" y="1495318"/>
            <a:ext cx="8478016" cy="1588"/>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9" name="Title 1"/>
          <p:cNvSpPr txBox="1">
            <a:spLocks/>
          </p:cNvSpPr>
          <p:nvPr/>
        </p:nvSpPr>
        <p:spPr>
          <a:xfrm>
            <a:off x="971600" y="260648"/>
            <a:ext cx="7187698" cy="917864"/>
          </a:xfrm>
          <a:prstGeom prst="rect">
            <a:avLst/>
          </a:prstGeom>
        </p:spPr>
        <p:txBody>
          <a:bodyPr vert="horz" lIns="91440" tIns="45720" rIns="91440" bIns="45720" rtlCol="0" anchor="ctr">
            <a:noAutofit/>
          </a:bodyPr>
          <a:lstStyle/>
          <a:p>
            <a:pPr lvl="0" algn="ctr">
              <a:spcBef>
                <a:spcPct val="0"/>
              </a:spcBef>
              <a:defRPr/>
            </a:pPr>
            <a:r>
              <a:rPr lang="en-US" sz="3600" b="1" dirty="0">
                <a:solidFill>
                  <a:srgbClr val="008000"/>
                </a:solidFill>
                <a:latin typeface="+mj-lt"/>
                <a:ea typeface="+mj-ea"/>
                <a:cs typeface="+mj-cs"/>
              </a:rPr>
              <a:t>Challenges in open innovation</a:t>
            </a:r>
            <a:endParaRPr lang="en-GB" sz="3600" b="1" dirty="0">
              <a:solidFill>
                <a:srgbClr val="008000"/>
              </a:solidFill>
              <a:latin typeface="+mj-lt"/>
              <a:ea typeface="+mj-ea"/>
              <a:cs typeface="+mj-cs"/>
            </a:endParaRPr>
          </a:p>
        </p:txBody>
      </p:sp>
      <p:pic>
        <p:nvPicPr>
          <p:cNvPr id="2" name="Picture 1" descr="Screen Shot 2015-04-16 at 14.41.57.png"/>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1638300"/>
            <a:ext cx="9144000" cy="5219700"/>
          </a:xfrm>
          <a:prstGeom prst="rect">
            <a:avLst/>
          </a:prstGeom>
        </p:spPr>
      </p:pic>
      <p:sp>
        <p:nvSpPr>
          <p:cNvPr id="3" name="TextBox 2">
            <a:extLst>
              <a:ext uri="{FF2B5EF4-FFF2-40B4-BE49-F238E27FC236}">
                <a16:creationId xmlns:a16="http://schemas.microsoft.com/office/drawing/2014/main" id="{116AAFA0-2B4F-444F-A62D-502B08226316}"/>
              </a:ext>
            </a:extLst>
          </p:cNvPr>
          <p:cNvSpPr txBox="1"/>
          <p:nvPr/>
        </p:nvSpPr>
        <p:spPr>
          <a:xfrm>
            <a:off x="323528" y="1988840"/>
            <a:ext cx="1368152" cy="369332"/>
          </a:xfrm>
          <a:prstGeom prst="rect">
            <a:avLst/>
          </a:prstGeom>
          <a:solidFill>
            <a:srgbClr val="E4EED6"/>
          </a:solidFill>
        </p:spPr>
        <p:txBody>
          <a:bodyPr wrap="square" rtlCol="0">
            <a:spAutoFit/>
          </a:bodyPr>
          <a:lstStyle/>
          <a:p>
            <a:endParaRPr lang="en-US" dirty="0"/>
          </a:p>
        </p:txBody>
      </p:sp>
    </p:spTree>
    <p:extLst>
      <p:ext uri="{BB962C8B-B14F-4D97-AF65-F5344CB8AC3E}">
        <p14:creationId xmlns:p14="http://schemas.microsoft.com/office/powerpoint/2010/main" val="39861238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Screen Shot 2015-04-16 at 14.42.38.png"/>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77800" y="1765300"/>
            <a:ext cx="8788400" cy="5092700"/>
          </a:xfrm>
          <a:prstGeom prst="rect">
            <a:avLst/>
          </a:prstGeom>
        </p:spPr>
      </p:pic>
      <p:cxnSp>
        <p:nvCxnSpPr>
          <p:cNvPr id="5" name="Straight Connector 4"/>
          <p:cNvCxnSpPr/>
          <p:nvPr/>
        </p:nvCxnSpPr>
        <p:spPr>
          <a:xfrm>
            <a:off x="458167" y="1495318"/>
            <a:ext cx="8478016" cy="1588"/>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7" name="Title 1"/>
          <p:cNvSpPr>
            <a:spLocks noGrp="1"/>
          </p:cNvSpPr>
          <p:nvPr>
            <p:ph type="title"/>
          </p:nvPr>
        </p:nvSpPr>
        <p:spPr>
          <a:xfrm>
            <a:off x="457200" y="274638"/>
            <a:ext cx="8229600" cy="1143000"/>
          </a:xfrm>
        </p:spPr>
        <p:txBody>
          <a:bodyPr>
            <a:noAutofit/>
          </a:bodyPr>
          <a:lstStyle/>
          <a:p>
            <a:pPr lvl="0">
              <a:defRPr/>
            </a:pPr>
            <a:r>
              <a:rPr lang="en-GB" sz="3600" b="1" dirty="0">
                <a:solidFill>
                  <a:srgbClr val="008000"/>
                </a:solidFill>
              </a:rPr>
              <a:t>Challenges in open innovation </a:t>
            </a:r>
          </a:p>
        </p:txBody>
      </p:sp>
    </p:spTree>
    <p:extLst>
      <p:ext uri="{BB962C8B-B14F-4D97-AF65-F5344CB8AC3E}">
        <p14:creationId xmlns:p14="http://schemas.microsoft.com/office/powerpoint/2010/main" val="239584899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Straight Connector 6"/>
          <p:cNvCxnSpPr/>
          <p:nvPr/>
        </p:nvCxnSpPr>
        <p:spPr>
          <a:xfrm>
            <a:off x="458167" y="1320706"/>
            <a:ext cx="8478016" cy="1588"/>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6" name="Title 1"/>
          <p:cNvSpPr txBox="1">
            <a:spLocks/>
          </p:cNvSpPr>
          <p:nvPr/>
        </p:nvSpPr>
        <p:spPr>
          <a:xfrm>
            <a:off x="1648668" y="208568"/>
            <a:ext cx="6924762" cy="917864"/>
          </a:xfrm>
          <a:prstGeom prst="rect">
            <a:avLst/>
          </a:prstGeom>
        </p:spPr>
        <p:txBody>
          <a:bodyPr vert="horz" lIns="91440" tIns="45720" rIns="91440" bIns="45720" rtlCol="0" anchor="ctr">
            <a:noAutofit/>
          </a:bodyPr>
          <a:lstStyle/>
          <a:p>
            <a:pPr>
              <a:spcBef>
                <a:spcPct val="0"/>
              </a:spcBef>
              <a:defRPr/>
            </a:pPr>
            <a:r>
              <a:rPr lang="en-US" sz="3600" b="1" dirty="0">
                <a:solidFill>
                  <a:srgbClr val="008000"/>
                </a:solidFill>
                <a:latin typeface="+mj-lt"/>
                <a:ea typeface="+mj-ea"/>
                <a:cs typeface="+mj-cs"/>
              </a:rPr>
              <a:t>Strategies to support open innovation</a:t>
            </a:r>
            <a:endParaRPr lang="en-GB" sz="3600" b="1" dirty="0">
              <a:solidFill>
                <a:srgbClr val="008000"/>
              </a:solidFill>
              <a:latin typeface="+mj-lt"/>
              <a:ea typeface="+mj-ea"/>
              <a:cs typeface="+mj-cs"/>
            </a:endParaRPr>
          </a:p>
        </p:txBody>
      </p:sp>
      <p:pic>
        <p:nvPicPr>
          <p:cNvPr id="8" name="Picture 7"/>
          <p:cNvPicPr/>
          <p:nvPr/>
        </p:nvPicPr>
        <p:blipFill>
          <a:blip r:embed="rId2" cstate="print">
            <a:extLst>
              <a:ext uri="{28A0092B-C50C-407E-A947-70E740481C1C}">
                <a14:useLocalDpi xmlns:a14="http://schemas.microsoft.com/office/drawing/2010/main" val="0"/>
              </a:ext>
            </a:extLst>
          </a:blip>
          <a:stretch>
            <a:fillRect/>
          </a:stretch>
        </p:blipFill>
        <p:spPr>
          <a:xfrm>
            <a:off x="107504" y="1407824"/>
            <a:ext cx="6986533" cy="5241608"/>
          </a:xfrm>
          <a:prstGeom prst="rect">
            <a:avLst/>
          </a:prstGeom>
        </p:spPr>
      </p:pic>
      <p:sp>
        <p:nvSpPr>
          <p:cNvPr id="2" name="TextBox 1">
            <a:extLst>
              <a:ext uri="{FF2B5EF4-FFF2-40B4-BE49-F238E27FC236}">
                <a16:creationId xmlns:a16="http://schemas.microsoft.com/office/drawing/2014/main" id="{BD90C2AF-2C95-1A40-8A9D-39B7207EB62E}"/>
              </a:ext>
            </a:extLst>
          </p:cNvPr>
          <p:cNvSpPr txBox="1"/>
          <p:nvPr/>
        </p:nvSpPr>
        <p:spPr>
          <a:xfrm>
            <a:off x="458167" y="5877272"/>
            <a:ext cx="4473873" cy="369332"/>
          </a:xfrm>
          <a:prstGeom prst="rect">
            <a:avLst/>
          </a:prstGeom>
          <a:solidFill>
            <a:schemeClr val="bg1"/>
          </a:solidFill>
        </p:spPr>
        <p:txBody>
          <a:bodyPr wrap="square" rtlCol="0">
            <a:spAutoFit/>
          </a:bodyPr>
          <a:lstStyle/>
          <a:p>
            <a:endParaRPr lang="en-US" dirty="0"/>
          </a:p>
        </p:txBody>
      </p:sp>
    </p:spTree>
    <p:extLst>
      <p:ext uri="{BB962C8B-B14F-4D97-AF65-F5344CB8AC3E}">
        <p14:creationId xmlns:p14="http://schemas.microsoft.com/office/powerpoint/2010/main" val="237058510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125454"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itle 1"/>
          <p:cNvSpPr txBox="1">
            <a:spLocks/>
          </p:cNvSpPr>
          <p:nvPr/>
        </p:nvSpPr>
        <p:spPr>
          <a:xfrm>
            <a:off x="0" y="1153572"/>
            <a:ext cx="3203848" cy="4461163"/>
          </a:xfrm>
          <a:prstGeom prst="rect">
            <a:avLst/>
          </a:prstGeom>
        </p:spPr>
        <p:txBody>
          <a:bodyPr vert="horz" lIns="91440" tIns="45720" rIns="91440" bIns="45720" rtlCol="0" anchor="ctr">
            <a:normAutofit/>
          </a:bodyPr>
          <a:lstStyle/>
          <a:p>
            <a:pPr>
              <a:lnSpc>
                <a:spcPct val="90000"/>
              </a:lnSpc>
              <a:spcBef>
                <a:spcPct val="0"/>
              </a:spcBef>
              <a:spcAft>
                <a:spcPts val="600"/>
              </a:spcAft>
              <a:defRPr/>
            </a:pPr>
            <a:r>
              <a:rPr lang="en-US" sz="3600" b="1" kern="1200" dirty="0">
                <a:solidFill>
                  <a:srgbClr val="FFFFFF"/>
                </a:solidFill>
                <a:latin typeface="+mj-lt"/>
                <a:ea typeface="+mj-ea"/>
                <a:cs typeface="+mj-cs"/>
              </a:rPr>
              <a:t>Characteristics of partnership models</a:t>
            </a:r>
          </a:p>
        </p:txBody>
      </p:sp>
      <p:sp>
        <p:nvSpPr>
          <p:cNvPr id="18" name="Arc 17">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2455479"/>
            <a:ext cx="3062575"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p:cNvSpPr>
            <a:spLocks noGrp="1"/>
          </p:cNvSpPr>
          <p:nvPr>
            <p:ph idx="1"/>
          </p:nvPr>
        </p:nvSpPr>
        <p:spPr>
          <a:xfrm>
            <a:off x="3350220" y="953293"/>
            <a:ext cx="5179868" cy="5585619"/>
          </a:xfrm>
        </p:spPr>
        <p:txBody>
          <a:bodyPr vert="horz" lIns="91440" tIns="45720" rIns="91440" bIns="45720" rtlCol="0" anchor="ctr">
            <a:normAutofit/>
          </a:bodyPr>
          <a:lstStyle/>
          <a:p>
            <a:pPr indent="-228600">
              <a:lnSpc>
                <a:spcPct val="90000"/>
              </a:lnSpc>
            </a:pPr>
            <a:r>
              <a:rPr lang="en-US" sz="2500" dirty="0"/>
              <a:t>Fewer suppliers, longer-term relations </a:t>
            </a:r>
          </a:p>
          <a:p>
            <a:pPr indent="-228600">
              <a:lnSpc>
                <a:spcPct val="90000"/>
              </a:lnSpc>
            </a:pPr>
            <a:r>
              <a:rPr lang="en-US" sz="2500" dirty="0"/>
              <a:t>Greater equity – real ‘cost transparency’</a:t>
            </a:r>
          </a:p>
          <a:p>
            <a:pPr indent="-228600">
              <a:lnSpc>
                <a:spcPct val="90000"/>
              </a:lnSpc>
            </a:pPr>
            <a:r>
              <a:rPr lang="en-US" sz="2500" dirty="0"/>
              <a:t>Focus on value flows – the relationship, not the contract</a:t>
            </a:r>
          </a:p>
          <a:p>
            <a:pPr indent="-228600">
              <a:lnSpc>
                <a:spcPct val="90000"/>
              </a:lnSpc>
            </a:pPr>
            <a:r>
              <a:rPr lang="en-US" sz="2500" dirty="0"/>
              <a:t>Vendor assessment, plus development </a:t>
            </a:r>
          </a:p>
          <a:p>
            <a:pPr indent="-228600">
              <a:lnSpc>
                <a:spcPct val="90000"/>
              </a:lnSpc>
            </a:pPr>
            <a:r>
              <a:rPr lang="en-US" sz="2500" dirty="0"/>
              <a:t>Two-way or third-party assessment </a:t>
            </a:r>
          </a:p>
          <a:p>
            <a:pPr indent="-228600">
              <a:lnSpc>
                <a:spcPct val="90000"/>
              </a:lnSpc>
            </a:pPr>
            <a:r>
              <a:rPr lang="en-US" sz="2500" dirty="0"/>
              <a:t>Mutual learning – share experience, expertise, knowledge and investment</a:t>
            </a:r>
          </a:p>
          <a:p>
            <a:pPr marL="0" indent="-228600">
              <a:lnSpc>
                <a:spcPct val="90000"/>
              </a:lnSpc>
            </a:pPr>
            <a:r>
              <a:rPr lang="en-US" sz="2500" dirty="0"/>
              <a:t> </a:t>
            </a:r>
          </a:p>
          <a:p>
            <a:pPr indent="-228600">
              <a:lnSpc>
                <a:spcPct val="90000"/>
              </a:lnSpc>
            </a:pPr>
            <a:endParaRPr lang="en-US" sz="2500" dirty="0"/>
          </a:p>
          <a:p>
            <a:pPr indent="-228600">
              <a:lnSpc>
                <a:spcPct val="90000"/>
              </a:lnSpc>
            </a:pPr>
            <a:endParaRPr lang="en-US" sz="2500" dirty="0"/>
          </a:p>
        </p:txBody>
      </p:sp>
      <p:cxnSp>
        <p:nvCxnSpPr>
          <p:cNvPr id="7" name="Straight Connector 6"/>
          <p:cNvCxnSpPr/>
          <p:nvPr/>
        </p:nvCxnSpPr>
        <p:spPr>
          <a:xfrm>
            <a:off x="458167" y="1495318"/>
            <a:ext cx="8478016" cy="1588"/>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9952293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Screen Shot 2015-04-16 at 14.43.54.png"/>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619672" y="1614805"/>
            <a:ext cx="5552528" cy="5243195"/>
          </a:xfrm>
          <a:prstGeom prst="rect">
            <a:avLst/>
          </a:prstGeom>
        </p:spPr>
      </p:pic>
      <p:cxnSp>
        <p:nvCxnSpPr>
          <p:cNvPr id="5" name="Straight Connector 4"/>
          <p:cNvCxnSpPr/>
          <p:nvPr/>
        </p:nvCxnSpPr>
        <p:spPr>
          <a:xfrm>
            <a:off x="458167" y="1495318"/>
            <a:ext cx="8478016" cy="1588"/>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8" name="Title 1"/>
          <p:cNvSpPr txBox="1">
            <a:spLocks/>
          </p:cNvSpPr>
          <p:nvPr/>
        </p:nvSpPr>
        <p:spPr>
          <a:xfrm>
            <a:off x="1979712" y="260648"/>
            <a:ext cx="6924762" cy="917864"/>
          </a:xfrm>
          <a:prstGeom prst="rect">
            <a:avLst/>
          </a:prstGeom>
        </p:spPr>
        <p:txBody>
          <a:bodyPr vert="horz" lIns="91440" tIns="45720" rIns="91440" bIns="45720" rtlCol="0" anchor="ctr">
            <a:noAutofit/>
          </a:bodyPr>
          <a:lstStyle/>
          <a:p>
            <a:pPr>
              <a:spcBef>
                <a:spcPct val="0"/>
              </a:spcBef>
              <a:defRPr/>
            </a:pPr>
            <a:r>
              <a:rPr lang="en-US" sz="3600" b="1" dirty="0">
                <a:solidFill>
                  <a:srgbClr val="008000"/>
                </a:solidFill>
                <a:latin typeface="+mj-lt"/>
                <a:ea typeface="+mj-ea"/>
                <a:cs typeface="+mj-cs"/>
              </a:rPr>
              <a:t>Options in engaging users</a:t>
            </a:r>
            <a:endParaRPr lang="en-GB" sz="3600" b="1" dirty="0">
              <a:solidFill>
                <a:srgbClr val="008000"/>
              </a:solidFill>
              <a:latin typeface="+mj-lt"/>
              <a:ea typeface="+mj-ea"/>
              <a:cs typeface="+mj-cs"/>
            </a:endParaRPr>
          </a:p>
        </p:txBody>
      </p:sp>
    </p:spTree>
    <p:extLst>
      <p:ext uri="{BB962C8B-B14F-4D97-AF65-F5344CB8AC3E}">
        <p14:creationId xmlns:p14="http://schemas.microsoft.com/office/powerpoint/2010/main" val="18645107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1" name="Rectangle 70">
            <a:extLst>
              <a:ext uri="{FF2B5EF4-FFF2-40B4-BE49-F238E27FC236}">
                <a16:creationId xmlns:a16="http://schemas.microsoft.com/office/drawing/2014/main" id="{F4C0B10B-D2C4-4A54-AFAD-3D27DF88BB3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3" name="Group 72">
            <a:extLst>
              <a:ext uri="{FF2B5EF4-FFF2-40B4-BE49-F238E27FC236}">
                <a16:creationId xmlns:a16="http://schemas.microsoft.com/office/drawing/2014/main" id="{B6BADB90-C74B-40D6-86DC-503F65FCE8D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07282" y="635715"/>
            <a:ext cx="8356656" cy="2482136"/>
            <a:chOff x="409710" y="635715"/>
            <a:chExt cx="11142208" cy="2482136"/>
          </a:xfrm>
        </p:grpSpPr>
        <p:sp>
          <p:nvSpPr>
            <p:cNvPr id="74" name="Freeform 44">
              <a:extLst>
                <a:ext uri="{FF2B5EF4-FFF2-40B4-BE49-F238E27FC236}">
                  <a16:creationId xmlns:a16="http://schemas.microsoft.com/office/drawing/2014/main" id="{6559431D-1886-4AE0-9B87-9AD2ECAB8439}"/>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1223203" y="635716"/>
              <a:ext cx="328612" cy="1742360"/>
            </a:xfrm>
            <a:custGeom>
              <a:avLst/>
              <a:gdLst>
                <a:gd name="T0" fmla="*/ 207 w 207"/>
                <a:gd name="T1" fmla="*/ 987 h 1114"/>
                <a:gd name="T2" fmla="*/ 0 w 207"/>
                <a:gd name="T3" fmla="*/ 1114 h 1114"/>
                <a:gd name="T4" fmla="*/ 0 w 207"/>
                <a:gd name="T5" fmla="*/ 127 h 1114"/>
                <a:gd name="T6" fmla="*/ 207 w 207"/>
                <a:gd name="T7" fmla="*/ 0 h 1114"/>
                <a:gd name="T8" fmla="*/ 207 w 207"/>
                <a:gd name="T9" fmla="*/ 987 h 1114"/>
              </a:gdLst>
              <a:ahLst/>
              <a:cxnLst>
                <a:cxn ang="0">
                  <a:pos x="T0" y="T1"/>
                </a:cxn>
                <a:cxn ang="0">
                  <a:pos x="T2" y="T3"/>
                </a:cxn>
                <a:cxn ang="0">
                  <a:pos x="T4" y="T5"/>
                </a:cxn>
                <a:cxn ang="0">
                  <a:pos x="T6" y="T7"/>
                </a:cxn>
                <a:cxn ang="0">
                  <a:pos x="T8" y="T9"/>
                </a:cxn>
              </a:cxnLst>
              <a:rect l="0" t="0" r="r" b="b"/>
              <a:pathLst>
                <a:path w="207" h="1114">
                  <a:moveTo>
                    <a:pt x="207" y="987"/>
                  </a:moveTo>
                  <a:lnTo>
                    <a:pt x="0" y="1114"/>
                  </a:lnTo>
                  <a:lnTo>
                    <a:pt x="0" y="127"/>
                  </a:lnTo>
                  <a:lnTo>
                    <a:pt x="207" y="0"/>
                  </a:lnTo>
                  <a:lnTo>
                    <a:pt x="207" y="987"/>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75" name="Freeform 45">
              <a:extLst>
                <a:ext uri="{FF2B5EF4-FFF2-40B4-BE49-F238E27FC236}">
                  <a16:creationId xmlns:a16="http://schemas.microsoft.com/office/drawing/2014/main" id="{373850A5-B04A-4FCD-9E73-EE322167FB3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09710" y="1022350"/>
              <a:ext cx="709612" cy="2095501"/>
            </a:xfrm>
            <a:custGeom>
              <a:avLst/>
              <a:gdLst>
                <a:gd name="T0" fmla="*/ 447 w 447"/>
                <a:gd name="T1" fmla="*/ 1363 h 1363"/>
                <a:gd name="T2" fmla="*/ 0 w 447"/>
                <a:gd name="T3" fmla="*/ 987 h 1363"/>
                <a:gd name="T4" fmla="*/ 0 w 447"/>
                <a:gd name="T5" fmla="*/ 0 h 1363"/>
                <a:gd name="T6" fmla="*/ 447 w 447"/>
                <a:gd name="T7" fmla="*/ 376 h 1363"/>
                <a:gd name="T8" fmla="*/ 447 w 447"/>
                <a:gd name="T9" fmla="*/ 1363 h 1363"/>
              </a:gdLst>
              <a:ahLst/>
              <a:cxnLst>
                <a:cxn ang="0">
                  <a:pos x="T0" y="T1"/>
                </a:cxn>
                <a:cxn ang="0">
                  <a:pos x="T2" y="T3"/>
                </a:cxn>
                <a:cxn ang="0">
                  <a:pos x="T4" y="T5"/>
                </a:cxn>
                <a:cxn ang="0">
                  <a:pos x="T6" y="T7"/>
                </a:cxn>
                <a:cxn ang="0">
                  <a:pos x="T8" y="T9"/>
                </a:cxn>
              </a:cxnLst>
              <a:rect l="0" t="0" r="r" b="b"/>
              <a:pathLst>
                <a:path w="447" h="1363">
                  <a:moveTo>
                    <a:pt x="447" y="1363"/>
                  </a:moveTo>
                  <a:lnTo>
                    <a:pt x="0" y="987"/>
                  </a:lnTo>
                  <a:lnTo>
                    <a:pt x="0" y="0"/>
                  </a:lnTo>
                  <a:lnTo>
                    <a:pt x="447" y="376"/>
                  </a:lnTo>
                  <a:lnTo>
                    <a:pt x="447" y="1363"/>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76" name="Freeform 46">
              <a:extLst>
                <a:ext uri="{FF2B5EF4-FFF2-40B4-BE49-F238E27FC236}">
                  <a16:creationId xmlns:a16="http://schemas.microsoft.com/office/drawing/2014/main" id="{82C18C67-80FA-4738-AA53-0AF2419F98E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09710" y="837744"/>
              <a:ext cx="403225" cy="1705431"/>
            </a:xfrm>
            <a:custGeom>
              <a:avLst/>
              <a:gdLst>
                <a:gd name="T0" fmla="*/ 254 w 254"/>
                <a:gd name="T1" fmla="*/ 987 h 1109"/>
                <a:gd name="T2" fmla="*/ 0 w 254"/>
                <a:gd name="T3" fmla="*/ 1109 h 1109"/>
                <a:gd name="T4" fmla="*/ 0 w 254"/>
                <a:gd name="T5" fmla="*/ 119 h 1109"/>
                <a:gd name="T6" fmla="*/ 254 w 254"/>
                <a:gd name="T7" fmla="*/ 0 h 1109"/>
                <a:gd name="T8" fmla="*/ 254 w 254"/>
                <a:gd name="T9" fmla="*/ 987 h 1109"/>
              </a:gdLst>
              <a:ahLst/>
              <a:cxnLst>
                <a:cxn ang="0">
                  <a:pos x="T0" y="T1"/>
                </a:cxn>
                <a:cxn ang="0">
                  <a:pos x="T2" y="T3"/>
                </a:cxn>
                <a:cxn ang="0">
                  <a:pos x="T4" y="T5"/>
                </a:cxn>
                <a:cxn ang="0">
                  <a:pos x="T6" y="T7"/>
                </a:cxn>
                <a:cxn ang="0">
                  <a:pos x="T8" y="T9"/>
                </a:cxn>
              </a:cxnLst>
              <a:rect l="0" t="0" r="r" b="b"/>
              <a:pathLst>
                <a:path w="254" h="1109">
                  <a:moveTo>
                    <a:pt x="254" y="987"/>
                  </a:moveTo>
                  <a:lnTo>
                    <a:pt x="0" y="1109"/>
                  </a:lnTo>
                  <a:lnTo>
                    <a:pt x="0" y="119"/>
                  </a:lnTo>
                  <a:lnTo>
                    <a:pt x="254" y="0"/>
                  </a:lnTo>
                  <a:lnTo>
                    <a:pt x="254" y="987"/>
                  </a:ln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77" name="Freeform 47">
              <a:extLst>
                <a:ext uri="{FF2B5EF4-FFF2-40B4-BE49-F238E27FC236}">
                  <a16:creationId xmlns:a16="http://schemas.microsoft.com/office/drawing/2014/main" id="{48543B1A-8BF5-4C63-8404-41B2EA70B33E}"/>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44660" y="640894"/>
              <a:ext cx="168275" cy="1713195"/>
            </a:xfrm>
            <a:custGeom>
              <a:avLst/>
              <a:gdLst>
                <a:gd name="T0" fmla="*/ 106 w 106"/>
                <a:gd name="T1" fmla="*/ 1114 h 1114"/>
                <a:gd name="T2" fmla="*/ 0 w 106"/>
                <a:gd name="T3" fmla="*/ 1005 h 1114"/>
                <a:gd name="T4" fmla="*/ 0 w 106"/>
                <a:gd name="T5" fmla="*/ 0 h 1114"/>
                <a:gd name="T6" fmla="*/ 106 w 106"/>
                <a:gd name="T7" fmla="*/ 110 h 1114"/>
                <a:gd name="T8" fmla="*/ 106 w 106"/>
                <a:gd name="T9" fmla="*/ 1114 h 1114"/>
              </a:gdLst>
              <a:ahLst/>
              <a:cxnLst>
                <a:cxn ang="0">
                  <a:pos x="T0" y="T1"/>
                </a:cxn>
                <a:cxn ang="0">
                  <a:pos x="T2" y="T3"/>
                </a:cxn>
                <a:cxn ang="0">
                  <a:pos x="T4" y="T5"/>
                </a:cxn>
                <a:cxn ang="0">
                  <a:pos x="T6" y="T7"/>
                </a:cxn>
                <a:cxn ang="0">
                  <a:pos x="T8" y="T9"/>
                </a:cxn>
              </a:cxnLst>
              <a:rect l="0" t="0" r="r" b="b"/>
              <a:pathLst>
                <a:path w="106" h="1114">
                  <a:moveTo>
                    <a:pt x="106" y="1114"/>
                  </a:moveTo>
                  <a:lnTo>
                    <a:pt x="0" y="1005"/>
                  </a:lnTo>
                  <a:lnTo>
                    <a:pt x="0" y="0"/>
                  </a:lnTo>
                  <a:lnTo>
                    <a:pt x="106" y="110"/>
                  </a:lnTo>
                  <a:lnTo>
                    <a:pt x="106" y="1114"/>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78" name="Rectangle 77">
              <a:extLst>
                <a:ext uri="{FF2B5EF4-FFF2-40B4-BE49-F238E27FC236}">
                  <a16:creationId xmlns:a16="http://schemas.microsoft.com/office/drawing/2014/main" id="{92DF5096-E051-498C-A3ED-CBA77A813AAC}"/>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644055" y="635715"/>
              <a:ext cx="10907863" cy="1541457"/>
            </a:xfrm>
            <a:prstGeom prst="rect">
              <a:avLst/>
            </a:pr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grpSp>
      <p:sp>
        <p:nvSpPr>
          <p:cNvPr id="7" name="Title 1"/>
          <p:cNvSpPr txBox="1">
            <a:spLocks/>
          </p:cNvSpPr>
          <p:nvPr/>
        </p:nvSpPr>
        <p:spPr>
          <a:xfrm>
            <a:off x="785460" y="759805"/>
            <a:ext cx="7729890" cy="1325563"/>
          </a:xfrm>
          <a:prstGeom prst="rect">
            <a:avLst/>
          </a:prstGeom>
        </p:spPr>
        <p:txBody>
          <a:bodyPr vert="horz" lIns="91440" tIns="45720" rIns="91440" bIns="45720" rtlCol="0" anchor="ctr">
            <a:normAutofit/>
          </a:bodyPr>
          <a:lstStyle/>
          <a:p>
            <a:pPr>
              <a:lnSpc>
                <a:spcPct val="90000"/>
              </a:lnSpc>
              <a:spcBef>
                <a:spcPct val="0"/>
              </a:spcBef>
              <a:spcAft>
                <a:spcPts val="600"/>
              </a:spcAft>
              <a:defRPr/>
            </a:pPr>
            <a:r>
              <a:rPr lang="en-US" sz="3500" b="1">
                <a:solidFill>
                  <a:srgbClr val="FFFFFF"/>
                </a:solidFill>
                <a:latin typeface="+mj-lt"/>
                <a:ea typeface="+mj-ea"/>
                <a:cs typeface="+mj-cs"/>
              </a:rPr>
              <a:t>Tools for working with open connected innovation</a:t>
            </a:r>
          </a:p>
        </p:txBody>
      </p:sp>
      <p:sp>
        <p:nvSpPr>
          <p:cNvPr id="3" name="Content Placeholder 2"/>
          <p:cNvSpPr>
            <a:spLocks noGrp="1"/>
          </p:cNvSpPr>
          <p:nvPr>
            <p:ph idx="1"/>
          </p:nvPr>
        </p:nvSpPr>
        <p:spPr>
          <a:xfrm>
            <a:off x="1068678" y="2494450"/>
            <a:ext cx="3040158" cy="3563159"/>
          </a:xfrm>
        </p:spPr>
        <p:txBody>
          <a:bodyPr vert="horz" lIns="91440" tIns="45720" rIns="91440" bIns="45720" rtlCol="0">
            <a:normAutofit/>
          </a:bodyPr>
          <a:lstStyle/>
          <a:p>
            <a:pPr indent="-228600">
              <a:lnSpc>
                <a:spcPct val="90000"/>
              </a:lnSpc>
            </a:pPr>
            <a:r>
              <a:rPr lang="en-US" sz="2100"/>
              <a:t>Innovation markets – e.g. innocentive.com</a:t>
            </a:r>
          </a:p>
          <a:p>
            <a:pPr indent="-228600">
              <a:lnSpc>
                <a:spcPct val="90000"/>
              </a:lnSpc>
            </a:pPr>
            <a:r>
              <a:rPr lang="en-US" sz="2100"/>
              <a:t>Innovation contests</a:t>
            </a:r>
          </a:p>
          <a:p>
            <a:pPr indent="-228600">
              <a:lnSpc>
                <a:spcPct val="90000"/>
              </a:lnSpc>
            </a:pPr>
            <a:r>
              <a:rPr lang="en-US" sz="2100"/>
              <a:t>Innovation communities</a:t>
            </a:r>
          </a:p>
          <a:p>
            <a:pPr indent="-228600">
              <a:lnSpc>
                <a:spcPct val="90000"/>
              </a:lnSpc>
            </a:pPr>
            <a:r>
              <a:rPr lang="en-US" sz="2100"/>
              <a:t>Innovation toolkits</a:t>
            </a:r>
          </a:p>
          <a:p>
            <a:pPr indent="-228600">
              <a:lnSpc>
                <a:spcPct val="90000"/>
              </a:lnSpc>
            </a:pPr>
            <a:r>
              <a:rPr lang="en-US" sz="2100"/>
              <a:t>Innovation technologies</a:t>
            </a:r>
          </a:p>
          <a:p>
            <a:pPr indent="-228600">
              <a:lnSpc>
                <a:spcPct val="90000"/>
              </a:lnSpc>
            </a:pPr>
            <a:endParaRPr lang="en-US" sz="2100"/>
          </a:p>
        </p:txBody>
      </p:sp>
      <p:pic>
        <p:nvPicPr>
          <p:cNvPr id="17410" name="Picture 2" descr="Image result for tools"/>
          <p:cNvPicPr>
            <a:picLocks noChangeAspect="1" noChangeArrowheads="1"/>
          </p:cNvPicPr>
          <p:nvPr/>
        </p:nvPicPr>
        <p:blipFill rotWithShape="1">
          <a:blip r:embed="rId2" cstate="print"/>
          <a:srcRect l="11206" r="21071" b="-1"/>
          <a:stretch/>
        </p:blipFill>
        <p:spPr bwMode="auto">
          <a:xfrm>
            <a:off x="4574169" y="2492376"/>
            <a:ext cx="3601803" cy="3563372"/>
          </a:xfrm>
          <a:prstGeom prst="rect">
            <a:avLst/>
          </a:prstGeom>
          <a:noFill/>
        </p:spPr>
      </p:pic>
      <p:cxnSp>
        <p:nvCxnSpPr>
          <p:cNvPr id="4" name="Straight Connector 3"/>
          <p:cNvCxnSpPr/>
          <p:nvPr/>
        </p:nvCxnSpPr>
        <p:spPr>
          <a:xfrm>
            <a:off x="458167" y="1495318"/>
            <a:ext cx="8478016" cy="1588"/>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03073282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125454"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itle 1"/>
          <p:cNvSpPr txBox="1">
            <a:spLocks/>
          </p:cNvSpPr>
          <p:nvPr/>
        </p:nvSpPr>
        <p:spPr>
          <a:xfrm>
            <a:off x="107504" y="1153572"/>
            <a:ext cx="2807921" cy="4461163"/>
          </a:xfrm>
          <a:prstGeom prst="rect">
            <a:avLst/>
          </a:prstGeom>
        </p:spPr>
        <p:txBody>
          <a:bodyPr vert="horz" lIns="91440" tIns="45720" rIns="91440" bIns="45720" rtlCol="0" anchor="ctr">
            <a:normAutofit/>
          </a:bodyPr>
          <a:lstStyle/>
          <a:p>
            <a:pPr>
              <a:lnSpc>
                <a:spcPct val="90000"/>
              </a:lnSpc>
              <a:spcBef>
                <a:spcPct val="0"/>
              </a:spcBef>
              <a:spcAft>
                <a:spcPts val="600"/>
              </a:spcAft>
              <a:defRPr/>
            </a:pPr>
            <a:r>
              <a:rPr lang="en-US" sz="4400" b="1" kern="1200" dirty="0">
                <a:solidFill>
                  <a:srgbClr val="FFFFFF"/>
                </a:solidFill>
                <a:latin typeface="+mj-lt"/>
                <a:ea typeface="+mj-ea"/>
                <a:cs typeface="+mj-cs"/>
              </a:rPr>
              <a:t>Challenges in building innovation networks</a:t>
            </a:r>
          </a:p>
        </p:txBody>
      </p:sp>
      <p:sp>
        <p:nvSpPr>
          <p:cNvPr id="18" name="Arc 17">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2455479"/>
            <a:ext cx="3062575"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p:cNvSpPr>
            <a:spLocks noGrp="1"/>
          </p:cNvSpPr>
          <p:nvPr>
            <p:ph idx="1"/>
          </p:nvPr>
        </p:nvSpPr>
        <p:spPr>
          <a:xfrm>
            <a:off x="3335481" y="591344"/>
            <a:ext cx="5179868" cy="5585619"/>
          </a:xfrm>
        </p:spPr>
        <p:txBody>
          <a:bodyPr vert="horz" lIns="91440" tIns="45720" rIns="91440" bIns="45720" rtlCol="0" anchor="ctr">
            <a:normAutofit/>
          </a:bodyPr>
          <a:lstStyle/>
          <a:p>
            <a:pPr indent="-228600">
              <a:lnSpc>
                <a:spcPct val="90000"/>
              </a:lnSpc>
            </a:pPr>
            <a:r>
              <a:rPr lang="en-US" dirty="0"/>
              <a:t>how to manage something we don’t own or control</a:t>
            </a:r>
            <a:endParaRPr lang="en-US"/>
          </a:p>
          <a:p>
            <a:pPr indent="-228600">
              <a:lnSpc>
                <a:spcPct val="90000"/>
              </a:lnSpc>
            </a:pPr>
            <a:r>
              <a:rPr lang="en-US" dirty="0"/>
              <a:t>how to see </a:t>
            </a:r>
            <a:r>
              <a:rPr lang="en-US"/>
              <a:t>system-level effects </a:t>
            </a:r>
            <a:r>
              <a:rPr lang="en-US" dirty="0"/>
              <a:t>not narrow self-interests </a:t>
            </a:r>
            <a:endParaRPr lang="en-US"/>
          </a:p>
          <a:p>
            <a:pPr indent="-228600">
              <a:lnSpc>
                <a:spcPct val="90000"/>
              </a:lnSpc>
            </a:pPr>
            <a:r>
              <a:rPr lang="en-US" dirty="0"/>
              <a:t>how to </a:t>
            </a:r>
            <a:r>
              <a:rPr lang="en-US"/>
              <a:t>build trust and shared risk taking </a:t>
            </a:r>
            <a:r>
              <a:rPr lang="en-US" dirty="0"/>
              <a:t>without tying the process up in contractual red tape </a:t>
            </a:r>
            <a:endParaRPr lang="en-US"/>
          </a:p>
          <a:p>
            <a:pPr indent="-228600">
              <a:lnSpc>
                <a:spcPct val="90000"/>
              </a:lnSpc>
            </a:pPr>
            <a:r>
              <a:rPr lang="en-US" dirty="0"/>
              <a:t>how to avoid ‘free riders’ and information ‘spillovers’</a:t>
            </a:r>
            <a:endParaRPr lang="en-US"/>
          </a:p>
          <a:p>
            <a:pPr indent="-228600">
              <a:lnSpc>
                <a:spcPct val="90000"/>
              </a:lnSpc>
            </a:pPr>
            <a:endParaRPr lang="en-US"/>
          </a:p>
        </p:txBody>
      </p:sp>
      <p:cxnSp>
        <p:nvCxnSpPr>
          <p:cNvPr id="4" name="Straight Connector 3"/>
          <p:cNvCxnSpPr/>
          <p:nvPr/>
        </p:nvCxnSpPr>
        <p:spPr>
          <a:xfrm>
            <a:off x="458167" y="1495318"/>
            <a:ext cx="8478016" cy="1588"/>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40256525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Screen Shot 2015-04-16 at 15.04.11.png"/>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17787" y="1794203"/>
            <a:ext cx="7855643" cy="4543534"/>
          </a:xfrm>
          <a:prstGeom prst="rect">
            <a:avLst/>
          </a:prstGeom>
        </p:spPr>
      </p:pic>
      <p:cxnSp>
        <p:nvCxnSpPr>
          <p:cNvPr id="5" name="Straight Connector 4"/>
          <p:cNvCxnSpPr/>
          <p:nvPr/>
        </p:nvCxnSpPr>
        <p:spPr>
          <a:xfrm>
            <a:off x="458167" y="1495318"/>
            <a:ext cx="8478016" cy="1588"/>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7" name="Title 1"/>
          <p:cNvSpPr txBox="1">
            <a:spLocks/>
          </p:cNvSpPr>
          <p:nvPr/>
        </p:nvSpPr>
        <p:spPr>
          <a:xfrm>
            <a:off x="1648668" y="208568"/>
            <a:ext cx="6924762" cy="917864"/>
          </a:xfrm>
          <a:prstGeom prst="rect">
            <a:avLst/>
          </a:prstGeom>
        </p:spPr>
        <p:txBody>
          <a:bodyPr vert="horz" lIns="91440" tIns="45720" rIns="91440" bIns="45720" rtlCol="0" anchor="ctr">
            <a:noAutofit/>
          </a:bodyPr>
          <a:lstStyle/>
          <a:p>
            <a:pPr>
              <a:spcBef>
                <a:spcPct val="0"/>
              </a:spcBef>
              <a:defRPr/>
            </a:pPr>
            <a:r>
              <a:rPr lang="en-US" sz="3600" b="1" dirty="0">
                <a:solidFill>
                  <a:srgbClr val="008000"/>
                </a:solidFill>
                <a:latin typeface="+mj-lt"/>
                <a:ea typeface="+mj-ea"/>
                <a:cs typeface="+mj-cs"/>
              </a:rPr>
              <a:t>Types of innovation networks</a:t>
            </a:r>
            <a:endParaRPr lang="en-GB" sz="3600" b="1" dirty="0">
              <a:solidFill>
                <a:srgbClr val="008000"/>
              </a:solidFill>
              <a:latin typeface="+mj-lt"/>
              <a:ea typeface="+mj-ea"/>
              <a:cs typeface="+mj-cs"/>
            </a:endParaRPr>
          </a:p>
        </p:txBody>
      </p:sp>
    </p:spTree>
    <p:extLst>
      <p:ext uri="{BB962C8B-B14F-4D97-AF65-F5344CB8AC3E}">
        <p14:creationId xmlns:p14="http://schemas.microsoft.com/office/powerpoint/2010/main" val="346434126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Screen Shot 2015-07-10 at 09.52.30.png"/>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44139" y="1298546"/>
            <a:ext cx="7685461" cy="5559453"/>
          </a:xfrm>
          <a:prstGeom prst="rect">
            <a:avLst/>
          </a:prstGeom>
        </p:spPr>
      </p:pic>
      <p:cxnSp>
        <p:nvCxnSpPr>
          <p:cNvPr id="6" name="Straight Connector 5"/>
          <p:cNvCxnSpPr/>
          <p:nvPr/>
        </p:nvCxnSpPr>
        <p:spPr>
          <a:xfrm>
            <a:off x="323528" y="1196752"/>
            <a:ext cx="8478016" cy="1588"/>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7" name="Title 1"/>
          <p:cNvSpPr txBox="1">
            <a:spLocks/>
          </p:cNvSpPr>
          <p:nvPr/>
        </p:nvSpPr>
        <p:spPr>
          <a:xfrm>
            <a:off x="1043608" y="188640"/>
            <a:ext cx="6924762" cy="917864"/>
          </a:xfrm>
          <a:prstGeom prst="rect">
            <a:avLst/>
          </a:prstGeom>
        </p:spPr>
        <p:txBody>
          <a:bodyPr vert="horz" lIns="91440" tIns="45720" rIns="91440" bIns="45720" rtlCol="0" anchor="ctr">
            <a:noAutofit/>
          </a:bodyPr>
          <a:lstStyle/>
          <a:p>
            <a:pPr>
              <a:spcBef>
                <a:spcPct val="0"/>
              </a:spcBef>
              <a:defRPr/>
            </a:pPr>
            <a:r>
              <a:rPr lang="en-US" sz="3600" b="1" dirty="0">
                <a:solidFill>
                  <a:srgbClr val="008000"/>
                </a:solidFill>
                <a:latin typeface="+mj-lt"/>
                <a:ea typeface="+mj-ea"/>
                <a:cs typeface="+mj-cs"/>
              </a:rPr>
              <a:t>Barriers to new network formation</a:t>
            </a:r>
            <a:endParaRPr lang="en-GB" sz="3600" b="1" dirty="0">
              <a:solidFill>
                <a:srgbClr val="008000"/>
              </a:solidFill>
              <a:latin typeface="+mj-lt"/>
              <a:ea typeface="+mj-ea"/>
              <a:cs typeface="+mj-cs"/>
            </a:endParaRPr>
          </a:p>
        </p:txBody>
      </p:sp>
      <p:sp>
        <p:nvSpPr>
          <p:cNvPr id="2" name="TextBox 1">
            <a:extLst>
              <a:ext uri="{FF2B5EF4-FFF2-40B4-BE49-F238E27FC236}">
                <a16:creationId xmlns:a16="http://schemas.microsoft.com/office/drawing/2014/main" id="{17A468D0-8918-BE45-B63A-865556545C95}"/>
              </a:ext>
            </a:extLst>
          </p:cNvPr>
          <p:cNvSpPr txBox="1"/>
          <p:nvPr/>
        </p:nvSpPr>
        <p:spPr>
          <a:xfrm>
            <a:off x="914400" y="1412776"/>
            <a:ext cx="1008112" cy="369332"/>
          </a:xfrm>
          <a:prstGeom prst="rect">
            <a:avLst/>
          </a:prstGeom>
          <a:solidFill>
            <a:schemeClr val="accent5"/>
          </a:solidFill>
        </p:spPr>
        <p:txBody>
          <a:bodyPr wrap="square" rtlCol="0">
            <a:spAutoFit/>
          </a:bodyPr>
          <a:lstStyle/>
          <a:p>
            <a:endParaRPr lang="en-US" dirty="0"/>
          </a:p>
        </p:txBody>
      </p:sp>
    </p:spTree>
    <p:extLst>
      <p:ext uri="{BB962C8B-B14F-4D97-AF65-F5344CB8AC3E}">
        <p14:creationId xmlns:p14="http://schemas.microsoft.com/office/powerpoint/2010/main" val="426988606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C19CF5-3AC2-5243-AA26-7BE4573894C7}"/>
              </a:ext>
            </a:extLst>
          </p:cNvPr>
          <p:cNvSpPr>
            <a:spLocks noGrp="1"/>
          </p:cNvSpPr>
          <p:nvPr>
            <p:ph type="title"/>
          </p:nvPr>
        </p:nvSpPr>
        <p:spPr/>
        <p:txBody>
          <a:bodyPr>
            <a:normAutofit fontScale="90000"/>
          </a:bodyPr>
          <a:lstStyle/>
          <a:p>
            <a:r>
              <a:rPr lang="en-US" dirty="0"/>
              <a:t>A framework for thinking about new networks</a:t>
            </a:r>
          </a:p>
        </p:txBody>
      </p:sp>
      <p:pic>
        <p:nvPicPr>
          <p:cNvPr id="5" name="Picture 4" descr="Table&#10;&#10;Description automatically generated">
            <a:extLst>
              <a:ext uri="{FF2B5EF4-FFF2-40B4-BE49-F238E27FC236}">
                <a16:creationId xmlns:a16="http://schemas.microsoft.com/office/drawing/2014/main" id="{5972B98B-D2F6-CA4B-B245-3379EC05857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03648" y="1772816"/>
            <a:ext cx="5575300" cy="4229100"/>
          </a:xfrm>
          <a:prstGeom prst="rect">
            <a:avLst/>
          </a:prstGeom>
        </p:spPr>
      </p:pic>
    </p:spTree>
    <p:extLst>
      <p:ext uri="{BB962C8B-B14F-4D97-AF65-F5344CB8AC3E}">
        <p14:creationId xmlns:p14="http://schemas.microsoft.com/office/powerpoint/2010/main" val="321943800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Screen Shot 2015-07-10 at 09.55.40.png"/>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27584" y="2132856"/>
            <a:ext cx="7023100" cy="3962400"/>
          </a:xfrm>
          <a:prstGeom prst="rect">
            <a:avLst/>
          </a:prstGeom>
        </p:spPr>
      </p:pic>
      <p:cxnSp>
        <p:nvCxnSpPr>
          <p:cNvPr id="6" name="Straight Connector 5"/>
          <p:cNvCxnSpPr/>
          <p:nvPr/>
        </p:nvCxnSpPr>
        <p:spPr>
          <a:xfrm>
            <a:off x="458167" y="1495318"/>
            <a:ext cx="8478016" cy="1588"/>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7" name="Title 1"/>
          <p:cNvSpPr txBox="1">
            <a:spLocks/>
          </p:cNvSpPr>
          <p:nvPr/>
        </p:nvSpPr>
        <p:spPr>
          <a:xfrm>
            <a:off x="1648668" y="208568"/>
            <a:ext cx="6924762" cy="917864"/>
          </a:xfrm>
          <a:prstGeom prst="rect">
            <a:avLst/>
          </a:prstGeom>
        </p:spPr>
        <p:txBody>
          <a:bodyPr vert="horz" lIns="91440" tIns="45720" rIns="91440" bIns="45720" rtlCol="0" anchor="ctr">
            <a:noAutofit/>
          </a:bodyPr>
          <a:lstStyle/>
          <a:p>
            <a:pPr>
              <a:spcBef>
                <a:spcPct val="0"/>
              </a:spcBef>
              <a:defRPr/>
            </a:pPr>
            <a:r>
              <a:rPr lang="en-US" sz="3600" b="1" dirty="0">
                <a:solidFill>
                  <a:srgbClr val="008000"/>
                </a:solidFill>
                <a:latin typeface="+mj-lt"/>
                <a:ea typeface="+mj-ea"/>
                <a:cs typeface="+mj-cs"/>
              </a:rPr>
              <a:t>Types of innovation networks</a:t>
            </a:r>
            <a:endParaRPr lang="en-GB" sz="3600" b="1" dirty="0">
              <a:solidFill>
                <a:srgbClr val="008000"/>
              </a:solidFill>
              <a:latin typeface="+mj-lt"/>
              <a:ea typeface="+mj-ea"/>
              <a:cs typeface="+mj-cs"/>
            </a:endParaRPr>
          </a:p>
        </p:txBody>
      </p:sp>
      <p:sp>
        <p:nvSpPr>
          <p:cNvPr id="2" name="TextBox 1">
            <a:extLst>
              <a:ext uri="{FF2B5EF4-FFF2-40B4-BE49-F238E27FC236}">
                <a16:creationId xmlns:a16="http://schemas.microsoft.com/office/drawing/2014/main" id="{039D56AD-D40D-D546-882F-FF6F055C46E7}"/>
              </a:ext>
            </a:extLst>
          </p:cNvPr>
          <p:cNvSpPr txBox="1"/>
          <p:nvPr/>
        </p:nvSpPr>
        <p:spPr>
          <a:xfrm>
            <a:off x="1475656" y="5661248"/>
            <a:ext cx="3600400" cy="369332"/>
          </a:xfrm>
          <a:prstGeom prst="rect">
            <a:avLst/>
          </a:prstGeom>
          <a:solidFill>
            <a:schemeClr val="bg1"/>
          </a:solidFill>
        </p:spPr>
        <p:txBody>
          <a:bodyPr wrap="square" rtlCol="0">
            <a:spAutoFit/>
          </a:bodyPr>
          <a:lstStyle/>
          <a:p>
            <a:endParaRPr lang="en-US" dirty="0"/>
          </a:p>
        </p:txBody>
      </p:sp>
    </p:spTree>
    <p:extLst>
      <p:ext uri="{BB962C8B-B14F-4D97-AF65-F5344CB8AC3E}">
        <p14:creationId xmlns:p14="http://schemas.microsoft.com/office/powerpoint/2010/main" val="53828796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Freeform: Shape 12">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125454"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itle 1"/>
          <p:cNvSpPr txBox="1">
            <a:spLocks/>
          </p:cNvSpPr>
          <p:nvPr/>
        </p:nvSpPr>
        <p:spPr>
          <a:xfrm>
            <a:off x="207817" y="1153572"/>
            <a:ext cx="2707608" cy="4461163"/>
          </a:xfrm>
          <a:prstGeom prst="rect">
            <a:avLst/>
          </a:prstGeom>
        </p:spPr>
        <p:txBody>
          <a:bodyPr vert="horz" lIns="91440" tIns="45720" rIns="91440" bIns="45720" rtlCol="0" anchor="ctr">
            <a:normAutofit/>
          </a:bodyPr>
          <a:lstStyle/>
          <a:p>
            <a:pPr>
              <a:lnSpc>
                <a:spcPct val="90000"/>
              </a:lnSpc>
              <a:spcBef>
                <a:spcPct val="0"/>
              </a:spcBef>
              <a:spcAft>
                <a:spcPts val="600"/>
              </a:spcAft>
              <a:defRPr/>
            </a:pPr>
            <a:r>
              <a:rPr lang="en-US" sz="4400" b="1" kern="1200" dirty="0">
                <a:solidFill>
                  <a:srgbClr val="FFFFFF"/>
                </a:solidFill>
                <a:latin typeface="+mj-lt"/>
                <a:ea typeface="+mj-ea"/>
                <a:cs typeface="+mj-cs"/>
              </a:rPr>
              <a:t>Managing innovation networks</a:t>
            </a:r>
          </a:p>
        </p:txBody>
      </p:sp>
      <p:sp>
        <p:nvSpPr>
          <p:cNvPr id="15" name="Arc 14">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2455479"/>
            <a:ext cx="3062575"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p:cNvSpPr>
            <a:spLocks noGrp="1"/>
          </p:cNvSpPr>
          <p:nvPr>
            <p:ph idx="1"/>
          </p:nvPr>
        </p:nvSpPr>
        <p:spPr>
          <a:xfrm>
            <a:off x="3335481" y="591344"/>
            <a:ext cx="5179868" cy="5585619"/>
          </a:xfrm>
        </p:spPr>
        <p:txBody>
          <a:bodyPr vert="horz" lIns="91440" tIns="45720" rIns="91440" bIns="45720" rtlCol="0" anchor="ctr">
            <a:normAutofit/>
          </a:bodyPr>
          <a:lstStyle/>
          <a:p>
            <a:pPr indent="-228600">
              <a:lnSpc>
                <a:spcPct val="90000"/>
              </a:lnSpc>
            </a:pPr>
            <a:r>
              <a:rPr lang="en-US" sz="1800" i="1"/>
              <a:t>Network boundary management. </a:t>
            </a:r>
            <a:r>
              <a:rPr lang="en-US" sz="1800"/>
              <a:t>How the membership of the network is defined and maintained. </a:t>
            </a:r>
          </a:p>
          <a:p>
            <a:pPr indent="-228600">
              <a:lnSpc>
                <a:spcPct val="90000"/>
              </a:lnSpc>
            </a:pPr>
            <a:r>
              <a:rPr lang="en-US" sz="1800" i="1"/>
              <a:t>Decision making. </a:t>
            </a:r>
            <a:r>
              <a:rPr lang="en-US" sz="1800"/>
              <a:t>How (where, when, who) decisions get taken at the network level. </a:t>
            </a:r>
          </a:p>
          <a:p>
            <a:pPr indent="-228600">
              <a:lnSpc>
                <a:spcPct val="90000"/>
              </a:lnSpc>
            </a:pPr>
            <a:r>
              <a:rPr lang="en-US" sz="1800" i="1"/>
              <a:t>Conflict resolution. </a:t>
            </a:r>
            <a:r>
              <a:rPr lang="en-US" sz="1800"/>
              <a:t>How conflicts are resolved effectively. </a:t>
            </a:r>
          </a:p>
          <a:p>
            <a:pPr indent="-228600">
              <a:lnSpc>
                <a:spcPct val="90000"/>
              </a:lnSpc>
            </a:pPr>
            <a:r>
              <a:rPr lang="en-US" sz="1800" i="1"/>
              <a:t>Information processing. </a:t>
            </a:r>
            <a:r>
              <a:rPr lang="en-US" sz="1800"/>
              <a:t>How information flows among members and is managed. </a:t>
            </a:r>
          </a:p>
          <a:p>
            <a:pPr indent="-228600">
              <a:lnSpc>
                <a:spcPct val="90000"/>
              </a:lnSpc>
            </a:pPr>
            <a:r>
              <a:rPr lang="en-US" sz="1800" i="1"/>
              <a:t>Knowledge management. </a:t>
            </a:r>
            <a:r>
              <a:rPr lang="en-US" sz="1800"/>
              <a:t>How knowledge is created, captured, shared and used across the network. </a:t>
            </a:r>
          </a:p>
          <a:p>
            <a:pPr indent="-228600">
              <a:lnSpc>
                <a:spcPct val="90000"/>
              </a:lnSpc>
            </a:pPr>
            <a:r>
              <a:rPr lang="en-US" sz="1800" i="1"/>
              <a:t>Motivation. </a:t>
            </a:r>
            <a:r>
              <a:rPr lang="en-US" sz="1800"/>
              <a:t>How members are motivated to join/remain within the network. </a:t>
            </a:r>
          </a:p>
          <a:p>
            <a:pPr indent="-228600">
              <a:lnSpc>
                <a:spcPct val="90000"/>
              </a:lnSpc>
            </a:pPr>
            <a:r>
              <a:rPr lang="en-US" sz="1800" i="1"/>
              <a:t>Risk/benefit sharing. </a:t>
            </a:r>
            <a:r>
              <a:rPr lang="en-US" sz="1800"/>
              <a:t>How the risks and rewards are allocated across members of the network. </a:t>
            </a:r>
          </a:p>
          <a:p>
            <a:pPr indent="-228600">
              <a:lnSpc>
                <a:spcPct val="90000"/>
              </a:lnSpc>
            </a:pPr>
            <a:r>
              <a:rPr lang="en-US" sz="1800" i="1"/>
              <a:t>Coordination. </a:t>
            </a:r>
            <a:r>
              <a:rPr lang="en-US" sz="1800"/>
              <a:t>How the operations of the network are integrated and coordinated. </a:t>
            </a:r>
          </a:p>
          <a:p>
            <a:pPr indent="-228600">
              <a:lnSpc>
                <a:spcPct val="90000"/>
              </a:lnSpc>
            </a:pPr>
            <a:endParaRPr lang="en-US" sz="1800"/>
          </a:p>
        </p:txBody>
      </p:sp>
      <p:cxnSp>
        <p:nvCxnSpPr>
          <p:cNvPr id="4" name="Straight Connector 3"/>
          <p:cNvCxnSpPr/>
          <p:nvPr/>
        </p:nvCxnSpPr>
        <p:spPr>
          <a:xfrm>
            <a:off x="458167" y="1495318"/>
            <a:ext cx="8478016" cy="1588"/>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18541214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125454"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93FCEF7-FD14-DD43-AA20-E08E63DEC0DC}"/>
              </a:ext>
            </a:extLst>
          </p:cNvPr>
          <p:cNvSpPr>
            <a:spLocks noGrp="1"/>
          </p:cNvSpPr>
          <p:nvPr>
            <p:ph type="title"/>
          </p:nvPr>
        </p:nvSpPr>
        <p:spPr>
          <a:xfrm>
            <a:off x="515125" y="1153572"/>
            <a:ext cx="2400300" cy="4461163"/>
          </a:xfrm>
        </p:spPr>
        <p:txBody>
          <a:bodyPr>
            <a:normAutofit/>
          </a:bodyPr>
          <a:lstStyle/>
          <a:p>
            <a:r>
              <a:rPr lang="en-US">
                <a:solidFill>
                  <a:srgbClr val="FFFFFF"/>
                </a:solidFill>
              </a:rPr>
              <a:t>Summary</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2455479"/>
            <a:ext cx="3062575"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B3F1A399-79D0-1047-BEA1-33AD80EFE8D8}"/>
              </a:ext>
            </a:extLst>
          </p:cNvPr>
          <p:cNvSpPr>
            <a:spLocks noGrp="1"/>
          </p:cNvSpPr>
          <p:nvPr>
            <p:ph idx="1"/>
          </p:nvPr>
        </p:nvSpPr>
        <p:spPr>
          <a:xfrm>
            <a:off x="3335481" y="591344"/>
            <a:ext cx="5179868" cy="5585619"/>
          </a:xfrm>
        </p:spPr>
        <p:txBody>
          <a:bodyPr anchor="ctr">
            <a:normAutofit/>
          </a:bodyPr>
          <a:lstStyle/>
          <a:p>
            <a:pPr>
              <a:lnSpc>
                <a:spcPct val="90000"/>
              </a:lnSpc>
            </a:pPr>
            <a:r>
              <a:rPr lang="en-US" sz="2700" dirty="0"/>
              <a:t>Innovation is not a solo act but a multiplayer game. Be it the entrepreneur who spots an opportunity or an established organization trying to renew its offerings or sharpen up its processes, making innovation happen depends on working with many different players. This raises questions </a:t>
            </a:r>
            <a:r>
              <a:rPr lang="en-US" sz="2700" i="1" dirty="0"/>
              <a:t>between </a:t>
            </a:r>
            <a:r>
              <a:rPr lang="en-US" sz="2700" dirty="0"/>
              <a:t>organizations, developing and making use of increasingly wide networks</a:t>
            </a:r>
            <a:r>
              <a:rPr lang="en-US" sz="2700" i="1" dirty="0"/>
              <a:t>. </a:t>
            </a:r>
            <a:endParaRPr lang="en-US" sz="2700" dirty="0"/>
          </a:p>
          <a:p>
            <a:pPr>
              <a:lnSpc>
                <a:spcPct val="90000"/>
              </a:lnSpc>
            </a:pPr>
            <a:endParaRPr lang="en-US" sz="2700" dirty="0"/>
          </a:p>
        </p:txBody>
      </p:sp>
    </p:spTree>
    <p:extLst>
      <p:ext uri="{BB962C8B-B14F-4D97-AF65-F5344CB8AC3E}">
        <p14:creationId xmlns:p14="http://schemas.microsoft.com/office/powerpoint/2010/main" val="103085950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125454"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DB4E2AE-949D-A940-B8B2-BACB11F56BC9}"/>
              </a:ext>
            </a:extLst>
          </p:cNvPr>
          <p:cNvSpPr>
            <a:spLocks noGrp="1"/>
          </p:cNvSpPr>
          <p:nvPr>
            <p:ph type="title"/>
          </p:nvPr>
        </p:nvSpPr>
        <p:spPr>
          <a:xfrm>
            <a:off x="515125" y="1153572"/>
            <a:ext cx="2400300" cy="4461163"/>
          </a:xfrm>
        </p:spPr>
        <p:txBody>
          <a:bodyPr>
            <a:normAutofit/>
          </a:bodyPr>
          <a:lstStyle/>
          <a:p>
            <a:r>
              <a:rPr lang="en-US">
                <a:solidFill>
                  <a:srgbClr val="FFFFFF"/>
                </a:solidFill>
              </a:rPr>
              <a:t>Summary</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2455479"/>
            <a:ext cx="3062575"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41E7F3C8-9479-4A49-A35E-D5543C3EFF6B}"/>
              </a:ext>
            </a:extLst>
          </p:cNvPr>
          <p:cNvSpPr>
            <a:spLocks noGrp="1"/>
          </p:cNvSpPr>
          <p:nvPr>
            <p:ph idx="1"/>
          </p:nvPr>
        </p:nvSpPr>
        <p:spPr>
          <a:xfrm>
            <a:off x="3335481" y="591344"/>
            <a:ext cx="5179868" cy="5585619"/>
          </a:xfrm>
        </p:spPr>
        <p:txBody>
          <a:bodyPr anchor="ctr">
            <a:normAutofit/>
          </a:bodyPr>
          <a:lstStyle/>
          <a:p>
            <a:pPr>
              <a:lnSpc>
                <a:spcPct val="90000"/>
              </a:lnSpc>
            </a:pPr>
            <a:r>
              <a:rPr lang="en-US" sz="2000"/>
              <a:t>The ways knowledge actually flows around an innovation project are complex and interactive, woven together in a kind of social spaghetti where different people talk to each other in different ways, more or less frequently, and about different things. As the innovation becomes more complex so the networks have to involve more and different players, many of whom may lie outside the firm. </a:t>
            </a:r>
          </a:p>
          <a:p>
            <a:pPr>
              <a:lnSpc>
                <a:spcPct val="90000"/>
              </a:lnSpc>
            </a:pPr>
            <a:endParaRPr lang="en-US" sz="2000"/>
          </a:p>
          <a:p>
            <a:pPr>
              <a:lnSpc>
                <a:spcPct val="90000"/>
              </a:lnSpc>
            </a:pPr>
            <a:r>
              <a:rPr lang="en-US" sz="2000"/>
              <a:t>Increasingly, the networks we have to learn to deal with are becoming more virtual, a rich and global set of human resources distributed and connected by the enabling technologies of the Internet, broadband and mobile communications and shared computer networks. </a:t>
            </a:r>
          </a:p>
          <a:p>
            <a:pPr>
              <a:lnSpc>
                <a:spcPct val="90000"/>
              </a:lnSpc>
            </a:pPr>
            <a:endParaRPr lang="en-US" sz="2000"/>
          </a:p>
        </p:txBody>
      </p:sp>
    </p:spTree>
    <p:extLst>
      <p:ext uri="{BB962C8B-B14F-4D97-AF65-F5344CB8AC3E}">
        <p14:creationId xmlns:p14="http://schemas.microsoft.com/office/powerpoint/2010/main" val="171420026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125454"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E863883-722D-B542-A1F0-E4844AD5C9C5}"/>
              </a:ext>
            </a:extLst>
          </p:cNvPr>
          <p:cNvSpPr>
            <a:spLocks noGrp="1"/>
          </p:cNvSpPr>
          <p:nvPr>
            <p:ph type="title"/>
          </p:nvPr>
        </p:nvSpPr>
        <p:spPr>
          <a:xfrm>
            <a:off x="515125" y="1153572"/>
            <a:ext cx="2400300" cy="4461163"/>
          </a:xfrm>
        </p:spPr>
        <p:txBody>
          <a:bodyPr>
            <a:normAutofit/>
          </a:bodyPr>
          <a:lstStyle/>
          <a:p>
            <a:r>
              <a:rPr lang="en-US">
                <a:solidFill>
                  <a:srgbClr val="FFFFFF"/>
                </a:solidFill>
              </a:rPr>
              <a:t>Summary</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2455479"/>
            <a:ext cx="3062575"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BF965CBF-158F-B449-8B19-F3F26B89511C}"/>
              </a:ext>
            </a:extLst>
          </p:cNvPr>
          <p:cNvSpPr>
            <a:spLocks noGrp="1"/>
          </p:cNvSpPr>
          <p:nvPr>
            <p:ph idx="1"/>
          </p:nvPr>
        </p:nvSpPr>
        <p:spPr>
          <a:xfrm>
            <a:off x="3335481" y="591344"/>
            <a:ext cx="5179868" cy="5585619"/>
          </a:xfrm>
        </p:spPr>
        <p:txBody>
          <a:bodyPr anchor="ctr">
            <a:normAutofit/>
          </a:bodyPr>
          <a:lstStyle/>
          <a:p>
            <a:pPr>
              <a:lnSpc>
                <a:spcPct val="90000"/>
              </a:lnSpc>
            </a:pPr>
            <a:r>
              <a:rPr lang="en-US" sz="2000"/>
              <a:t>Innovation networks are more than just ways of assembling and deploying knowledge in a complex world. They can also have what are termed ‘emergent properties’, that is the potential for the whole to be greater than the sum of its parts. These include getting access to different and complementary knowledge sets, reducing risks by sharing them, accessing new markets and technologies and otherwise pooling complementary skills and assets. </a:t>
            </a:r>
          </a:p>
          <a:p>
            <a:pPr>
              <a:lnSpc>
                <a:spcPct val="90000"/>
              </a:lnSpc>
            </a:pPr>
            <a:endParaRPr lang="en-US" sz="2000"/>
          </a:p>
          <a:p>
            <a:pPr>
              <a:lnSpc>
                <a:spcPct val="90000"/>
              </a:lnSpc>
            </a:pPr>
            <a:r>
              <a:rPr lang="en-US" sz="2000"/>
              <a:t>Open innovation is a very broad and therefore popular concept, but needs to be applied with care as its relevance is sensitive to the context. The appropriate choice of partner and specific mechanisms will depend on the type of innovation project and environmental uncertainty. </a:t>
            </a:r>
          </a:p>
          <a:p>
            <a:pPr>
              <a:lnSpc>
                <a:spcPct val="90000"/>
              </a:lnSpc>
            </a:pPr>
            <a:endParaRPr lang="en-US" sz="2000"/>
          </a:p>
        </p:txBody>
      </p:sp>
    </p:spTree>
    <p:extLst>
      <p:ext uri="{BB962C8B-B14F-4D97-AF65-F5344CB8AC3E}">
        <p14:creationId xmlns:p14="http://schemas.microsoft.com/office/powerpoint/2010/main" val="210907945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125454"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5C1D50B-170B-8947-908E-4645AA425F1A}"/>
              </a:ext>
            </a:extLst>
          </p:cNvPr>
          <p:cNvSpPr>
            <a:spLocks noGrp="1"/>
          </p:cNvSpPr>
          <p:nvPr>
            <p:ph type="title"/>
          </p:nvPr>
        </p:nvSpPr>
        <p:spPr>
          <a:xfrm>
            <a:off x="515125" y="1153572"/>
            <a:ext cx="2400300" cy="4461163"/>
          </a:xfrm>
        </p:spPr>
        <p:txBody>
          <a:bodyPr>
            <a:normAutofit/>
          </a:bodyPr>
          <a:lstStyle/>
          <a:p>
            <a:r>
              <a:rPr lang="en-US">
                <a:solidFill>
                  <a:srgbClr val="FFFFFF"/>
                </a:solidFill>
              </a:rPr>
              <a:t>Summary</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2455479"/>
            <a:ext cx="3062575"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DCF24CE6-2F91-3D40-B999-72E3DA9372AA}"/>
              </a:ext>
            </a:extLst>
          </p:cNvPr>
          <p:cNvSpPr>
            <a:spLocks noGrp="1"/>
          </p:cNvSpPr>
          <p:nvPr>
            <p:ph idx="1"/>
          </p:nvPr>
        </p:nvSpPr>
        <p:spPr>
          <a:xfrm>
            <a:off x="3335481" y="591344"/>
            <a:ext cx="5179868" cy="5585619"/>
          </a:xfrm>
        </p:spPr>
        <p:txBody>
          <a:bodyPr anchor="ctr">
            <a:normAutofit/>
          </a:bodyPr>
          <a:lstStyle/>
          <a:p>
            <a:pPr>
              <a:lnSpc>
                <a:spcPct val="90000"/>
              </a:lnSpc>
            </a:pPr>
            <a:r>
              <a:rPr lang="en-US" sz="2500"/>
              <a:t>Users can contribute to all phases of the innovation process, acting as sources, designers, developers, testers and even the main beneficiaries of innovation. </a:t>
            </a:r>
          </a:p>
          <a:p>
            <a:pPr>
              <a:lnSpc>
                <a:spcPct val="90000"/>
              </a:lnSpc>
            </a:pPr>
            <a:endParaRPr lang="en-US" sz="2500"/>
          </a:p>
          <a:p>
            <a:pPr>
              <a:lnSpc>
                <a:spcPct val="90000"/>
              </a:lnSpc>
            </a:pPr>
            <a:r>
              <a:rPr lang="en-US" sz="2500"/>
              <a:t>Lead users are by definition atypical, but anticipate the needs of the majority and recognize requirements early, expect high level of benefits and have sufficient sophistication to identify and capabilities to contribute to the development of the innovation. </a:t>
            </a:r>
          </a:p>
          <a:p>
            <a:pPr>
              <a:lnSpc>
                <a:spcPct val="90000"/>
              </a:lnSpc>
            </a:pPr>
            <a:endParaRPr lang="en-US" sz="2500"/>
          </a:p>
        </p:txBody>
      </p:sp>
    </p:spTree>
    <p:extLst>
      <p:ext uri="{BB962C8B-B14F-4D97-AF65-F5344CB8AC3E}">
        <p14:creationId xmlns:p14="http://schemas.microsoft.com/office/powerpoint/2010/main" val="133062126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125454"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17761A6-3943-0C4A-A36E-F03B6EB37332}"/>
              </a:ext>
            </a:extLst>
          </p:cNvPr>
          <p:cNvSpPr>
            <a:spLocks noGrp="1"/>
          </p:cNvSpPr>
          <p:nvPr>
            <p:ph type="title"/>
          </p:nvPr>
        </p:nvSpPr>
        <p:spPr>
          <a:xfrm>
            <a:off x="515125" y="1153572"/>
            <a:ext cx="2400300" cy="4461163"/>
          </a:xfrm>
        </p:spPr>
        <p:txBody>
          <a:bodyPr>
            <a:normAutofit/>
          </a:bodyPr>
          <a:lstStyle/>
          <a:p>
            <a:r>
              <a:rPr lang="en-US">
                <a:solidFill>
                  <a:srgbClr val="FFFFFF"/>
                </a:solidFill>
              </a:rPr>
              <a:t>Summary</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2455479"/>
            <a:ext cx="3062575"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002A0D4A-2505-8243-B909-AC98D6775E18}"/>
              </a:ext>
            </a:extLst>
          </p:cNvPr>
          <p:cNvSpPr>
            <a:spLocks noGrp="1"/>
          </p:cNvSpPr>
          <p:nvPr>
            <p:ph idx="1"/>
          </p:nvPr>
        </p:nvSpPr>
        <p:spPr>
          <a:xfrm>
            <a:off x="3335481" y="591344"/>
            <a:ext cx="5179868" cy="5585619"/>
          </a:xfrm>
        </p:spPr>
        <p:txBody>
          <a:bodyPr anchor="ctr">
            <a:normAutofit/>
          </a:bodyPr>
          <a:lstStyle/>
          <a:p>
            <a:pPr marL="0" indent="0">
              <a:lnSpc>
                <a:spcPct val="90000"/>
              </a:lnSpc>
              <a:buNone/>
            </a:pPr>
            <a:r>
              <a:rPr lang="en-US" sz="2200"/>
              <a:t>Operating within an innovation network is not easy. It needs a new set of management skills and it depends on the starting point. The challenges include: </a:t>
            </a:r>
          </a:p>
          <a:p>
            <a:pPr marL="0" indent="0">
              <a:lnSpc>
                <a:spcPct val="90000"/>
              </a:lnSpc>
              <a:buNone/>
            </a:pPr>
            <a:endParaRPr lang="en-US" sz="2200"/>
          </a:p>
          <a:p>
            <a:pPr>
              <a:lnSpc>
                <a:spcPct val="90000"/>
              </a:lnSpc>
            </a:pPr>
            <a:r>
              <a:rPr lang="en-US" sz="2200"/>
              <a:t>how to manage something we don’t own or control </a:t>
            </a:r>
          </a:p>
          <a:p>
            <a:pPr>
              <a:lnSpc>
                <a:spcPct val="90000"/>
              </a:lnSpc>
            </a:pPr>
            <a:r>
              <a:rPr lang="en-US" sz="2200"/>
              <a:t>how to see system-level effects not narrow self-interests </a:t>
            </a:r>
          </a:p>
          <a:p>
            <a:pPr>
              <a:lnSpc>
                <a:spcPct val="90000"/>
              </a:lnSpc>
            </a:pPr>
            <a:r>
              <a:rPr lang="en-US" sz="2200"/>
              <a:t>how to build trust and shared risk taking without tying the process up in contractual red tape </a:t>
            </a:r>
          </a:p>
          <a:p>
            <a:pPr>
              <a:lnSpc>
                <a:spcPct val="90000"/>
              </a:lnSpc>
            </a:pPr>
            <a:r>
              <a:rPr lang="en-US" sz="2200"/>
              <a:t>how to avoid ‘free riders’ and information ‘spillovers’. </a:t>
            </a:r>
          </a:p>
          <a:p>
            <a:pPr>
              <a:lnSpc>
                <a:spcPct val="90000"/>
              </a:lnSpc>
            </a:pPr>
            <a:endParaRPr lang="en-US" sz="2200"/>
          </a:p>
        </p:txBody>
      </p:sp>
    </p:spTree>
    <p:extLst>
      <p:ext uri="{BB962C8B-B14F-4D97-AF65-F5344CB8AC3E}">
        <p14:creationId xmlns:p14="http://schemas.microsoft.com/office/powerpoint/2010/main" val="240321090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350BCDA0-42BA-42AB-8E58-A25C965D01F9}"/>
              </a:ext>
            </a:extLst>
          </p:cNvPr>
          <p:cNvPicPr>
            <a:picLocks noChangeAspect="1"/>
          </p:cNvPicPr>
          <p:nvPr/>
        </p:nvPicPr>
        <p:blipFill rotWithShape="1">
          <a:blip r:embed="rId3"/>
          <a:srcRect l="19722" r="44833" b="-1"/>
          <a:stretch/>
        </p:blipFill>
        <p:spPr>
          <a:xfrm>
            <a:off x="-5524" y="10"/>
            <a:ext cx="3641692" cy="6857990"/>
          </a:xfrm>
          <a:custGeom>
            <a:avLst/>
            <a:gdLst/>
            <a:ahLst/>
            <a:cxnLst/>
            <a:rect l="l" t="t" r="r" b="b"/>
            <a:pathLst>
              <a:path w="4636517" h="6858000">
                <a:moveTo>
                  <a:pt x="0" y="0"/>
                </a:moveTo>
                <a:lnTo>
                  <a:pt x="4636517" y="0"/>
                </a:lnTo>
                <a:lnTo>
                  <a:pt x="4636517" y="6858000"/>
                </a:lnTo>
                <a:lnTo>
                  <a:pt x="0" y="6858000"/>
                </a:lnTo>
                <a:close/>
              </a:path>
            </a:pathLst>
          </a:custGeom>
        </p:spPr>
      </p:pic>
      <p:sp>
        <p:nvSpPr>
          <p:cNvPr id="2" name="Title 1">
            <a:extLst>
              <a:ext uri="{FF2B5EF4-FFF2-40B4-BE49-F238E27FC236}">
                <a16:creationId xmlns:a16="http://schemas.microsoft.com/office/drawing/2014/main" id="{614D8143-9088-1A4A-858B-DB874C43BBC6}"/>
              </a:ext>
            </a:extLst>
          </p:cNvPr>
          <p:cNvSpPr>
            <a:spLocks noGrp="1"/>
          </p:cNvSpPr>
          <p:nvPr>
            <p:ph type="title"/>
          </p:nvPr>
        </p:nvSpPr>
        <p:spPr>
          <a:xfrm>
            <a:off x="4370286" y="407987"/>
            <a:ext cx="4291113" cy="1325563"/>
          </a:xfrm>
        </p:spPr>
        <p:txBody>
          <a:bodyPr>
            <a:normAutofit/>
          </a:bodyPr>
          <a:lstStyle/>
          <a:p>
            <a:r>
              <a:rPr lang="en-US" dirty="0"/>
              <a:t>Videos</a:t>
            </a:r>
          </a:p>
        </p:txBody>
      </p:sp>
      <p:sp>
        <p:nvSpPr>
          <p:cNvPr id="3" name="Content Placeholder 2">
            <a:extLst>
              <a:ext uri="{FF2B5EF4-FFF2-40B4-BE49-F238E27FC236}">
                <a16:creationId xmlns:a16="http://schemas.microsoft.com/office/drawing/2014/main" id="{49BFE31F-7315-164A-BF78-744336F5540D}"/>
              </a:ext>
            </a:extLst>
          </p:cNvPr>
          <p:cNvSpPr>
            <a:spLocks noGrp="1"/>
          </p:cNvSpPr>
          <p:nvPr>
            <p:ph idx="1"/>
          </p:nvPr>
        </p:nvSpPr>
        <p:spPr>
          <a:xfrm>
            <a:off x="4370286" y="1868487"/>
            <a:ext cx="4291113" cy="4351338"/>
          </a:xfrm>
        </p:spPr>
        <p:txBody>
          <a:bodyPr>
            <a:normAutofit fontScale="85000" lnSpcReduction="10000"/>
          </a:bodyPr>
          <a:lstStyle/>
          <a:p>
            <a:pPr>
              <a:lnSpc>
                <a:spcPct val="90000"/>
              </a:lnSpc>
            </a:pPr>
            <a:r>
              <a:rPr lang="en-US" sz="2700" dirty="0"/>
              <a:t>There are several videos which can help explore and present the key themes of the chapter:</a:t>
            </a:r>
          </a:p>
          <a:p>
            <a:pPr>
              <a:lnSpc>
                <a:spcPct val="90000"/>
              </a:lnSpc>
            </a:pPr>
            <a:r>
              <a:rPr lang="en-GB" u="sng" dirty="0">
                <a:hlinkClick r:id="rId4"/>
              </a:rPr>
              <a:t>Open innovation – managing knowledge spaghetti</a:t>
            </a:r>
            <a:r>
              <a:rPr lang="en-GB" sz="2800" dirty="0"/>
              <a:t> </a:t>
            </a:r>
          </a:p>
          <a:p>
            <a:pPr>
              <a:lnSpc>
                <a:spcPct val="90000"/>
              </a:lnSpc>
            </a:pPr>
            <a:r>
              <a:rPr lang="en-GB" u="sng" dirty="0">
                <a:hlinkClick r:id="rId5"/>
              </a:rPr>
              <a:t>Open innovation – a golden opportunity?</a:t>
            </a:r>
            <a:r>
              <a:rPr lang="en-GB" sz="2800" dirty="0"/>
              <a:t> </a:t>
            </a:r>
          </a:p>
          <a:p>
            <a:pPr>
              <a:lnSpc>
                <a:spcPct val="90000"/>
              </a:lnSpc>
            </a:pPr>
            <a:r>
              <a:rPr lang="en-GB" u="sng" dirty="0">
                <a:hlinkClick r:id="rId6"/>
              </a:rPr>
              <a:t>Strategies for open innovation</a:t>
            </a:r>
            <a:r>
              <a:rPr lang="en-GB" sz="2800" dirty="0"/>
              <a:t> </a:t>
            </a:r>
          </a:p>
          <a:p>
            <a:pPr>
              <a:lnSpc>
                <a:spcPct val="90000"/>
              </a:lnSpc>
            </a:pPr>
            <a:r>
              <a:rPr lang="en-GB" u="sng" dirty="0">
                <a:hlinkClick r:id="rId7"/>
              </a:rPr>
              <a:t>Innovation contests and markets</a:t>
            </a:r>
            <a:r>
              <a:rPr lang="en-GB" sz="2800" dirty="0"/>
              <a:t> </a:t>
            </a:r>
            <a:endParaRPr lang="en-US" sz="2700" dirty="0"/>
          </a:p>
        </p:txBody>
      </p:sp>
    </p:spTree>
    <p:extLst>
      <p:ext uri="{BB962C8B-B14F-4D97-AF65-F5344CB8AC3E}">
        <p14:creationId xmlns:p14="http://schemas.microsoft.com/office/powerpoint/2010/main" val="109080866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CAD78D-EB14-6446-829C-3F7C7B7624FE}"/>
              </a:ext>
            </a:extLst>
          </p:cNvPr>
          <p:cNvSpPr>
            <a:spLocks noGrp="1"/>
          </p:cNvSpPr>
          <p:nvPr>
            <p:ph type="title"/>
          </p:nvPr>
        </p:nvSpPr>
        <p:spPr/>
        <p:txBody>
          <a:bodyPr/>
          <a:lstStyle/>
          <a:p>
            <a:r>
              <a:rPr lang="en-US" dirty="0"/>
              <a:t>Videos</a:t>
            </a:r>
          </a:p>
        </p:txBody>
      </p:sp>
      <p:sp>
        <p:nvSpPr>
          <p:cNvPr id="3" name="Content Placeholder 2">
            <a:extLst>
              <a:ext uri="{FF2B5EF4-FFF2-40B4-BE49-F238E27FC236}">
                <a16:creationId xmlns:a16="http://schemas.microsoft.com/office/drawing/2014/main" id="{63A6E3A9-5FA8-6042-B799-F53CBB18AE57}"/>
              </a:ext>
            </a:extLst>
          </p:cNvPr>
          <p:cNvSpPr>
            <a:spLocks noGrp="1"/>
          </p:cNvSpPr>
          <p:nvPr>
            <p:ph idx="1"/>
          </p:nvPr>
        </p:nvSpPr>
        <p:spPr/>
        <p:txBody>
          <a:bodyPr/>
          <a:lstStyle/>
          <a:p>
            <a:r>
              <a:rPr lang="en-US" dirty="0">
                <a:hlinkClick r:id="rId2"/>
              </a:rPr>
              <a:t>Managing knowledge spaghetti </a:t>
            </a:r>
            <a:r>
              <a:rPr lang="en-US" dirty="0"/>
              <a:t>- John Bessant talks about some of the challenges of managing innovation in networked fashion</a:t>
            </a:r>
          </a:p>
          <a:p>
            <a:r>
              <a:rPr lang="en-US" dirty="0">
                <a:hlinkClick r:id="rId3"/>
              </a:rPr>
              <a:t>Interview with David Simoes-Brown </a:t>
            </a:r>
            <a:r>
              <a:rPr lang="en-US" dirty="0"/>
              <a:t>explaining the core challenges in open innovation</a:t>
            </a:r>
          </a:p>
        </p:txBody>
      </p:sp>
    </p:spTree>
    <p:extLst>
      <p:ext uri="{BB962C8B-B14F-4D97-AF65-F5344CB8AC3E}">
        <p14:creationId xmlns:p14="http://schemas.microsoft.com/office/powerpoint/2010/main" val="356191617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6" name="Straight Connector 5"/>
          <p:cNvCxnSpPr/>
          <p:nvPr/>
        </p:nvCxnSpPr>
        <p:spPr>
          <a:xfrm>
            <a:off x="458167" y="1495318"/>
            <a:ext cx="8478016" cy="1588"/>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8" name="Title 1"/>
          <p:cNvSpPr>
            <a:spLocks noGrp="1"/>
          </p:cNvSpPr>
          <p:nvPr>
            <p:ph type="title"/>
          </p:nvPr>
        </p:nvSpPr>
        <p:spPr>
          <a:xfrm>
            <a:off x="457200" y="274638"/>
            <a:ext cx="8229600" cy="1143000"/>
          </a:xfrm>
        </p:spPr>
        <p:txBody>
          <a:bodyPr>
            <a:noAutofit/>
          </a:bodyPr>
          <a:lstStyle/>
          <a:p>
            <a:pPr lvl="0">
              <a:defRPr/>
            </a:pPr>
            <a:r>
              <a:rPr lang="en-GB" sz="3600" b="1" dirty="0">
                <a:solidFill>
                  <a:srgbClr val="008000"/>
                </a:solidFill>
              </a:rPr>
              <a:t>Entrepreneur’s networks</a:t>
            </a:r>
          </a:p>
        </p:txBody>
      </p:sp>
      <p:sp>
        <p:nvSpPr>
          <p:cNvPr id="12" name="Rectangle 11"/>
          <p:cNvSpPr/>
          <p:nvPr/>
        </p:nvSpPr>
        <p:spPr>
          <a:xfrm>
            <a:off x="392526" y="1940896"/>
            <a:ext cx="8734097" cy="646331"/>
          </a:xfrm>
          <a:prstGeom prst="rect">
            <a:avLst/>
          </a:prstGeom>
        </p:spPr>
        <p:txBody>
          <a:bodyPr wrap="square">
            <a:spAutoFit/>
          </a:bodyPr>
          <a:lstStyle/>
          <a:p>
            <a:r>
              <a:rPr lang="en-GB" dirty="0">
                <a:hlinkClick r:id="rId2"/>
              </a:rPr>
              <a:t>This video explores the </a:t>
            </a:r>
            <a:r>
              <a:rPr lang="en-GB" dirty="0" err="1">
                <a:hlinkClick r:id="rId2"/>
              </a:rPr>
              <a:t>HoneyBee</a:t>
            </a:r>
            <a:r>
              <a:rPr lang="en-GB" dirty="0">
                <a:hlinkClick r:id="rId2"/>
              </a:rPr>
              <a:t> network approach being used in India to support innovation</a:t>
            </a:r>
            <a:endParaRPr lang="en-GB" dirty="0"/>
          </a:p>
        </p:txBody>
      </p:sp>
      <p:sp>
        <p:nvSpPr>
          <p:cNvPr id="14" name="Rectangle 13"/>
          <p:cNvSpPr/>
          <p:nvPr/>
        </p:nvSpPr>
        <p:spPr>
          <a:xfrm>
            <a:off x="378372" y="3020129"/>
            <a:ext cx="8765628" cy="646331"/>
          </a:xfrm>
          <a:prstGeom prst="rect">
            <a:avLst/>
          </a:prstGeom>
        </p:spPr>
        <p:txBody>
          <a:bodyPr wrap="square">
            <a:spAutoFit/>
          </a:bodyPr>
          <a:lstStyle/>
          <a:p>
            <a:r>
              <a:rPr lang="en-GB" dirty="0">
                <a:hlinkClick r:id="rId3"/>
              </a:rPr>
              <a:t>And this video has Chris Anderson talking about the ‘maker revolution’ and the entrepreneurial networks which are forming around ‘tech shops’ and ‘fab labs’.</a:t>
            </a:r>
            <a:endParaRPr lang="en-GB" dirty="0"/>
          </a:p>
        </p:txBody>
      </p:sp>
    </p:spTree>
    <p:extLst>
      <p:ext uri="{BB962C8B-B14F-4D97-AF65-F5344CB8AC3E}">
        <p14:creationId xmlns:p14="http://schemas.microsoft.com/office/powerpoint/2010/main" val="256987961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p:cNvCxnSpPr/>
          <p:nvPr/>
        </p:nvCxnSpPr>
        <p:spPr>
          <a:xfrm>
            <a:off x="458167" y="1495318"/>
            <a:ext cx="8478016" cy="1588"/>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6" name="Title 1"/>
          <p:cNvSpPr>
            <a:spLocks noGrp="1"/>
          </p:cNvSpPr>
          <p:nvPr>
            <p:ph type="title"/>
          </p:nvPr>
        </p:nvSpPr>
        <p:spPr>
          <a:xfrm>
            <a:off x="457200" y="274638"/>
            <a:ext cx="8229600" cy="1143000"/>
          </a:xfrm>
        </p:spPr>
        <p:txBody>
          <a:bodyPr>
            <a:noAutofit/>
          </a:bodyPr>
          <a:lstStyle/>
          <a:p>
            <a:pPr lvl="0">
              <a:defRPr/>
            </a:pPr>
            <a:r>
              <a:rPr lang="en-GB" sz="3600" b="1" dirty="0">
                <a:solidFill>
                  <a:srgbClr val="008000"/>
                </a:solidFill>
              </a:rPr>
              <a:t>Benefits of learning networks</a:t>
            </a:r>
          </a:p>
        </p:txBody>
      </p:sp>
      <p:sp>
        <p:nvSpPr>
          <p:cNvPr id="7" name="TextBox 6"/>
          <p:cNvSpPr txBox="1"/>
          <p:nvPr/>
        </p:nvSpPr>
        <p:spPr>
          <a:xfrm>
            <a:off x="683568" y="1916832"/>
            <a:ext cx="7848872" cy="3785652"/>
          </a:xfrm>
          <a:prstGeom prst="rect">
            <a:avLst/>
          </a:prstGeom>
          <a:noFill/>
        </p:spPr>
        <p:txBody>
          <a:bodyPr wrap="square" rtlCol="0">
            <a:spAutoFit/>
          </a:bodyPr>
          <a:lstStyle/>
          <a:p>
            <a:r>
              <a:rPr lang="en-GB" sz="2400" dirty="0"/>
              <a:t>Follow the link below to read an interview with Lola Hoad, founder of One Girl Band, a female co-working space and online network designed to facilitate collaboration, promote ideas sharing and foster equal footing with their male counterparts.</a:t>
            </a:r>
          </a:p>
          <a:p>
            <a:endParaRPr lang="en-GB" sz="2400" dirty="0"/>
          </a:p>
          <a:p>
            <a:endParaRPr lang="en-GB" sz="2400" dirty="0"/>
          </a:p>
          <a:p>
            <a:endParaRPr lang="en-GB" sz="2400" dirty="0"/>
          </a:p>
          <a:p>
            <a:r>
              <a:rPr lang="en-GB" sz="2400" dirty="0">
                <a:hlinkClick r:id="rId2"/>
              </a:rPr>
              <a:t>http://www.growthbusiness.co.uk/female-entrepreneurs-one-girl-band-2551795/</a:t>
            </a:r>
            <a:endParaRPr lang="en-GB" sz="2400" dirty="0"/>
          </a:p>
        </p:txBody>
      </p:sp>
    </p:spTree>
    <p:extLst>
      <p:ext uri="{BB962C8B-B14F-4D97-AF65-F5344CB8AC3E}">
        <p14:creationId xmlns:p14="http://schemas.microsoft.com/office/powerpoint/2010/main" val="188013252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Straight Connector 2"/>
          <p:cNvCxnSpPr/>
          <p:nvPr/>
        </p:nvCxnSpPr>
        <p:spPr>
          <a:xfrm>
            <a:off x="457200" y="1435143"/>
            <a:ext cx="8478016" cy="1588"/>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11560" y="1988840"/>
            <a:ext cx="7632848" cy="2308324"/>
          </a:xfrm>
          <a:prstGeom prst="rect">
            <a:avLst/>
          </a:prstGeom>
          <a:noFill/>
        </p:spPr>
        <p:txBody>
          <a:bodyPr wrap="square" rtlCol="0">
            <a:spAutoFit/>
          </a:bodyPr>
          <a:lstStyle/>
          <a:p>
            <a:r>
              <a:rPr lang="en-GB" sz="2400" dirty="0"/>
              <a:t>Follow the link below to hear an interview with Perry Chen, principal founder of the crowdfunding platform, Kickstarter.</a:t>
            </a:r>
          </a:p>
          <a:p>
            <a:endParaRPr lang="en-GB" sz="2400" dirty="0"/>
          </a:p>
          <a:p>
            <a:endParaRPr lang="en-GB" sz="2400" dirty="0">
              <a:hlinkClick r:id="rId2"/>
            </a:endParaRPr>
          </a:p>
          <a:p>
            <a:r>
              <a:rPr lang="en-GB" sz="2400" dirty="0">
                <a:hlinkClick r:id="rId2"/>
              </a:rPr>
              <a:t>https://www.stitcher.com/podcast/national-public-radio/how-i-built-this/e/50961272</a:t>
            </a:r>
            <a:endParaRPr lang="en-GB" sz="2400" dirty="0"/>
          </a:p>
        </p:txBody>
      </p:sp>
      <p:sp>
        <p:nvSpPr>
          <p:cNvPr id="5" name="Title 1"/>
          <p:cNvSpPr txBox="1">
            <a:spLocks/>
          </p:cNvSpPr>
          <p:nvPr/>
        </p:nvSpPr>
        <p:spPr>
          <a:xfrm>
            <a:off x="2219238" y="260648"/>
            <a:ext cx="6924762" cy="917864"/>
          </a:xfrm>
          <a:prstGeom prst="rect">
            <a:avLst/>
          </a:prstGeom>
        </p:spPr>
        <p:txBody>
          <a:bodyPr vert="horz" lIns="91440" tIns="45720" rIns="91440" bIns="45720" rtlCol="0" anchor="ctr">
            <a:noAutofit/>
          </a:bodyPr>
          <a:lstStyle/>
          <a:p>
            <a:pPr>
              <a:spcBef>
                <a:spcPct val="0"/>
              </a:spcBef>
              <a:defRPr/>
            </a:pPr>
            <a:r>
              <a:rPr lang="en-US" sz="3600" b="1" dirty="0">
                <a:solidFill>
                  <a:srgbClr val="008000"/>
                </a:solidFill>
                <a:latin typeface="+mj-lt"/>
                <a:ea typeface="+mj-ea"/>
                <a:cs typeface="+mj-cs"/>
              </a:rPr>
              <a:t>Crowdsourcing</a:t>
            </a:r>
            <a:endParaRPr lang="en-GB" sz="3600" b="1" dirty="0">
              <a:solidFill>
                <a:srgbClr val="008000"/>
              </a:solidFill>
              <a:latin typeface="+mj-lt"/>
              <a:ea typeface="+mj-ea"/>
              <a:cs typeface="+mj-cs"/>
            </a:endParaRPr>
          </a:p>
        </p:txBody>
      </p:sp>
    </p:spTree>
    <p:extLst>
      <p:ext uri="{BB962C8B-B14F-4D97-AF65-F5344CB8AC3E}">
        <p14:creationId xmlns:p14="http://schemas.microsoft.com/office/powerpoint/2010/main" val="184260933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125454"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A987897-E368-6B40-A432-FCFC66E718D4}"/>
              </a:ext>
            </a:extLst>
          </p:cNvPr>
          <p:cNvSpPr>
            <a:spLocks noGrp="1"/>
          </p:cNvSpPr>
          <p:nvPr>
            <p:ph type="title"/>
          </p:nvPr>
        </p:nvSpPr>
        <p:spPr>
          <a:xfrm>
            <a:off x="515125" y="1153572"/>
            <a:ext cx="2400300" cy="4461163"/>
          </a:xfrm>
        </p:spPr>
        <p:txBody>
          <a:bodyPr>
            <a:normAutofit/>
          </a:bodyPr>
          <a:lstStyle/>
          <a:p>
            <a:r>
              <a:rPr lang="en-US">
                <a:solidFill>
                  <a:srgbClr val="FFFFFF"/>
                </a:solidFill>
              </a:rPr>
              <a:t>Blogs and podcasts</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2455479"/>
            <a:ext cx="3062575"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260F7953-C336-3B4A-8A1A-58F5A985ACE7}"/>
              </a:ext>
            </a:extLst>
          </p:cNvPr>
          <p:cNvSpPr>
            <a:spLocks noGrp="1"/>
          </p:cNvSpPr>
          <p:nvPr>
            <p:ph idx="1"/>
          </p:nvPr>
        </p:nvSpPr>
        <p:spPr>
          <a:xfrm>
            <a:off x="3335481" y="591344"/>
            <a:ext cx="5179868" cy="5585619"/>
          </a:xfrm>
        </p:spPr>
        <p:txBody>
          <a:bodyPr anchor="ctr">
            <a:normAutofit/>
          </a:bodyPr>
          <a:lstStyle/>
          <a:p>
            <a:r>
              <a:rPr lang="en-US" dirty="0"/>
              <a:t>There are </a:t>
            </a:r>
            <a:r>
              <a:rPr lang="en-US" dirty="0">
                <a:hlinkClick r:id="rId2"/>
              </a:rPr>
              <a:t>several podcasts </a:t>
            </a:r>
            <a:r>
              <a:rPr lang="en-US" dirty="0"/>
              <a:t>and blog pieces picking up key themes around managing innovation as a process and some of the key variables:</a:t>
            </a:r>
          </a:p>
          <a:p>
            <a:endParaRPr lang="en-US" dirty="0"/>
          </a:p>
        </p:txBody>
      </p:sp>
    </p:spTree>
    <p:extLst>
      <p:ext uri="{BB962C8B-B14F-4D97-AF65-F5344CB8AC3E}">
        <p14:creationId xmlns:p14="http://schemas.microsoft.com/office/powerpoint/2010/main" val="84999729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Straight Connector 6"/>
          <p:cNvCxnSpPr/>
          <p:nvPr/>
        </p:nvCxnSpPr>
        <p:spPr>
          <a:xfrm>
            <a:off x="458167" y="1320706"/>
            <a:ext cx="8478016" cy="1588"/>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6" name="Title 1"/>
          <p:cNvSpPr txBox="1">
            <a:spLocks/>
          </p:cNvSpPr>
          <p:nvPr/>
        </p:nvSpPr>
        <p:spPr>
          <a:xfrm>
            <a:off x="683568" y="260648"/>
            <a:ext cx="7686519" cy="917864"/>
          </a:xfrm>
          <a:prstGeom prst="rect">
            <a:avLst/>
          </a:prstGeom>
        </p:spPr>
        <p:txBody>
          <a:bodyPr vert="horz" lIns="91440" tIns="45720" rIns="91440" bIns="45720" rtlCol="0" anchor="ctr">
            <a:noAutofit/>
          </a:bodyPr>
          <a:lstStyle/>
          <a:p>
            <a:pPr algn="ctr">
              <a:spcBef>
                <a:spcPct val="0"/>
              </a:spcBef>
              <a:defRPr/>
            </a:pPr>
            <a:r>
              <a:rPr lang="en-US" sz="3600" b="1" dirty="0">
                <a:solidFill>
                  <a:srgbClr val="008000"/>
                </a:solidFill>
              </a:rPr>
              <a:t>Media: Ordnance Survey</a:t>
            </a:r>
            <a:endParaRPr lang="en-GB" sz="3600" b="1" dirty="0">
              <a:solidFill>
                <a:srgbClr val="008000"/>
              </a:solidFill>
            </a:endParaRPr>
          </a:p>
        </p:txBody>
      </p:sp>
      <p:sp>
        <p:nvSpPr>
          <p:cNvPr id="5" name="Content Placeholder 4"/>
          <p:cNvSpPr>
            <a:spLocks noGrp="1"/>
          </p:cNvSpPr>
          <p:nvPr>
            <p:ph idx="1"/>
          </p:nvPr>
        </p:nvSpPr>
        <p:spPr/>
        <p:txBody>
          <a:bodyPr>
            <a:normAutofit/>
          </a:bodyPr>
          <a:lstStyle/>
          <a:p>
            <a:pPr marL="0" indent="0">
              <a:buNone/>
            </a:pPr>
            <a:r>
              <a:rPr lang="en-US" dirty="0"/>
              <a:t> </a:t>
            </a:r>
            <a:endParaRPr lang="en-GB" dirty="0"/>
          </a:p>
          <a:p>
            <a:pPr marL="0" indent="0">
              <a:buNone/>
            </a:pPr>
            <a:r>
              <a:rPr lang="en-US" dirty="0"/>
              <a:t>This is </a:t>
            </a:r>
            <a:r>
              <a:rPr lang="en-US" dirty="0">
                <a:hlinkClick r:id="rId2"/>
              </a:rPr>
              <a:t>an audio interview with David Overton </a:t>
            </a:r>
            <a:r>
              <a:rPr lang="en-US" dirty="0"/>
              <a:t>describing the approach of a large knowledge-based organization to try and extend the range of products and services using their core knowledge base.</a:t>
            </a:r>
            <a:endParaRPr lang="en-GB" dirty="0"/>
          </a:p>
          <a:p>
            <a:pPr marL="0" indent="0">
              <a:buNone/>
            </a:pPr>
            <a:r>
              <a:rPr lang="en-US" dirty="0"/>
              <a:t> </a:t>
            </a:r>
          </a:p>
        </p:txBody>
      </p:sp>
    </p:spTree>
    <p:extLst>
      <p:ext uri="{BB962C8B-B14F-4D97-AF65-F5344CB8AC3E}">
        <p14:creationId xmlns:p14="http://schemas.microsoft.com/office/powerpoint/2010/main" val="73753962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Straight Connector 4"/>
          <p:cNvCxnSpPr/>
          <p:nvPr/>
        </p:nvCxnSpPr>
        <p:spPr>
          <a:xfrm>
            <a:off x="458167" y="1495318"/>
            <a:ext cx="8478016" cy="1588"/>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7" name="Title 1"/>
          <p:cNvSpPr txBox="1">
            <a:spLocks/>
          </p:cNvSpPr>
          <p:nvPr/>
        </p:nvSpPr>
        <p:spPr>
          <a:xfrm>
            <a:off x="2915816" y="260648"/>
            <a:ext cx="6924762" cy="917864"/>
          </a:xfrm>
          <a:prstGeom prst="rect">
            <a:avLst/>
          </a:prstGeom>
        </p:spPr>
        <p:txBody>
          <a:bodyPr vert="horz" lIns="91440" tIns="45720" rIns="91440" bIns="45720" rtlCol="0" anchor="ctr">
            <a:noAutofit/>
          </a:bodyPr>
          <a:lstStyle/>
          <a:p>
            <a:pPr>
              <a:spcBef>
                <a:spcPct val="0"/>
              </a:spcBef>
              <a:defRPr/>
            </a:pPr>
            <a:r>
              <a:rPr lang="en-US" sz="3600" b="1" dirty="0">
                <a:solidFill>
                  <a:srgbClr val="008000"/>
                </a:solidFill>
                <a:latin typeface="+mj-lt"/>
                <a:ea typeface="+mj-ea"/>
                <a:cs typeface="+mj-cs"/>
              </a:rPr>
              <a:t>Crowdsourcing</a:t>
            </a:r>
            <a:endParaRPr lang="en-GB" sz="3600" b="1" dirty="0">
              <a:solidFill>
                <a:srgbClr val="008000"/>
              </a:solidFill>
              <a:latin typeface="+mj-lt"/>
              <a:ea typeface="+mj-ea"/>
              <a:cs typeface="+mj-cs"/>
            </a:endParaRPr>
          </a:p>
        </p:txBody>
      </p:sp>
      <p:sp>
        <p:nvSpPr>
          <p:cNvPr id="9" name="Rectangle 8"/>
          <p:cNvSpPr/>
          <p:nvPr/>
        </p:nvSpPr>
        <p:spPr>
          <a:xfrm>
            <a:off x="427335" y="2276872"/>
            <a:ext cx="6858000" cy="646331"/>
          </a:xfrm>
          <a:prstGeom prst="rect">
            <a:avLst/>
          </a:prstGeom>
        </p:spPr>
        <p:txBody>
          <a:bodyPr wrap="square">
            <a:spAutoFit/>
          </a:bodyPr>
          <a:lstStyle/>
          <a:p>
            <a:r>
              <a:rPr lang="en-GB" dirty="0">
                <a:hlinkClick r:id="rId2"/>
              </a:rPr>
              <a:t>This is a video of a TED talk given by Jimmy Wales, founder of Wikipedia describing the idea of crowdsourcing knowledge</a:t>
            </a:r>
            <a:endParaRPr lang="en-GB" dirty="0"/>
          </a:p>
        </p:txBody>
      </p:sp>
    </p:spTree>
    <p:extLst>
      <p:ext uri="{BB962C8B-B14F-4D97-AF65-F5344CB8AC3E}">
        <p14:creationId xmlns:p14="http://schemas.microsoft.com/office/powerpoint/2010/main" val="103389644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125454"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8E829F1-84C0-044B-BBE4-ABFAD581D452}"/>
              </a:ext>
            </a:extLst>
          </p:cNvPr>
          <p:cNvSpPr>
            <a:spLocks noGrp="1"/>
          </p:cNvSpPr>
          <p:nvPr>
            <p:ph type="title"/>
          </p:nvPr>
        </p:nvSpPr>
        <p:spPr>
          <a:xfrm>
            <a:off x="515125" y="1153572"/>
            <a:ext cx="2400300" cy="4461163"/>
          </a:xfrm>
        </p:spPr>
        <p:txBody>
          <a:bodyPr>
            <a:normAutofit/>
          </a:bodyPr>
          <a:lstStyle/>
          <a:p>
            <a:r>
              <a:rPr lang="en-US">
                <a:solidFill>
                  <a:srgbClr val="FFFFFF"/>
                </a:solidFill>
              </a:rPr>
              <a:t>Activities</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2455479"/>
            <a:ext cx="3062575"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22B2D3D1-2581-F94B-9851-1F31823967E9}"/>
              </a:ext>
            </a:extLst>
          </p:cNvPr>
          <p:cNvSpPr>
            <a:spLocks noGrp="1"/>
          </p:cNvSpPr>
          <p:nvPr>
            <p:ph idx="1"/>
          </p:nvPr>
        </p:nvSpPr>
        <p:spPr>
          <a:xfrm>
            <a:off x="3335481" y="591344"/>
            <a:ext cx="5179868" cy="5585619"/>
          </a:xfrm>
        </p:spPr>
        <p:txBody>
          <a:bodyPr anchor="ctr">
            <a:normAutofit/>
          </a:bodyPr>
          <a:lstStyle/>
          <a:p>
            <a:r>
              <a:rPr lang="en-US" dirty="0"/>
              <a:t>There are a variety of activities (for both groups and individuals and for online as well as offline work.  These include:</a:t>
            </a:r>
          </a:p>
        </p:txBody>
      </p:sp>
    </p:spTree>
    <p:extLst>
      <p:ext uri="{BB962C8B-B14F-4D97-AF65-F5344CB8AC3E}">
        <p14:creationId xmlns:p14="http://schemas.microsoft.com/office/powerpoint/2010/main" val="247809389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Straight Connector 6"/>
          <p:cNvCxnSpPr/>
          <p:nvPr/>
        </p:nvCxnSpPr>
        <p:spPr>
          <a:xfrm>
            <a:off x="458167" y="1495318"/>
            <a:ext cx="8478016" cy="1588"/>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9" name="Title 1"/>
          <p:cNvSpPr txBox="1">
            <a:spLocks/>
          </p:cNvSpPr>
          <p:nvPr/>
        </p:nvSpPr>
        <p:spPr>
          <a:xfrm>
            <a:off x="1259632" y="332656"/>
            <a:ext cx="6439259" cy="917864"/>
          </a:xfrm>
          <a:prstGeom prst="rect">
            <a:avLst/>
          </a:prstGeom>
        </p:spPr>
        <p:txBody>
          <a:bodyPr vert="horz" lIns="91440" tIns="45720" rIns="91440" bIns="45720" rtlCol="0" anchor="ctr">
            <a:noAutofit/>
          </a:bodyPr>
          <a:lstStyle/>
          <a:p>
            <a:pPr lvl="0" algn="ctr">
              <a:spcBef>
                <a:spcPct val="0"/>
              </a:spcBef>
              <a:defRPr/>
            </a:pPr>
            <a:r>
              <a:rPr lang="en-US" sz="3600" b="1" dirty="0">
                <a:solidFill>
                  <a:srgbClr val="008000"/>
                </a:solidFill>
                <a:latin typeface="+mj-lt"/>
                <a:ea typeface="+mj-ea"/>
                <a:cs typeface="+mj-cs"/>
              </a:rPr>
              <a:t>Activity: Open innovation in practice</a:t>
            </a:r>
            <a:endParaRPr lang="en-GB" sz="3600" b="1" dirty="0">
              <a:solidFill>
                <a:srgbClr val="008000"/>
              </a:solidFill>
              <a:latin typeface="+mj-lt"/>
              <a:ea typeface="+mj-ea"/>
              <a:cs typeface="+mj-cs"/>
            </a:endParaRPr>
          </a:p>
        </p:txBody>
      </p:sp>
      <p:sp>
        <p:nvSpPr>
          <p:cNvPr id="3" name="Content Placeholder 2"/>
          <p:cNvSpPr>
            <a:spLocks noGrp="1"/>
          </p:cNvSpPr>
          <p:nvPr>
            <p:ph idx="1"/>
          </p:nvPr>
        </p:nvSpPr>
        <p:spPr>
          <a:xfrm>
            <a:off x="457200" y="2332037"/>
            <a:ext cx="8229600" cy="4525963"/>
          </a:xfrm>
        </p:spPr>
        <p:txBody>
          <a:bodyPr>
            <a:normAutofit/>
          </a:bodyPr>
          <a:lstStyle/>
          <a:p>
            <a:r>
              <a:rPr lang="en-US" sz="2800" dirty="0"/>
              <a:t>Ask students to find examples of open innovation practices and try to classify against the models.</a:t>
            </a:r>
            <a:endParaRPr lang="en-GB" sz="2800" dirty="0"/>
          </a:p>
          <a:p>
            <a:pPr lvl="0"/>
            <a:endParaRPr lang="en-GB" dirty="0"/>
          </a:p>
          <a:p>
            <a:pPr lvl="0"/>
            <a:endParaRPr lang="en-GB" dirty="0"/>
          </a:p>
          <a:p>
            <a:endParaRPr lang="en-US" dirty="0"/>
          </a:p>
        </p:txBody>
      </p:sp>
    </p:spTree>
    <p:extLst>
      <p:ext uri="{BB962C8B-B14F-4D97-AF65-F5344CB8AC3E}">
        <p14:creationId xmlns:p14="http://schemas.microsoft.com/office/powerpoint/2010/main" val="130434808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Straight Connector 6"/>
          <p:cNvCxnSpPr/>
          <p:nvPr/>
        </p:nvCxnSpPr>
        <p:spPr>
          <a:xfrm>
            <a:off x="458167" y="1507529"/>
            <a:ext cx="8478016" cy="1588"/>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6" name="Title 1"/>
          <p:cNvSpPr txBox="1">
            <a:spLocks/>
          </p:cNvSpPr>
          <p:nvPr/>
        </p:nvSpPr>
        <p:spPr>
          <a:xfrm>
            <a:off x="1331640" y="332656"/>
            <a:ext cx="6618203" cy="917864"/>
          </a:xfrm>
          <a:prstGeom prst="rect">
            <a:avLst/>
          </a:prstGeom>
        </p:spPr>
        <p:txBody>
          <a:bodyPr vert="horz" lIns="91440" tIns="45720" rIns="91440" bIns="45720" rtlCol="0" anchor="ctr">
            <a:noAutofit/>
          </a:bodyPr>
          <a:lstStyle/>
          <a:p>
            <a:pPr algn="ctr">
              <a:spcBef>
                <a:spcPct val="0"/>
              </a:spcBef>
              <a:defRPr/>
            </a:pPr>
            <a:r>
              <a:rPr lang="en-GB" sz="3600" b="1" dirty="0">
                <a:solidFill>
                  <a:srgbClr val="008000"/>
                </a:solidFill>
                <a:latin typeface="+mj-lt"/>
                <a:ea typeface="+mj-ea"/>
                <a:cs typeface="+mj-cs"/>
              </a:rPr>
              <a:t>Activity: Strengths and weaknesses of open innovation</a:t>
            </a:r>
          </a:p>
        </p:txBody>
      </p:sp>
      <p:sp>
        <p:nvSpPr>
          <p:cNvPr id="13" name="Rectangle 12"/>
          <p:cNvSpPr/>
          <p:nvPr/>
        </p:nvSpPr>
        <p:spPr>
          <a:xfrm>
            <a:off x="604711" y="1657451"/>
            <a:ext cx="8331472" cy="3939541"/>
          </a:xfrm>
          <a:prstGeom prst="rect">
            <a:avLst/>
          </a:prstGeom>
        </p:spPr>
        <p:txBody>
          <a:bodyPr wrap="square">
            <a:spAutoFit/>
          </a:bodyPr>
          <a:lstStyle/>
          <a:p>
            <a:endParaRPr lang="en-US" sz="2600" dirty="0"/>
          </a:p>
          <a:p>
            <a:r>
              <a:rPr lang="en-US" sz="2800" dirty="0"/>
              <a:t>Ask students to discuss (with examples) the strengths and weaknesses of taking a more open approach.  For example, open innovation spreads the net more widely to find ideas – but it also raises big problems around intellectual property protection.</a:t>
            </a:r>
            <a:endParaRPr lang="en-GB" sz="2800" dirty="0"/>
          </a:p>
          <a:p>
            <a:r>
              <a:rPr lang="en-US" sz="2800" dirty="0"/>
              <a:t> </a:t>
            </a:r>
            <a:endParaRPr lang="en-GB" sz="2800" dirty="0"/>
          </a:p>
          <a:p>
            <a:r>
              <a:rPr lang="en-US" sz="2800" dirty="0"/>
              <a:t>Present the results in the form of a table contrasting the two.</a:t>
            </a:r>
            <a:endParaRPr lang="en-GB" sz="2800" dirty="0"/>
          </a:p>
        </p:txBody>
      </p:sp>
    </p:spTree>
    <p:extLst>
      <p:ext uri="{BB962C8B-B14F-4D97-AF65-F5344CB8AC3E}">
        <p14:creationId xmlns:p14="http://schemas.microsoft.com/office/powerpoint/2010/main" val="342974675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Straight Connector 6"/>
          <p:cNvCxnSpPr/>
          <p:nvPr/>
        </p:nvCxnSpPr>
        <p:spPr>
          <a:xfrm>
            <a:off x="458167" y="1507529"/>
            <a:ext cx="8478016" cy="1588"/>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6" name="Title 1"/>
          <p:cNvSpPr txBox="1">
            <a:spLocks/>
          </p:cNvSpPr>
          <p:nvPr/>
        </p:nvSpPr>
        <p:spPr>
          <a:xfrm>
            <a:off x="2317980" y="332094"/>
            <a:ext cx="4783089" cy="917864"/>
          </a:xfrm>
          <a:prstGeom prst="rect">
            <a:avLst/>
          </a:prstGeom>
        </p:spPr>
        <p:txBody>
          <a:bodyPr vert="horz" lIns="91440" tIns="45720" rIns="91440" bIns="45720" rtlCol="0" anchor="ctr">
            <a:noAutofit/>
          </a:bodyPr>
          <a:lstStyle/>
          <a:p>
            <a:pPr algn="ctr">
              <a:spcBef>
                <a:spcPct val="0"/>
              </a:spcBef>
              <a:defRPr/>
            </a:pPr>
            <a:r>
              <a:rPr lang="en-US" sz="3600" b="1" dirty="0">
                <a:solidFill>
                  <a:srgbClr val="008000"/>
                </a:solidFill>
                <a:latin typeface="+mj-lt"/>
                <a:ea typeface="+mj-ea"/>
                <a:cs typeface="+mj-cs"/>
              </a:rPr>
              <a:t>Team-based exercises</a:t>
            </a:r>
            <a:endParaRPr lang="en-GB" sz="3600" b="1" dirty="0">
              <a:solidFill>
                <a:srgbClr val="008000"/>
              </a:solidFill>
              <a:latin typeface="+mj-lt"/>
              <a:ea typeface="+mj-ea"/>
              <a:cs typeface="+mj-cs"/>
            </a:endParaRPr>
          </a:p>
        </p:txBody>
      </p:sp>
      <p:sp>
        <p:nvSpPr>
          <p:cNvPr id="13" name="Rectangle 12"/>
          <p:cNvSpPr/>
          <p:nvPr/>
        </p:nvSpPr>
        <p:spPr>
          <a:xfrm>
            <a:off x="604711" y="1657451"/>
            <a:ext cx="8331472" cy="5262980"/>
          </a:xfrm>
          <a:prstGeom prst="rect">
            <a:avLst/>
          </a:prstGeom>
        </p:spPr>
        <p:txBody>
          <a:bodyPr wrap="square">
            <a:spAutoFit/>
          </a:bodyPr>
          <a:lstStyle/>
          <a:p>
            <a:r>
              <a:rPr lang="en-US" sz="2800" dirty="0"/>
              <a:t> </a:t>
            </a:r>
            <a:r>
              <a:rPr lang="en-GB" sz="2800" dirty="0"/>
              <a:t>1.        	‘Many hands make light work’ – or ‘Too many cooks spoil the broth’?  Using examples show why networking may be a positive or negative element in enabling successful innovation.  Split the group to present both sides of this argument and run the discussion as a debate.</a:t>
            </a:r>
          </a:p>
          <a:p>
            <a:r>
              <a:rPr lang="en-GB" sz="2800" dirty="0"/>
              <a:t> </a:t>
            </a:r>
          </a:p>
          <a:p>
            <a:r>
              <a:rPr lang="en-GB" sz="2800" dirty="0"/>
              <a:t> </a:t>
            </a:r>
          </a:p>
          <a:p>
            <a:r>
              <a:rPr lang="en-GB" sz="2800" dirty="0"/>
              <a:t>2.        	Try and construct a map of the innovation network which leads to creating and delivering a new product like a new mobile phone or mp3 player.</a:t>
            </a:r>
          </a:p>
          <a:p>
            <a:r>
              <a:rPr lang="en-GB" sz="2800" dirty="0"/>
              <a:t> </a:t>
            </a:r>
            <a:endParaRPr lang="en-GB" sz="2800" dirty="0">
              <a:effectLst/>
            </a:endParaRPr>
          </a:p>
        </p:txBody>
      </p:sp>
    </p:spTree>
    <p:extLst>
      <p:ext uri="{BB962C8B-B14F-4D97-AF65-F5344CB8AC3E}">
        <p14:creationId xmlns:p14="http://schemas.microsoft.com/office/powerpoint/2010/main" val="120630384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125454"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433F3E2-DE82-684F-AB96-D65AACA856AA}"/>
              </a:ext>
            </a:extLst>
          </p:cNvPr>
          <p:cNvSpPr>
            <a:spLocks noGrp="1"/>
          </p:cNvSpPr>
          <p:nvPr>
            <p:ph type="title"/>
          </p:nvPr>
        </p:nvSpPr>
        <p:spPr>
          <a:xfrm>
            <a:off x="515125" y="1153572"/>
            <a:ext cx="2400300" cy="4461163"/>
          </a:xfrm>
        </p:spPr>
        <p:txBody>
          <a:bodyPr>
            <a:normAutofit/>
          </a:bodyPr>
          <a:lstStyle/>
          <a:p>
            <a:r>
              <a:rPr lang="en-US">
                <a:solidFill>
                  <a:srgbClr val="FFFFFF"/>
                </a:solidFill>
              </a:rPr>
              <a:t>Cases </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2455479"/>
            <a:ext cx="3062575"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7FC5492F-86A8-4E4C-88C3-DE87089A6DE2}"/>
              </a:ext>
            </a:extLst>
          </p:cNvPr>
          <p:cNvSpPr>
            <a:spLocks noGrp="1"/>
          </p:cNvSpPr>
          <p:nvPr>
            <p:ph idx="1"/>
          </p:nvPr>
        </p:nvSpPr>
        <p:spPr>
          <a:xfrm>
            <a:off x="3335481" y="591344"/>
            <a:ext cx="5179868" cy="5585619"/>
          </a:xfrm>
        </p:spPr>
        <p:txBody>
          <a:bodyPr anchor="ctr">
            <a:normAutofit fontScale="70000" lnSpcReduction="20000"/>
          </a:bodyPr>
          <a:lstStyle/>
          <a:p>
            <a:pPr marL="0" indent="0">
              <a:lnSpc>
                <a:spcPct val="90000"/>
              </a:lnSpc>
              <a:buNone/>
            </a:pPr>
            <a:r>
              <a:rPr lang="en-US" dirty="0"/>
              <a:t>There are several </a:t>
            </a:r>
            <a:r>
              <a:rPr lang="en-US" dirty="0">
                <a:hlinkClick r:id="rId2"/>
              </a:rPr>
              <a:t>case studies on the website </a:t>
            </a:r>
            <a:r>
              <a:rPr lang="en-US" dirty="0"/>
              <a:t>which highlight key themes in the chapter, including:</a:t>
            </a:r>
          </a:p>
          <a:p>
            <a:r>
              <a:rPr lang="en-GB" dirty="0"/>
              <a:t>Learning networks in action</a:t>
            </a:r>
          </a:p>
          <a:p>
            <a:r>
              <a:rPr lang="en-GB" dirty="0"/>
              <a:t>Liberty Global and Lufthansa Systems mobilizing internal networks for innovation</a:t>
            </a:r>
          </a:p>
          <a:p>
            <a:r>
              <a:rPr lang="en-GB" dirty="0"/>
              <a:t>Procter &amp; Gamble and their ‘Connect and develop’ approach and of 3M and their work with ‘lead user’ networks</a:t>
            </a:r>
          </a:p>
          <a:p>
            <a:r>
              <a:rPr lang="en-GB" dirty="0"/>
              <a:t>Supply chain learning</a:t>
            </a:r>
          </a:p>
          <a:p>
            <a:r>
              <a:rPr lang="en-GB" dirty="0"/>
              <a:t>Local Motors, Threadless and Lego that highlight the use of external communities for innovation</a:t>
            </a:r>
          </a:p>
          <a:p>
            <a:r>
              <a:rPr lang="en-GB" dirty="0"/>
              <a:t>Lifeline Energy illustrating networking challenges and relationship maintenance</a:t>
            </a:r>
          </a:p>
          <a:p>
            <a:pPr>
              <a:lnSpc>
                <a:spcPct val="90000"/>
              </a:lnSpc>
            </a:pPr>
            <a:endParaRPr lang="en-US" dirty="0"/>
          </a:p>
        </p:txBody>
      </p:sp>
    </p:spTree>
    <p:extLst>
      <p:ext uri="{BB962C8B-B14F-4D97-AF65-F5344CB8AC3E}">
        <p14:creationId xmlns:p14="http://schemas.microsoft.com/office/powerpoint/2010/main" val="263694730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Straight Connector 6"/>
          <p:cNvCxnSpPr/>
          <p:nvPr/>
        </p:nvCxnSpPr>
        <p:spPr>
          <a:xfrm>
            <a:off x="458167" y="1507529"/>
            <a:ext cx="8478016" cy="1588"/>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6" name="Title 1"/>
          <p:cNvSpPr txBox="1">
            <a:spLocks/>
          </p:cNvSpPr>
          <p:nvPr/>
        </p:nvSpPr>
        <p:spPr>
          <a:xfrm>
            <a:off x="1043608" y="332656"/>
            <a:ext cx="6814948" cy="917864"/>
          </a:xfrm>
          <a:prstGeom prst="rect">
            <a:avLst/>
          </a:prstGeom>
        </p:spPr>
        <p:txBody>
          <a:bodyPr vert="horz" lIns="91440" tIns="45720" rIns="91440" bIns="45720" rtlCol="0" anchor="ctr">
            <a:noAutofit/>
          </a:bodyPr>
          <a:lstStyle/>
          <a:p>
            <a:pPr algn="ctr">
              <a:spcBef>
                <a:spcPct val="0"/>
              </a:spcBef>
              <a:defRPr/>
            </a:pPr>
            <a:r>
              <a:rPr lang="en-GB" sz="3600" b="1" dirty="0">
                <a:solidFill>
                  <a:srgbClr val="008000"/>
                </a:solidFill>
                <a:latin typeface="+mj-lt"/>
                <a:ea typeface="+mj-ea"/>
                <a:cs typeface="+mj-cs"/>
              </a:rPr>
              <a:t>Innovation markets - Innocentive</a:t>
            </a:r>
          </a:p>
        </p:txBody>
      </p:sp>
      <p:sp>
        <p:nvSpPr>
          <p:cNvPr id="12" name="Rectangle 11"/>
          <p:cNvSpPr/>
          <p:nvPr/>
        </p:nvSpPr>
        <p:spPr>
          <a:xfrm>
            <a:off x="604711" y="3018914"/>
            <a:ext cx="8331472" cy="2246769"/>
          </a:xfrm>
          <a:prstGeom prst="rect">
            <a:avLst/>
          </a:prstGeom>
        </p:spPr>
        <p:txBody>
          <a:bodyPr wrap="square">
            <a:spAutoFit/>
          </a:bodyPr>
          <a:lstStyle/>
          <a:p>
            <a:r>
              <a:rPr lang="en-US" sz="2800" dirty="0"/>
              <a:t> </a:t>
            </a:r>
            <a:endParaRPr lang="en-GB" sz="2800" dirty="0"/>
          </a:p>
          <a:p>
            <a:r>
              <a:rPr lang="en-US" sz="2800" u="sng" dirty="0">
                <a:hlinkClick r:id="rId2"/>
              </a:rPr>
              <a:t>http://www.innocentive.com/</a:t>
            </a:r>
            <a:endParaRPr lang="en-GB" sz="2800" dirty="0"/>
          </a:p>
          <a:p>
            <a:endParaRPr lang="en-GB" sz="2800" dirty="0"/>
          </a:p>
          <a:p>
            <a:r>
              <a:rPr lang="en-US" sz="2800" dirty="0"/>
              <a:t> </a:t>
            </a:r>
          </a:p>
        </p:txBody>
      </p:sp>
      <p:sp>
        <p:nvSpPr>
          <p:cNvPr id="10" name="TextBox 9"/>
          <p:cNvSpPr txBox="1"/>
          <p:nvPr/>
        </p:nvSpPr>
        <p:spPr>
          <a:xfrm>
            <a:off x="604711" y="1844566"/>
            <a:ext cx="8331472" cy="954107"/>
          </a:xfrm>
          <a:prstGeom prst="rect">
            <a:avLst/>
          </a:prstGeom>
          <a:noFill/>
        </p:spPr>
        <p:txBody>
          <a:bodyPr wrap="square" rtlCol="0">
            <a:spAutoFit/>
          </a:bodyPr>
          <a:lstStyle/>
          <a:p>
            <a:r>
              <a:rPr lang="en-GB" sz="2800" dirty="0"/>
              <a:t>The innocentive website provides an interesting example of an innovation market.</a:t>
            </a:r>
          </a:p>
        </p:txBody>
      </p:sp>
    </p:spTree>
    <p:extLst>
      <p:ext uri="{BB962C8B-B14F-4D97-AF65-F5344CB8AC3E}">
        <p14:creationId xmlns:p14="http://schemas.microsoft.com/office/powerpoint/2010/main" val="8982199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125454"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262F87A-B1B7-FD4A-A39A-50818E83FC0B}"/>
              </a:ext>
            </a:extLst>
          </p:cNvPr>
          <p:cNvSpPr>
            <a:spLocks noGrp="1"/>
          </p:cNvSpPr>
          <p:nvPr>
            <p:ph type="title"/>
          </p:nvPr>
        </p:nvSpPr>
        <p:spPr>
          <a:xfrm>
            <a:off x="515125" y="1153572"/>
            <a:ext cx="2400300" cy="4461163"/>
          </a:xfrm>
        </p:spPr>
        <p:txBody>
          <a:bodyPr>
            <a:normAutofit/>
          </a:bodyPr>
          <a:lstStyle/>
          <a:p>
            <a:r>
              <a:rPr lang="en-US" sz="3100">
                <a:solidFill>
                  <a:srgbClr val="FFFFFF"/>
                </a:solidFill>
              </a:rPr>
              <a:t>Assessments</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2455479"/>
            <a:ext cx="3062575"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2300B727-214E-D140-B0D9-8DF9906E14FF}"/>
              </a:ext>
            </a:extLst>
          </p:cNvPr>
          <p:cNvSpPr>
            <a:spLocks noGrp="1"/>
          </p:cNvSpPr>
          <p:nvPr>
            <p:ph idx="1"/>
          </p:nvPr>
        </p:nvSpPr>
        <p:spPr>
          <a:xfrm>
            <a:off x="3335481" y="591344"/>
            <a:ext cx="5179868" cy="5585619"/>
          </a:xfrm>
        </p:spPr>
        <p:txBody>
          <a:bodyPr anchor="ctr">
            <a:normAutofit/>
          </a:bodyPr>
          <a:lstStyle/>
          <a:p>
            <a:r>
              <a:rPr lang="en-US" dirty="0"/>
              <a:t>The following slides offer some example assessment questions and discussion themes for individual or group activity</a:t>
            </a:r>
          </a:p>
          <a:p>
            <a:endParaRPr lang="en-US" dirty="0"/>
          </a:p>
        </p:txBody>
      </p:sp>
    </p:spTree>
    <p:extLst>
      <p:ext uri="{BB962C8B-B14F-4D97-AF65-F5344CB8AC3E}">
        <p14:creationId xmlns:p14="http://schemas.microsoft.com/office/powerpoint/2010/main" val="161431467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125454"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72B0699-6573-6D4B-801E-22CC637BB834}"/>
              </a:ext>
            </a:extLst>
          </p:cNvPr>
          <p:cNvSpPr>
            <a:spLocks noGrp="1"/>
          </p:cNvSpPr>
          <p:nvPr>
            <p:ph type="title"/>
          </p:nvPr>
        </p:nvSpPr>
        <p:spPr>
          <a:xfrm>
            <a:off x="515125" y="1153572"/>
            <a:ext cx="2400300" cy="4461163"/>
          </a:xfrm>
        </p:spPr>
        <p:txBody>
          <a:bodyPr>
            <a:normAutofit/>
          </a:bodyPr>
          <a:lstStyle/>
          <a:p>
            <a:r>
              <a:rPr lang="en-US" sz="3100">
                <a:solidFill>
                  <a:srgbClr val="FFFFFF"/>
                </a:solidFill>
              </a:rPr>
              <a:t>Assessments</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2455479"/>
            <a:ext cx="3062575"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E5E7E18D-EFE8-5E41-BFB8-860F024FABFB}"/>
              </a:ext>
            </a:extLst>
          </p:cNvPr>
          <p:cNvSpPr>
            <a:spLocks noGrp="1"/>
          </p:cNvSpPr>
          <p:nvPr>
            <p:ph idx="1"/>
          </p:nvPr>
        </p:nvSpPr>
        <p:spPr>
          <a:xfrm>
            <a:off x="3335481" y="591344"/>
            <a:ext cx="5179868" cy="5585619"/>
          </a:xfrm>
        </p:spPr>
        <p:txBody>
          <a:bodyPr anchor="ctr">
            <a:normAutofit/>
          </a:bodyPr>
          <a:lstStyle/>
          <a:p>
            <a:pPr marL="0" indent="0">
              <a:lnSpc>
                <a:spcPct val="90000"/>
              </a:lnSpc>
              <a:buNone/>
            </a:pPr>
            <a:r>
              <a:rPr lang="en-GB" sz="2200" dirty="0"/>
              <a:t>1.		Michael Dell didn’t invent the computer – but he built one of the most successful businesses selling them.  Discuss how he makes use of a networking approach to build and sustain a competitive edge in his business.</a:t>
            </a:r>
          </a:p>
          <a:p>
            <a:pPr marL="0" indent="0">
              <a:lnSpc>
                <a:spcPct val="90000"/>
              </a:lnSpc>
              <a:buNone/>
            </a:pPr>
            <a:r>
              <a:rPr lang="en-GB" sz="2200" dirty="0"/>
              <a:t> </a:t>
            </a:r>
          </a:p>
          <a:p>
            <a:pPr marL="0" indent="0">
              <a:lnSpc>
                <a:spcPct val="90000"/>
              </a:lnSpc>
              <a:buNone/>
            </a:pPr>
            <a:r>
              <a:rPr lang="en-GB" sz="2200" dirty="0"/>
              <a:t>2.        	Why might Joe Bloggs, famous inventor, need help in getting his great idea into widespread use?  And how might a networking approach help him?</a:t>
            </a:r>
          </a:p>
          <a:p>
            <a:pPr marL="0" indent="0">
              <a:lnSpc>
                <a:spcPct val="90000"/>
              </a:lnSpc>
              <a:buNone/>
            </a:pPr>
            <a:r>
              <a:rPr lang="en-GB" sz="2200" dirty="0"/>
              <a:t> </a:t>
            </a:r>
          </a:p>
          <a:p>
            <a:pPr marL="0" indent="0">
              <a:lnSpc>
                <a:spcPct val="90000"/>
              </a:lnSpc>
              <a:buNone/>
            </a:pPr>
            <a:r>
              <a:rPr lang="en-GB" sz="2200" dirty="0"/>
              <a:t>3.        	Is innovation a solo act? – the product of the lone genius. Show how successful entrepreneurs make use of networks to help take their ideas forward.</a:t>
            </a:r>
          </a:p>
          <a:p>
            <a:pPr>
              <a:lnSpc>
                <a:spcPct val="90000"/>
              </a:lnSpc>
            </a:pPr>
            <a:endParaRPr lang="en-US" sz="2200" dirty="0"/>
          </a:p>
        </p:txBody>
      </p:sp>
    </p:spTree>
    <p:extLst>
      <p:ext uri="{BB962C8B-B14F-4D97-AF65-F5344CB8AC3E}">
        <p14:creationId xmlns:p14="http://schemas.microsoft.com/office/powerpoint/2010/main" val="1867013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125454"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5D74336-0F10-924D-9A36-2DB7D19475F8}"/>
              </a:ext>
            </a:extLst>
          </p:cNvPr>
          <p:cNvSpPr>
            <a:spLocks noGrp="1"/>
          </p:cNvSpPr>
          <p:nvPr>
            <p:ph type="title"/>
          </p:nvPr>
        </p:nvSpPr>
        <p:spPr>
          <a:xfrm>
            <a:off x="515125" y="1153572"/>
            <a:ext cx="2400300" cy="4461163"/>
          </a:xfrm>
        </p:spPr>
        <p:txBody>
          <a:bodyPr>
            <a:normAutofit/>
          </a:bodyPr>
          <a:lstStyle/>
          <a:p>
            <a:r>
              <a:rPr lang="en-US" sz="3100">
                <a:solidFill>
                  <a:srgbClr val="FFFFFF"/>
                </a:solidFill>
              </a:rPr>
              <a:t>Assessments</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2455479"/>
            <a:ext cx="3062575"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92EC22BC-5589-364F-AC36-AA39611876DB}"/>
              </a:ext>
            </a:extLst>
          </p:cNvPr>
          <p:cNvSpPr>
            <a:spLocks noGrp="1"/>
          </p:cNvSpPr>
          <p:nvPr>
            <p:ph idx="1"/>
          </p:nvPr>
        </p:nvSpPr>
        <p:spPr>
          <a:xfrm>
            <a:off x="3335481" y="591344"/>
            <a:ext cx="5179868" cy="5585619"/>
          </a:xfrm>
        </p:spPr>
        <p:txBody>
          <a:bodyPr anchor="ctr">
            <a:normAutofit/>
          </a:bodyPr>
          <a:lstStyle/>
          <a:p>
            <a:pPr marL="0" indent="0">
              <a:lnSpc>
                <a:spcPct val="90000"/>
              </a:lnSpc>
              <a:buNone/>
            </a:pPr>
            <a:r>
              <a:rPr lang="en-GB" sz="2700"/>
              <a:t>4. List three advantages of co-operating across networks in innovation as opposed to a ‘go –it-alone’ approach.</a:t>
            </a:r>
          </a:p>
          <a:p>
            <a:pPr marL="0" indent="0">
              <a:lnSpc>
                <a:spcPct val="90000"/>
              </a:lnSpc>
              <a:buNone/>
            </a:pPr>
            <a:r>
              <a:rPr lang="en-GB" sz="2700"/>
              <a:t> </a:t>
            </a:r>
          </a:p>
          <a:p>
            <a:pPr marL="0" indent="0">
              <a:lnSpc>
                <a:spcPct val="90000"/>
              </a:lnSpc>
              <a:buNone/>
            </a:pPr>
            <a:r>
              <a:rPr lang="en-GB" sz="2700"/>
              <a:t>5.        	Jane Wilson has come up with a great new idea for a medical sensor to help in monitoring babies while they sleep.  How could she improve her chances of success with her new product idea by using a networking approach to taking it forward?</a:t>
            </a:r>
          </a:p>
          <a:p>
            <a:pPr>
              <a:lnSpc>
                <a:spcPct val="90000"/>
              </a:lnSpc>
            </a:pPr>
            <a:endParaRPr lang="en-US" sz="2700"/>
          </a:p>
        </p:txBody>
      </p:sp>
    </p:spTree>
    <p:extLst>
      <p:ext uri="{BB962C8B-B14F-4D97-AF65-F5344CB8AC3E}">
        <p14:creationId xmlns:p14="http://schemas.microsoft.com/office/powerpoint/2010/main" val="4888616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125454"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6C9B234-56CB-8E42-AB21-8A0D863876EE}"/>
              </a:ext>
            </a:extLst>
          </p:cNvPr>
          <p:cNvSpPr>
            <a:spLocks noGrp="1"/>
          </p:cNvSpPr>
          <p:nvPr>
            <p:ph type="title"/>
          </p:nvPr>
        </p:nvSpPr>
        <p:spPr>
          <a:xfrm>
            <a:off x="515125" y="1153572"/>
            <a:ext cx="2400300" cy="4461163"/>
          </a:xfrm>
        </p:spPr>
        <p:txBody>
          <a:bodyPr>
            <a:normAutofit/>
          </a:bodyPr>
          <a:lstStyle/>
          <a:p>
            <a:r>
              <a:rPr lang="en-US" sz="3100">
                <a:solidFill>
                  <a:srgbClr val="FFFFFF"/>
                </a:solidFill>
              </a:rPr>
              <a:t>Assessments</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2455479"/>
            <a:ext cx="3062575"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39BE35CC-FCA1-9545-B19C-1C308DA12C41}"/>
              </a:ext>
            </a:extLst>
          </p:cNvPr>
          <p:cNvSpPr>
            <a:spLocks noGrp="1"/>
          </p:cNvSpPr>
          <p:nvPr>
            <p:ph idx="1"/>
          </p:nvPr>
        </p:nvSpPr>
        <p:spPr>
          <a:xfrm>
            <a:off x="3335481" y="591344"/>
            <a:ext cx="5179868" cy="5585619"/>
          </a:xfrm>
        </p:spPr>
        <p:txBody>
          <a:bodyPr anchor="ctr">
            <a:normAutofit/>
          </a:bodyPr>
          <a:lstStyle/>
          <a:p>
            <a:pPr marL="0" indent="0">
              <a:lnSpc>
                <a:spcPct val="90000"/>
              </a:lnSpc>
              <a:buNone/>
            </a:pPr>
            <a:r>
              <a:rPr lang="en-GB" sz="1800" dirty="0"/>
              <a:t>6.       	‘The problem for small firms isn’t that they’re small – it’s that they’re isolated’.  How might networking help deal with the challenges of being an innovative small firm and what advantages might this approach offer?</a:t>
            </a:r>
          </a:p>
          <a:p>
            <a:pPr marL="0" indent="0">
              <a:lnSpc>
                <a:spcPct val="90000"/>
              </a:lnSpc>
              <a:buNone/>
            </a:pPr>
            <a:r>
              <a:rPr lang="en-GB" sz="1800" dirty="0"/>
              <a:t> </a:t>
            </a:r>
          </a:p>
          <a:p>
            <a:pPr marL="0" indent="0">
              <a:lnSpc>
                <a:spcPct val="90000"/>
              </a:lnSpc>
              <a:buNone/>
            </a:pPr>
            <a:r>
              <a:rPr lang="en-GB" sz="1800" dirty="0"/>
              <a:t>7.        	XYZ Electronics want to launch a supplier development programme to get their 180 suppliers to participate more fully in the innovation process- contributing new ideas for products and services and helping improve processes around quality, delivery and cost reduction.  What issues should they think about in designing and implementing such a programme?</a:t>
            </a:r>
          </a:p>
          <a:p>
            <a:pPr marL="0" indent="0">
              <a:lnSpc>
                <a:spcPct val="90000"/>
              </a:lnSpc>
              <a:buNone/>
            </a:pPr>
            <a:r>
              <a:rPr lang="en-GB" sz="1800" dirty="0"/>
              <a:t> </a:t>
            </a:r>
          </a:p>
          <a:p>
            <a:pPr marL="0" indent="0">
              <a:lnSpc>
                <a:spcPct val="90000"/>
              </a:lnSpc>
              <a:buNone/>
            </a:pPr>
            <a:r>
              <a:rPr lang="en-GB" sz="1800" dirty="0"/>
              <a:t>8.       	‘Open innovation’ is becoming a fashionable approach to innovation, building on the advantages of networking.  But what problems might the implementation of such an approach throw up?</a:t>
            </a:r>
          </a:p>
          <a:p>
            <a:pPr>
              <a:lnSpc>
                <a:spcPct val="90000"/>
              </a:lnSpc>
            </a:pPr>
            <a:endParaRPr lang="en-US" sz="1800" dirty="0"/>
          </a:p>
        </p:txBody>
      </p:sp>
    </p:spTree>
    <p:extLst>
      <p:ext uri="{BB962C8B-B14F-4D97-AF65-F5344CB8AC3E}">
        <p14:creationId xmlns:p14="http://schemas.microsoft.com/office/powerpoint/2010/main" val="198606613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1840</TotalTime>
  <Words>2135</Words>
  <Application>Microsoft Macintosh PowerPoint</Application>
  <PresentationFormat>On-screen Show (4:3)</PresentationFormat>
  <Paragraphs>214</Paragraphs>
  <Slides>51</Slides>
  <Notes>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51</vt:i4>
      </vt:variant>
    </vt:vector>
  </HeadingPairs>
  <TitlesOfParts>
    <vt:vector size="56" baseType="lpstr">
      <vt:lpstr>Arial</vt:lpstr>
      <vt:lpstr>Calibri</vt:lpstr>
      <vt:lpstr>Times</vt:lpstr>
      <vt:lpstr>Times New Roman</vt:lpstr>
      <vt:lpstr>Office Theme</vt:lpstr>
      <vt:lpstr>Teaching Resources and Instructors’ Guidelines</vt:lpstr>
      <vt:lpstr>Chapter 8: Innovation networks</vt:lpstr>
      <vt:lpstr>Learning Objectives</vt:lpstr>
      <vt:lpstr>Core themes and material from the book</vt:lpstr>
      <vt:lpstr>PowerPoint Presentation</vt:lpstr>
      <vt:lpstr>How it really happens</vt:lpstr>
      <vt:lpstr>Why networks?</vt:lpstr>
      <vt:lpstr>Different network perspectives on innovation</vt:lpstr>
      <vt:lpstr>Types of innovation network</vt:lpstr>
      <vt:lpstr>Types of innovation network (continued)</vt:lpstr>
      <vt:lpstr>Benefits of learning networks</vt:lpstr>
      <vt:lpstr>Examples of learning networks</vt:lpstr>
      <vt:lpstr>PowerPoint Presentation</vt:lpstr>
      <vt:lpstr>Core principles of open innovation</vt:lpstr>
      <vt:lpstr>Models for open innovation</vt:lpstr>
      <vt:lpstr>Challenges in open innovation</vt:lpstr>
      <vt:lpstr>PowerPoint Presentation</vt:lpstr>
      <vt:lpstr>Challenges in open innovation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 framework for thinking about new networks</vt:lpstr>
      <vt:lpstr>PowerPoint Presentation</vt:lpstr>
      <vt:lpstr>PowerPoint Presentation</vt:lpstr>
      <vt:lpstr>Summary</vt:lpstr>
      <vt:lpstr>Summary</vt:lpstr>
      <vt:lpstr>Summary</vt:lpstr>
      <vt:lpstr>Summary</vt:lpstr>
      <vt:lpstr>Summary</vt:lpstr>
      <vt:lpstr>Videos</vt:lpstr>
      <vt:lpstr>Videos</vt:lpstr>
      <vt:lpstr>Entrepreneur’s networks</vt:lpstr>
      <vt:lpstr>Benefits of learning networks</vt:lpstr>
      <vt:lpstr>PowerPoint Presentation</vt:lpstr>
      <vt:lpstr>Blogs and podcasts</vt:lpstr>
      <vt:lpstr>PowerPoint Presentation</vt:lpstr>
      <vt:lpstr>PowerPoint Presentation</vt:lpstr>
      <vt:lpstr>Activities</vt:lpstr>
      <vt:lpstr>PowerPoint Presentation</vt:lpstr>
      <vt:lpstr>PowerPoint Presentation</vt:lpstr>
      <vt:lpstr>PowerPoint Presentation</vt:lpstr>
      <vt:lpstr>Cases </vt:lpstr>
      <vt:lpstr>PowerPoint Presentation</vt:lpstr>
      <vt:lpstr>Assessments</vt:lpstr>
      <vt:lpstr>Assessments</vt:lpstr>
      <vt:lpstr>Assessments</vt:lpstr>
      <vt:lpstr>Assessments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Teaching Resources and Instructors’ Guidelines</dc:title>
  <dc:creator>john bessant</dc:creator>
  <cp:lastModifiedBy>john bessant</cp:lastModifiedBy>
  <cp:revision>8</cp:revision>
  <dcterms:created xsi:type="dcterms:W3CDTF">2020-11-14T15:06:47Z</dcterms:created>
  <dcterms:modified xsi:type="dcterms:W3CDTF">2024-11-03T17:21:38Z</dcterms:modified>
</cp:coreProperties>
</file>